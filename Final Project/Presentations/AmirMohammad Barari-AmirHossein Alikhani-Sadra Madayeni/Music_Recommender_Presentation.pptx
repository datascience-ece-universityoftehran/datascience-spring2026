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6" r:id="rId18"/>
    <p:sldId id="278" r:id="rId19"/>
    <p:sldId id="279" r:id="rId20"/>
    <p:sldId id="280" r:id="rId21"/>
    <p:sldId id="282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5998"/>
            <a:ext cx="12188952" cy="310896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FF"/>
                </a:solidFill>
              </a:rPr>
              <a:t>INTRODUCTION TO DATA SCIENCE  -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Music Playlist Recommendation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657600"/>
            <a:ext cx="3959352" cy="45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8895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B0BEC5"/>
                </a:solidFill>
              </a:rPr>
              <a:t>An End-to-End Data Science Pipeline | Phase 1 . Phase 2 . Phase 3</a:t>
            </a:r>
            <a:endParaRPr lang="en-US" sz="1700" b="0" i="1" dirty="0">
              <a:solidFill>
                <a:srgbClr val="B0BEC5"/>
              </a:solidFill>
            </a:endParaRPr>
          </a:p>
          <a:p>
            <a:pPr algn="ctr"/>
            <a:endParaRPr lang="en-US" sz="1700" b="0" i="1" dirty="0">
              <a:solidFill>
                <a:srgbClr val="B0BEC5"/>
              </a:solidFill>
            </a:endParaRPr>
          </a:p>
          <a:p>
            <a:pPr algn="ctr"/>
            <a:r>
              <a:rPr lang="en-US" sz="1700" i="1" dirty="0" err="1">
                <a:solidFill>
                  <a:srgbClr val="B0BEC5"/>
                </a:solidFill>
              </a:rPr>
              <a:t>AmirMohammad</a:t>
            </a:r>
            <a:r>
              <a:rPr lang="en-US" sz="1700" i="1" dirty="0">
                <a:solidFill>
                  <a:srgbClr val="B0BEC5"/>
                </a:solidFill>
              </a:rPr>
              <a:t> Barari 810102408</a:t>
            </a:r>
          </a:p>
          <a:p>
            <a:pPr algn="ctr"/>
            <a:r>
              <a:rPr lang="en-US" sz="1700" b="0" i="1" dirty="0" err="1">
                <a:solidFill>
                  <a:srgbClr val="B0BEC5"/>
                </a:solidFill>
              </a:rPr>
              <a:t>AmirHossein</a:t>
            </a:r>
            <a:r>
              <a:rPr lang="en-US" sz="1700" b="0" i="1" dirty="0">
                <a:solidFill>
                  <a:srgbClr val="B0BEC5"/>
                </a:solidFill>
              </a:rPr>
              <a:t> </a:t>
            </a:r>
            <a:r>
              <a:rPr lang="en-US" sz="1700" b="0" i="1" dirty="0" err="1">
                <a:solidFill>
                  <a:srgbClr val="B0BEC5"/>
                </a:solidFill>
              </a:rPr>
              <a:t>Alikhani</a:t>
            </a:r>
            <a:r>
              <a:rPr lang="en-US" sz="1700" b="0" i="1" dirty="0">
                <a:solidFill>
                  <a:srgbClr val="B0BEC5"/>
                </a:solidFill>
              </a:rPr>
              <a:t> 810102479</a:t>
            </a:r>
          </a:p>
          <a:p>
            <a:pPr algn="ctr"/>
            <a:r>
              <a:rPr lang="en-US" sz="1700" i="1" dirty="0" err="1">
                <a:solidFill>
                  <a:srgbClr val="B0BEC5"/>
                </a:solidFill>
              </a:rPr>
              <a:t>Sadra</a:t>
            </a:r>
            <a:r>
              <a:rPr lang="en-US" sz="1700" i="1" dirty="0">
                <a:solidFill>
                  <a:srgbClr val="B0BEC5"/>
                </a:solidFill>
              </a:rPr>
              <a:t> </a:t>
            </a:r>
            <a:r>
              <a:rPr lang="en-US" sz="1700" i="1" dirty="0" err="1">
                <a:solidFill>
                  <a:srgbClr val="B0BEC5"/>
                </a:solidFill>
              </a:rPr>
              <a:t>Madayeni</a:t>
            </a:r>
            <a:r>
              <a:rPr lang="en-US" sz="1700" i="1" dirty="0">
                <a:solidFill>
                  <a:srgbClr val="B0BEC5"/>
                </a:solidFill>
              </a:rPr>
              <a:t> 810102564</a:t>
            </a:r>
            <a:endParaRPr sz="1700" b="0" i="1" dirty="0">
              <a:solidFill>
                <a:srgbClr val="B0BEC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Introduction to Data Science |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5544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A8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Phase 1: Dataset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C5"/>
                </a:solidFill>
              </a:rPr>
              <a:t>Choosing the right data foundation for a hyper-personalized recommendation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Dataset: Spotify Tracks - sourced from Kaggle / Spotify Web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7"/>
            <a:ext cx="11155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~114,000 tracks spanning 114 genre categories</a:t>
            </a:r>
            <a:r>
              <a:rPr lang="en-US" sz="1500" b="0" i="0" dirty="0">
                <a:solidFill>
                  <a:srgbClr val="B0BEC5"/>
                </a:solidFill>
              </a:rPr>
              <a:t> (each 1000)</a:t>
            </a:r>
            <a:endParaRPr sz="1500" b="0" i="0" dirty="0">
              <a:solidFill>
                <a:srgbClr val="B0BEC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21 raw audio features per track (danceability, energy, valence, tempo,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Additional metadata: artist name, album, popularity, duration, explicit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0662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Goal: Build a hyper-personalized music playlist recommender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Predict the next track a user wants based on their listening session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Surface distinct listening vibes - e.g., High-Energy Electronic vs. Acoustic &amp; Chill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5544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8A2BE2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Phase 2: Database, EDA, Pipeline &amp;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C5"/>
                </a:solidFill>
              </a:rPr>
              <a:t>Structuring data, understanding it deeply, automating workflows, and shipping with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2 Section 1: EDA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General structure analysis: shape, dtypes, null counts, duplicates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Distribution plots for all 21 numeric features (seaborn histplots &amp; KDE)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Identified heavy right-skew in speechiness, instrumentalness, liveness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Tempo normalized to 0-1 range; loudness standardized from -60 dB to 0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19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Outlier detection using IQR method across all numeric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Genre frequency analysis: top 20 genres vs. long-tail rare genres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1129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Genre Similarity Matrix computed: cosine similarity between all 114 genre centroids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95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Key insight: grunge and metal have 0.999 similarity; disco and synth-pop have 0.999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42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disco and latin 0.996, psych-rock and blues 0.996 - used to inform penalty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90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Correlation heatmap: danceability &lt;-&gt; valence, energy &lt;-&gt; loudness strongly correlated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74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EDA plots saved to eda_plots/ directory for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2 Section 2: Database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Database: SQLite via SQLAlchemy ORM - chosen for simplicity and portability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Schema Design - Two-Table Relational Model: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genres (id PK, name UNIQUE): one row per distinct music genre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tracks (id PK, track_id, artists, album, audio features, genre_id FK)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19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import_to_db.py: Automated 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Reads raw dataset.csv with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1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Populates genres table first, retrieves auto-generated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Maps genre strings to integer foreign keys, then bulk-inserts all tracks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6966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database_connection.py: Shared engine factory used across all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load_data.py: Queries DB into DataFrames for downstream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2 Section 3: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4 Custom Composite Audio Indices created in feature_engineering.py: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Intensity Index = (energy x 0.4) + (loudness_norm x 0.3) + (tempo_norm x 0.3)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Groove Index = (danceability x 0.5) + (energy x 0.3) + (valence x 0.2)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Euphoria Index = (valence x 0.5) + (danceability x 0.3) + (energy x 0.2)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0662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Electronic Index = (energy x 0.4) + (1-acousticness x 0.4) + (danceability x 0.2)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5409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</a:t>
            </a:r>
            <a:r>
              <a:rPr sz="1700" b="0" i="0" dirty="0" err="1">
                <a:solidFill>
                  <a:srgbClr val="FFFFFF"/>
                </a:solidFill>
              </a:rPr>
              <a:t>StandardScaler</a:t>
            </a:r>
            <a:r>
              <a:rPr sz="1700" b="0" i="0" dirty="0">
                <a:solidFill>
                  <a:srgbClr val="FFFFFF"/>
                </a:solidFill>
              </a:rPr>
              <a:t> applied to all 8 final feature columns for ML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3814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Genre Similarity Matrix (114x114): cosine similarity between genre centroids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Enables intelligent cross-genre recommendations (e.g., disco -&gt; latin -&gt; synth-pop)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966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Saved to genre_similarity_matrix.csv for reuse in playlist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171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Deduplication: tracks assigned to best-fit genre based on centroid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Removed &gt;30% dataset bloat from multi-genre duplicate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" y="1463040"/>
            <a:ext cx="1371600" cy="12801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915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
Data
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9947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6835" y="1463040"/>
            <a:ext cx="1371600" cy="1280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16835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
Preprocess
&amp;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5867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2756" y="1463040"/>
            <a:ext cx="1371600" cy="1280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2756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
Feature
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1788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8676" y="1463040"/>
            <a:ext cx="1371600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8676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
Clustering
(Vibes)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7708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4596" y="1463040"/>
            <a:ext cx="1371600" cy="12801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4596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
Deduplicate
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3628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0516" y="1463040"/>
            <a:ext cx="1371600" cy="128016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0516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
LSTM
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9548" y="1737360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C5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6436" y="1463040"/>
            <a:ext cx="1371600" cy="128016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46436" y="14630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
Playlist
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692" y="3108960"/>
            <a:ext cx="2194560" cy="3291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2692" y="3108960"/>
            <a:ext cx="21945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4132" y="32004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132" y="3703320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Prefect @flow &amp; @task
Automatic retries
Visual graphs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9944" y="3108960"/>
            <a:ext cx="2194560" cy="3291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99944" y="3108960"/>
            <a:ext cx="21945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1384" y="32004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1384" y="3703320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B0BEC5"/>
                </a:solidFill>
              </a:rPr>
              <a:t>SQLite via </a:t>
            </a:r>
            <a:r>
              <a:rPr sz="1200" b="0" i="0" dirty="0" err="1">
                <a:solidFill>
                  <a:srgbClr val="B0BEC5"/>
                </a:solidFill>
              </a:rPr>
              <a:t>SQLAlchemy</a:t>
            </a:r>
            <a:r>
              <a:rPr sz="1200" b="0" i="0" dirty="0">
                <a:solidFill>
                  <a:srgbClr val="B0BEC5"/>
                </a:solidFill>
              </a:rPr>
              <a:t>
Relational schema
Genres + Tracks tables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97196" y="3108960"/>
            <a:ext cx="2194560" cy="3291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97196" y="3108960"/>
            <a:ext cx="2194560" cy="5486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88636" y="32004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2BE2"/>
                </a:solidFill>
              </a:rPr>
              <a:t>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8636" y="3703320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PyTorch LSTM
Attention Mechanism
40,000+ sequences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94447" y="3108960"/>
            <a:ext cx="2194560" cy="3291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94447" y="3108960"/>
            <a:ext cx="2194560" cy="54864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85887" y="32004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7E"/>
                </a:solidFill>
              </a:rPr>
              <a:t>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5887" y="3703320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MLFlow
Hyperparams + Metrics
Model .pth artifacts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91699" y="3108960"/>
            <a:ext cx="2194560" cy="3291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791699" y="3108960"/>
            <a:ext cx="21945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83139" y="320040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CI/CD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3139" y="3703320"/>
            <a:ext cx="20116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GitHub Actions
Auto regression tests
Docker + Kubernetes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2 Section 4: Prefect Pipeline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run_pipeline.py: Master orchestrator using Prefect @flow and @task decorators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7 pipeline stages wrapped as individual Prefect Tasks: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@task Data Import -&gt; Preprocess -&gt; Feature Engineering -&gt;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-&gt; Deduplicate -&gt; Train LSTM -&gt; Generate Playlists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19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Automatic Retry Logic: Data Import task retries=2 with 10s delay on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Sequential dependency enforcement: if step N fails, step N+1 never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1129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Prefect Dashboard: prefect server start -&gt; localhost:4200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95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Visual flowchart of task execution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4281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Per-task runtime, success/failure indicators, and historical run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0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Schedule-on-demand: run pipeline on CRON schedule via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5544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D47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Phase 3: Model Development &amp; Playlist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C5"/>
                </a:solidFill>
              </a:rPr>
              <a:t>Training a sequence-aware LSTM and generating hyper-personalized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Section 1: LSTM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Model: SessionRecommenderLSTM (PyTorch)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Input: sequences of 5 tracks x 8 audio features -&gt; shape [batch, 5, 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LSTM Layer: 8 -&gt; 32 hidden dimensions, 1 layer, batch_first=True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Custom Attention: Linear(32, 1) + softmax -&gt; weighted context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0662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Output Layer: Linear(32, 8) -&gt; predicts audio features of next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54095"/>
            <a:ext cx="111556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Training Data: 40,000 sequences from </a:t>
            </a:r>
            <a:r>
              <a:rPr lang="en-US" sz="1700" dirty="0">
                <a:solidFill>
                  <a:srgbClr val="FFFFFF"/>
                </a:solidFill>
              </a:rPr>
              <a:t>49</a:t>
            </a:r>
            <a:r>
              <a:rPr sz="1700" b="0" i="0" dirty="0">
                <a:solidFill>
                  <a:srgbClr val="FFFFFF"/>
                </a:solidFill>
              </a:rPr>
              <a:t>,000+ real Spotify user playlists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Built from cleaned_playlists.csv - authentic human listening 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Sliding window of 5 tracks, target = track at position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3308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Optimizer: Adam (</a:t>
            </a:r>
            <a:r>
              <a:rPr sz="1700" b="0" i="0" dirty="0" err="1">
                <a:solidFill>
                  <a:srgbClr val="FFFFFF"/>
                </a:solidFill>
              </a:rPr>
              <a:t>lr</a:t>
            </a:r>
            <a:r>
              <a:rPr sz="1700" b="0" i="0" dirty="0">
                <a:solidFill>
                  <a:srgbClr val="FFFFFF"/>
                </a:solidFill>
              </a:rPr>
              <a:t>=0.001) | Loss: </a:t>
            </a:r>
            <a:r>
              <a:rPr sz="1700" b="0" i="0" dirty="0" err="1">
                <a:solidFill>
                  <a:srgbClr val="FFFFFF"/>
                </a:solidFill>
              </a:rPr>
              <a:t>MSELoss</a:t>
            </a:r>
            <a:r>
              <a:rPr sz="1700" b="0" i="0" dirty="0">
                <a:solidFill>
                  <a:srgbClr val="FFFFFF"/>
                </a:solidFill>
              </a:rPr>
              <a:t> | Epochs: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171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All runs tracked in MLFlow: hyperparams, per-epoch loss, saved .pth 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Section 2: Dynamic Vibe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Query input: user's recently played tracks (IDs in query.txt)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Step 1 - PCA: reduces 8 audio features to 2D for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Step 2 - Metadata-Driven K Selection: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Counts genres with 3+ tracks in the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5"/>
            <a:ext cx="11155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Sets K = number of qualifying genres (minimum K=1, maximum K=</a:t>
            </a:r>
            <a:r>
              <a:rPr lang="en-US" sz="1500" b="0" i="0" dirty="0">
                <a:solidFill>
                  <a:srgbClr val="B0BEC5"/>
                </a:solidFill>
              </a:rPr>
              <a:t>6</a:t>
            </a:r>
            <a:r>
              <a:rPr sz="1500" b="0" i="0" dirty="0">
                <a:solidFill>
                  <a:srgbClr val="B0BEC5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Step 3 - </a:t>
            </a:r>
            <a:r>
              <a:rPr sz="1700" b="0" i="0" dirty="0" err="1">
                <a:solidFill>
                  <a:srgbClr val="FFFFFF"/>
                </a:solidFill>
              </a:rPr>
              <a:t>KMeans</a:t>
            </a:r>
            <a:r>
              <a:rPr sz="1700" b="0" i="0" dirty="0">
                <a:solidFill>
                  <a:srgbClr val="FFFFFF"/>
                </a:solidFill>
              </a:rPr>
              <a:t> clustering separates session into K distinct vibe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1129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Each cluster is labeled by its dominant genre (e.g., Grunge &amp; Similar)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953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query_clusters.png: scatter plot of 2D PCA clusters color-coded by vibe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793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Result: enables targeted per-vibe recommendations instead of one global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Section 3: Dynamic Percentage Genre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Key innovation: weights calculated locally per cluster, not globally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81840"/>
            <a:ext cx="111556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For each cluster, count tracks per genre -&gt; </a:t>
            </a:r>
            <a:r>
              <a:rPr sz="1700" b="0" i="0" dirty="0" err="1">
                <a:solidFill>
                  <a:srgbClr val="FFFFFF"/>
                </a:solidFill>
              </a:rPr>
              <a:t>local_genre_counts</a:t>
            </a:r>
            <a:endParaRPr sz="1700" b="0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37337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weight = </a:t>
            </a:r>
            <a:r>
              <a:rPr sz="1500" b="0" i="0" dirty="0" err="1">
                <a:solidFill>
                  <a:srgbClr val="B0BEC5"/>
                </a:solidFill>
              </a:rPr>
              <a:t>count_in_cluster</a:t>
            </a:r>
            <a:r>
              <a:rPr sz="1500" b="0" i="0" dirty="0">
                <a:solidFill>
                  <a:srgbClr val="B0BEC5"/>
                </a:solidFill>
              </a:rPr>
              <a:t> / </a:t>
            </a:r>
            <a:r>
              <a:rPr sz="1500" b="0" i="0" dirty="0" err="1">
                <a:solidFill>
                  <a:srgbClr val="B0BEC5"/>
                </a:solidFill>
              </a:rPr>
              <a:t>total_tracks_in_cluster</a:t>
            </a:r>
            <a:endParaRPr sz="1500" b="0" i="0" dirty="0">
              <a:solidFill>
                <a:srgbClr val="B0BEC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540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Dominant genre of cluster forced to weight =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199"/>
            <a:ext cx="111556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Genre Similarity Matrix for cross-genre scoring: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7"/>
            <a:ext cx="1115568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i="0" dirty="0">
                <a:solidFill>
                  <a:srgbClr val="B0BEC5"/>
                </a:solidFill>
              </a:rPr>
              <a:t>  o 1</a:t>
            </a:r>
            <a:r>
              <a:rPr lang="en-US" sz="1500" b="0" i="0" baseline="30000" dirty="0">
                <a:solidFill>
                  <a:srgbClr val="B0BEC5"/>
                </a:solidFill>
              </a:rPr>
              <a:t>st</a:t>
            </a:r>
            <a:r>
              <a:rPr lang="en-US" sz="1500" b="0" i="0" dirty="0">
                <a:solidFill>
                  <a:srgbClr val="B0BEC5"/>
                </a:solidFill>
              </a:rPr>
              <a:t> Top Similar Genre: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0.985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sz="1500" b="0" i="0" dirty="0">
              <a:solidFill>
                <a:srgbClr val="B0BEC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19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dirty="0">
                <a:solidFill>
                  <a:srgbClr val="B0BEC5"/>
                </a:solidFill>
              </a:rPr>
              <a:t> o 2</a:t>
            </a:r>
            <a:r>
              <a:rPr lang="en-US" sz="1500" b="0" i="0" baseline="30000" dirty="0">
                <a:solidFill>
                  <a:srgbClr val="B0BEC5"/>
                </a:solidFill>
              </a:rPr>
              <a:t>nd</a:t>
            </a:r>
            <a:r>
              <a:rPr lang="en-US" sz="1500" b="0" i="0" dirty="0">
                <a:solidFill>
                  <a:srgbClr val="B0BEC5"/>
                </a:solidFill>
              </a:rPr>
              <a:t> Top Similar Genre: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0.980</a:t>
            </a:r>
            <a:endParaRPr sz="1500" b="0" i="0" dirty="0">
              <a:solidFill>
                <a:srgbClr val="B0BEC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dirty="0">
                <a:solidFill>
                  <a:srgbClr val="B0BEC5"/>
                </a:solidFill>
              </a:rPr>
              <a:t> o 3</a:t>
            </a:r>
            <a:r>
              <a:rPr lang="en-US" sz="1500" b="0" i="0" baseline="30000" dirty="0">
                <a:solidFill>
                  <a:srgbClr val="B0BEC5"/>
                </a:solidFill>
              </a:rPr>
              <a:t>rd</a:t>
            </a:r>
            <a:r>
              <a:rPr lang="en-US" sz="1500" b="0" i="0" dirty="0">
                <a:solidFill>
                  <a:srgbClr val="B0BEC5"/>
                </a:solidFill>
              </a:rPr>
              <a:t> Top Similar Genre: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0.975</a:t>
            </a:r>
            <a:endParaRPr sz="1500" b="0" i="0" dirty="0">
              <a:solidFill>
                <a:srgbClr val="B0BEC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16966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Similar-but-not-played genres receive: </a:t>
            </a:r>
            <a:r>
              <a:rPr sz="1700" b="0" i="0" dirty="0" err="1">
                <a:solidFill>
                  <a:srgbClr val="FFFFFF"/>
                </a:solidFill>
              </a:rPr>
              <a:t>base_weight</a:t>
            </a:r>
            <a:r>
              <a:rPr sz="1700" b="0" i="0" dirty="0">
                <a:solidFill>
                  <a:srgbClr val="FFFFFF"/>
                </a:solidFill>
              </a:rPr>
              <a:t> - 0.15 penalty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53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</a:rPr>
              <a:t>  o Prevents regional sub-genre hijacking of dominant genre mixes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Phase 3 Section 4: Three Mix Types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8847" y="1280160"/>
            <a:ext cx="2864358" cy="522505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8847" y="1280160"/>
            <a:ext cx="2864358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0287" y="1417320"/>
            <a:ext cx="2681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FF"/>
                </a:solidFill>
              </a:rPr>
              <a:t>For You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87" y="2011680"/>
            <a:ext cx="268147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dirty="0">
                <a:solidFill>
                  <a:srgbClr val="B0BEC5"/>
                </a:solidFill>
              </a:rPr>
              <a:t>Global session prediction.
LSTM encodes all query tracks and predicts best-matching tracks (based on the 8 audio features) from the full database.
Scored by cosine similarity to LSTM output + artist loyalty bonus(any of their tracks in the database receive a +0.005 score bump. capped at a maximum bonus of +0.05)</a:t>
            </a:r>
            <a:br>
              <a:rPr lang="en-US" sz="1300" b="0" i="0" dirty="0">
                <a:solidFill>
                  <a:srgbClr val="B0BEC5"/>
                </a:solidFill>
              </a:rPr>
            </a:br>
            <a:br>
              <a:rPr lang="en-US" sz="1300" b="0" i="0" dirty="0">
                <a:solidFill>
                  <a:srgbClr val="B0BEC5"/>
                </a:solidFill>
              </a:rPr>
            </a:br>
            <a:r>
              <a:rPr lang="en-US" sz="1300" b="0" i="0" dirty="0">
                <a:solidFill>
                  <a:srgbClr val="B0BEC5"/>
                </a:solidFill>
              </a:rPr>
              <a:t>Played Genres: If a track belongs to a genre you played in your query, it gets a +0.005 bump per play, capped at +0.05.</a:t>
            </a:r>
          </a:p>
          <a:p>
            <a:pPr algn="l"/>
            <a:endParaRPr lang="en-US" sz="1300" dirty="0">
              <a:solidFill>
                <a:srgbClr val="B0BEC5"/>
              </a:solidFill>
            </a:endParaRPr>
          </a:p>
          <a:p>
            <a:pPr algn="l"/>
            <a:r>
              <a:rPr lang="en-US" sz="1300" b="0" i="0" dirty="0" err="1">
                <a:solidFill>
                  <a:srgbClr val="B0BEC5"/>
                </a:solidFill>
              </a:rPr>
              <a:t>Unplayed</a:t>
            </a:r>
            <a:r>
              <a:rPr lang="en-US" sz="1300" b="0" i="0" dirty="0">
                <a:solidFill>
                  <a:srgbClr val="B0BEC5"/>
                </a:solidFill>
              </a:rPr>
              <a:t> Penalty: If a track's genre was not played at all during your session, it is penalized with a -0.10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6576" y="1280160"/>
            <a:ext cx="2864358" cy="522505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6576" y="1280160"/>
            <a:ext cx="2864358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8016" y="1417320"/>
            <a:ext cx="2681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A2BE2"/>
                </a:solidFill>
              </a:rPr>
              <a:t>Vibe-Specific Mixes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016" y="2011680"/>
            <a:ext cx="2681477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BEC5"/>
                </a:solidFill>
              </a:rPr>
              <a:t>One mix per detected cluster.
Only searches within the cluster's dominant genre + </a:t>
            </a:r>
            <a:r>
              <a:rPr lang="en-US" sz="1300" b="0" i="0" dirty="0">
                <a:solidFill>
                  <a:srgbClr val="B0BEC5"/>
                </a:solidFill>
              </a:rPr>
              <a:t>top 3 </a:t>
            </a:r>
            <a:r>
              <a:rPr sz="1300" b="0" i="0" dirty="0">
                <a:solidFill>
                  <a:srgbClr val="B0BEC5"/>
                </a:solidFill>
              </a:rPr>
              <a:t>similar genres.
Genre weights applied: </a:t>
            </a:r>
            <a:r>
              <a:rPr lang="en-US" sz="1300" b="0" i="0" dirty="0">
                <a:solidFill>
                  <a:srgbClr val="B0BEC5"/>
                </a:solidFill>
              </a:rPr>
              <a:t>D</a:t>
            </a:r>
            <a:r>
              <a:rPr sz="1300" b="0" i="0" dirty="0">
                <a:solidFill>
                  <a:srgbClr val="B0BEC5"/>
                </a:solidFill>
              </a:rPr>
              <a:t>ominant=1.0, </a:t>
            </a:r>
            <a:endParaRPr lang="en-US" sz="1300" b="0" i="0" dirty="0">
              <a:solidFill>
                <a:srgbClr val="B0BEC5"/>
              </a:solidFill>
            </a:endParaRPr>
          </a:p>
          <a:p>
            <a:pPr algn="l"/>
            <a:r>
              <a:rPr lang="en-US" sz="1300" b="0" i="0" dirty="0">
                <a:solidFill>
                  <a:srgbClr val="B0BEC5"/>
                </a:solidFill>
              </a:rPr>
              <a:t>Top 3 </a:t>
            </a:r>
            <a:r>
              <a:rPr sz="1300" b="0" i="0" dirty="0">
                <a:solidFill>
                  <a:srgbClr val="B0BEC5"/>
                </a:solidFill>
              </a:rPr>
              <a:t>=</a:t>
            </a:r>
            <a:r>
              <a:rPr lang="en-US" sz="1300" b="0" i="0" dirty="0">
                <a:solidFill>
                  <a:srgbClr val="B0BEC5"/>
                </a:solidFill>
              </a:rPr>
              <a:t>0.985</a:t>
            </a:r>
            <a:r>
              <a:rPr sz="1300" b="0" i="0" dirty="0">
                <a:solidFill>
                  <a:srgbClr val="B0BEC5"/>
                </a:solidFill>
              </a:rPr>
              <a:t>,</a:t>
            </a:r>
            <a:r>
              <a:rPr lang="en-US" sz="1300" b="0" i="0" dirty="0">
                <a:solidFill>
                  <a:srgbClr val="B0BEC5"/>
                </a:solidFill>
              </a:rPr>
              <a:t> 0.98, 0975</a:t>
            </a:r>
            <a:endParaRPr lang="en-US" sz="1300" dirty="0">
              <a:solidFill>
                <a:srgbClr val="B0BEC5"/>
              </a:solidFill>
            </a:endParaRPr>
          </a:p>
          <a:p>
            <a:pPr algn="l"/>
            <a:r>
              <a:rPr lang="en-US" sz="1300" b="0" i="0" dirty="0">
                <a:solidFill>
                  <a:srgbClr val="B0BEC5"/>
                </a:solidFill>
              </a:rPr>
              <a:t>Others: % of the genre in the cluster</a:t>
            </a:r>
          </a:p>
          <a:p>
            <a:pPr algn="l"/>
            <a:r>
              <a:rPr lang="en-US" sz="1300" dirty="0" err="1">
                <a:solidFill>
                  <a:srgbClr val="B0BEC5"/>
                </a:solidFill>
              </a:rPr>
              <a:t>U</a:t>
            </a:r>
            <a:r>
              <a:rPr sz="1300" b="0" i="0" dirty="0" err="1">
                <a:solidFill>
                  <a:srgbClr val="B0BEC5"/>
                </a:solidFill>
              </a:rPr>
              <a:t>nplayed</a:t>
            </a:r>
            <a:r>
              <a:rPr sz="1300" b="0" i="0" dirty="0">
                <a:solidFill>
                  <a:srgbClr val="B0BEC5"/>
                </a:solidFill>
              </a:rPr>
              <a:t> penalized -0.15.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4306" y="1280160"/>
            <a:ext cx="2864358" cy="522505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44306" y="1280160"/>
            <a:ext cx="2864358" cy="64008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5745" y="1417320"/>
            <a:ext cx="268147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E"/>
                </a:solidFill>
              </a:rPr>
              <a:t>Dedicated Artist Mixes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5745" y="2011680"/>
            <a:ext cx="2681477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BEC5"/>
                </a:solidFill>
              </a:rPr>
              <a:t>Loyalty reward system.
If user played 5+ tracks from one artist, a dedicated mix is spun off.
Searches only that artist's discography, scored by LSTM cosine similarity</a:t>
            </a:r>
            <a:r>
              <a:rPr lang="en-US" sz="1300" dirty="0">
                <a:solidFill>
                  <a:srgbClr val="B0BEC5"/>
                </a:solidFill>
              </a:rPr>
              <a:t> between </a:t>
            </a:r>
            <a:r>
              <a:rPr lang="en-US" sz="1300" b="0" i="0" dirty="0" err="1">
                <a:solidFill>
                  <a:srgbClr val="B0BEC5"/>
                </a:solidFill>
              </a:rPr>
              <a:t>artist_centroid</a:t>
            </a:r>
            <a:r>
              <a:rPr lang="en-US" sz="1300" b="0" i="0" dirty="0">
                <a:solidFill>
                  <a:srgbClr val="B0BEC5"/>
                </a:solidFill>
              </a:rPr>
              <a:t> and the entire database. </a:t>
            </a:r>
            <a:endParaRPr sz="1300" b="0" i="0" dirty="0">
              <a:solidFill>
                <a:srgbClr val="B0BEC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5544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8229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Real User Query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i="1" dirty="0" err="1">
                <a:solidFill>
                  <a:srgbClr val="B0BEC5"/>
                </a:solidFill>
              </a:rPr>
              <a:t>E</a:t>
            </a:r>
            <a:r>
              <a:rPr sz="1600" b="0" i="1" dirty="0" err="1">
                <a:solidFill>
                  <a:srgbClr val="B0BEC5"/>
                </a:solidFill>
              </a:rPr>
              <a:t>eal</a:t>
            </a:r>
            <a:r>
              <a:rPr sz="1600" b="0" i="1" dirty="0">
                <a:solidFill>
                  <a:srgbClr val="B0BEC5"/>
                </a:solidFill>
              </a:rPr>
              <a:t> Spotify playlist tested end-to-end through the recommendation engine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Real User Test </a:t>
            </a:r>
            <a:r>
              <a:rPr lang="en-US" sz="2600" b="1" i="0" dirty="0">
                <a:solidFill>
                  <a:srgbClr val="FFFFFF"/>
                </a:solidFill>
              </a:rPr>
              <a:t>-</a:t>
            </a:r>
            <a:r>
              <a:rPr sz="2600" b="1" i="0" dirty="0">
                <a:solidFill>
                  <a:srgbClr val="FFFFFF"/>
                </a:solidFill>
              </a:rPr>
              <a:t> Mix 8: Deeply Eclectic, 3 Vibes 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Query: 34 tracks - show-tunes, metalcore, chill, psych-rock, dub, edm, acoustic, rock, hip-hop, trance...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Vibes Detected: 3 (Psych-Rock, EDM, Acoustic) - system correctly split mixed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For You Mix top picks: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Ball And Chain by Mike Ness (psych-rock, 1.00)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The Pot by TOOL (metal, 0.98) - LSTM recognized the heavy/dark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Psych-Rock Mix: 10 pure psych-rock tracks (UFO, Avalanches, Graveyard, Grinspoon)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1129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EDM Mix: 10 pure EDM tracks (MEDUZA, </a:t>
            </a:r>
            <a:r>
              <a:rPr sz="1700" b="0" i="0" dirty="0" err="1">
                <a:solidFill>
                  <a:srgbClr val="FFFFFF"/>
                </a:solidFill>
              </a:rPr>
              <a:t>Galantis</a:t>
            </a:r>
            <a:r>
              <a:rPr sz="1700" b="0" i="0" dirty="0">
                <a:solidFill>
                  <a:srgbClr val="FFFFFF"/>
                </a:solidFill>
              </a:rPr>
              <a:t>, </a:t>
            </a:r>
            <a:r>
              <a:rPr sz="1700" b="0" i="0" dirty="0" err="1">
                <a:solidFill>
                  <a:srgbClr val="FFFFFF"/>
                </a:solidFill>
              </a:rPr>
              <a:t>Alesso</a:t>
            </a:r>
            <a:r>
              <a:rPr sz="1700" b="0" i="0" dirty="0">
                <a:solidFill>
                  <a:srgbClr val="FFFFFF"/>
                </a:solidFill>
              </a:rPr>
              <a:t>, The Chainsmokers/ILLENIUM)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95344"/>
            <a:ext cx="111556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Acoustic Mix: Japanese, folk-punk, indie acoustic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793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Aimyon x2 (Japanese acoustic), Days N Daze, AJJ - proves no genre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268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Dedicated Artist Mixes: None 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109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FFFFFF"/>
                </a:solidFill>
              </a:rPr>
              <a:t>* Verdict: Strongest test - 3 completely different vibes separated correctly, 0 genre bleed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Real User Test: PCA Cluster Visualization (query</a:t>
            </a:r>
            <a:r>
              <a:rPr lang="en-US" sz="2600" b="1" i="0" dirty="0">
                <a:solidFill>
                  <a:srgbClr val="FFFFFF"/>
                </a:solidFill>
              </a:rPr>
              <a:t>8</a:t>
            </a:r>
            <a:r>
              <a:rPr sz="2600" b="1" i="0" dirty="0">
                <a:solidFill>
                  <a:srgbClr val="FFFFFF"/>
                </a:solidFill>
              </a:rPr>
              <a:t>_clusters.png)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1795" y="118872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</a:t>
            </a:r>
            <a:r>
              <a:rPr lang="en-US" sz="1600" b="0" i="0" dirty="0">
                <a:solidFill>
                  <a:srgbClr val="FFFFFF"/>
                </a:solidFill>
              </a:rPr>
              <a:t>3</a:t>
            </a:r>
            <a:r>
              <a:rPr sz="1600" b="0" i="0" dirty="0">
                <a:solidFill>
                  <a:srgbClr val="FFFFFF"/>
                </a:solidFill>
              </a:rPr>
              <a:t> distinct vibes clearly separated in 2D PCA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1795" y="164592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Cluster 1 (right): </a:t>
            </a:r>
            <a:r>
              <a:rPr lang="en-US" sz="1600" b="0" i="0" dirty="0">
                <a:solidFill>
                  <a:srgbClr val="FFFFFF"/>
                </a:solidFill>
              </a:rPr>
              <a:t>psych-rock</a:t>
            </a:r>
            <a:r>
              <a:rPr sz="1600" b="0" i="0" dirty="0">
                <a:solidFill>
                  <a:srgbClr val="FFFFFF"/>
                </a:solidFill>
              </a:rPr>
              <a:t>/</a:t>
            </a:r>
            <a:r>
              <a:rPr lang="en-US" sz="1600" b="0" i="0" dirty="0">
                <a:solidFill>
                  <a:srgbClr val="FFFFFF"/>
                </a:solidFill>
              </a:rPr>
              <a:t>metalcore</a:t>
            </a:r>
            <a:r>
              <a:rPr sz="1600" b="0" i="0" dirty="0">
                <a:solidFill>
                  <a:srgbClr val="FFFFFF"/>
                </a:solidFill>
              </a:rPr>
              <a:t>/</a:t>
            </a:r>
            <a:r>
              <a:rPr lang="en-US" sz="1600" dirty="0">
                <a:solidFill>
                  <a:srgbClr val="FFFFFF"/>
                </a:solidFill>
              </a:rPr>
              <a:t>metal</a:t>
            </a:r>
            <a:r>
              <a:rPr sz="1600" b="0" i="0" dirty="0">
                <a:solidFill>
                  <a:srgbClr val="FFFFFF"/>
                </a:solidFill>
              </a:rPr>
              <a:t>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1795" y="2067687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</a:t>
            </a:r>
            <a:r>
              <a:rPr lang="en-US" sz="1400" b="0" i="0" dirty="0">
                <a:solidFill>
                  <a:srgbClr val="B0BEC5"/>
                </a:solidFill>
              </a:rPr>
              <a:t>psych-rock, metalcore</a:t>
            </a:r>
            <a:r>
              <a:rPr sz="1400" b="0" i="0" dirty="0">
                <a:solidFill>
                  <a:srgbClr val="B0BEC5"/>
                </a:solidFill>
              </a:rPr>
              <a:t>, </a:t>
            </a:r>
            <a:r>
              <a:rPr lang="en-US" sz="1400" b="0" i="0" dirty="0">
                <a:solidFill>
                  <a:srgbClr val="B0BEC5"/>
                </a:solidFill>
              </a:rPr>
              <a:t>metal</a:t>
            </a:r>
            <a:r>
              <a:rPr sz="1400" b="0" i="0" dirty="0">
                <a:solidFill>
                  <a:srgbClr val="B0BEC5"/>
                </a:solidFill>
              </a:rPr>
              <a:t> all share similar sonic fingerprints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1795" y="3381375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Cluster </a:t>
            </a:r>
            <a:r>
              <a:rPr lang="en-US" sz="1600" b="0" i="0" dirty="0">
                <a:solidFill>
                  <a:srgbClr val="FFFFFF"/>
                </a:solidFill>
              </a:rPr>
              <a:t>3</a:t>
            </a:r>
            <a:r>
              <a:rPr sz="1600" b="0" i="0" dirty="0">
                <a:solidFill>
                  <a:srgbClr val="FFFFFF"/>
                </a:solidFill>
              </a:rPr>
              <a:t> (left): Bluegrass/</a:t>
            </a:r>
            <a:r>
              <a:rPr lang="en-US" sz="1600" b="0" i="0" dirty="0">
                <a:solidFill>
                  <a:srgbClr val="FFFFFF"/>
                </a:solidFill>
              </a:rPr>
              <a:t>Folk</a:t>
            </a:r>
            <a:r>
              <a:rPr sz="1600" b="0" i="0" dirty="0">
                <a:solidFill>
                  <a:srgbClr val="FFFFFF"/>
                </a:solidFill>
              </a:rPr>
              <a:t>/</a:t>
            </a:r>
            <a:r>
              <a:rPr lang="en-US" sz="1600" b="0" i="0" dirty="0">
                <a:solidFill>
                  <a:srgbClr val="FFFFFF"/>
                </a:solidFill>
              </a:rPr>
              <a:t>Rockabilly</a:t>
            </a:r>
            <a:r>
              <a:rPr sz="1600" b="0" i="0" dirty="0">
                <a:solidFill>
                  <a:srgbClr val="FFFFFF"/>
                </a:solidFill>
              </a:rPr>
              <a:t> tracks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1795" y="3822192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PCA Axes represent the compressed 8 audio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795" y="4257514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PC</a:t>
            </a:r>
            <a:r>
              <a:rPr lang="en-US" sz="1400" dirty="0">
                <a:solidFill>
                  <a:srgbClr val="B0BEC5"/>
                </a:solidFill>
              </a:rPr>
              <a:t>1</a:t>
            </a:r>
            <a:r>
              <a:rPr sz="1400" b="0" i="0" dirty="0">
                <a:solidFill>
                  <a:srgbClr val="B0BEC5"/>
                </a:solidFill>
              </a:rPr>
              <a:t> likely captures energy/tempo spectrum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1795" y="4610497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PC</a:t>
            </a:r>
            <a:r>
              <a:rPr lang="en-US" sz="1400" dirty="0">
                <a:solidFill>
                  <a:srgbClr val="B0BEC5"/>
                </a:solidFill>
              </a:rPr>
              <a:t>2</a:t>
            </a:r>
            <a:r>
              <a:rPr sz="1400" b="0" i="0" dirty="0">
                <a:solidFill>
                  <a:srgbClr val="B0BEC5"/>
                </a:solidFill>
              </a:rPr>
              <a:t> likely captures acoustic vs electronic 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1795" y="4999100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K=</a:t>
            </a:r>
            <a:r>
              <a:rPr lang="en-US" sz="1600" b="0" i="0" dirty="0">
                <a:solidFill>
                  <a:srgbClr val="FFFFFF"/>
                </a:solidFill>
              </a:rPr>
              <a:t>3</a:t>
            </a:r>
            <a:r>
              <a:rPr sz="1600" b="0" i="0" dirty="0">
                <a:solidFill>
                  <a:srgbClr val="FFFFFF"/>
                </a:solidFill>
              </a:rPr>
              <a:t> was auto-selected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1795" y="5382860"/>
            <a:ext cx="6126480" cy="329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had 3+ tracks qualifying as distinct genre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EB1D013-7E26-4F23-A855-DB88F8BC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93670"/>
            <a:ext cx="6307455" cy="36793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1C99366-8AEA-4FC9-81E6-2BAD87DC56AA}"/>
              </a:ext>
            </a:extLst>
          </p:cNvPr>
          <p:cNvSpPr txBox="1"/>
          <p:nvPr/>
        </p:nvSpPr>
        <p:spPr>
          <a:xfrm>
            <a:off x="6741795" y="2516124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Cluste</a:t>
            </a:r>
            <a:r>
              <a:rPr lang="en-US" sz="1600" b="0" i="0" dirty="0">
                <a:solidFill>
                  <a:srgbClr val="FFFFFF"/>
                </a:solidFill>
              </a:rPr>
              <a:t>r</a:t>
            </a:r>
            <a:r>
              <a:rPr sz="1600" b="0" i="0" dirty="0">
                <a:solidFill>
                  <a:srgbClr val="FFFFFF"/>
                </a:solidFill>
              </a:rPr>
              <a:t> </a:t>
            </a:r>
            <a:r>
              <a:rPr lang="en-US" sz="1600" b="0" i="0" dirty="0">
                <a:solidFill>
                  <a:srgbClr val="FFFFFF"/>
                </a:solidFill>
              </a:rPr>
              <a:t>2</a:t>
            </a:r>
            <a:r>
              <a:rPr sz="1600" b="0" i="0" dirty="0">
                <a:solidFill>
                  <a:srgbClr val="FFFFFF"/>
                </a:solidFill>
              </a:rPr>
              <a:t> (</a:t>
            </a:r>
            <a:r>
              <a:rPr lang="en-US" sz="1600" b="0" i="0" dirty="0">
                <a:solidFill>
                  <a:srgbClr val="FFFFFF"/>
                </a:solidFill>
              </a:rPr>
              <a:t>down</a:t>
            </a:r>
            <a:r>
              <a:rPr sz="1600" b="0" i="0" dirty="0">
                <a:solidFill>
                  <a:srgbClr val="FFFFFF"/>
                </a:solidFill>
              </a:rPr>
              <a:t>): </a:t>
            </a:r>
            <a:r>
              <a:rPr lang="en-US" sz="1600" b="0" i="0" dirty="0">
                <a:solidFill>
                  <a:srgbClr val="FFFFFF"/>
                </a:solidFill>
              </a:rPr>
              <a:t>EDM</a:t>
            </a:r>
            <a:r>
              <a:rPr sz="1600" b="0" i="0" dirty="0">
                <a:solidFill>
                  <a:srgbClr val="FFFFFF"/>
                </a:solidFill>
              </a:rPr>
              <a:t>/</a:t>
            </a:r>
            <a:r>
              <a:rPr lang="en-US" sz="1600" dirty="0">
                <a:solidFill>
                  <a:srgbClr val="FFFFFF"/>
                </a:solidFill>
              </a:rPr>
              <a:t>Trance</a:t>
            </a:r>
            <a:r>
              <a:rPr sz="1600" b="0" i="0" dirty="0">
                <a:solidFill>
                  <a:srgbClr val="FFFFFF"/>
                </a:solidFill>
              </a:rPr>
              <a:t>/</a:t>
            </a:r>
            <a:r>
              <a:rPr lang="en-US" sz="1600" b="0" i="0" dirty="0">
                <a:solidFill>
                  <a:srgbClr val="FFFFFF"/>
                </a:solidFill>
              </a:rPr>
              <a:t>Dub</a:t>
            </a:r>
            <a:r>
              <a:rPr sz="1600" b="0" i="0" dirty="0">
                <a:solidFill>
                  <a:srgbClr val="FFFFFF"/>
                </a:solidFill>
              </a:rPr>
              <a:t> tracks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8C970-1BFD-47DA-8B40-EC8D1C6FBD5D}"/>
              </a:ext>
            </a:extLst>
          </p:cNvPr>
          <p:cNvSpPr txBox="1"/>
          <p:nvPr/>
        </p:nvSpPr>
        <p:spPr>
          <a:xfrm>
            <a:off x="6741795" y="2936748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Tighter cluster - these genres are more </a:t>
            </a:r>
            <a:r>
              <a:rPr lang="en-US" sz="1400" b="0" i="0" dirty="0">
                <a:solidFill>
                  <a:srgbClr val="B0BEC5"/>
                </a:solidFill>
              </a:rPr>
              <a:t>acoustically</a:t>
            </a:r>
            <a:r>
              <a:rPr sz="1400" b="0" i="0" dirty="0">
                <a:solidFill>
                  <a:srgbClr val="B0BEC5"/>
                </a:solidFill>
              </a:rPr>
              <a:t> uniform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Dedicated Artist Test (Mix 2): 25x Linkin Park + 25x Beatles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Query: 50 tracks - 25 Linkin Park (grunge/metal/alternative) + 25 The Beatles (psych-rock/british)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Vibes Detected: 4 (British, Grunge, Metal, Psych-Rock) - all 4 clusters correctly isolated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4825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For You Mix top picks (LSTM captures the heavy emotional energy of both artists):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Ball And Chain by Mike Ness (psych-rock, 1.04)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5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Ten Million Voices by Shaman's Harvest (grunge, 1.03)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7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New Divide by Linkin Park (grunge, 1.00) - artist bonus: +0.050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1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Vibe Mixes generated: British, Grunge, Metal, Psych-Rock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587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Linkin Park appears in Grunge mix with +0.050 artist bonus bumping to 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Beatles appear in Psych-Rock mix with +0.050 artist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Dedicated Artist Mixes triggered (threshold: 5+ plays):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5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Linkin Park Mix: 10 tracks from discography (New Divide 0.91, Numb 0.81)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85231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o The Beatles Mix: 10 tracks (Night Before 0.87, Sgt. Pepper 0.84, AUSS 0.76)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32703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* Verdict: Artist loyalty system works perfectly for multi-artist heavy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Dedicated Artist Test: PCA Cluster Visualization (query2_clusters.png)</a:t>
            </a:r>
          </a:p>
        </p:txBody>
      </p:sp>
      <p:pic>
        <p:nvPicPr>
          <p:cNvPr id="5" name="Picture 4" descr="query2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43000"/>
            <a:ext cx="6439989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4670" y="11887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4 clearly separated vibe clusters in 2D PCA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4670" y="16459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Cluster 1 (top-left): British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4670" y="21031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  o Beatles british-genre tracks grouped tightly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4670" y="2496312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Cluster 2 (top-right): Psych-Rock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4670" y="2953512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  o Beatles psych-rock tracks (majority) form large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4670" y="3346704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Cluster 3 (bottom-left): Grunge/Alternative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4670" y="3803904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  o Linkin Park grunge/alternative tracks isolated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4670" y="41970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* Cluster 4 (bottom-right): Metal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4670" y="46542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  o Linkin Park metal tracks form their own sub-cluster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4670" y="504748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K=4 auto-selected: grunge, metal, psych-rock, british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4670" y="550468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  o all had 3+ tracks qualifying as dominant genre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4670" y="5897879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* The clean separation proves the PCA+KMeans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4670" y="6355079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C5"/>
                </a:solidFill>
              </a:rPr>
              <a:t>  o successfully disentangles even closely related genres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&amp; 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9534" y="1280160"/>
            <a:ext cx="2560320" cy="1920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9534" y="1280160"/>
            <a:ext cx="256032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9534" y="155448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00A8FF"/>
                </a:solidFill>
              </a:rPr>
              <a:t>~</a:t>
            </a:r>
            <a:r>
              <a:rPr lang="en-US" sz="3600" b="1" dirty="0">
                <a:solidFill>
                  <a:srgbClr val="00A8FF"/>
                </a:solidFill>
              </a:rPr>
              <a:t>81</a:t>
            </a:r>
            <a:r>
              <a:rPr sz="3600" b="1" i="0" dirty="0">
                <a:solidFill>
                  <a:srgbClr val="00A8FF"/>
                </a:solidFill>
              </a:rPr>
              <a:t>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534" y="2423160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B0BEC5"/>
                </a:solidFill>
              </a:rPr>
              <a:t>Unique </a:t>
            </a:r>
            <a:r>
              <a:rPr sz="1400" b="0" i="0" dirty="0">
                <a:solidFill>
                  <a:srgbClr val="B0BEC5"/>
                </a:solidFill>
              </a:rPr>
              <a:t>Tracks in
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9388" y="1280160"/>
            <a:ext cx="2560320" cy="1920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9388" y="1280160"/>
            <a:ext cx="2560320" cy="64008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9388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A2BE2"/>
                </a:solidFill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9388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Genres
Mapped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9243" y="1280160"/>
            <a:ext cx="2560320" cy="1920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9243" y="1280160"/>
            <a:ext cx="2560320" cy="64008"/>
          </a:xfrm>
          <a:prstGeom prst="rect">
            <a:avLst/>
          </a:prstGeom>
          <a:solidFill>
            <a:srgbClr val="00D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9243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7E"/>
                </a:solidFill>
              </a:rPr>
              <a:t>&gt;30%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9243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Dataset
Bloat 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9097" y="1280160"/>
            <a:ext cx="2560320" cy="1920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9097" y="1280160"/>
            <a:ext cx="25603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9097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</a:rPr>
              <a:t>40,000+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097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LSTM Training
Sequences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74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7E"/>
                </a:solidFill>
              </a:rPr>
              <a:t>Playlist Generator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319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* Dynamic Vibe Clustering: Detects 1-K distinct listening moods using PCA + </a:t>
            </a:r>
            <a:r>
              <a:rPr sz="1400" b="0" i="0" dirty="0" err="1">
                <a:solidFill>
                  <a:srgbClr val="FFFFFF"/>
                </a:solidFill>
              </a:rPr>
              <a:t>KMeans</a:t>
            </a:r>
            <a:endParaRPr sz="1400" b="0" i="0" dirty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4343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* For You Mix: Global LSTM-based prediction of the user's next desired musical 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* Genre-Aware Weighting: Weights by local cluster genre distribution (%) - no hardcoded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66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</a:rPr>
              <a:t>* Dedicated Artist Mixes: Auto-generated if a user plays 5+ tracks from the same artist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577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* Unplayed Genre Penalty: -0.15 dampening on similar-but-not-played genres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893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* Regression Test Suite: 6 automated stress-test scenarios run on every CI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Music Playlist Recommendation Engine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213360" y="1938528"/>
            <a:ext cx="12188952" cy="2926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3959352" cy="45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FF"/>
                </a:solidFill>
              </a:rPr>
              <a:t>Music Playlist Recommendation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BEC5"/>
                </a:solidFill>
              </a:rPr>
              <a:t>Introduction to Data Science  .  Final Project  .  Phase 1, 2 &amp;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A8FF"/>
                </a:solidFill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B0BEC5"/>
                </a:solidFill>
              </a:rPr>
              <a:t>Sadra-Madayeni</a:t>
            </a:r>
            <a:r>
              <a:rPr sz="1200" b="0" i="0" dirty="0">
                <a:solidFill>
                  <a:srgbClr val="B0BEC5"/>
                </a:solidFill>
              </a:rPr>
              <a:t>/Music-Playlist-Recommender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2492</Words>
  <Application>Microsoft Office PowerPoint</Application>
  <PresentationFormat>Custom</PresentationFormat>
  <Paragraphs>230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Amirmohammad Barari</cp:lastModifiedBy>
  <cp:revision>18</cp:revision>
  <dcterms:created xsi:type="dcterms:W3CDTF">2013-01-27T09:14:16Z</dcterms:created>
  <dcterms:modified xsi:type="dcterms:W3CDTF">2026-07-29T16:51:34Z</dcterms:modified>
  <cp:category/>
</cp:coreProperties>
</file>