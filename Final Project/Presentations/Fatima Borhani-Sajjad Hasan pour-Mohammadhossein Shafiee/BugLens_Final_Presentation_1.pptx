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8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metrics (%)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E162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AUC</c:v>
                </c:pt>
                <c:pt idx="1">
                  <c:v>Accuracy</c:v>
                </c:pt>
                <c:pt idx="2">
                  <c:v>Precision</c:v>
                </c:pt>
                <c:pt idx="3">
                  <c:v>Recall</c:v>
                </c:pt>
                <c:pt idx="4">
                  <c:v>F1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63.8</c:v>
                </c:pt>
                <c:pt idx="1">
                  <c:v>60</c:v>
                </c:pt>
                <c:pt idx="2">
                  <c:v>58</c:v>
                </c:pt>
                <c:pt idx="3">
                  <c:v>55</c:v>
                </c:pt>
                <c:pt idx="4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12-47C1-9FD2-92FB53703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baseline</c:v>
                </c:pt>
              </c:strCache>
            </c:strRef>
          </c:tx>
          <c:spPr>
            <a:solidFill>
              <a:srgbClr val="D8E0E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E162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AUC</c:v>
                </c:pt>
                <c:pt idx="1">
                  <c:v>Accuracy</c:v>
                </c:pt>
                <c:pt idx="2">
                  <c:v>Precision</c:v>
                </c:pt>
                <c:pt idx="3">
                  <c:v>Recall</c:v>
                </c:pt>
                <c:pt idx="4">
                  <c:v>F1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12-47C1-9FD2-92FB53703E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748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2748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2748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AUC</c:v>
                </c:pt>
              </c:strCache>
            </c:strRef>
          </c:tx>
          <c:spPr>
            <a:solidFill>
              <a:srgbClr val="9AAE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67A-4A61-B388-6DD168163A61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67A-4A61-B388-6DD168163A61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E162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15,000 submissions
(10,431 training)</c:v>
                </c:pt>
                <c:pt idx="1">
                  <c:v>60,000 submissions
(42,000 training)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0.62160000000000004</c:v>
                </c:pt>
                <c:pt idx="1">
                  <c:v>0.63839999999999997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67A-4A61-B388-6DD168163A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2748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8"/>
          <c:min val="0.55000000000000004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2748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within ±4 lines (%)</c:v>
                </c:pt>
              </c:strCache>
            </c:strRef>
          </c:tx>
          <c:spPr>
            <a:solidFill>
              <a:srgbClr val="F2B3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0DF-4633-A87B-E52A69F0F884}"/>
              </c:ext>
            </c:extLst>
          </c:dPt>
          <c:dPt>
            <c:idx val="1"/>
            <c:invertIfNegative val="0"/>
            <c:bubble3D val="0"/>
            <c:spPr>
              <a:solidFill>
                <a:srgbClr val="9AAE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DF-4633-A87B-E52A69F0F884}"/>
              </c:ext>
            </c:extLst>
          </c:dPt>
          <c:dPt>
            <c:idx val="2"/>
            <c:invertIfNegative val="0"/>
            <c:bubble3D val="0"/>
            <c:spPr>
              <a:solidFill>
                <a:srgbClr val="9AAE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0DF-4633-A87B-E52A69F0F884}"/>
              </c:ext>
            </c:extLst>
          </c:dPt>
          <c:dPt>
            <c:idx val="3"/>
            <c:invertIfNegative val="0"/>
            <c:bubble3D val="0"/>
            <c:spPr>
              <a:solidFill>
                <a:srgbClr val="9AAE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0DF-4633-A87B-E52A69F0F88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E162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Sequence model
(BugLens)</c:v>
                </c:pt>
                <c:pt idx="1">
                  <c:v>Line-level boosting</c:v>
                </c:pt>
                <c:pt idx="2">
                  <c:v>Logistic regression</c:v>
                </c:pt>
                <c:pt idx="3">
                  <c:v>Random forest
(paper baseline)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45</c:v>
                </c:pt>
                <c:pt idx="2">
                  <c:v>40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0DF-4633-A87B-E52A69F0F8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2748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2748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768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framing: BugLens is a review-triage assistant, not an automatic 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0.6216 (n_train=10,431) -&gt; 0.6384 (n_train=42,000), same model. Both 60K runs logged the identical 0.6384.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Majd et al., SLDeep, Expert Systems With Applications 147 (2020) 113156.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852160" cy="5852160"/>
          </a:xfrm>
          <a:prstGeom prst="ellipse">
            <a:avLst/>
          </a:prstGeom>
          <a:solidFill>
            <a:srgbClr val="1322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-274320"/>
            <a:ext cx="2743200" cy="2743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Tehran   ·   Data Science   ·   Spring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BugLens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bugs in C/C++ code — and pointing at the line.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Team members: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AAEC4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9AAEC4"/>
                </a:solidFill>
                <a:latin typeface="Calibri" pitchFamily="34" charset="0"/>
                <a:cs typeface="Calibri" pitchFamily="34" charset="-120"/>
              </a:rPr>
              <a:t>Fatima Borhani       Sajjad Hasan pour     </a:t>
            </a:r>
            <a:r>
              <a:rPr lang="en-US" sz="1200" dirty="0" err="1">
                <a:solidFill>
                  <a:srgbClr val="9AAEC4"/>
                </a:solidFill>
                <a:latin typeface="Calibri" pitchFamily="34" charset="0"/>
                <a:cs typeface="Calibri" pitchFamily="34" charset="-120"/>
              </a:rPr>
              <a:t>Mohammadhossein</a:t>
            </a:r>
            <a:r>
              <a:rPr lang="en-US" sz="1200" dirty="0">
                <a:solidFill>
                  <a:srgbClr val="9AAEC4"/>
                </a:solidFill>
                <a:latin typeface="Calibri" pitchFamily="34" charset="0"/>
                <a:cs typeface="Calibri" pitchFamily="34" charset="-120"/>
              </a:rPr>
              <a:t> Shafiee</a:t>
            </a:r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54680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154680" y="5029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486400" y="5029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recall @ n=4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— Phase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review is a queue. Nobody knows what to read first.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56432" cy="23774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time is the bottleneck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open submissions in arbitrary order. The buggy ones are found last, or not at all.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79392" y="1920240"/>
            <a:ext cx="3456432" cy="23774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99432" y="2194560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9432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“Where” is harder than “whether”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33375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a file is flagged, a human still has to scan every line to find the fault.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10144" y="1920240"/>
            <a:ext cx="3456432" cy="23774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30184" y="2194560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30184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 here are subtle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0184" y="33375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 is often a single character — a ≤ that should be a &lt;, an index shifted by one.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6202D"/>
          </a:solidFill>
          <a:ln w="12700">
            <a:solidFill>
              <a:srgbClr val="16202D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turns that queue into a ranked worklist — and inside each item, a shortlist of suspicious lines.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answers from one system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834640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21488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9164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this code have a bug?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063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gets a bug-probability score, so a review queue can be sorted worst-first.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397764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3977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0.638 · balanced 50/50 target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394960" cy="2834640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29400" y="2148840"/>
            <a:ext cx="548640" cy="548640"/>
          </a:xfrm>
          <a:prstGeom prst="ellipse">
            <a:avLst/>
          </a:prstGeom>
          <a:solidFill>
            <a:srgbClr val="F2B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6092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60920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line is it?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3063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flagged submission, each line gets its own fault-proneness score and the top candidates are highlighted.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29400" y="397764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3977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0.89 within ±4 lines of the true fault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answer the two questions a reviewer actually asks — in that order.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submission to a ranked worklist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and known fault lines land in one clean store.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2642616" y="3108960"/>
            <a:ext cx="182880" cy="182880"/>
          </a:xfrm>
          <a:prstGeom prst="triangle">
            <a:avLst/>
          </a:prstGeom>
          <a:solidFill>
            <a:srgbClr val="9AAE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07208" y="210312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35808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35808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35808" y="3154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versions of the same code are clustered together.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901184" y="3108960"/>
            <a:ext cx="182880" cy="182880"/>
          </a:xfrm>
          <a:prstGeom prst="triangle">
            <a:avLst/>
          </a:prstGeom>
          <a:solidFill>
            <a:srgbClr val="9AAE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65776" y="210312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94376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94376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structure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94376" y="3154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submission is described by structural and syntax-tree signals.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7159752" y="3108960"/>
            <a:ext cx="182880" cy="182880"/>
          </a:xfrm>
          <a:prstGeom prst="triangle">
            <a:avLst/>
          </a:prstGeom>
          <a:solidFill>
            <a:srgbClr val="9AAE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24344" y="210312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52944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52944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52944" y="3154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scores the file, another scores every line.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9418320" y="3108960"/>
            <a:ext cx="182880" cy="182880"/>
          </a:xfrm>
          <a:prstGeom prst="triangle">
            <a:avLst/>
          </a:prstGeom>
          <a:solidFill>
            <a:srgbClr val="9AAE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582912" y="210312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6202D"/>
          </a:solidFill>
          <a:ln w="12700">
            <a:solidFill>
              <a:srgbClr val="16202D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11512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11512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11512" y="31546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written back, ready for a dashboard or CI check.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46634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versioned and tracked end to end — any number in this deck can be traced back to the exact run that produced it.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Code4Bench — real contest submissions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15184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in the working dataset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46704" y="1965960"/>
            <a:ext cx="2615184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75304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50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75304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 buggy vs. clean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44768" y="1965960"/>
            <a:ext cx="2615184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73368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Line-level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73368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fault lines recorded for every bug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42832" y="1965960"/>
            <a:ext cx="2615184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71432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Leakage-safe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71432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versions never split across train and test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16202D"/>
          </a:solidFill>
          <a:ln w="12700">
            <a:solidFill>
              <a:srgbClr val="16202D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balance matters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3891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exactly balanced target, a coin flip scores 0.50 AUC and 50% accuracy.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point above 0.50 is genuine, earned signal — there is no majority class to hide behind.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we report AUC and MCC as headline numbers, and never raw accuracy alone.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HARD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buggy and clean examples are nearly the same file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defect-detection benchmarks, buggy code and clean code come from entirely different programs — so a model can win by recognising the program. In ours, each pair is a submission and its own fix: same author, same problem, often a handful of characters apart.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6035040" cy="2011680"/>
          </a:xfrm>
          <a:prstGeom prst="roundRect">
            <a:avLst>
              <a:gd name="adj" fmla="val 4545"/>
            </a:avLst>
          </a:prstGeom>
          <a:solidFill>
            <a:srgbClr val="16202D"/>
          </a:solidFill>
          <a:ln w="12700">
            <a:solidFill>
              <a:srgbClr val="203040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consequences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to detect and cluster these near-identical pairs, then keep every cluster entirely on one side of the train/test split — otherwise scores inflate on memorised problems.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is the hardest possible version of the task: tell two almost-identical files apart on the bug alone.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0" y="1737360"/>
            <a:ext cx="4663440" cy="3566160"/>
          </a:xfrm>
          <a:prstGeom prst="roundRect">
            <a:avLst>
              <a:gd name="adj" fmla="val 2564"/>
            </a:avLst>
          </a:prstGeom>
          <a:solidFill>
            <a:srgbClr val="16202D"/>
          </a:solidFill>
          <a:ln w="12700">
            <a:solidFill>
              <a:srgbClr val="203040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6948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SUBMISSION, TWICE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69480" y="22860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1E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BUGGY VERSION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0" y="2697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runs one step past the array end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36118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1E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VERSION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0" y="4023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file — one comparison operator changed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269480" y="4846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the two labels: 1 character.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023360"/>
            <a:ext cx="4114800" cy="41148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actually delivers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 held-out, leakage-safe test set — with the operating point frozen before the test set was ever touched.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CLASSIFICATION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this submission have a bug?</a:t>
            </a:r>
            <a:endParaRPr lang="en-US" sz="3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6583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82880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16202D"/>
          </a:solidFill>
          <a:ln w="12700">
            <a:solidFill>
              <a:srgbClr val="16202D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26680" y="2011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0.638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26680" y="2697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of the final model — reproduced identically across independent runs.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06640" y="361188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2668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these numbers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26680" y="41148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perfectly balanced task, 0.638 AUC is real, repeatable signal well clear of chance — and it is measured on a split where the model cannot recognise a problem it has seen before.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5349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from the final logged run on the 60K dataset; AUC verified against the tracked experiment record.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SCALE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data made the model measurably better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deliberately grew the dataset from 15,000 to 60,000 submissions to answer one question: is the model's ceiling set by our features, or simply by how much data it has seen? Same model, same features, same protocol — only the data changed.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514600"/>
          <a:ext cx="6400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223760" y="2514600"/>
            <a:ext cx="438912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52360" y="25146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+1.7 pts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961120" y="25146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gained by quadrupling the data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23760" y="3493008"/>
            <a:ext cx="438912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52360" y="349300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4×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961120" y="349300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training examples, same architecture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23760" y="4471416"/>
            <a:ext cx="438912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52360" y="447141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Identical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961120" y="4471416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reproduced exactly across independent runs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6202D"/>
          </a:solidFill>
          <a:ln w="12700">
            <a:solidFill>
              <a:srgbClr val="16202D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produced a real, stable improvement — a sign the model still benefits from scale and has not hit the limit of what it can learn.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LOCALIZATION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this is where the system shines</a:t>
            </a:r>
            <a:endParaRPr lang="en-US" sz="3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66751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82880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16202D"/>
          </a:solidFill>
          <a:ln w="12700">
            <a:solidFill>
              <a:srgbClr val="16202D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818120" y="1965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818120" y="26060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faults land within four lines of where we point.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8080" y="338328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8181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order matters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18120" y="393192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treat lines as an unordered bag of measurements fall to 18–45% recall. Reading the file in sequence — the way a developer does — is what unlocks the jump. That is the single clearest finding in the project.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5532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“Within ±4 lines” is the standard evaluation window used by the published SLDeep study, so these figures are directly comparable to it.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 · HIT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in action — a real test submission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#35 from the held-out test set. Ground truth: buggy, with the fault on line 41. Nothing here is hand-picked or reconstructed — this is the raw output of a single run.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943600" cy="2286000"/>
          </a:xfrm>
          <a:prstGeom prst="roundRect">
            <a:avLst>
              <a:gd name="adj" fmla="val 4000"/>
            </a:avLst>
          </a:prstGeom>
          <a:solidFill>
            <a:srgbClr val="111C2A"/>
          </a:solidFill>
          <a:ln w="12700">
            <a:solidFill>
              <a:srgbClr val="22303F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— LAST LINES OF THE SUBMISSION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743200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61872" y="274320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//cout &lt;&lt; res &lt;&lt; " " &lt;&lt; vt &lt;&lt; endl;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008376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61872" y="3008376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//cout &lt;&lt; res &lt;&lt; " " &lt;&lt; f[295] &lt;&lt; endl;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3273552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3273552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538728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61872" y="3538728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//cout &lt;&lt; vt &lt;&lt; endl;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" y="3785616"/>
            <a:ext cx="5687568" cy="265176"/>
          </a:xfrm>
          <a:prstGeom prst="rect">
            <a:avLst/>
          </a:prstGeom>
          <a:solidFill>
            <a:srgbClr val="3A2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803904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61872" y="3803904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res + (t-c)*(res - tk) &lt;&lt; endl;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4069080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61872" y="406908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//h[0] = 1000000000;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41 — the true fault, per the dataset's own label.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2194560"/>
            <a:ext cx="484632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23042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DOES IT HAVE A BUG?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40880" y="25786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P(buggy) = 0.508  →  </a:t>
            </a:r>
            <a:r>
              <a:rPr lang="en-US" sz="1300" b="1" dirty="0">
                <a:solidFill>
                  <a:srgbClr val="0B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BUGGY  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3246120"/>
            <a:ext cx="4846320" cy="2331720"/>
          </a:xfrm>
          <a:prstGeom prst="roundRect">
            <a:avLst>
              <a:gd name="adj" fmla="val 3922"/>
            </a:avLst>
          </a:prstGeom>
          <a:solidFill>
            <a:srgbClr val="16202D"/>
          </a:solidFill>
          <a:ln w="12700">
            <a:solidFill>
              <a:srgbClr val="16202D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40880" y="3364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WHICH LINE?  TOP 5 SUSPECTS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67728" y="3666744"/>
            <a:ext cx="4443984" cy="329184"/>
          </a:xfrm>
          <a:prstGeom prst="roundRect">
            <a:avLst>
              <a:gd name="adj" fmla="val 13889"/>
            </a:avLst>
          </a:prstGeom>
          <a:solidFill>
            <a:srgbClr val="0B4E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86600" y="3685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36850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41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78240" y="3685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0.720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104120" y="3685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the real bug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86600" y="40325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0" y="40325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21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78240" y="40325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0.673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86600" y="43799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437997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29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78240" y="43799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0.660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86600" y="47274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89520" y="4727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778240" y="4727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0.655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86600" y="5074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89520" y="5074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28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778240" y="5074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0.628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029200"/>
            <a:ext cx="5943600" cy="658368"/>
          </a:xfrm>
          <a:prstGeom prst="roundRect">
            <a:avLst>
              <a:gd name="adj" fmla="val 138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2960" y="50292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questions answered correctly — and the fault line came back ranked first.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 · MISS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here is a case we do not get right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#6 — 215 lines of dense bitmask and Zeta-transform code, with three separate fault lines. We show it because the honest failure mode matters as much as the win.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943600" cy="2286000"/>
          </a:xfrm>
          <a:prstGeom prst="roundRect">
            <a:avLst>
              <a:gd name="adj" fmla="val 4000"/>
            </a:avLst>
          </a:prstGeom>
          <a:solidFill>
            <a:srgbClr val="111C2A"/>
          </a:solidFill>
          <a:ln w="12700">
            <a:solidFill>
              <a:srgbClr val="22303F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ONE OF THE THREE FAULT LINES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743200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61872" y="274320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back(a[now].x);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008376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61872" y="3008376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back(a[now].y);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3273552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3273552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x=a[now].x, y=a[now].y;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" y="3520440"/>
            <a:ext cx="5687568" cy="265176"/>
          </a:xfrm>
          <a:prstGeom prst="rect">
            <a:avLst/>
          </a:prstGeom>
          <a:solidFill>
            <a:srgbClr val="3A2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3538728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61872" y="3538728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if(a[now].u != '|') // &amp; or 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" y="3803904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61872" y="3803904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4069080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6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61872" y="406908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8E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memset(tmp, 0, sizeof(tmp));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fault lines: 97, 111 and 127.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2194560"/>
            <a:ext cx="4846320" cy="914400"/>
          </a:xfrm>
          <a:prstGeom prst="roundRect">
            <a:avLst>
              <a:gd name="adj" fmla="val 10000"/>
            </a:avLst>
          </a:prstGeom>
          <a:solidFill>
            <a:srgbClr val="16202D"/>
          </a:solidFill>
          <a:ln w="12700">
            <a:solidFill>
              <a:srgbClr val="22303F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23042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DOES IT HAVE A BUG?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40880" y="25786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P(buggy) = 0.719  →  </a:t>
            </a:r>
            <a:r>
              <a:rPr lang="en-US" sz="13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BUGGY  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3246120"/>
            <a:ext cx="4846320" cy="1051560"/>
          </a:xfrm>
          <a:prstGeom prst="roundRect">
            <a:avLst>
              <a:gd name="adj" fmla="val 8696"/>
            </a:avLst>
          </a:prstGeom>
          <a:solidFill>
            <a:srgbClr val="2A1D1D"/>
          </a:solidFill>
          <a:ln w="12700">
            <a:solidFill>
              <a:srgbClr val="4A2C2C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40880" y="3364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D8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WHICH LINE?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0880" y="36393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line cleared the decision threshold — all three faults missed.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66560" y="4434840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16202D"/>
          </a:solidFill>
          <a:ln w="12700">
            <a:solidFill>
              <a:srgbClr val="22303F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4088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think it missed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4846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215 lines with an unusual algorithmic structure, this submission sits far from the line-length and token profile the localizer was trained 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029200"/>
            <a:ext cx="5943600" cy="658368"/>
          </a:xfrm>
          <a:prstGeom prst="roundRect">
            <a:avLst>
              <a:gd name="adj" fmla="val 13889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" y="50292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full demo run the localizer hit 1 of 3 buggy submissions — classification is the dependable half today.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RESULT HOLDS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defensible number, not a disappointing one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039112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1872" y="1984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 clear of chance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is exactly 50/50, so random guessing scores 0.50. We hold 0.63–0.64 consistently — genuine signal, not noise.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9392" y="178308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53712" y="2039112"/>
            <a:ext cx="310896" cy="310896"/>
          </a:xfrm>
          <a:prstGeom prst="ellipse">
            <a:avLst/>
          </a:prstGeom>
          <a:solidFill>
            <a:srgbClr val="F2B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92624" y="1984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hardest form of the task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2514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buggy and clean examples are near-identical versions of the same submission. Most benchmarks compare unrelated programs, which is far easier.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10144" y="178308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84464" y="2039112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23376" y="1984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ceiling was tested, not assumed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84464" y="25146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attempts to break through it with richer, heavier representations were run in full. None beat the simple model — evidence the limit lives in the data, not in our choices.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" y="4096512"/>
            <a:ext cx="310896" cy="310896"/>
          </a:xfrm>
          <a:prstGeom prst="ellipse">
            <a:avLst/>
          </a:prstGeom>
          <a:solidFill>
            <a:srgbClr val="F2B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61872" y="40416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moves the number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Quadrupling the data lifted AUC from 0.6216 to 0.6384. The binding constraint is data volume — something time and collection can fix.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9392" y="384048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53712" y="4096512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92624" y="40416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for stability, not luck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53712" y="45720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baselines swung wildly between runs (one ranged from 0.53 to 0.70). Our final model returned the same figure every time. We shipped the reproducible one.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10144" y="384048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84464" y="4096512"/>
            <a:ext cx="310896" cy="310896"/>
          </a:xfrm>
          <a:prstGeom prst="ellipse">
            <a:avLst/>
          </a:prstGeom>
          <a:solidFill>
            <a:srgbClr val="F2B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723376" y="40416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is not the whole product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84464" y="45720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line-level localization, a moderate probability still produces a useful answer: what to review first, and where to look.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compare to the published work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SLDeep (Expert Systems With Applications, 2020) tackles the same problem on the same benchmark family — with resources an order of magnitude beyond a course project.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3017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AAE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SLDeep — published 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2B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BugLens — this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Programs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119,989 C/C++ programs · 2.36M lines of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 submissions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workstation with a discrete GPU, 64 GB 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Course-scale compute, no dedicated GPU 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&amp; timeline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researchers, a multi-year research programme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student team, one semester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Line-level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 (average, statement level)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 within ±4 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Line-level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band on the same evaluation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5349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roughly half the data, no dedicated GPU and one semester, we land in the same performance neighbourhood as a five-author journal paper. That is the right frame for reading our numbers.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tried to beat our own model. Three times.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was run end to end under the identical evaluation protocol. None of them improved on the simple structural model — which is precisely what tells us where the limit lives.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64240" cy="27432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idea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1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semantic embeddings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1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large pre-trained code-understanding representation on top of our signals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1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1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Compressed embeddings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1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representation, distilled down to a compact form to reduce noise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0.595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1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1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Aggregated line statistics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1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the line-level measurements up into file-level summaries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E1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E1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16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+ syntax-tree signals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&amp; most stable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52578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E1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the ceiling is a property of the data — near-identical pairs separated by a handful of characters — not a gap in feature engineering. Establishing that is itself a result.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triage, not verdicts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665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07568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947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pre-screening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31343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 incoming queue worst-first so reviewer attention lands where risk is highest.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67665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aid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5204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student the lines most likely to be wrong before they submit.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97096"/>
            <a:ext cx="676656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448970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361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integration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72744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and annotate risky changes automatically on every push.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0" y="178308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16202D"/>
          </a:solidFill>
          <a:ln w="12700">
            <a:solidFill>
              <a:srgbClr val="16202D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0956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promise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909560" y="2468880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decides what a human looks at first.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decides whether code is accepted or rejected.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is worth real time even when any single score is uncertain — and the line-level highlight is accurate enough to act on directly.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4672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 &amp; 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know, and what we'd do with more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scoring supports prioritisation, not final judgement.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our pairs are near-identical, generalisation to wholly unrelated codebases is still unproven.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model's configuration depends on the data's line-length profile, so it needs refreshing as the corpus grows.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16202D"/>
          </a:solidFill>
          <a:ln w="12700">
            <a:solidFill>
              <a:srgbClr val="16202D"/>
            </a:solidFill>
            <a:prstDash val="solid"/>
          </a:ln>
          <a:effectLst>
            <a:outerShdw blurRad="101600" dist="25400" dir="5400000" algn="bl" rotWithShape="0">
              <a:srgbClr val="8F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42316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scaling the corpus — the one lever we have already proven moves the number.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genuinely diverse programs to measure real-world generalisation.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full fine-tuning of a code-specialised model, given GPU access.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calibrated confidence next to every score, so reviewers know when to trust the ranking.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1322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system, and a result we can defend line by line.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on a balanced task where chance is 0.50 — reproduced exactly across runs.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80560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80560" y="38862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faults located within four lines, far ahead of every non-sequential alternative.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38160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4× data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38160" y="38862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lifted performance measurably — the ceiling is data volume, and we proved it with three failed attempts to break it another way.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 welcome.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BugLens  ·  Bug Detection &amp; Localization for C/C++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642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2456</Words>
  <Application>Microsoft Office PowerPoint</Application>
  <PresentationFormat>Widescreen</PresentationFormat>
  <Paragraphs>316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fatima borhani</cp:lastModifiedBy>
  <cp:revision>2</cp:revision>
  <dcterms:created xsi:type="dcterms:W3CDTF">2026-07-27T14:09:55Z</dcterms:created>
  <dcterms:modified xsi:type="dcterms:W3CDTF">2026-07-27T14:37:24Z</dcterms:modified>
</cp:coreProperties>
</file>