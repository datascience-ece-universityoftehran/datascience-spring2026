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embeddedFontLst>
    <p:embeddedFont>
      <p:font typeface="Funnel Sans Bold"/>
      <p:regular r:id="rId201314"/>
    </p:embeddedFont>
    <p:embeddedFont>
      <p:font typeface="Funnel Sans ExtraBold"/>
      <p:regular r:id="rId201315"/>
    </p:embeddedFont>
    <p:embeddedFont>
      <p:font typeface="Funnel Sans Light"/>
      <p:regular r:id="rId201316"/>
    </p:embeddedFont>
    <p:embeddedFont>
      <p:font typeface="Funnel Sans"/>
      <p:regular r:id="rId201317"/>
    </p:embeddedFont>
    <p:embeddedFont>
      <p:font typeface="Funnel Sans Medium"/>
      <p:regular r:id="rId201318"/>
    </p:embeddedFont>
    <p:embeddedFont>
      <p:font typeface="Funnel Sans SemiBold"/>
      <p:regular r:id="rId201319"/>
    </p:embeddedFont>
    <p:embeddedFont>
      <p:font typeface="Mona Sans Bold"/>
      <p:regular r:id="rId201320"/>
    </p:embeddedFont>
    <p:embeddedFont>
      <p:font typeface="Mona Sans ExtraBold"/>
      <p:regular r:id="rId201321"/>
    </p:embeddedFont>
    <p:embeddedFont>
      <p:font typeface="Mona Sans Black"/>
      <p:regular r:id="rId201322"/>
    </p:embeddedFont>
    <p:embeddedFont>
      <p:font typeface="Mona Sans ExtraLight"/>
      <p:regular r:id="rId201323"/>
    </p:embeddedFont>
    <p:embeddedFont>
      <p:font typeface="Mona Sans Light"/>
      <p:regular r:id="rId201324"/>
    </p:embeddedFont>
    <p:embeddedFont>
      <p:font typeface="Mona Sans"/>
      <p:regular r:id="rId201325"/>
    </p:embeddedFont>
    <p:embeddedFont>
      <p:font typeface="Mona Sans Medium"/>
      <p:regular r:id="rId201326"/>
    </p:embeddedFont>
    <p:embeddedFont>
      <p:font typeface="Mona Sans SemiBold"/>
      <p:regular r:id="rId2013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1.png"/><Relationship Id="rId8" Type="http://schemas.openxmlformats.org/officeDocument/2006/relationships/image" Target="../media/image-2-2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9.png"/><Relationship Id="rId12" Type="http://schemas.openxmlformats.org/officeDocument/2006/relationships/image" Target="../media/image-2-10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6.png"/><Relationship Id="rId9" Type="http://schemas.openxmlformats.org/officeDocument/2006/relationships/image" Target="../media/image-3-7.svg"/><Relationship Id="rId10" Type="http://schemas.openxmlformats.org/officeDocument/2006/relationships/image" Target="../media/image-3-2.png"/><Relationship Id="rId11" Type="http://schemas.openxmlformats.org/officeDocument/2006/relationships/image" Target="../media/image-3-3.svg"/><Relationship Id="rId12" Type="http://schemas.openxmlformats.org/officeDocument/2006/relationships/image" Target="../media/image-3-2.png"/><Relationship Id="rId13" Type="http://schemas.openxmlformats.org/officeDocument/2006/relationships/image" Target="../media/image-3-3.sv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1.png"/><Relationship Id="rId8" Type="http://schemas.openxmlformats.org/officeDocument/2006/relationships/image" Target="../media/image-5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3-6.png"/><Relationship Id="rId3" Type="http://schemas.openxmlformats.org/officeDocument/2006/relationships/image" Target="../media/image-3-7.svg"/><Relationship Id="rId4" Type="http://schemas.openxmlformats.org/officeDocument/2006/relationships/image" Target="../media/image-3-6.png"/><Relationship Id="rId5" Type="http://schemas.openxmlformats.org/officeDocument/2006/relationships/image" Target="../media/image-3-7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image" Target="../media/image-10-1.png"/><Relationship Id="rId10" Type="http://schemas.openxmlformats.org/officeDocument/2006/relationships/image" Target="../media/image-10-2.svg"/><Relationship Id="rId11" Type="http://schemas.openxmlformats.org/officeDocument/2006/relationships/image" Target="../media/image-10-1.png"/><Relationship Id="rId12" Type="http://schemas.openxmlformats.org/officeDocument/2006/relationships/image" Target="../media/image-10-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1.png"/><Relationship Id="rId4" Type="http://schemas.openxmlformats.org/officeDocument/2006/relationships/image" Target="../media/image-11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image" Target="../media/image-10-1.png"/><Relationship Id="rId10" Type="http://schemas.openxmlformats.org/officeDocument/2006/relationships/image" Target="../media/image-10-2.svg"/><Relationship Id="rId11" Type="http://schemas.openxmlformats.org/officeDocument/2006/relationships/image" Target="../media/image-10-1.png"/><Relationship Id="rId12" Type="http://schemas.openxmlformats.org/officeDocument/2006/relationships/image" Target="../media/image-10-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2963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BDD100K Multi-Task Perception Pipeline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428205"/>
            <a:ext cx="4722763" cy="138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Object Detection + Drivable-Area Segmentation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Phase 3: Modeling, MLOps &amp; Pipeline Integration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Kiyan Amini, Armin Nezafat, Mohammad Amin Tahmasebi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Data Science Final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3565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From Phase 1/2 to a Refined Phase 3 Scope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118741"/>
            <a:ext cx="4009355" cy="10396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8663" y="1275085"/>
            <a:ext cx="362046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Phase 1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28663" y="1569393"/>
            <a:ext cx="3620467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BDD100K dataset chosen; task defined as supervised object detection + segmentation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8452" y="1118741"/>
            <a:ext cx="4009430" cy="103963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70996" y="1275085"/>
            <a:ext cx="362054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Phase 2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870996" y="1569393"/>
            <a:ext cx="3620542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PostgreSQL schema, import pipeline, EDA, Docker/Kubernetes, CI/CD via GitHub Actions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291358"/>
            <a:ext cx="4009355" cy="103963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28663" y="2447702"/>
            <a:ext cx="362046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Scope Correction in Phase 3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728663" y="2742009"/>
            <a:ext cx="3620467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Original plan had 4 heads (detection, lane detection, drivable-area segmentation, traffic-sign recognition)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8452" y="2291358"/>
            <a:ext cx="4009430" cy="103963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70996" y="2447702"/>
            <a:ext cx="362054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Traffic-Sign Head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870996" y="2742009"/>
            <a:ext cx="3620542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"Traffic sign" turned out to be just one class inside detection, not its own head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463975"/>
            <a:ext cx="4009355" cy="125596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28663" y="3620319"/>
            <a:ext cx="362046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Lane Detection Dropped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728663" y="3914626"/>
            <a:ext cx="3620467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Lane detection formally dropped after verifying (via colorized mask visualization) that no usable lane-mask data existed in the accessible dataset mirror</a:t>
            </a:r>
            <a:endParaRPr lang="en-US" sz="10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38452" y="3463975"/>
            <a:ext cx="4009430" cy="1255961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870996" y="3620319"/>
            <a:ext cx="362054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Final Scope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4870996" y="3914626"/>
            <a:ext cx="3620542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2-task model — object detection (10 classes) + drivable-area segmentation (3 classes)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Shared-Backbone Multi-Task Design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0851" y="682154"/>
            <a:ext cx="1962224" cy="43913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63010" y="2526286"/>
            <a:ext cx="1002623" cy="687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Shared ResNet-50 + FPN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801401" y="4011242"/>
            <a:ext cx="1532336" cy="458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Segmentation Head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801401" y="4534970"/>
            <a:ext cx="1532336" cy="27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Lightweight decoder with transposed convs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794013" y="1036490"/>
            <a:ext cx="1532336" cy="229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Detection Head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794013" y="1330959"/>
            <a:ext cx="1532336" cy="27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Faster R-CNN RPN + ROI heads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96119" y="5113288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One ResNet-50 + FPN backbone (pretrained ImageNet/COCO), computed once per image, feeding two heads — not two separate models</a:t>
            </a:r>
            <a:endParaRPr lang="en-US" sz="5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5238155"/>
            <a:ext cx="4058171" cy="37772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14586" y="5318522"/>
            <a:ext cx="385933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Why Shared</a:t>
            </a:r>
            <a:endParaRPr lang="en-US" sz="650" dirty="0"/>
          </a:p>
        </p:txBody>
      </p:sp>
      <p:sp>
        <p:nvSpPr>
          <p:cNvPr id="12" name="Text 8"/>
          <p:cNvSpPr/>
          <p:nvPr/>
        </p:nvSpPr>
        <p:spPr>
          <a:xfrm>
            <a:off x="614586" y="5450458"/>
            <a:ext cx="385933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Roughly halves parameter and activation memory vs. two independent backbones — critical on an 8GB GPU</a:t>
            </a:r>
            <a:endParaRPr lang="en-US" sz="5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89711" y="5238155"/>
            <a:ext cx="4058171" cy="37772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08178" y="5318522"/>
            <a:ext cx="385933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Detection Head</a:t>
            </a:r>
            <a:endParaRPr lang="en-US" sz="650" dirty="0"/>
          </a:p>
        </p:txBody>
      </p:sp>
      <p:sp>
        <p:nvSpPr>
          <p:cNvPr id="15" name="Text 10"/>
          <p:cNvSpPr/>
          <p:nvPr/>
        </p:nvSpPr>
        <p:spPr>
          <a:xfrm>
            <a:off x="4708178" y="5450458"/>
            <a:ext cx="385933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torchvision Faster R-CNN region-proposal + ROI heads</a:t>
            </a:r>
            <a:endParaRPr lang="en-US" sz="5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5651302"/>
            <a:ext cx="4058171" cy="46278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4586" y="5731669"/>
            <a:ext cx="385933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Segmentation Head</a:t>
            </a:r>
            <a:endParaRPr lang="en-US" sz="650" dirty="0"/>
          </a:p>
        </p:txBody>
      </p:sp>
      <p:sp>
        <p:nvSpPr>
          <p:cNvPr id="18" name="Text 12"/>
          <p:cNvSpPr/>
          <p:nvPr/>
        </p:nvSpPr>
        <p:spPr>
          <a:xfrm>
            <a:off x="614586" y="5863605"/>
            <a:ext cx="385933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Lightweight custom decoder (transposed convolutions) upsampling FPN's top feature map to full resolution</a:t>
            </a:r>
            <a:endParaRPr lang="en-US" sz="5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89711" y="5651302"/>
            <a:ext cx="4058171" cy="46278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708178" y="5731669"/>
            <a:ext cx="385933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Implementation</a:t>
            </a:r>
            <a:endParaRPr lang="en-US" sz="650" dirty="0"/>
          </a:p>
        </p:txBody>
      </p:sp>
      <p:sp>
        <p:nvSpPr>
          <p:cNvPr id="21" name="Text 14"/>
          <p:cNvSpPr/>
          <p:nvPr/>
        </p:nvSpPr>
        <p:spPr>
          <a:xfrm>
            <a:off x="4708178" y="5863605"/>
            <a:ext cx="3859337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Manually wired backbone → RPN → ROI heads instead of treating Faster R-CNN as a black box, so both heads reuse the same features</a:t>
            </a:r>
            <a:endParaRPr lang="en-US" sz="5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6119" y="6149504"/>
            <a:ext cx="4058171" cy="37772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14586" y="6229871"/>
            <a:ext cx="385933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Trade-off</a:t>
            </a:r>
            <a:endParaRPr lang="en-US" sz="650" dirty="0"/>
          </a:p>
        </p:txBody>
      </p:sp>
      <p:sp>
        <p:nvSpPr>
          <p:cNvPr id="24" name="Text 16"/>
          <p:cNvSpPr/>
          <p:nvPr/>
        </p:nvSpPr>
        <p:spPr>
          <a:xfrm>
            <a:off x="614586" y="6361807"/>
            <a:ext cx="385933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Simpler decoder (no U-Net skip connections) → less sharp mask edges, accepted for time</a:t>
            </a:r>
            <a:endParaRPr lang="en-US" sz="55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89711" y="6149504"/>
            <a:ext cx="4058171" cy="377726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4708178" y="6229871"/>
            <a:ext cx="385933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Loss</a:t>
            </a:r>
            <a:endParaRPr lang="en-US" sz="650" dirty="0"/>
          </a:p>
        </p:txBody>
      </p:sp>
      <p:sp>
        <p:nvSpPr>
          <p:cNvPr id="27" name="Text 18"/>
          <p:cNvSpPr/>
          <p:nvPr/>
        </p:nvSpPr>
        <p:spPr>
          <a:xfrm>
            <a:off x="4708178" y="6361807"/>
            <a:ext cx="385933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loss = (det_weight × detection_loss) + (seg_weight × segmentation_loss)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both weights configurable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6998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Key Architectural Clarification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625575"/>
            <a:ext cx="4107135" cy="2547938"/>
          </a:xfrm>
          <a:prstGeom prst="roundRect">
            <a:avLst>
              <a:gd name="adj" fmla="val 4006"/>
            </a:avLst>
          </a:prstGeom>
          <a:solidFill>
            <a:srgbClr val="373B48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1767334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What Training Reads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130549"/>
            <a:ext cx="382361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Training reads images, detection labels, and drivable-area masks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directly from disk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NOT from the Phase 2 PostgreSQL database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1767334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Database's Real Role in Phase 3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2130549"/>
            <a:ext cx="3902943" cy="7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EDA — class imbalance, weather/scene distribution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Storing model predictions for later comparison against ground truth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49701" y="300231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Phase 2 Scripts Renamed/Re-documented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49701" y="3365525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Phase 2 scripts renamed/re-documented for clarity (e.g.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load_data.py → eda_load_data.py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) to reflect true EDA-only purpose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07516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Building the PyTorch Dataset — Real Issues Caught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777008"/>
            <a:ext cx="4004965" cy="13085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3127" y="1937817"/>
            <a:ext cx="36071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Category-Name Mismatches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33127" y="2244328"/>
            <a:ext cx="36071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e.g.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"person"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vs correct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"pedestrian"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"motor"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vs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"motorcycle"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would have silently dropped boxes with no error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2842" y="1777008"/>
            <a:ext cx="4005039" cy="130857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79851" y="1937817"/>
            <a:ext cx="3607222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Explicit JSON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"labels": null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879851" y="2263378"/>
            <a:ext cx="36072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Crashed the loader — fixed by treating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and missing key the same way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227338"/>
            <a:ext cx="4004965" cy="130857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3127" y="3388147"/>
            <a:ext cx="36071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Degenerate Bounding Boxes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733127" y="3694658"/>
            <a:ext cx="36071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Zero/negative width or height filtered out — these produce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in box-regression loss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2842" y="3227338"/>
            <a:ext cx="4005039" cy="130857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79851" y="3388147"/>
            <a:ext cx="3607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Mask Resizing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879851" y="3694658"/>
            <a:ext cx="36072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Masks resized with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NEAREST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interpolation, not bilinear — mask values are class IDs; bilinear blending would invent invalid intermediate classes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476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Methodology Corrections for Valid Evaluation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92114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Initial Risk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155329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BDD100K's official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"val"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split was used both for checkpoint selection AND as a stand-in test set —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data leakage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since true test labels are withheld publicly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97753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Compute Constraint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3340745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Full ~70k images was impractically slow on an 8GB GPU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47605" y="1650355"/>
            <a:ext cx="4107135" cy="2498378"/>
          </a:xfrm>
          <a:prstGeom prst="roundRect">
            <a:avLst>
              <a:gd name="adj" fmla="val 4086"/>
            </a:avLst>
          </a:prstGeom>
          <a:solidFill>
            <a:srgbClr val="373B48">
              <a:alpha val="9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789363" y="1792114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Fix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89363" y="2155329"/>
            <a:ext cx="382361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Labeled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highlight>
                  <a:srgbClr val="44485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"train"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split (~70k images) subsampled and internally divided into a real training subset + validation subset (checkpoint selection only); original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highlight>
                  <a:srgbClr val="44485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"val"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split reserved as a genuinely untouched held-out test set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89363" y="3204344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Training Pool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89363" y="3567559"/>
            <a:ext cx="382361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Subsampled to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10,000 images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(fixed seed, reproducible), split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85% train / 15% validation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4543"/>
            <a:ext cx="8151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MLflow Experiment Tracking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96119" y="907182"/>
            <a:ext cx="860896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Centralised tracking of all experiment parameters, metrics, and models, enabling comprehensive comparisons and reproducible results.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188169"/>
            <a:ext cx="293489" cy="29348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1603177"/>
            <a:ext cx="401508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Run Configuration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96119" y="1844873"/>
            <a:ext cx="4015085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Epochs, batch size, learning rate, and specific detection/segmentation loss weights are meticulously logged for every training run.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2722" y="1188169"/>
            <a:ext cx="293489" cy="29348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32722" y="1603177"/>
            <a:ext cx="401516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Per-Epoch Metrics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632722" y="1844873"/>
            <a:ext cx="4015160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Granular metrics, including train and validation loss, are logged for each epoch, distinctly separated by detection and segmentation tasks.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382664"/>
            <a:ext cx="293489" cy="29348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6119" y="2797671"/>
            <a:ext cx="401508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Best Model Checkpoint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496119" y="3039368"/>
            <a:ext cx="4015085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model checkpoint achieving the lowest validation loss is automatically identified and saved, ensuring optimal performance is retained.</a:t>
            </a:r>
            <a:endParaRPr lang="en-US" sz="9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2722" y="2382664"/>
            <a:ext cx="293489" cy="29348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32722" y="2797671"/>
            <a:ext cx="401516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Direct Comparison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4632722" y="3039368"/>
            <a:ext cx="4015160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Facilitates direct comparison of different configurations, a critical requirement for evaluating and selecting superior setups.</a:t>
            </a:r>
            <a:endParaRPr lang="en-US" sz="9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577158"/>
            <a:ext cx="293489" cy="29348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96119" y="3992166"/>
            <a:ext cx="401508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Prediction Storage</a:t>
            </a:r>
            <a:endParaRPr lang="en-US" sz="1150" dirty="0"/>
          </a:p>
        </p:txBody>
      </p:sp>
      <p:sp>
        <p:nvSpPr>
          <p:cNvPr id="18" name="Text 11"/>
          <p:cNvSpPr/>
          <p:nvPr/>
        </p:nvSpPr>
        <p:spPr>
          <a:xfrm>
            <a:off x="496119" y="4233863"/>
            <a:ext cx="4015085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Predictions are saved as mask PNG files on disk, with file paths and summary statistics (% direct/alt-drivable) in the database, alongside detection boxes, labels, scores, and the MLflow run ID.</a:t>
            </a:r>
            <a:endParaRPr lang="en-US" sz="9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32722" y="3577158"/>
            <a:ext cx="293489" cy="293489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632722" y="3992166"/>
            <a:ext cx="401516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Metadata-First Design</a:t>
            </a:r>
            <a:endParaRPr lang="en-US" sz="1150" dirty="0"/>
          </a:p>
        </p:txBody>
      </p:sp>
      <p:sp>
        <p:nvSpPr>
          <p:cNvPr id="21" name="Text 13"/>
          <p:cNvSpPr/>
          <p:nvPr/>
        </p:nvSpPr>
        <p:spPr>
          <a:xfrm>
            <a:off x="4632722" y="4233863"/>
            <a:ext cx="4015160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deliberate design choice ensures databases store metadata and pointers, not large binary blobs, optimising storage and access efficiency.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Orchestration: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train_pipeline.py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and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predict_pipeline.py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679" y="701204"/>
            <a:ext cx="8084567" cy="3486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3714" y="3526309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Train: Save Best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73714" y="2719305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Train: Train &amp; Log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73714" y="1920452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Train: Model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3714" y="1113447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Train: Prep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227240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Each stage is an independent Prefect 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@task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real retries and observability</a:t>
            </a:r>
            <a:endParaRPr lang="en-US" sz="5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4352106"/>
            <a:ext cx="4058171" cy="46278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4586" y="4432474"/>
            <a:ext cx="385933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MLflow Logging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614586" y="4564410"/>
            <a:ext cx="3859337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Logs hyperparameters (epochs, batch size, lr, det/seg weights, backbone config) and per-epoch train/val loss, enabling comparison across runs</a:t>
            </a:r>
            <a:endParaRPr lang="en-US" sz="5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89711" y="4352106"/>
            <a:ext cx="4058171" cy="46278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08178" y="4432474"/>
            <a:ext cx="385933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Predictions Saved As</a:t>
            </a:r>
            <a:endParaRPr lang="en-US" sz="650" dirty="0"/>
          </a:p>
        </p:txBody>
      </p:sp>
      <p:sp>
        <p:nvSpPr>
          <p:cNvPr id="14" name="Text 9"/>
          <p:cNvSpPr/>
          <p:nvPr/>
        </p:nvSpPr>
        <p:spPr>
          <a:xfrm>
            <a:off x="4708178" y="4564410"/>
            <a:ext cx="3859337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Mask PNG on disk + file path/summary stats (% drivable) + detection boxes/labels/scores in the database — avoids bloating the DB with binary data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4037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Diagnosing NaN Losses Methodically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6687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888778"/>
            <a:ext cx="4004965" cy="1905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1997720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Symptom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304231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Both detection and segmentation losses were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from the very first training step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42842" y="166687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42842" y="1888778"/>
            <a:ext cx="4005039" cy="1905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9" name="Text 7"/>
          <p:cNvSpPr/>
          <p:nvPr/>
        </p:nvSpPr>
        <p:spPr>
          <a:xfrm>
            <a:off x="4642842" y="1997720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Method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42842" y="2304231"/>
            <a:ext cx="400503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Disabled mixed precision (AMP) and added degenerate-bounding-box filtering as two candidate fixes, tested together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6119" y="30058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227784"/>
            <a:ext cx="4004965" cy="1905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3" name="Text 11"/>
          <p:cNvSpPr/>
          <p:nvPr/>
        </p:nvSpPr>
        <p:spPr>
          <a:xfrm>
            <a:off x="496119" y="3336727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Result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6119" y="3643238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losses disappeared entirely; losses decreased steadily, confirming real learning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42842" y="30058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42842" y="3227784"/>
            <a:ext cx="4005039" cy="1905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7" name="Text 15"/>
          <p:cNvSpPr/>
          <p:nvPr/>
        </p:nvSpPr>
        <p:spPr>
          <a:xfrm>
            <a:off x="4642842" y="3336727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Recovery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642842" y="3643238"/>
            <a:ext cx="400503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AMP safely re-enabled once the box filter was in place — recovering memory savings without reintroducing instability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2800"/>
            <a:ext cx="8151763" cy="453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Docker + </a:t>
            </a:r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</a:t>
            </a:r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(v2), and Issues Resolved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315343"/>
            <a:ext cx="4013597" cy="9887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460" y="1462534"/>
            <a:ext cx="366206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GPU Passthrough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00460" y="1744935"/>
            <a:ext cx="366206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Via NVIDIA Container Toolkit; CUDA-enabled PyTorch installed explicitly (plain PyPI wheels are CPU-only)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4285" y="1315343"/>
            <a:ext cx="4013597" cy="9887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38626" y="1462534"/>
            <a:ext cx="366206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Shared Memory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838626" y="1744935"/>
            <a:ext cx="366206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shm_size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increased for DataLoader workers (default 64MB caused bus errors)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428652"/>
            <a:ext cx="4013597" cy="9887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0460" y="2575843"/>
            <a:ext cx="366206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Dockerfile Layer Ordering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700460" y="2858244"/>
            <a:ext cx="366206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Optimized so CUDA/torch installs aren't invalidated by unrelated 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edits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4285" y="2428652"/>
            <a:ext cx="4013597" cy="9887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38626" y="2575843"/>
            <a:ext cx="366206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Postgres Healthcheck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4838626" y="2858244"/>
            <a:ext cx="366206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pg_isready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+ 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service_healthy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condition — fixed "connection refused" race condition</a:t>
            </a:r>
            <a:endParaRPr lang="en-US" sz="10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541961"/>
            <a:ext cx="4013597" cy="98874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00460" y="3689152"/>
            <a:ext cx="366206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Volume Mounts &amp; Disk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700460" y="3971553"/>
            <a:ext cx="366206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Fixed volume mounts for missing dataset files; resolved full-disk build failures via cache cleanup</a:t>
            </a:r>
            <a:endParaRPr lang="en-US" sz="10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34285" y="3541961"/>
            <a:ext cx="4013597" cy="98874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838626" y="3689152"/>
            <a:ext cx="366206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Output Buffering</a:t>
            </a:r>
            <a:endParaRPr lang="en-US" sz="1300" dirty="0"/>
          </a:p>
        </p:txBody>
      </p:sp>
      <p:sp>
        <p:nvSpPr>
          <p:cNvPr id="20" name="Text 12"/>
          <p:cNvSpPr/>
          <p:nvPr/>
        </p:nvSpPr>
        <p:spPr>
          <a:xfrm>
            <a:off x="4838626" y="3971553"/>
            <a:ext cx="366206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Training falsely appeared frozen due to Python's stdout buffering in Docker — fixed with 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PYTHONUNBUFFERED=1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7968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Infrastructure Debugging Log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192411"/>
            <a:ext cx="4013597" cy="11964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460" y="1339602"/>
            <a:ext cx="366206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Postgres "password authentication failed"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00460" y="1622003"/>
            <a:ext cx="366206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Resolved via 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down -v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to reset the volume and reinitialize credentials.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4285" y="1192411"/>
            <a:ext cx="4013597" cy="119642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38626" y="1339602"/>
            <a:ext cx="3662065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Pipeline container started before Postgres ready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838626" y="1829693"/>
            <a:ext cx="366206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Fixed with a 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pg_isready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healthcheck and 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depends_on: condition: service_healthy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in 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docker-compose.yml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513409"/>
            <a:ext cx="4013597" cy="9887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0460" y="2660600"/>
            <a:ext cx="366206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Dataset files missing inside container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700460" y="2943002"/>
            <a:ext cx="366206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Addressed via correct volume mounts to present the dataset at runtime, rather than baking large data into the image.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4285" y="2513409"/>
            <a:ext cx="4013597" cy="9887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38626" y="2660600"/>
            <a:ext cx="366206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Full-disk build failures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4838626" y="2943002"/>
            <a:ext cx="366206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Resulting from accumulated Docker layers/images; resolved via periodic 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system prune -a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and manual cleanup.</a:t>
            </a:r>
            <a:endParaRPr lang="en-US" sz="10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626718"/>
            <a:ext cx="4013597" cy="98874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00460" y="3773909"/>
            <a:ext cx="366206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Training loop appeared frozen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700460" y="4056311"/>
            <a:ext cx="366206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Traced to Python's default stdout buffering in Docker; fixed with 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PYTHONUNBUFFERED=1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in the environment.</a:t>
            </a:r>
            <a:endParaRPr lang="en-US" sz="10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34285" y="3626718"/>
            <a:ext cx="4013597" cy="98874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838626" y="3773909"/>
            <a:ext cx="366206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NVIDIA driver/library mismatch</a:t>
            </a:r>
            <a:endParaRPr lang="en-US" sz="1300" dirty="0"/>
          </a:p>
        </p:txBody>
      </p:sp>
      <p:sp>
        <p:nvSpPr>
          <p:cNvPr id="20" name="Text 12"/>
          <p:cNvSpPr/>
          <p:nvPr/>
        </p:nvSpPr>
        <p:spPr>
          <a:xfrm>
            <a:off x="4838626" y="4056311"/>
            <a:ext cx="366206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Encountered after an unclean shutdown; resolved via a full system reboot to reset the GPU state.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90194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Results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628454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[insert final metrics: detection mAP / per-class AP, segmentation mean IoU / pixel accuracy]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[insert example prediction visualizations: detected boxes + predicted drivable mask overlay]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7566"/>
            <a:ext cx="815176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Key Takeaways</a:t>
            </a:r>
            <a:endParaRPr lang="en-US" sz="2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926678"/>
            <a:ext cx="553715" cy="6511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36303" y="926678"/>
            <a:ext cx="751157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Careful Scope Correction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36303" y="1151558"/>
            <a:ext cx="7511579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Traffic-sign folding and lane-detection removal were deliberate scope corrections over blind adherence to the original plan — prioritizing realistic delivery within project constraints.</a:t>
            </a:r>
            <a:endParaRPr lang="en-US" sz="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9" y="1688529"/>
            <a:ext cx="553715" cy="6511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36303" y="1688529"/>
            <a:ext cx="751157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Shared-Backbone Multi-Task Design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136303" y="1913409"/>
            <a:ext cx="7511579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shared ResNet-50 + FPN backbone gives real efficiency gains under hardware constraints (8GB GPU), enabling both detection and segmentation without separate model pipelines.</a:t>
            </a:r>
            <a:endParaRPr lang="en-US" sz="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450381"/>
            <a:ext cx="553715" cy="6511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36303" y="2450381"/>
            <a:ext cx="751157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Rigorous Data-Leakage Prevention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1136303" y="2675260"/>
            <a:ext cx="7511579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genuinely held-out test set (separate from BDD100K's official validation split) ensures valid evaluation and prevents overfitting to validation data during checkpoint selection.</a:t>
            </a:r>
            <a:endParaRPr lang="en-US" sz="8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3212232"/>
            <a:ext cx="553715" cy="6511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36303" y="3212232"/>
            <a:ext cx="751157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Full MLOps Loop</a:t>
            </a: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1136303" y="3437111"/>
            <a:ext cx="7511579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End-to-end pipeline: Prefect orchestration for scheduling, MLflow tracking for experiment management, Docker deployment for reproducibility and portability.</a:t>
            </a:r>
            <a:endParaRPr lang="en-US" sz="8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3974083"/>
            <a:ext cx="553715" cy="65112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36303" y="3974083"/>
            <a:ext cx="751157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Honest, Methodical Debugging</a:t>
            </a:r>
            <a:endParaRPr lang="en-US" sz="1050" dirty="0"/>
          </a:p>
        </p:txBody>
      </p:sp>
      <p:sp>
        <p:nvSpPr>
          <p:cNvPr id="17" name="Text 10"/>
          <p:cNvSpPr/>
          <p:nvPr/>
        </p:nvSpPr>
        <p:spPr>
          <a:xfrm>
            <a:off x="1136303" y="4198962"/>
            <a:ext cx="7511579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NaN losses, label mismatches, infrastructure issues — all diagnosed and resolved systematically. Debugging is part of the engineering process, not a sign of failure.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35021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endParaRPr lang="en-US" sz="2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2026-07-29T18:05:38Z</dcterms:created>
  <dcterms:modified xsi:type="dcterms:W3CDTF">2026-07-29T18:05:38Z</dcterms:modified>
</cp:coreProperties>
</file>