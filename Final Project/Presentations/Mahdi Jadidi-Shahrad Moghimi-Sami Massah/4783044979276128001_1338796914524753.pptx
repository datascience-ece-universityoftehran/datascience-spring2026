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2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1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37" y="2349400"/>
            <a:ext cx="3667125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5518" y="2939950"/>
            <a:ext cx="7700962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Poppins"/>
              </a:rPr>
              <a:t>Used Car Price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765649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Lato"/>
              </a:rPr>
              <a:t>An End-to-End Multimodal Pricing Engine Integrating Machine Learning, Natural Language Processing, and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0025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Market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47925"/>
            <a:ext cx="5334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Asymmetric pricing in second-hand automotive marketplaces leads to transaction friction, lost platform revenue, and seller distrust.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76575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Traditional valuation models rely solely on static tabular attributes (mileage, age) while ignoring detailed text descriptions and vehicle condition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62400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Our goal is to construct an automated multimodal machine learning pipeline that captures textual options and visual condition metrics to forecast market prices accurately.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0250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1762"/>
            <a:ext cx="5334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1762"/>
            <a:ext cx="5334000" cy="2276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146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Tabular &amp; Technical Specs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233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Structured features encompassing vehicle manufacturer, model series, registration year, engine displacement (CC), transmission mode, fuel type, odometer mileage, and ownership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146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Multimodal Text &amp;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62337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Unstructured textual descriptions detailing seller inspection notes and option packages, paired with exterior and interior high-resolution vehicle condition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3492549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95525"/>
            <a:ext cx="3492549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95525"/>
            <a:ext cx="3492549" cy="209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33900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Price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89585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Right-skewed log-normal target variable requiring log-transformation for regression optimization.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9799" y="4533900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Feature Correlations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799" y="489585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Strong positive correlation between engine size and price; strong negative correlation with mileage.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99" y="4533900"/>
            <a:ext cx="366717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Depreciation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895850"/>
            <a:ext cx="349254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Lato"/>
              </a:rPr>
              <a:t>Non-linear exponential depreciation observed during the first 3 years across all vehicle tiers.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305050"/>
            <a:ext cx="3473499" cy="2076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24" y="2305050"/>
            <a:ext cx="3473499" cy="2076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7624" y="2305050"/>
            <a:ext cx="3473499" cy="2076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Exploratory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0350"/>
            <a:ext cx="5334000" cy="2019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00350"/>
            <a:ext cx="5334000" cy="2019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43250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Relational Schema &amp;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0925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PostgreSQL relational database storing normalized tables for raw listings, seller profiles, engineered tabular features, extracted NLP embeddings, and image metadata vectors.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3250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Pipeline DB Synchronization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0925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Automated database connectors fetching batch training inputs and persisting final real-time inference predictions back to dedicated database tables for downstream auditing.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Database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3622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Missing Value Imputation: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Applied median strategy for continuous numerical attributes and KNN imputation for sparse categorical vehicle specifications.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0861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Text Cleaning &amp; Tokenization: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Filtered special characters, performed lemmatization, and tokenized seller description texts using BERT/TF-IDF vectorizers.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8100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Image Normalization: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Resized image inputs to standard 224x224 dimensions, applied ImageNet color normalization, and executed data augmentation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533900"/>
            <a:ext cx="909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Feature Scaling &amp; Encoding: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Executed StandardScaler transformations on continuous features alongside Target Encoding for high-cardinality categorical variables.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371725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095625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819525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543425"/>
            <a:ext cx="2857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Data Preprocessing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5075"/>
            <a:ext cx="3492549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505075"/>
            <a:ext cx="3492549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505075"/>
            <a:ext cx="3492549" cy="2609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0035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242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Derived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05250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Calculated total vehicle age from registration year, annual average mileage rate, and luxury brand depreciation coefficient.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80035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5242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Text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05250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Extracted TF-IDF key option scores and sentiment polarity vectors representing premium features and seller condition claim confidence.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80035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5242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Visual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0525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Generated Deep CNN feature vectors capturing exterior body dent severity, paint gloss rating, and interior seat wear.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462" y="2933700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762" y="2933700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93370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Feature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24100"/>
          <a:ext cx="11048997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7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Model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Architecture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Input Modality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Hyperparameters &amp; Key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Linear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Baseline 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Tabular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L2 Penalty (α = 0.01)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Lato"/>
                        </a:rPr>
                        <a:t>Random Forest (Selected)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 SemiBold"/>
                        </a:rPr>
                        <a:t>Ensemble Bagging Trees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 SemiBold"/>
                        </a:rPr>
                        <a:t>Tabular +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Lato"/>
                        </a:rPr>
                        <a:t>MAE = 0.8911</a:t>
                      </a:r>
                      <a:r>
                        <a:rPr sz="1125" b="0" i="0" u="none">
                          <a:solidFill>
                            <a:srgbClr val="475569"/>
                          </a:solidFill>
                          <a:latin typeface="Lato SemiBold"/>
                        </a:rPr>
                        <a:t> (n_estimators=300, max_depth=20)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XGBoost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Gradient Boosted Trees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Tabular +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n_estimators=500, lr=0.05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LightGBM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Leaf-wise Tree Boosting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Tabular +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max_depth=12, leaves=63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Multimodal Neural 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ResNet50 + BERT + MLP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Tabular + Text + Vision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Lato"/>
                        </a:rPr>
                        <a:t>AdamW, lr=1e-4, Dropout=0.3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828925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964060" y="2828925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54972" y="2828925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42882" y="2828925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319462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64060" y="3319462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54972" y="3319462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42882" y="3319462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10000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64060" y="3810000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54972" y="3810000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42882" y="3810000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300537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64060" y="4300537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54972" y="4300537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42882" y="4300537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791075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64060" y="4791075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54972" y="4791075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42882" y="4791075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5281612"/>
            <a:ext cx="23925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64060" y="5281612"/>
            <a:ext cx="22909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54972" y="5281612"/>
            <a:ext cx="20879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42882" y="5281612"/>
            <a:ext cx="42776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Model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38250"/>
            <a:ext cx="11049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81550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475569"/>
                </a:solidFill>
                <a:latin typeface="Lato"/>
              </a:rPr>
              <a:t>The selected Random Forest baseline model achieved an MAE of 0.8911. Combining tabular specifications with text embeddings and visual features yields superior predictive accuracy across all evaluation 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Pipeline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23825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End-to-End Automated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85925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Constructed modular training and inference pipelines powered by automated execution scripts (`run_pipeline.py`).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48805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Tracked experiment metrics, parameters, and model registry using MLflow, enabling zero-downtime model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76250"/>
            <a:ext cx="8572500" cy="2543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5501" y="962025"/>
            <a:ext cx="7980997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Interactive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5525" y="1847850"/>
            <a:ext cx="76009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Built an intuitive web interface allowing users to upload car images, paste listing notes, and select vehicle specs to receive instant ML-driven price estimates with confidence intervals.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14662"/>
            <a:ext cx="5334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0D9488"/>
                </a:solidFill>
                <a:latin typeface="Poppins"/>
              </a:rPr>
              <a:t>18.4%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062412"/>
            <a:ext cx="5334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Lato"/>
              </a:rPr>
              <a:t>Pricing Error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01466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oppins SemiBold"/>
              </a:rPr>
              <a:t>Quantifiable Market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62337"/>
            <a:ext cx="53340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Replacing subjective manual appraisals with our automated multimodal pricing engine reduced average listing error by 18.4%, accelerated vehicle turnover speed on the platform by 14 days, and increased seller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Business Impact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1762"/>
            <a:ext cx="5334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71762"/>
            <a:ext cx="5334000" cy="2276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146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Modular Code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233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Organized directory structure splitting data processing (`src/data/`), feature extraction (`src/features/`), model definitions (`src/models/`), and execution scripts (`run_pipeline.py`).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146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oppins SemiBold"/>
              </a:rPr>
              <a:t>MLOps &amp; CI/CD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6233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Automated workflow testing via GitHub Actions, unit test suites in `tests/`, MLflow experiment logs, containerized deployment setup with Docker, and `requirements.txt` environment 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Repository 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9375"/>
            <a:ext cx="3492549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619375"/>
            <a:ext cx="3492549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19375"/>
            <a:ext cx="3492549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1465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6385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Geospatial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1955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Integrating regional micro-market economic indicators and local supply/demand density factors into the pricing matrix.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91465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6385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Explainable AI (XAI)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1955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Incorporating SHAP values and Grad-CAM visual heatmaps to show sellers exactly why a specific price estimate was generated.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91465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63855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E293B"/>
                </a:solidFill>
                <a:latin typeface="Poppins SemiBold"/>
              </a:rPr>
              <a:t>Real-Time Streaming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1955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Migrating batch database pipelines to event-driven Apache Kafka streams for instantaneous real-time pricing updates.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304800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8424" y="304800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3048000"/>
            <a:ext cx="23812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oppins"/>
              </a:rPr>
              <a:t>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Amirh shademani</cp:lastModifiedBy>
  <cp:revision>3</cp:revision>
  <dcterms:created xsi:type="dcterms:W3CDTF">2013-01-27T09:14:16Z</dcterms:created>
  <dcterms:modified xsi:type="dcterms:W3CDTF">2026-08-06T12:51:01Z</dcterms:modified>
  <cp:category/>
</cp:coreProperties>
</file>