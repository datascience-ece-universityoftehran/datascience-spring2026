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15.xml.rels" ContentType="application/vnd.openxmlformats-package.relationships+xml"/>
  <Override PartName="/ppt/slides/_rels/slide13.xml.rels" ContentType="application/vnd.openxmlformats-package.relationships+xml"/>
  <Override PartName="/ppt/slides/_rels/slide25.xml.rels" ContentType="application/vnd.openxmlformats-package.relationships+xml"/>
  <Override PartName="/ppt/slides/_rels/slide12.xml.rels" ContentType="application/vnd.openxmlformats-package.relationships+xml"/>
  <Override PartName="/ppt/slides/_rels/slide24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7BC9158-AB89-4205-BD48-E5361737891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EB1BF4F-6C40-49FF-905C-A81F1F007AD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899A1A0-BD05-4D03-B5EC-60BD4598AC7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25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88E3396-120F-482B-A8A7-D64271B5635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hyperlink" Target="https://www.kaggle.com/datasets/fernando2rad/brain-tumor-mri-images-30-classes" TargetMode="External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"/>
          <p:cNvSpPr/>
          <p:nvPr/>
        </p:nvSpPr>
        <p:spPr>
          <a:xfrm>
            <a:off x="0" y="0"/>
            <a:ext cx="12190680" cy="6856920"/>
          </a:xfrm>
          <a:prstGeom prst="roundRect">
            <a:avLst>
              <a:gd name="adj" fmla="val 16667"/>
            </a:avLst>
          </a:prstGeom>
          <a:solidFill>
            <a:srgbClr val="12152e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3" name="TextBox 2"/>
          <p:cNvSpPr/>
          <p:nvPr/>
        </p:nvSpPr>
        <p:spPr>
          <a:xfrm>
            <a:off x="1371600" y="1296720"/>
            <a:ext cx="914292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400" spc="-1" strike="noStrike">
                <a:solidFill>
                  <a:srgbClr val="ffffff"/>
                </a:solidFill>
                <a:latin typeface="Calibri"/>
                <a:ea typeface="DejaVu Sans"/>
              </a:rPr>
              <a:t>Brain MRI Multi-Task Classification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TextBox 3"/>
          <p:cNvSpPr/>
          <p:nvPr/>
        </p:nvSpPr>
        <p:spPr>
          <a:xfrm>
            <a:off x="1371600" y="2317680"/>
            <a:ext cx="914292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rgbClr val="00d2ff"/>
                </a:solidFill>
                <a:latin typeface="Calibri"/>
                <a:ea typeface="DejaVu Sans"/>
              </a:rPr>
              <a:t>Tumor Type Classification · MRI Weighting · Lesion Heatmap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TextBox 6"/>
          <p:cNvSpPr/>
          <p:nvPr/>
        </p:nvSpPr>
        <p:spPr>
          <a:xfrm>
            <a:off x="10972800" y="6400800"/>
            <a:ext cx="1096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8888aa"/>
                </a:solidFill>
                <a:latin typeface="Calibri"/>
                <a:ea typeface="DejaVu Sans"/>
              </a:rPr>
              <a:t>1/24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5029200" y="4800600"/>
            <a:ext cx="20570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2000" spc="-1" strike="noStrike">
                <a:solidFill>
                  <a:srgbClr val="ffffff"/>
                </a:solidFill>
                <a:latin typeface="Calibri"/>
              </a:rPr>
              <a:t>Mahyar Abbasi 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000" spc="-1" strike="noStrike">
                <a:solidFill>
                  <a:srgbClr val="ffffff"/>
                </a:solidFill>
                <a:latin typeface="Calibri"/>
              </a:rPr>
              <a:t>Nima Adib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>
            <a:off x="3886200" y="3429000"/>
            <a:ext cx="45716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Prof. Yaghoubzadeh &amp; Razavi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Mentored by Mina Shirazi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"/>
          <p:cNvSpPr/>
          <p:nvPr/>
        </p:nvSpPr>
        <p:spPr>
          <a:xfrm>
            <a:off x="365760" y="548640"/>
            <a:ext cx="53640" cy="730440"/>
          </a:xfrm>
          <a:prstGeom prst="roundRect">
            <a:avLst>
              <a:gd name="adj" fmla="val 16667"/>
            </a:avLst>
          </a:prstGeom>
          <a:solidFill>
            <a:srgbClr val="00d2ff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9" name="TextBox 2"/>
          <p:cNvSpPr/>
          <p:nvPr/>
        </p:nvSpPr>
        <p:spPr>
          <a:xfrm>
            <a:off x="640080" y="457200"/>
            <a:ext cx="1005732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  <a:ea typeface="DejaVu Sans"/>
              </a:rPr>
              <a:t>Dataset Overview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Rounded Rectangle 3"/>
          <p:cNvSpPr/>
          <p:nvPr/>
        </p:nvSpPr>
        <p:spPr>
          <a:xfrm>
            <a:off x="640080" y="1188720"/>
            <a:ext cx="10880280" cy="17280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1" name="TextBox 4"/>
          <p:cNvSpPr/>
          <p:nvPr/>
        </p:nvSpPr>
        <p:spPr>
          <a:xfrm>
            <a:off x="640080" y="1463040"/>
            <a:ext cx="10514520" cy="261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11,300 brain MRI scans from multiple tumor types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10 tumor classes: Normal, Astrocytoma, Ependymoma, Glioma, Hemangiopericytoma,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  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Meningioma, Neurocytoma, Oligodendroglioma, Schwannoma, Other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3 MRI weighting sequences: T1, T2, T1C+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Image resolution: up to ~512×512 pixels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Multi-modal metadata: tumor location (x,y), description text, scan dimensions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Data stored in SQLite database with relational schema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TextBox 5"/>
          <p:cNvSpPr/>
          <p:nvPr/>
        </p:nvSpPr>
        <p:spPr>
          <a:xfrm>
            <a:off x="640080" y="5943600"/>
            <a:ext cx="100573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8888aa"/>
                </a:solidFill>
                <a:latin typeface="Calibri"/>
                <a:ea typeface="DejaVu Sans"/>
              </a:rPr>
              <a:t>Dataset used: </a:t>
            </a:r>
            <a:r>
              <a:rPr b="0" lang="en-US" sz="1200" spc="-1" strike="noStrike" u="sng">
                <a:solidFill>
                  <a:srgbClr val="0000ff"/>
                </a:solidFill>
                <a:uFillTx/>
                <a:latin typeface="Calibri"/>
                <a:ea typeface="DejaVu Sans"/>
                <a:hlinkClick r:id="rId1"/>
              </a:rPr>
              <a:t>Brain MRI Images for Brain Tumor Detection (kaggle)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TextBox 6"/>
          <p:cNvSpPr/>
          <p:nvPr/>
        </p:nvSpPr>
        <p:spPr>
          <a:xfrm>
            <a:off x="10972800" y="6400800"/>
            <a:ext cx="1096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8888aa"/>
                </a:solidFill>
                <a:latin typeface="Calibri"/>
                <a:ea typeface="DejaVu Sans"/>
              </a:rPr>
              <a:t>2/24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ounded Rectangle 1"/>
          <p:cNvSpPr/>
          <p:nvPr/>
        </p:nvSpPr>
        <p:spPr>
          <a:xfrm>
            <a:off x="365760" y="548640"/>
            <a:ext cx="53640" cy="730440"/>
          </a:xfrm>
          <a:prstGeom prst="roundRect">
            <a:avLst>
              <a:gd name="adj" fmla="val 16667"/>
            </a:avLst>
          </a:prstGeom>
          <a:solidFill>
            <a:srgbClr val="00d2ff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5" name="TextBox 2"/>
          <p:cNvSpPr/>
          <p:nvPr/>
        </p:nvSpPr>
        <p:spPr>
          <a:xfrm>
            <a:off x="640080" y="457200"/>
            <a:ext cx="1005732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  <a:ea typeface="DejaVu Sans"/>
              </a:rPr>
              <a:t>Exploratory Data Analysis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Rounded Rectangle 3"/>
          <p:cNvSpPr/>
          <p:nvPr/>
        </p:nvSpPr>
        <p:spPr>
          <a:xfrm>
            <a:off x="640080" y="1188720"/>
            <a:ext cx="10880280" cy="17280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7" name="TextBox 4"/>
          <p:cNvSpPr/>
          <p:nvPr/>
        </p:nvSpPr>
        <p:spPr>
          <a:xfrm>
            <a:off x="640080" y="1463040"/>
            <a:ext cx="10514520" cy="224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Tumor distribution analysis — slight class imbalance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Weighting distribution: T1, T2, T1C+ roughly balanced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Image size distribution — 512×512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Tumor location heatmap — spatial distribution of lesion centroids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Correlation analysis between tumor type and location patterns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Description text length and content analysis for NLP features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TextBox 5"/>
          <p:cNvSpPr/>
          <p:nvPr/>
        </p:nvSpPr>
        <p:spPr>
          <a:xfrm>
            <a:off x="640080" y="5943600"/>
            <a:ext cx="100573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8888aa"/>
                </a:solidFill>
                <a:latin typeface="Calibri"/>
                <a:ea typeface="DejaVu Sans"/>
              </a:rPr>
              <a:t>EDA included distribution plots, boxplots, and statistical summaries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TextBox 6"/>
          <p:cNvSpPr/>
          <p:nvPr/>
        </p:nvSpPr>
        <p:spPr>
          <a:xfrm>
            <a:off x="10972800" y="6400800"/>
            <a:ext cx="1096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8888aa"/>
                </a:solidFill>
                <a:latin typeface="Calibri"/>
                <a:ea typeface="DejaVu Sans"/>
              </a:rPr>
              <a:t>3/24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1"/>
          <p:cNvSpPr/>
          <p:nvPr/>
        </p:nvSpPr>
        <p:spPr>
          <a:xfrm>
            <a:off x="640080" y="457200"/>
            <a:ext cx="1005732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pic>
        <p:nvPicPr>
          <p:cNvPr id="31" name="" descr=""/>
          <p:cNvPicPr/>
          <p:nvPr/>
        </p:nvPicPr>
        <p:blipFill>
          <a:blip r:embed="rId1"/>
          <a:stretch/>
        </p:blipFill>
        <p:spPr>
          <a:xfrm>
            <a:off x="2743200" y="0"/>
            <a:ext cx="6400440" cy="3200040"/>
          </a:xfrm>
          <a:prstGeom prst="rect">
            <a:avLst/>
          </a:prstGeom>
          <a:ln w="0">
            <a:noFill/>
          </a:ln>
        </p:spPr>
      </p:pic>
      <p:pic>
        <p:nvPicPr>
          <p:cNvPr id="32" name="" descr=""/>
          <p:cNvPicPr/>
          <p:nvPr/>
        </p:nvPicPr>
        <p:blipFill>
          <a:blip r:embed="rId2"/>
          <a:stretch/>
        </p:blipFill>
        <p:spPr>
          <a:xfrm>
            <a:off x="2743200" y="3429000"/>
            <a:ext cx="6401160" cy="3200400"/>
          </a:xfrm>
          <a:prstGeom prst="rect">
            <a:avLst/>
          </a:prstGeom>
          <a:ln w="0">
            <a:noFill/>
          </a:ln>
        </p:spPr>
      </p:pic>
      <p:sp>
        <p:nvSpPr>
          <p:cNvPr id="33" name="TextBox 7"/>
          <p:cNvSpPr/>
          <p:nvPr/>
        </p:nvSpPr>
        <p:spPr>
          <a:xfrm>
            <a:off x="10972800" y="6400800"/>
            <a:ext cx="1096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8888aa"/>
                </a:solidFill>
                <a:latin typeface="Calibri"/>
                <a:ea typeface="DejaVu Sans"/>
              </a:rPr>
              <a:t>4/24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ounded Rectangle 1"/>
          <p:cNvSpPr/>
          <p:nvPr/>
        </p:nvSpPr>
        <p:spPr>
          <a:xfrm>
            <a:off x="365760" y="548640"/>
            <a:ext cx="53640" cy="730440"/>
          </a:xfrm>
          <a:prstGeom prst="roundRect">
            <a:avLst>
              <a:gd name="adj" fmla="val 16667"/>
            </a:avLst>
          </a:prstGeom>
          <a:solidFill>
            <a:srgbClr val="00d2ff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5" name="TextBox 2"/>
          <p:cNvSpPr/>
          <p:nvPr/>
        </p:nvSpPr>
        <p:spPr>
          <a:xfrm>
            <a:off x="640080" y="457200"/>
            <a:ext cx="1005732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  <a:ea typeface="DejaVu Sans"/>
              </a:rPr>
              <a:t>Data Preprocessing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Rounded Rectangle 3"/>
          <p:cNvSpPr/>
          <p:nvPr/>
        </p:nvSpPr>
        <p:spPr>
          <a:xfrm>
            <a:off x="640080" y="1188720"/>
            <a:ext cx="10880280" cy="17280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7" name="TextBox 4"/>
          <p:cNvSpPr/>
          <p:nvPr/>
        </p:nvSpPr>
        <p:spPr>
          <a:xfrm>
            <a:off x="640080" y="1463040"/>
            <a:ext cx="10514520" cy="261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Normalization: pixel values scaled to [0,1] range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Image resize to 224×224 for model input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Coordinate normalization: point_x, point_y normalized to [0,1]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Lesion offset normalization: distance from image center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Missing value handling: zero-fill for missing descriptions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Categorical encoding: tumor_type and weighting mapped to indices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Data quality checks: missing images logged and skipped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TextBox 5"/>
          <p:cNvSpPr/>
          <p:nvPr/>
        </p:nvSpPr>
        <p:spPr>
          <a:xfrm>
            <a:off x="640080" y="5943600"/>
            <a:ext cx="100573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8888aa"/>
                </a:solidFill>
                <a:latin typeface="Calibri"/>
                <a:ea typeface="DejaVu Sans"/>
              </a:rPr>
              <a:t>Preprocessing pipeline automated via preprocess.py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TextBox 6"/>
          <p:cNvSpPr/>
          <p:nvPr/>
        </p:nvSpPr>
        <p:spPr>
          <a:xfrm>
            <a:off x="10972800" y="6400800"/>
            <a:ext cx="1096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8888aa"/>
                </a:solidFill>
                <a:latin typeface="Calibri"/>
                <a:ea typeface="DejaVu Sans"/>
              </a:rPr>
              <a:t>5/24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ounded Rectangle 1"/>
          <p:cNvSpPr/>
          <p:nvPr/>
        </p:nvSpPr>
        <p:spPr>
          <a:xfrm>
            <a:off x="365760" y="548640"/>
            <a:ext cx="53640" cy="730440"/>
          </a:xfrm>
          <a:prstGeom prst="roundRect">
            <a:avLst>
              <a:gd name="adj" fmla="val 16667"/>
            </a:avLst>
          </a:prstGeom>
          <a:solidFill>
            <a:srgbClr val="00d2ff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1" name="TextBox 2"/>
          <p:cNvSpPr/>
          <p:nvPr/>
        </p:nvSpPr>
        <p:spPr>
          <a:xfrm>
            <a:off x="640080" y="457200"/>
            <a:ext cx="1005732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  <a:ea typeface="DejaVu Sans"/>
              </a:rPr>
              <a:t>Database Architecture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Rounded Rectangle 3"/>
          <p:cNvSpPr/>
          <p:nvPr/>
        </p:nvSpPr>
        <p:spPr>
          <a:xfrm>
            <a:off x="640080" y="1188720"/>
            <a:ext cx="10880280" cy="17280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3" name="TextBox 4"/>
          <p:cNvSpPr/>
          <p:nvPr/>
        </p:nvSpPr>
        <p:spPr>
          <a:xfrm>
            <a:off x="640080" y="1463040"/>
            <a:ext cx="10514520" cy="224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SQLite relational database (brain_tumor_db.sqlite)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Database connection module: database_connection.py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Efficient querying for training data loading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Predictions saved back to database for persistence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Schema designed for reproducibility and traceability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Supports both training and inference pipelines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TextBox 6"/>
          <p:cNvSpPr/>
          <p:nvPr/>
        </p:nvSpPr>
        <p:spPr>
          <a:xfrm>
            <a:off x="10972800" y="6400800"/>
            <a:ext cx="1096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8888aa"/>
                </a:solidFill>
                <a:latin typeface="Calibri"/>
                <a:ea typeface="DejaVu Sans"/>
              </a:rPr>
              <a:t>6/24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ounded Rectangle 1"/>
          <p:cNvSpPr/>
          <p:nvPr/>
        </p:nvSpPr>
        <p:spPr>
          <a:xfrm>
            <a:off x="365760" y="548640"/>
            <a:ext cx="53640" cy="730440"/>
          </a:xfrm>
          <a:prstGeom prst="roundRect">
            <a:avLst>
              <a:gd name="adj" fmla="val 16667"/>
            </a:avLst>
          </a:prstGeom>
          <a:solidFill>
            <a:srgbClr val="00d2ff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6" name="TextBox 2"/>
          <p:cNvSpPr/>
          <p:nvPr/>
        </p:nvSpPr>
        <p:spPr>
          <a:xfrm>
            <a:off x="640080" y="457200"/>
            <a:ext cx="1005732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  <a:ea typeface="DejaVu Sans"/>
              </a:rPr>
              <a:t>Feature Engineering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Rounded Rectangle 3"/>
          <p:cNvSpPr/>
          <p:nvPr/>
        </p:nvSpPr>
        <p:spPr>
          <a:xfrm>
            <a:off x="640080" y="1188720"/>
            <a:ext cx="10880280" cy="17280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48" name="TextBox 4"/>
          <p:cNvSpPr/>
          <p:nvPr/>
        </p:nvSpPr>
        <p:spPr>
          <a:xfrm>
            <a:off x="640080" y="1463040"/>
            <a:ext cx="10514520" cy="186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Spatial features: lesion_offset, lesion_offset_norm, is_central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Location one-hot encoding: loc_* brain region flags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TF-IDF vectorization of clinical descriptions (top 20 terms)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Text length feature: desc_length from description strings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Output: 50+ engineered features fed alongside image data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TextBox 5"/>
          <p:cNvSpPr/>
          <p:nvPr/>
        </p:nvSpPr>
        <p:spPr>
          <a:xfrm>
            <a:off x="640080" y="5943600"/>
            <a:ext cx="100573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8888aa"/>
                </a:solidFill>
                <a:latin typeface="Calibri"/>
                <a:ea typeface="DejaVu Sans"/>
              </a:rPr>
              <a:t>Feature engineering script: feature_engineering.py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TextBox 6"/>
          <p:cNvSpPr/>
          <p:nvPr/>
        </p:nvSpPr>
        <p:spPr>
          <a:xfrm>
            <a:off x="10972800" y="6400800"/>
            <a:ext cx="1096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8888aa"/>
                </a:solidFill>
                <a:latin typeface="Calibri"/>
                <a:ea typeface="DejaVu Sans"/>
              </a:rPr>
              <a:t>7/24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ounded Rectangle 1"/>
          <p:cNvSpPr/>
          <p:nvPr/>
        </p:nvSpPr>
        <p:spPr>
          <a:xfrm>
            <a:off x="365760" y="548640"/>
            <a:ext cx="53640" cy="730440"/>
          </a:xfrm>
          <a:prstGeom prst="roundRect">
            <a:avLst>
              <a:gd name="adj" fmla="val 16667"/>
            </a:avLst>
          </a:prstGeom>
          <a:solidFill>
            <a:srgbClr val="00d2ff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2" name="TextBox 2"/>
          <p:cNvSpPr/>
          <p:nvPr/>
        </p:nvSpPr>
        <p:spPr>
          <a:xfrm>
            <a:off x="640080" y="457200"/>
            <a:ext cx="1005732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  <a:ea typeface="DejaVu Sans"/>
              </a:rPr>
              <a:t>Multi-Task Problem Definition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Rounded Rectangle 3"/>
          <p:cNvSpPr/>
          <p:nvPr/>
        </p:nvSpPr>
        <p:spPr>
          <a:xfrm>
            <a:off x="640080" y="1188720"/>
            <a:ext cx="10880280" cy="17280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4" name="TextBox 4"/>
          <p:cNvSpPr/>
          <p:nvPr/>
        </p:nvSpPr>
        <p:spPr>
          <a:xfrm>
            <a:off x="640080" y="1463040"/>
            <a:ext cx="10514520" cy="29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Task 1: Tumor Type Classification (10 classes, CrossEntropyLoss)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  →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Primary task, weight 1.0 in composite loss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Task 2: MRI Weighting Classification (3 classes, CrossEntropyLoss)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  →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Secondary task, weight 0.5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Task 3: Lesion Heatmap Regression (MSELoss)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  →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Gaussian heatmap at lesion location, weight 5.0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Joint training: all heads learn simultaneously from shared backbone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Structured features fused via MLP branch for richer representation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TextBox 5"/>
          <p:cNvSpPr/>
          <p:nvPr/>
        </p:nvSpPr>
        <p:spPr>
          <a:xfrm>
            <a:off x="640080" y="5943600"/>
            <a:ext cx="100573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8888aa"/>
                </a:solidFill>
                <a:latin typeface="Calibri"/>
                <a:ea typeface="DejaVu Sans"/>
              </a:rPr>
              <a:t>Multi-task learning improves generalization via shared representations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TextBox 6"/>
          <p:cNvSpPr/>
          <p:nvPr/>
        </p:nvSpPr>
        <p:spPr>
          <a:xfrm>
            <a:off x="10972800" y="6400800"/>
            <a:ext cx="1096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8888aa"/>
                </a:solidFill>
                <a:latin typeface="Calibri"/>
                <a:ea typeface="DejaVu Sans"/>
              </a:rPr>
              <a:t>8/24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ounded Rectangle 1"/>
          <p:cNvSpPr/>
          <p:nvPr/>
        </p:nvSpPr>
        <p:spPr>
          <a:xfrm>
            <a:off x="365760" y="548640"/>
            <a:ext cx="53640" cy="730440"/>
          </a:xfrm>
          <a:prstGeom prst="roundRect">
            <a:avLst>
              <a:gd name="adj" fmla="val 16667"/>
            </a:avLst>
          </a:prstGeom>
          <a:solidFill>
            <a:srgbClr val="00d2ff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58" name="TextBox 2"/>
          <p:cNvSpPr/>
          <p:nvPr/>
        </p:nvSpPr>
        <p:spPr>
          <a:xfrm>
            <a:off x="640080" y="457200"/>
            <a:ext cx="1005732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  <a:ea typeface="DejaVu Sans"/>
              </a:rPr>
              <a:t>CustomBrainNet Architecture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Rounded Rectangle 3"/>
          <p:cNvSpPr/>
          <p:nvPr/>
        </p:nvSpPr>
        <p:spPr>
          <a:xfrm>
            <a:off x="640080" y="1188720"/>
            <a:ext cx="10880280" cy="17280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0" name="Rounded Rectangle 4"/>
          <p:cNvSpPr/>
          <p:nvPr/>
        </p:nvSpPr>
        <p:spPr>
          <a:xfrm>
            <a:off x="640080" y="1554480"/>
            <a:ext cx="4570920" cy="593280"/>
          </a:xfrm>
          <a:prstGeom prst="roundRect">
            <a:avLst>
              <a:gd name="adj" fmla="val 16667"/>
            </a:avLst>
          </a:prstGeom>
          <a:solidFill>
            <a:srgbClr val="1e2a4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1" name="TextBox 5"/>
          <p:cNvSpPr/>
          <p:nvPr/>
        </p:nvSpPr>
        <p:spPr>
          <a:xfrm>
            <a:off x="822960" y="1627560"/>
            <a:ext cx="43880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00d2ff"/>
                </a:solidFill>
                <a:latin typeface="Calibri"/>
                <a:ea typeface="DejaVu Sans"/>
              </a:rPr>
              <a:t>Input (3, 224, 224)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TextBox 6"/>
          <p:cNvSpPr/>
          <p:nvPr/>
        </p:nvSpPr>
        <p:spPr>
          <a:xfrm>
            <a:off x="5669280" y="1627560"/>
            <a:ext cx="59425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ccccdd"/>
                </a:solidFill>
                <a:latin typeface="Calibri"/>
                <a:ea typeface="DejaVu Sans"/>
              </a:rPr>
              <a:t>Image + Structured Features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Rounded Rectangle 7"/>
          <p:cNvSpPr/>
          <p:nvPr/>
        </p:nvSpPr>
        <p:spPr>
          <a:xfrm>
            <a:off x="640080" y="2331720"/>
            <a:ext cx="4570920" cy="593280"/>
          </a:xfrm>
          <a:prstGeom prst="roundRect">
            <a:avLst>
              <a:gd name="adj" fmla="val 16667"/>
            </a:avLst>
          </a:prstGeom>
          <a:solidFill>
            <a:srgbClr val="1e2a4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4" name="TextBox 8"/>
          <p:cNvSpPr/>
          <p:nvPr/>
        </p:nvSpPr>
        <p:spPr>
          <a:xfrm>
            <a:off x="822960" y="2404800"/>
            <a:ext cx="43880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00d2ff"/>
                </a:solidFill>
                <a:latin typeface="Calibri"/>
                <a:ea typeface="DejaVu Sans"/>
              </a:rPr>
              <a:t>5-Stage CNN Backbone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TextBox 9"/>
          <p:cNvSpPr/>
          <p:nvPr/>
        </p:nvSpPr>
        <p:spPr>
          <a:xfrm>
            <a:off x="5669280" y="2404800"/>
            <a:ext cx="59425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ccccdd"/>
                </a:solidFill>
                <a:latin typeface="Calibri"/>
                <a:ea typeface="DejaVu Sans"/>
              </a:rPr>
              <a:t>32 → 64 → 128 → 256 → 512 channels, BatchNorm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Rounded Rectangle 10"/>
          <p:cNvSpPr/>
          <p:nvPr/>
        </p:nvSpPr>
        <p:spPr>
          <a:xfrm>
            <a:off x="640080" y="3108960"/>
            <a:ext cx="4570920" cy="593280"/>
          </a:xfrm>
          <a:prstGeom prst="roundRect">
            <a:avLst>
              <a:gd name="adj" fmla="val 16667"/>
            </a:avLst>
          </a:prstGeom>
          <a:solidFill>
            <a:srgbClr val="1e2a4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67" name="TextBox 11"/>
          <p:cNvSpPr/>
          <p:nvPr/>
        </p:nvSpPr>
        <p:spPr>
          <a:xfrm>
            <a:off x="822960" y="3182040"/>
            <a:ext cx="43880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00d2ff"/>
                </a:solidFill>
                <a:latin typeface="Calibri"/>
                <a:ea typeface="DejaVu Sans"/>
              </a:rPr>
              <a:t>Spatial Features (512, 14, 14)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TextBox 12"/>
          <p:cNvSpPr/>
          <p:nvPr/>
        </p:nvSpPr>
        <p:spPr>
          <a:xfrm>
            <a:off x="5669280" y="3182040"/>
            <a:ext cx="59425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ccccdd"/>
                </a:solidFill>
                <a:latin typeface="Calibri"/>
                <a:ea typeface="DejaVu Sans"/>
              </a:rPr>
              <a:t>Feature MLP (64-dim)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Rounded Rectangle 13"/>
          <p:cNvSpPr/>
          <p:nvPr/>
        </p:nvSpPr>
        <p:spPr>
          <a:xfrm>
            <a:off x="640080" y="3886200"/>
            <a:ext cx="4570920" cy="593280"/>
          </a:xfrm>
          <a:prstGeom prst="roundRect">
            <a:avLst>
              <a:gd name="adj" fmla="val 16667"/>
            </a:avLst>
          </a:prstGeom>
          <a:solidFill>
            <a:srgbClr val="1e2a4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0" name="TextBox 14"/>
          <p:cNvSpPr/>
          <p:nvPr/>
        </p:nvSpPr>
        <p:spPr>
          <a:xfrm>
            <a:off x="822960" y="3959280"/>
            <a:ext cx="43880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00d2ff"/>
                </a:solidFill>
                <a:latin typeface="Calibri"/>
                <a:ea typeface="DejaVu Sans"/>
              </a:rPr>
              <a:t>Global Pool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TextBox 15"/>
          <p:cNvSpPr/>
          <p:nvPr/>
        </p:nvSpPr>
        <p:spPr>
          <a:xfrm>
            <a:off x="5669280" y="3959280"/>
            <a:ext cx="59425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ccccdd"/>
                </a:solidFill>
                <a:latin typeface="Calibri"/>
                <a:ea typeface="DejaVu Sans"/>
              </a:rPr>
              <a:t>Fusion: Concat(512, 64) → 576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Rounded Rectangle 16"/>
          <p:cNvSpPr/>
          <p:nvPr/>
        </p:nvSpPr>
        <p:spPr>
          <a:xfrm>
            <a:off x="640080" y="4663440"/>
            <a:ext cx="4570920" cy="593280"/>
          </a:xfrm>
          <a:prstGeom prst="roundRect">
            <a:avLst>
              <a:gd name="adj" fmla="val 16667"/>
            </a:avLst>
          </a:prstGeom>
          <a:solidFill>
            <a:srgbClr val="1e2a4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3" name="TextBox 17"/>
          <p:cNvSpPr/>
          <p:nvPr/>
        </p:nvSpPr>
        <p:spPr>
          <a:xfrm>
            <a:off x="822960" y="4736520"/>
            <a:ext cx="43880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00d2ff"/>
                </a:solidFill>
                <a:latin typeface="Calibri"/>
                <a:ea typeface="DejaVu Sans"/>
              </a:rPr>
              <a:t>Tumor Head (10 classes)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TextBox 18"/>
          <p:cNvSpPr/>
          <p:nvPr/>
        </p:nvSpPr>
        <p:spPr>
          <a:xfrm>
            <a:off x="5669280" y="4736520"/>
            <a:ext cx="59425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ccccdd"/>
                </a:solidFill>
                <a:latin typeface="Calibri"/>
                <a:ea typeface="DejaVu Sans"/>
              </a:rPr>
              <a:t>Weight Head (3 classes)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Rounded Rectangle 19"/>
          <p:cNvSpPr/>
          <p:nvPr/>
        </p:nvSpPr>
        <p:spPr>
          <a:xfrm>
            <a:off x="640080" y="5440680"/>
            <a:ext cx="4570920" cy="593280"/>
          </a:xfrm>
          <a:prstGeom prst="roundRect">
            <a:avLst>
              <a:gd name="adj" fmla="val 16667"/>
            </a:avLst>
          </a:prstGeom>
          <a:solidFill>
            <a:srgbClr val="1e2a4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6" name="TextBox 20"/>
          <p:cNvSpPr/>
          <p:nvPr/>
        </p:nvSpPr>
        <p:spPr>
          <a:xfrm>
            <a:off x="822960" y="5513760"/>
            <a:ext cx="43880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00d2ff"/>
                </a:solidFill>
                <a:latin typeface="Calibri"/>
                <a:ea typeface="DejaVu Sans"/>
              </a:rPr>
              <a:t>Heatmap Head (1-channel)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TextBox 21"/>
          <p:cNvSpPr/>
          <p:nvPr/>
        </p:nvSpPr>
        <p:spPr>
          <a:xfrm>
            <a:off x="5669280" y="5513760"/>
            <a:ext cx="59425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ccccdd"/>
                </a:solidFill>
                <a:latin typeface="Calibri"/>
                <a:ea typeface="DejaVu Sans"/>
              </a:rPr>
              <a:t>Sigmoid → 224×224 lesion map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TextBox 22"/>
          <p:cNvSpPr/>
          <p:nvPr/>
        </p:nvSpPr>
        <p:spPr>
          <a:xfrm>
            <a:off x="640080" y="6217920"/>
            <a:ext cx="100573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8888aa"/>
                </a:solidFill>
                <a:latin typeface="Calibri"/>
                <a:ea typeface="DejaVu Sans"/>
              </a:rPr>
              <a:t>Trainable params: ~2.4M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TextBox 23"/>
          <p:cNvSpPr/>
          <p:nvPr/>
        </p:nvSpPr>
        <p:spPr>
          <a:xfrm>
            <a:off x="10972800" y="6400800"/>
            <a:ext cx="1096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8888aa"/>
                </a:solidFill>
                <a:latin typeface="Calibri"/>
                <a:ea typeface="DejaVu Sans"/>
              </a:rPr>
              <a:t>9/24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ounded Rectangle 1"/>
          <p:cNvSpPr/>
          <p:nvPr/>
        </p:nvSpPr>
        <p:spPr>
          <a:xfrm>
            <a:off x="365760" y="548640"/>
            <a:ext cx="53640" cy="730440"/>
          </a:xfrm>
          <a:prstGeom prst="roundRect">
            <a:avLst>
              <a:gd name="adj" fmla="val 16667"/>
            </a:avLst>
          </a:prstGeom>
          <a:solidFill>
            <a:srgbClr val="00d2ff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1" name="TextBox 2"/>
          <p:cNvSpPr/>
          <p:nvPr/>
        </p:nvSpPr>
        <p:spPr>
          <a:xfrm>
            <a:off x="640080" y="457200"/>
            <a:ext cx="1005732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  <a:ea typeface="DejaVu Sans"/>
              </a:rPr>
              <a:t>Training Configuration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Rounded Rectangle 3"/>
          <p:cNvSpPr/>
          <p:nvPr/>
        </p:nvSpPr>
        <p:spPr>
          <a:xfrm>
            <a:off x="640080" y="1188720"/>
            <a:ext cx="10880280" cy="17280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3" name="TextBox 4"/>
          <p:cNvSpPr/>
          <p:nvPr/>
        </p:nvSpPr>
        <p:spPr>
          <a:xfrm>
            <a:off x="640080" y="1463040"/>
            <a:ext cx="10514520" cy="29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Optimizer: AdamW (lr=1e-4, weight_decay=1e-4)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Scheduler: CosineAnnealingLR (T_max=10, restarts)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Maximum epochs: 60 (early stopping patience=7)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Batch size: 32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Input size: 224×224 pixels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Hardware: NVIDIA RTX 4070 (CUDA)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Data split: 80/20 stratified hold-out (seed=42)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Warm-start: resume training from previous checkpoint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TextBox 5"/>
          <p:cNvSpPr/>
          <p:nvPr/>
        </p:nvSpPr>
        <p:spPr>
          <a:xfrm>
            <a:off x="640080" y="5943600"/>
            <a:ext cx="100573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8888aa"/>
                </a:solidFill>
                <a:latin typeface="Calibri"/>
                <a:ea typeface="DejaVu Sans"/>
              </a:rPr>
              <a:t>Hyperparameters logged via MLflow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TextBox 6"/>
          <p:cNvSpPr/>
          <p:nvPr/>
        </p:nvSpPr>
        <p:spPr>
          <a:xfrm>
            <a:off x="10972800" y="6400800"/>
            <a:ext cx="1096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8888aa"/>
                </a:solidFill>
                <a:latin typeface="Calibri"/>
                <a:ea typeface="DejaVu Sans"/>
              </a:rPr>
              <a:t>10/24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Rounded Rectangle 1"/>
          <p:cNvSpPr/>
          <p:nvPr/>
        </p:nvSpPr>
        <p:spPr>
          <a:xfrm>
            <a:off x="365760" y="548640"/>
            <a:ext cx="53640" cy="730440"/>
          </a:xfrm>
          <a:prstGeom prst="roundRect">
            <a:avLst>
              <a:gd name="adj" fmla="val 16667"/>
            </a:avLst>
          </a:prstGeom>
          <a:solidFill>
            <a:srgbClr val="00d2ff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7" name="TextBox 2"/>
          <p:cNvSpPr/>
          <p:nvPr/>
        </p:nvSpPr>
        <p:spPr>
          <a:xfrm>
            <a:off x="640080" y="457200"/>
            <a:ext cx="1005732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  <a:ea typeface="DejaVu Sans"/>
              </a:rPr>
              <a:t>Regularization Techniques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Rounded Rectangle 3"/>
          <p:cNvSpPr/>
          <p:nvPr/>
        </p:nvSpPr>
        <p:spPr>
          <a:xfrm>
            <a:off x="640080" y="1188720"/>
            <a:ext cx="10880280" cy="17280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9" name="TextBox 4"/>
          <p:cNvSpPr/>
          <p:nvPr/>
        </p:nvSpPr>
        <p:spPr>
          <a:xfrm>
            <a:off x="640080" y="1463040"/>
            <a:ext cx="10514520" cy="224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Dropout: 0.3 in feature MLP, 0.4/0.3 in tumor head layers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Batch Normalization after every convolutional layer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Early stopping: monitor validation loss, patience=7 epochs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Best weights saved automatically to best_model_v4.pth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Weight decay (L2 regularization): 1e-4 in AdamW optimizer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Multi-task loss balancing prevents overfitting to any single task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TextBox 5"/>
          <p:cNvSpPr/>
          <p:nvPr/>
        </p:nvSpPr>
        <p:spPr>
          <a:xfrm>
            <a:off x="640080" y="5943600"/>
            <a:ext cx="100573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8888aa"/>
                </a:solidFill>
                <a:latin typeface="Calibri"/>
                <a:ea typeface="DejaVu Sans"/>
              </a:rPr>
              <a:t>Regularization needed due to 2.4M parameters on limited data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TextBox 6"/>
          <p:cNvSpPr/>
          <p:nvPr/>
        </p:nvSpPr>
        <p:spPr>
          <a:xfrm>
            <a:off x="10972800" y="6400800"/>
            <a:ext cx="1096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8888aa"/>
                </a:solidFill>
                <a:latin typeface="Calibri"/>
                <a:ea typeface="DejaVu Sans"/>
              </a:rPr>
              <a:t>11/24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ounded Rectangle 1"/>
          <p:cNvSpPr/>
          <p:nvPr/>
        </p:nvSpPr>
        <p:spPr>
          <a:xfrm>
            <a:off x="365760" y="548640"/>
            <a:ext cx="53640" cy="730440"/>
          </a:xfrm>
          <a:prstGeom prst="roundRect">
            <a:avLst>
              <a:gd name="adj" fmla="val 16667"/>
            </a:avLst>
          </a:prstGeom>
          <a:solidFill>
            <a:srgbClr val="00d2ff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3" name="TextBox 2"/>
          <p:cNvSpPr/>
          <p:nvPr/>
        </p:nvSpPr>
        <p:spPr>
          <a:xfrm>
            <a:off x="640080" y="457200"/>
            <a:ext cx="1005732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  <a:ea typeface="DejaVu Sans"/>
              </a:rPr>
              <a:t>Data Augmentation (Albumentations)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Rounded Rectangle 3"/>
          <p:cNvSpPr/>
          <p:nvPr/>
        </p:nvSpPr>
        <p:spPr>
          <a:xfrm>
            <a:off x="640080" y="1188720"/>
            <a:ext cx="10880280" cy="17280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5" name="TextBox 4"/>
          <p:cNvSpPr/>
          <p:nvPr/>
        </p:nvSpPr>
        <p:spPr>
          <a:xfrm>
            <a:off x="640080" y="1463040"/>
            <a:ext cx="10514520" cy="224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Horizontal Flip (p=0.5) — mirror images for invariance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ShiftScaleRotate (shift=0.1, scale=0.1, rotate=15°, p=0.5)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RandomBrightnessContrast (p=0.3) — lighting variation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Keypoint-aware: tumor coordinates transformed with image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Validation: only resize + normalization (no augmentation)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Normalization: ImageNet mean/std (0.485, 0.456, 0.406)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TextBox 6"/>
          <p:cNvSpPr/>
          <p:nvPr/>
        </p:nvSpPr>
        <p:spPr>
          <a:xfrm>
            <a:off x="10972800" y="6400800"/>
            <a:ext cx="1096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8888aa"/>
                </a:solidFill>
                <a:latin typeface="Calibri"/>
                <a:ea typeface="DejaVu Sans"/>
              </a:rPr>
              <a:t>12/24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Rounded Rectangle 1"/>
          <p:cNvSpPr/>
          <p:nvPr/>
        </p:nvSpPr>
        <p:spPr>
          <a:xfrm>
            <a:off x="365760" y="548640"/>
            <a:ext cx="53640" cy="730440"/>
          </a:xfrm>
          <a:prstGeom prst="roundRect">
            <a:avLst>
              <a:gd name="adj" fmla="val 16667"/>
            </a:avLst>
          </a:prstGeom>
          <a:solidFill>
            <a:srgbClr val="00d2ff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8" name="TextBox 2"/>
          <p:cNvSpPr/>
          <p:nvPr/>
        </p:nvSpPr>
        <p:spPr>
          <a:xfrm>
            <a:off x="640080" y="457200"/>
            <a:ext cx="1005732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  <a:ea typeface="DejaVu Sans"/>
              </a:rPr>
              <a:t>Composite Loss Function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Rounded Rectangle 3"/>
          <p:cNvSpPr/>
          <p:nvPr/>
        </p:nvSpPr>
        <p:spPr>
          <a:xfrm>
            <a:off x="640080" y="1188720"/>
            <a:ext cx="10880280" cy="17280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0" name="TextBox 4"/>
          <p:cNvSpPr/>
          <p:nvPr/>
        </p:nvSpPr>
        <p:spPr>
          <a:xfrm>
            <a:off x="640080" y="1463040"/>
            <a:ext cx="10514520" cy="224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Loss = (1.0 × CE_{tumor}) + (0.5 × CE_{weight}) + (5.0 × MSE_{heatmap})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CE_{tumor}: 10-class CrossEntropy for tumor type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CE_{weight}: 3-class CrossEntropy for MRI weighting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MSE_{heatmap}: pixel-wise Gaussian heatmap regression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Heatmap target: σ=5 Gaussian centered at (point_x, point_y)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Normal scans: zero heatmap (no lesion to localize)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TextBox 6"/>
          <p:cNvSpPr/>
          <p:nvPr/>
        </p:nvSpPr>
        <p:spPr>
          <a:xfrm>
            <a:off x="10972800" y="6400800"/>
            <a:ext cx="1096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8888aa"/>
                </a:solidFill>
                <a:latin typeface="Calibri"/>
                <a:ea typeface="DejaVu Sans"/>
              </a:rPr>
              <a:t>13/24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ounded Rectangle 1"/>
          <p:cNvSpPr/>
          <p:nvPr/>
        </p:nvSpPr>
        <p:spPr>
          <a:xfrm>
            <a:off x="365760" y="548640"/>
            <a:ext cx="53640" cy="730440"/>
          </a:xfrm>
          <a:prstGeom prst="roundRect">
            <a:avLst>
              <a:gd name="adj" fmla="val 16667"/>
            </a:avLst>
          </a:prstGeom>
          <a:solidFill>
            <a:srgbClr val="00d2ff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3" name="TextBox 2"/>
          <p:cNvSpPr/>
          <p:nvPr/>
        </p:nvSpPr>
        <p:spPr>
          <a:xfrm>
            <a:off x="640080" y="457200"/>
            <a:ext cx="1005732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  <a:ea typeface="DejaVu Sans"/>
              </a:rPr>
              <a:t>Evaluation Metrics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Rounded Rectangle 3"/>
          <p:cNvSpPr/>
          <p:nvPr/>
        </p:nvSpPr>
        <p:spPr>
          <a:xfrm>
            <a:off x="640080" y="1188720"/>
            <a:ext cx="10880280" cy="17280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5" name="TextBox 4"/>
          <p:cNvSpPr/>
          <p:nvPr/>
        </p:nvSpPr>
        <p:spPr>
          <a:xfrm>
            <a:off x="640080" y="1463040"/>
            <a:ext cx="10514520" cy="224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Accuracy: overall and per-class tumor accuracy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Precision, Recall, F1-Score via sklearn classification_report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Confusion Matrix: 10×10 heatmap of predictions vs true labels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Per-class accuracy breakdown with visual bars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Batch evaluation on held-out validation set (2260 samples)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All metrics printed to console and figures saved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TextBox 5"/>
          <p:cNvSpPr/>
          <p:nvPr/>
        </p:nvSpPr>
        <p:spPr>
          <a:xfrm>
            <a:off x="640080" y="5943600"/>
            <a:ext cx="100573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8888aa"/>
                </a:solidFill>
                <a:latin typeface="Calibri"/>
                <a:ea typeface="DejaVu Sans"/>
              </a:rPr>
              <a:t>Evaluation automated in evaluate.py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TextBox 6"/>
          <p:cNvSpPr/>
          <p:nvPr/>
        </p:nvSpPr>
        <p:spPr>
          <a:xfrm>
            <a:off x="10972800" y="6400800"/>
            <a:ext cx="1096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8888aa"/>
                </a:solidFill>
                <a:latin typeface="Calibri"/>
                <a:ea typeface="DejaVu Sans"/>
              </a:rPr>
              <a:t>14/24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Box 24"/>
          <p:cNvSpPr/>
          <p:nvPr/>
        </p:nvSpPr>
        <p:spPr>
          <a:xfrm>
            <a:off x="10972800" y="6400800"/>
            <a:ext cx="1096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8888aa"/>
                </a:solidFill>
                <a:latin typeface="Calibri"/>
                <a:ea typeface="DejaVu Sans"/>
              </a:rPr>
              <a:t>15/24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9" name="" descr=""/>
          <p:cNvPicPr/>
          <p:nvPr/>
        </p:nvPicPr>
        <p:blipFill>
          <a:blip r:embed="rId1"/>
          <a:stretch/>
        </p:blipFill>
        <p:spPr>
          <a:xfrm>
            <a:off x="1775160" y="749880"/>
            <a:ext cx="8511480" cy="4964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Rounded Rectangle 1"/>
          <p:cNvSpPr/>
          <p:nvPr/>
        </p:nvSpPr>
        <p:spPr>
          <a:xfrm>
            <a:off x="365760" y="548640"/>
            <a:ext cx="53640" cy="730440"/>
          </a:xfrm>
          <a:prstGeom prst="roundRect">
            <a:avLst>
              <a:gd name="adj" fmla="val 16667"/>
            </a:avLst>
          </a:prstGeom>
          <a:solidFill>
            <a:srgbClr val="00d2ff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1" name="TextBox 2"/>
          <p:cNvSpPr/>
          <p:nvPr/>
        </p:nvSpPr>
        <p:spPr>
          <a:xfrm>
            <a:off x="640080" y="457200"/>
            <a:ext cx="1005732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  <a:ea typeface="DejaVu Sans"/>
              </a:rPr>
              <a:t>Confusion Matrix Analysis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Rounded Rectangle 3"/>
          <p:cNvSpPr/>
          <p:nvPr/>
        </p:nvSpPr>
        <p:spPr>
          <a:xfrm>
            <a:off x="640080" y="1188720"/>
            <a:ext cx="10880280" cy="17280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3" name="TextBox 4"/>
          <p:cNvSpPr/>
          <p:nvPr/>
        </p:nvSpPr>
        <p:spPr>
          <a:xfrm>
            <a:off x="640080" y="1463040"/>
            <a:ext cx="10514520" cy="149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Heatmap visualization saved to confusion_matrix_final.png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Confusion patterns consistent with clinical 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similarity between tumor types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TextBox 5"/>
          <p:cNvSpPr/>
          <p:nvPr/>
        </p:nvSpPr>
        <p:spPr>
          <a:xfrm>
            <a:off x="640080" y="5943600"/>
            <a:ext cx="100573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8888aa"/>
                </a:solidFill>
                <a:latin typeface="Calibri"/>
                <a:ea typeface="DejaVu Sans"/>
              </a:rPr>
              <a:t>Confusion matrix enables targeted model improvement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TextBox 6"/>
          <p:cNvSpPr/>
          <p:nvPr/>
        </p:nvSpPr>
        <p:spPr>
          <a:xfrm>
            <a:off x="10972800" y="6400800"/>
            <a:ext cx="1096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8888aa"/>
                </a:solidFill>
                <a:latin typeface="Calibri"/>
                <a:ea typeface="DejaVu Sans"/>
              </a:rPr>
              <a:t>16/24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6" name="" descr=""/>
          <p:cNvPicPr/>
          <p:nvPr/>
        </p:nvPicPr>
        <p:blipFill>
          <a:blip r:embed="rId1"/>
          <a:stretch/>
        </p:blipFill>
        <p:spPr>
          <a:xfrm>
            <a:off x="6629400" y="1600200"/>
            <a:ext cx="4937760" cy="4114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Rounded Rectangle 1"/>
          <p:cNvSpPr/>
          <p:nvPr/>
        </p:nvSpPr>
        <p:spPr>
          <a:xfrm>
            <a:off x="365760" y="548640"/>
            <a:ext cx="53640" cy="730440"/>
          </a:xfrm>
          <a:prstGeom prst="roundRect">
            <a:avLst>
              <a:gd name="adj" fmla="val 16667"/>
            </a:avLst>
          </a:prstGeom>
          <a:solidFill>
            <a:srgbClr val="00d2ff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8" name="TextBox 2"/>
          <p:cNvSpPr/>
          <p:nvPr/>
        </p:nvSpPr>
        <p:spPr>
          <a:xfrm>
            <a:off x="640080" y="457200"/>
            <a:ext cx="1005732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  <a:ea typeface="DejaVu Sans"/>
              </a:rPr>
              <a:t>Receiver Operating Characteristic Curves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Rounded Rectangle 3"/>
          <p:cNvSpPr/>
          <p:nvPr/>
        </p:nvSpPr>
        <p:spPr>
          <a:xfrm>
            <a:off x="640080" y="1188720"/>
            <a:ext cx="10880280" cy="17280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0" name="TextBox 4"/>
          <p:cNvSpPr/>
          <p:nvPr/>
        </p:nvSpPr>
        <p:spPr>
          <a:xfrm>
            <a:off x="640080" y="1463040"/>
            <a:ext cx="10514520" cy="111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Multi-class ROC with one-vs-rest strategy per tumor type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AUC scores almost perfect, showing model’s performance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ROC curve saved to roc_curve.png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TextBox 5"/>
          <p:cNvSpPr/>
          <p:nvPr/>
        </p:nvSpPr>
        <p:spPr>
          <a:xfrm>
            <a:off x="640080" y="5943600"/>
            <a:ext cx="100573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8888aa"/>
                </a:solidFill>
                <a:latin typeface="Calibri"/>
                <a:ea typeface="DejaVu Sans"/>
              </a:rPr>
              <a:t>ROC analysis shows model ability to separate tumor types at various thresholds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TextBox 6"/>
          <p:cNvSpPr/>
          <p:nvPr/>
        </p:nvSpPr>
        <p:spPr>
          <a:xfrm>
            <a:off x="10972800" y="6400800"/>
            <a:ext cx="1096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8888aa"/>
                </a:solidFill>
                <a:latin typeface="Calibri"/>
                <a:ea typeface="DejaVu Sans"/>
              </a:rPr>
              <a:t>17/24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3" name="" descr=""/>
          <p:cNvPicPr/>
          <p:nvPr/>
        </p:nvPicPr>
        <p:blipFill>
          <a:blip r:embed="rId1"/>
          <a:stretch/>
        </p:blipFill>
        <p:spPr>
          <a:xfrm>
            <a:off x="6629400" y="1600200"/>
            <a:ext cx="4937400" cy="4114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Rounded Rectangle 1"/>
          <p:cNvSpPr/>
          <p:nvPr/>
        </p:nvSpPr>
        <p:spPr>
          <a:xfrm>
            <a:off x="365760" y="548640"/>
            <a:ext cx="53640" cy="730440"/>
          </a:xfrm>
          <a:prstGeom prst="roundRect">
            <a:avLst>
              <a:gd name="adj" fmla="val 16667"/>
            </a:avLst>
          </a:prstGeom>
          <a:solidFill>
            <a:srgbClr val="00d2ff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5" name="TextBox 2"/>
          <p:cNvSpPr/>
          <p:nvPr/>
        </p:nvSpPr>
        <p:spPr>
          <a:xfrm>
            <a:off x="640080" y="457200"/>
            <a:ext cx="1005732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  <a:ea typeface="DejaVu Sans"/>
              </a:rPr>
              <a:t>Lesion Heatmap Localization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Rounded Rectangle 3"/>
          <p:cNvSpPr/>
          <p:nvPr/>
        </p:nvSpPr>
        <p:spPr>
          <a:xfrm>
            <a:off x="640080" y="1188720"/>
            <a:ext cx="10880280" cy="17280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7" name="TextBox 4"/>
          <p:cNvSpPr/>
          <p:nvPr/>
        </p:nvSpPr>
        <p:spPr>
          <a:xfrm>
            <a:off x="640080" y="1463040"/>
            <a:ext cx="10514520" cy="261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Gaussian heatmap target at lesion centroid (point_x, point_y)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σ=5 spreads heat over ~11×11 pixel region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Normal scans: zero heatmap (no lesion)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Model outputs 1-channel 224×224 heatmap via decoder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Predicted heatmap overlays on input image for visualization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MSE loss optimized with weight 5.0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Enables interpretable lesion localization alongside classification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TextBox 6"/>
          <p:cNvSpPr/>
          <p:nvPr/>
        </p:nvSpPr>
        <p:spPr>
          <a:xfrm>
            <a:off x="10972800" y="6400800"/>
            <a:ext cx="1096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8888aa"/>
                </a:solidFill>
                <a:latin typeface="Calibri"/>
                <a:ea typeface="DejaVu Sans"/>
              </a:rPr>
              <a:t>18/24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Rounded Rectangle 1"/>
          <p:cNvSpPr/>
          <p:nvPr/>
        </p:nvSpPr>
        <p:spPr>
          <a:xfrm>
            <a:off x="365760" y="548640"/>
            <a:ext cx="53640" cy="730440"/>
          </a:xfrm>
          <a:prstGeom prst="roundRect">
            <a:avLst>
              <a:gd name="adj" fmla="val 16667"/>
            </a:avLst>
          </a:prstGeom>
          <a:solidFill>
            <a:srgbClr val="00d2ff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30" name="TextBox 2"/>
          <p:cNvSpPr/>
          <p:nvPr/>
        </p:nvSpPr>
        <p:spPr>
          <a:xfrm>
            <a:off x="640080" y="457200"/>
            <a:ext cx="1005732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  <a:ea typeface="DejaVu Sans"/>
              </a:rPr>
              <a:t>End-to-End Pipeline Automation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Rounded Rectangle 3"/>
          <p:cNvSpPr/>
          <p:nvPr/>
        </p:nvSpPr>
        <p:spPr>
          <a:xfrm>
            <a:off x="640080" y="1188720"/>
            <a:ext cx="10880280" cy="17280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32" name="Rounded Rectangle 4"/>
          <p:cNvSpPr/>
          <p:nvPr/>
        </p:nvSpPr>
        <p:spPr>
          <a:xfrm>
            <a:off x="640080" y="1554480"/>
            <a:ext cx="10880280" cy="1004760"/>
          </a:xfrm>
          <a:prstGeom prst="roundRect">
            <a:avLst>
              <a:gd name="adj" fmla="val 16667"/>
            </a:avLst>
          </a:prstGeom>
          <a:solidFill>
            <a:srgbClr val="1e2a4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33" name="TextBox 5"/>
          <p:cNvSpPr/>
          <p:nvPr/>
        </p:nvSpPr>
        <p:spPr>
          <a:xfrm>
            <a:off x="914400" y="1627560"/>
            <a:ext cx="100573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00d2ff"/>
                </a:solidFill>
                <a:latin typeface="Calibri"/>
                <a:ea typeface="DejaVu Sans"/>
              </a:rPr>
              <a:t>Training Pipeline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TextBox 6"/>
          <p:cNvSpPr/>
          <p:nvPr/>
        </p:nvSpPr>
        <p:spPr>
          <a:xfrm>
            <a:off x="914400" y="2057400"/>
            <a:ext cx="100573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ccccdd"/>
                </a:solidFill>
                <a:latin typeface="Calibri"/>
                <a:ea typeface="DejaVu Sans"/>
              </a:rPr>
              <a:t>load_data → preprocess → feature_engineering → train_model → save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Rounded Rectangle 7"/>
          <p:cNvSpPr/>
          <p:nvPr/>
        </p:nvSpPr>
        <p:spPr>
          <a:xfrm>
            <a:off x="640080" y="2788920"/>
            <a:ext cx="10880280" cy="1004760"/>
          </a:xfrm>
          <a:prstGeom prst="roundRect">
            <a:avLst>
              <a:gd name="adj" fmla="val 16667"/>
            </a:avLst>
          </a:prstGeom>
          <a:solidFill>
            <a:srgbClr val="1e2a4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36" name="TextBox 8"/>
          <p:cNvSpPr/>
          <p:nvPr/>
        </p:nvSpPr>
        <p:spPr>
          <a:xfrm>
            <a:off x="914400" y="2862000"/>
            <a:ext cx="100573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00d2ff"/>
                </a:solidFill>
                <a:latin typeface="Calibri"/>
                <a:ea typeface="DejaVu Sans"/>
              </a:rPr>
              <a:t>Prediction Pipeline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TextBox 9"/>
          <p:cNvSpPr/>
          <p:nvPr/>
        </p:nvSpPr>
        <p:spPr>
          <a:xfrm>
            <a:off x="914400" y="3291840"/>
            <a:ext cx="100573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ccccdd"/>
                </a:solidFill>
                <a:latin typeface="Calibri"/>
                <a:ea typeface="DejaVu Sans"/>
              </a:rPr>
              <a:t>load_data → preprocess → feature_engineering → load_model → predict → save_to_DB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Rounded Rectangle 10"/>
          <p:cNvSpPr/>
          <p:nvPr/>
        </p:nvSpPr>
        <p:spPr>
          <a:xfrm>
            <a:off x="640080" y="4023360"/>
            <a:ext cx="10880280" cy="1004760"/>
          </a:xfrm>
          <a:prstGeom prst="roundRect">
            <a:avLst>
              <a:gd name="adj" fmla="val 16667"/>
            </a:avLst>
          </a:prstGeom>
          <a:solidFill>
            <a:srgbClr val="1e2a4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39" name="TextBox 11"/>
          <p:cNvSpPr/>
          <p:nvPr/>
        </p:nvSpPr>
        <p:spPr>
          <a:xfrm>
            <a:off x="914400" y="4096440"/>
            <a:ext cx="100573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00d2ff"/>
                </a:solidFill>
                <a:latin typeface="Calibri"/>
                <a:ea typeface="DejaVu Sans"/>
              </a:rPr>
              <a:t>Orchestrator: run_pipeline.py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TextBox 12"/>
          <p:cNvSpPr/>
          <p:nvPr/>
        </p:nvSpPr>
        <p:spPr>
          <a:xfrm>
            <a:off x="914400" y="4526280"/>
            <a:ext cx="100573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ccccdd"/>
                </a:solidFill>
                <a:latin typeface="Calibri"/>
                <a:ea typeface="DejaVu Sans"/>
              </a:rPr>
              <a:t>--mode all | train | eval | predict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Rounded Rectangle 13"/>
          <p:cNvSpPr/>
          <p:nvPr/>
        </p:nvSpPr>
        <p:spPr>
          <a:xfrm>
            <a:off x="640080" y="5257800"/>
            <a:ext cx="10880280" cy="1004760"/>
          </a:xfrm>
          <a:prstGeom prst="roundRect">
            <a:avLst>
              <a:gd name="adj" fmla="val 16667"/>
            </a:avLst>
          </a:prstGeom>
          <a:solidFill>
            <a:srgbClr val="1e2a4a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42" name="TextBox 14"/>
          <p:cNvSpPr/>
          <p:nvPr/>
        </p:nvSpPr>
        <p:spPr>
          <a:xfrm>
            <a:off x="914400" y="5330880"/>
            <a:ext cx="100573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00d2ff"/>
                </a:solidFill>
                <a:latin typeface="Calibri"/>
                <a:ea typeface="DejaVu Sans"/>
              </a:rPr>
              <a:t>Reuses Phase 2 scripts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TextBox 15"/>
          <p:cNvSpPr/>
          <p:nvPr/>
        </p:nvSpPr>
        <p:spPr>
          <a:xfrm>
            <a:off x="914400" y="5760720"/>
            <a:ext cx="100573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ccccdd"/>
                </a:solidFill>
                <a:latin typeface="Calibri"/>
                <a:ea typeface="DejaVu Sans"/>
              </a:rPr>
              <a:t>load_data.py, preprocess.py, feature_engineering.py, database_connection.py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TextBox 17"/>
          <p:cNvSpPr/>
          <p:nvPr/>
        </p:nvSpPr>
        <p:spPr>
          <a:xfrm>
            <a:off x="10972800" y="6400800"/>
            <a:ext cx="1096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8888aa"/>
                </a:solidFill>
                <a:latin typeface="Calibri"/>
                <a:ea typeface="DejaVu Sans"/>
              </a:rPr>
              <a:t>19/24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Rounded Rectangle 1"/>
          <p:cNvSpPr/>
          <p:nvPr/>
        </p:nvSpPr>
        <p:spPr>
          <a:xfrm>
            <a:off x="365760" y="548640"/>
            <a:ext cx="53640" cy="730440"/>
          </a:xfrm>
          <a:prstGeom prst="roundRect">
            <a:avLst>
              <a:gd name="adj" fmla="val 16667"/>
            </a:avLst>
          </a:prstGeom>
          <a:solidFill>
            <a:srgbClr val="00d2ff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46" name="TextBox 2"/>
          <p:cNvSpPr/>
          <p:nvPr/>
        </p:nvSpPr>
        <p:spPr>
          <a:xfrm>
            <a:off x="640080" y="457200"/>
            <a:ext cx="1005732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  <a:ea typeface="DejaVu Sans"/>
              </a:rPr>
              <a:t>MLflow Integration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Rounded Rectangle 3"/>
          <p:cNvSpPr/>
          <p:nvPr/>
        </p:nvSpPr>
        <p:spPr>
          <a:xfrm>
            <a:off x="640080" y="1188720"/>
            <a:ext cx="10880280" cy="17280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48" name="TextBox 4"/>
          <p:cNvSpPr/>
          <p:nvPr/>
        </p:nvSpPr>
        <p:spPr>
          <a:xfrm>
            <a:off x="640080" y="1463040"/>
            <a:ext cx="10514520" cy="261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Experiment tracking: all hyperparameters logged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Learning rate, batch size, epochs, loss weights, optimizer, scheduler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Per-epoch metrics: train/val loss and accuracy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Best metrics: best_val_loss, best_val_acc recorded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Model artifact: PyTorch model saved to MLflow registry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Model versioning: automatic version tracking across runs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Full reproducibility: every run can be recreated from logged params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TextBox 6"/>
          <p:cNvSpPr/>
          <p:nvPr/>
        </p:nvSpPr>
        <p:spPr>
          <a:xfrm>
            <a:off x="10972800" y="6400800"/>
            <a:ext cx="1096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8888aa"/>
                </a:solidFill>
                <a:latin typeface="Calibri"/>
                <a:ea typeface="DejaVu Sans"/>
              </a:rPr>
              <a:t>20/24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Rounded Rectangle 1"/>
          <p:cNvSpPr/>
          <p:nvPr/>
        </p:nvSpPr>
        <p:spPr>
          <a:xfrm>
            <a:off x="365760" y="548640"/>
            <a:ext cx="53640" cy="730440"/>
          </a:xfrm>
          <a:prstGeom prst="roundRect">
            <a:avLst>
              <a:gd name="adj" fmla="val 16667"/>
            </a:avLst>
          </a:prstGeom>
          <a:solidFill>
            <a:srgbClr val="00d2ff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51" name="TextBox 2"/>
          <p:cNvSpPr/>
          <p:nvPr/>
        </p:nvSpPr>
        <p:spPr>
          <a:xfrm>
            <a:off x="640080" y="457200"/>
            <a:ext cx="1005732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  <a:ea typeface="DejaVu Sans"/>
              </a:rPr>
              <a:t>Baseline Comparison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Rounded Rectangle 3"/>
          <p:cNvSpPr/>
          <p:nvPr/>
        </p:nvSpPr>
        <p:spPr>
          <a:xfrm>
            <a:off x="640080" y="1188720"/>
            <a:ext cx="10880280" cy="17280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53" name="TextBox 4"/>
          <p:cNvSpPr/>
          <p:nvPr/>
        </p:nvSpPr>
        <p:spPr>
          <a:xfrm>
            <a:off x="640080" y="1463040"/>
            <a:ext cx="10514520" cy="224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Single-task vs Multi-Task: multi-task improves generalization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Shared backbone learns richer representations across tasks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Pretrained vs Scratch: transfer learning significant boost (transfer)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ImageNet weights backbone vs custom 5-stage CNN scratch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Loss: composite weighted vs uniform — weighted better for heatmap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Feature fusion: MLP branch alone vs image-only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TextBox 6"/>
          <p:cNvSpPr/>
          <p:nvPr/>
        </p:nvSpPr>
        <p:spPr>
          <a:xfrm>
            <a:off x="10972800" y="6400800"/>
            <a:ext cx="1096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8888aa"/>
                </a:solidFill>
                <a:latin typeface="Calibri"/>
                <a:ea typeface="DejaVu Sans"/>
              </a:rPr>
              <a:t>21/24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Rounded Rectangle 1"/>
          <p:cNvSpPr/>
          <p:nvPr/>
        </p:nvSpPr>
        <p:spPr>
          <a:xfrm>
            <a:off x="365760" y="548640"/>
            <a:ext cx="53640" cy="730440"/>
          </a:xfrm>
          <a:prstGeom prst="roundRect">
            <a:avLst>
              <a:gd name="adj" fmla="val 16667"/>
            </a:avLst>
          </a:prstGeom>
          <a:solidFill>
            <a:srgbClr val="00d2ff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56" name="TextBox 2"/>
          <p:cNvSpPr/>
          <p:nvPr/>
        </p:nvSpPr>
        <p:spPr>
          <a:xfrm>
            <a:off x="640080" y="457200"/>
            <a:ext cx="1005732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  <a:ea typeface="DejaVu Sans"/>
              </a:rPr>
              <a:t>Reproducibility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Rounded Rectangle 3"/>
          <p:cNvSpPr/>
          <p:nvPr/>
        </p:nvSpPr>
        <p:spPr>
          <a:xfrm>
            <a:off x="640080" y="1188720"/>
            <a:ext cx="10880280" cy="17280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58" name="TextBox 4"/>
          <p:cNvSpPr/>
          <p:nvPr/>
        </p:nvSpPr>
        <p:spPr>
          <a:xfrm>
            <a:off x="640080" y="1463040"/>
            <a:ext cx="10514520" cy="261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Random seed: 42 (PyTorch, NumPy, Python random)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Full requirements: requirements_p3.txt with pinned versions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Environment: Python 3.14, PyTorch 2.x, CUDA 12.x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Data split: stratified 80/20, same split across all runs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Pipeline: single command python run_pipeline.py --mode all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Checkpoints: best weights saved to models/best_model_v4.pth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Logging: structured logs + MLflow tracking for every run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TextBox 5"/>
          <p:cNvSpPr/>
          <p:nvPr/>
        </p:nvSpPr>
        <p:spPr>
          <a:xfrm>
            <a:off x="640080" y="5943600"/>
            <a:ext cx="100573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8888aa"/>
                </a:solidFill>
                <a:latin typeface="Calibri"/>
                <a:ea typeface="DejaVu Sans"/>
              </a:rPr>
              <a:t>Every run fully reproducible from code + params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TextBox 6"/>
          <p:cNvSpPr/>
          <p:nvPr/>
        </p:nvSpPr>
        <p:spPr>
          <a:xfrm>
            <a:off x="10972800" y="6400800"/>
            <a:ext cx="1096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8888aa"/>
                </a:solidFill>
                <a:latin typeface="Calibri"/>
                <a:ea typeface="DejaVu Sans"/>
              </a:rPr>
              <a:t>22/24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Rounded Rectangle 1"/>
          <p:cNvSpPr/>
          <p:nvPr/>
        </p:nvSpPr>
        <p:spPr>
          <a:xfrm>
            <a:off x="365760" y="548640"/>
            <a:ext cx="53640" cy="730440"/>
          </a:xfrm>
          <a:prstGeom prst="roundRect">
            <a:avLst>
              <a:gd name="adj" fmla="val 16667"/>
            </a:avLst>
          </a:prstGeom>
          <a:solidFill>
            <a:srgbClr val="00d2ff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62" name="TextBox 2"/>
          <p:cNvSpPr/>
          <p:nvPr/>
        </p:nvSpPr>
        <p:spPr>
          <a:xfrm>
            <a:off x="640080" y="457200"/>
            <a:ext cx="1005732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  <a:ea typeface="DejaVu Sans"/>
              </a:rPr>
              <a:t>Clinical Impact &amp; Integration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Rounded Rectangle 3"/>
          <p:cNvSpPr/>
          <p:nvPr/>
        </p:nvSpPr>
        <p:spPr>
          <a:xfrm>
            <a:off x="640080" y="1188720"/>
            <a:ext cx="10880280" cy="17280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64" name="TextBox 4"/>
          <p:cNvSpPr/>
          <p:nvPr/>
        </p:nvSpPr>
        <p:spPr>
          <a:xfrm>
            <a:off x="640080" y="1463040"/>
            <a:ext cx="10514520" cy="261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Triage assist: rank scans by tumor probability for radiologist review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Heatmap localization: draws attention to suspicious regions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Second opinion: automated classification supports diagnostic workflow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Weighting detection: auto-identify MRI sequence type from image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Integration: pipeline → model → report annotations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Latency: &lt;1s per scan enables real-time clinical decision support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Limitation: not a diagnostic replacement — assistive tool only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TextBox 5"/>
          <p:cNvSpPr/>
          <p:nvPr/>
        </p:nvSpPr>
        <p:spPr>
          <a:xfrm>
            <a:off x="640080" y="5943600"/>
            <a:ext cx="100573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8888aa"/>
                </a:solidFill>
                <a:latin typeface="Calibri"/>
                <a:ea typeface="DejaVu Sans"/>
              </a:rPr>
              <a:t>Clinical impact: triage, localization, workflow integration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TextBox 6"/>
          <p:cNvSpPr/>
          <p:nvPr/>
        </p:nvSpPr>
        <p:spPr>
          <a:xfrm>
            <a:off x="10972800" y="6400800"/>
            <a:ext cx="1096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8888aa"/>
                </a:solidFill>
                <a:latin typeface="Calibri"/>
                <a:ea typeface="DejaVu Sans"/>
              </a:rPr>
              <a:t>23/24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Rounded Rectangle 1"/>
          <p:cNvSpPr/>
          <p:nvPr/>
        </p:nvSpPr>
        <p:spPr>
          <a:xfrm>
            <a:off x="365760" y="548640"/>
            <a:ext cx="53640" cy="730440"/>
          </a:xfrm>
          <a:prstGeom prst="roundRect">
            <a:avLst>
              <a:gd name="adj" fmla="val 16667"/>
            </a:avLst>
          </a:prstGeom>
          <a:solidFill>
            <a:srgbClr val="00d2ff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68" name="TextBox 2"/>
          <p:cNvSpPr/>
          <p:nvPr/>
        </p:nvSpPr>
        <p:spPr>
          <a:xfrm>
            <a:off x="640080" y="457200"/>
            <a:ext cx="1005732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  <a:ea typeface="DejaVu Sans"/>
              </a:rPr>
              <a:t>Failure Cases &amp; Lessons Learned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" name="Rounded Rectangle 3"/>
          <p:cNvSpPr/>
          <p:nvPr/>
        </p:nvSpPr>
        <p:spPr>
          <a:xfrm>
            <a:off x="640080" y="1188720"/>
            <a:ext cx="10880280" cy="17280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936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28440" bIns="-2844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70" name="TextBox 4"/>
          <p:cNvSpPr/>
          <p:nvPr/>
        </p:nvSpPr>
        <p:spPr>
          <a:xfrm>
            <a:off x="640080" y="1463040"/>
            <a:ext cx="10514520" cy="41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51"/>
              </a:spcBef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Glioma vs Astrocytoma: histologically similar, imaging overlap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51"/>
              </a:spcBef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Rare classes → model underfits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51"/>
              </a:spcBef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Heatmap misses lesion: small tumors &lt;10px poorly localized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51"/>
              </a:spcBef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Weighting confusion: T1 vs T1C+ visually similar without contrast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51"/>
              </a:spcBef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Additional labels (genomic/molecular) could disambiguate similar types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51"/>
              </a:spcBef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Lessons: need more rare class data, better backbone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51"/>
              </a:spcBef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51"/>
              </a:spcBef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Data preprocessing pitfall: dash/em-dash characters in image names broke regex extraction → 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51"/>
              </a:spcBef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early pipeline bugs caused terrible accuracy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51"/>
              </a:spcBef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  </a:t>
            </a:r>
            <a:r>
              <a:rPr b="0" lang="en-US" sz="1800" spc="-1" strike="noStrike">
                <a:solidFill>
                  <a:srgbClr val="ccccdd"/>
                </a:solidFill>
                <a:latin typeface="Calibri"/>
                <a:ea typeface="DejaVu Sans"/>
              </a:rPr>
              <a:t>Lesson: preprocessing/data cleaning as critical as model architecture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TextBox 5"/>
          <p:cNvSpPr/>
          <p:nvPr/>
        </p:nvSpPr>
        <p:spPr>
          <a:xfrm>
            <a:off x="640080" y="5943600"/>
            <a:ext cx="100573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8888aa"/>
                </a:solidFill>
                <a:latin typeface="Calibri"/>
                <a:ea typeface="DejaVu Sans"/>
              </a:rPr>
              <a:t>Failure analysis guides future improvements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TextBox 6"/>
          <p:cNvSpPr/>
          <p:nvPr/>
        </p:nvSpPr>
        <p:spPr>
          <a:xfrm>
            <a:off x="10972800" y="6400800"/>
            <a:ext cx="1096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8888aa"/>
                </a:solidFill>
                <a:latin typeface="Calibri"/>
                <a:ea typeface="DejaVu Sans"/>
              </a:rPr>
              <a:t>24/24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TextBox 10"/>
          <p:cNvSpPr/>
          <p:nvPr/>
        </p:nvSpPr>
        <p:spPr>
          <a:xfrm>
            <a:off x="2287080" y="2973600"/>
            <a:ext cx="1005732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5400" spc="-1" strike="noStrike">
                <a:solidFill>
                  <a:srgbClr val="ffffff"/>
                </a:solidFill>
                <a:latin typeface="Calibri"/>
                <a:ea typeface="DejaVu Sans"/>
              </a:rPr>
              <a:t>Thanks for your attention</a:t>
            </a:r>
            <a:endParaRPr b="0" lang="en-US" sz="5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2026-07-28T23:28:41Z</dcterms:modified>
  <cp:revision>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