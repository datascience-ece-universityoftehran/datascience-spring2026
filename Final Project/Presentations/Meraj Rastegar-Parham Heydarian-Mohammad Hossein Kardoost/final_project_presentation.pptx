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Counts</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Raw rows</c:v>
                  </c:pt>
                  <c:pt idx="1">
                    <c:v>Final rows</c:v>
                  </c:pt>
                  <c:pt idx="2">
                    <c:v>CSV columns</c:v>
                  </c:pt>
                  <c:pt idx="3">
                    <c:v>Usable features</c:v>
                  </c:pt>
                </c:lvl>
              </c:multiLvlStrCache>
            </c:multiLvlStrRef>
          </c:cat>
          <c:val>
            <c:numRef>
              <c:f>Sheet1!$B$2:$B$5</c:f>
              <c:numCache>
                <c:formatCode>General</c:formatCode>
                <c:ptCount val="4"/>
                <c:pt idx="0">
                  <c:v>18580</c:v>
                </c:pt>
                <c:pt idx="1">
                  <c:v>18400</c:v>
                </c:pt>
                <c:pt idx="2">
                  <c:v>420</c:v>
                </c:pt>
                <c:pt idx="3">
                  <c:v>414</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5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5DA5DA"/>
              </a:solidFill>
              <a:effectLst/>
            </c:spPr>
          </c:dPt>
          <c:dPt>
            <c:idx val="1"/>
            <c:bubble3D val="0"/>
            <c:spPr>
              <a:solidFill>
                <a:srgbClr val="FAA43A"/>
              </a:solidFill>
              <a:effectLst/>
            </c:spPr>
          </c:dPt>
          <c:dPt>
            <c:idx val="2"/>
            <c:bubble3D val="0"/>
            <c:spPr>
              <a:solidFill>
                <a:srgbClr val="60BD68"/>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Train</c:v>
                </c:pt>
                <c:pt idx="1">
                  <c:v>Validation</c:v>
                </c:pt>
                <c:pt idx="2">
                  <c:v>Test</c:v>
                </c:pt>
              </c:strCache>
            </c:strRef>
          </c:cat>
          <c:val>
            <c:numRef>
              <c:f>Sheet1!$B$2:$B$4</c:f>
              <c:numCache>
                <c:ptCount val="3"/>
                <c:pt idx="0">
                  <c:v>12880</c:v>
                </c:pt>
                <c:pt idx="1">
                  <c:v>2760</c:v>
                </c:pt>
                <c:pt idx="2">
                  <c:v>2760</c:v>
                </c:pt>
              </c:numCache>
            </c:numRef>
          </c:val>
        </c:ser>
        <c:firstSliceAng val="0"/>
        <c:holeSize val="58"/>
      </c:doughnut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Validation RMSE_log</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Dummy median</c:v>
                  </c:pt>
                  <c:pt idx="1">
                    <c:v>XGBoost</c:v>
                  </c:pt>
                  <c:pt idx="2">
                    <c:v>LightGBM</c:v>
                  </c:pt>
                  <c:pt idx="3">
                    <c:v>CatBoost</c:v>
                  </c:pt>
                  <c:pt idx="4">
                    <c:v>Ensemble</c:v>
                  </c:pt>
                </c:lvl>
              </c:multiLvlStrCache>
            </c:multiLvlStrRef>
          </c:cat>
          <c:val>
            <c:numRef>
              <c:f>Sheet1!$B$2:$B$6</c:f>
              <c:numCache>
                <c:formatCode>General</c:formatCode>
                <c:ptCount val="5"/>
                <c:pt idx="0">
                  <c:v>0.9335</c:v>
                </c:pt>
                <c:pt idx="1">
                  <c:v>0.3614</c:v>
                </c:pt>
                <c:pt idx="2">
                  <c:v>0.3605</c:v>
                </c:pt>
                <c:pt idx="3">
                  <c:v>0.3606</c:v>
                </c:pt>
                <c:pt idx="4">
                  <c:v>0.356</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Family weight</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LightGBM</c:v>
                  </c:pt>
                  <c:pt idx="1">
                    <c:v>CatBoost</c:v>
                  </c:pt>
                  <c:pt idx="2">
                    <c:v>XGBoost</c:v>
                  </c:pt>
                </c:lvl>
              </c:multiLvlStrCache>
            </c:multiLvlStrRef>
          </c:cat>
          <c:val>
            <c:numRef>
              <c:f>Sheet1!$B$2:$B$4</c:f>
              <c:numCache>
                <c:formatCode>General</c:formatCode>
                <c:ptCount val="3"/>
                <c:pt idx="0">
                  <c:v>0.38382</c:v>
                </c:pt>
                <c:pt idx="1">
                  <c:v>0.32215</c:v>
                </c:pt>
                <c:pt idx="2">
                  <c:v>0.29403</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ما پروژه نهایی درس Introduction to Data Science را ارائه می‌کنیم. موضوع پروژه، پیش‌بینی قیمت آگهی‌های املاک شهر نیویورک بر اساس داده‌های جمع‌آوری‌شده از Redfin است. ایده اصلی این بود که فقط یک تحلیل توصیفی انجام ندهیم؛ بلکه یک مسیر کامل داده‌محور بسازیم: از انتخاب و جمع‌آوری داده در فاز یک، تا ذخیره‌سازی و پایپ‌لاین پردازش در فاز دو، و در نهایت مدل‌سازی، ارزیابی و ذخیره پیش‌بینی‌ها در فاز سه. در انتهای این پروژه، ۱۸۴۰۰ رکورد تمیز، ۴۱۴ ویژگی مدل‌پذیر، و یک Ensemble وزن‌دار از LightGBM، CatBoost و XGBoost داریم که روی مجموعه Test دست‌نخورده R² حدود 0.87 به دست آورده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مسیر پیاده‌سازی پروژه را خلاصه می‌کنیم. ابتدا دیتاست و مسئله پیش‌بینی قیمت را توضیح می‌دهیم. سپس کیفیت داده، EDA، پیش‌پردازش و Feature Engineering را مرور می‌کنیم. بعد نشان می‌دهیم داده چگونه در SQLite ذخیره شده و پایپ‌لاین چگونه به صورت ماژولار اجرا می‌شود. در بخش مدل‌سازی، Split، Cross-validation، Optuna و Ensemble توضیح داده می‌شود. سپس نتایج Validation و Test، ذخیره پیش‌بینی‌ها، کاربرد واقعی، محدودیت‌های علمی و ساختار کد را ارائه می‌کنیم.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فاز یک شامل انتخاب دیتاست، تعریف منبع و تعریف هدف پروژه بود. داده ما از Redfin و مربوط به آگهی‌های املاک نیویورک است. مزیت مهم این پروژه این است که داده آماده ساده استفاده نشده؛ داده توسط تیم جمع‌آوری شده و بعد به شکل مدل‌پذیر تبدیل شده است. هدف ما پیش‌بینی قیمت دلاری ملک است، اما چون توزیع قیمت املاک معمولاً بسیار چوله و heavy-tailed است، مدل را روی log_price آموزش دادیم، یعنی log1p(price_dollar). سپس خروجی مدل دوباره به مقیاس دلار برگردانده می‌شود. بنابراین فرمول مسئله این است: از ویژگی‌های ساختاری، مکانی، متنی و فراداده‌ای آگهی، مقدار log_price را پیش‌بینی کنیم و در نهایت یک قیمت و بازه پیش‌بینی ارائه دهیم.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فازهای اول و دوم، ابتدا داده خام بررسی شد. تعداد اولیه رکوردها ۱۸۵۸۰ بود و بعد از حذف موارد تکراری و کنترل کیفیت، ۱۸۴۰۰ رکورد نهایی باقی ماند. فایل مدل‌پذیر ۴۲۰ ستون دارد که بعد از کنار گذاشتن ستون‌های شناسه، هدف و ستون‌های ثابت، ۴۱۴ ویژگی قابل استفاده برای مدل باقی مانده است. در EDA مشخص شد که قیمت با متغیرهایی مثل مساحت، تعداد اتاق، تعداد سرویس، شهر یا محدوده، و همچنین متن آدرس و توضیحات رابطه دارد. از نظر کیفیت داده، هدف این بود که قبل از ورود به مدل‌سازی، missing عددی، infinity، شناسه تکراری و قیمت نامعتبر نداشته باشیم. این موضوع برای ارزیابی علمی خیلی مهم است، چون مدل نباید روی داده آلوده یا ناسازگار آموزش داده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فاز دو بخش زیرساختی پروژه بود. داده تمیز شده فقط در یک فایل CSV رها نشده، بلکه وارد SQLite شد. دلیل این کار این است که در یک پروژه واقعی، پایپ‌لاین باید قابلیت خواندن داده، کنترل Schema، اجرای Query و ذخیره خروجی را داشته باشد. ساختار کد هم ماژولار شده است: import_to_db برای ورود داده به دیتابیس، load_data برای خواندن داده، preprocess برای اعتبارسنجی و ساخت Split، و feature_engineering برای انتخاب ویژگی‌های نهایی. همچنین برای CI/CD، GitHub Actions و اسکریپت‌های اعتبارسنجی اضافه شده‌اند تا هر بار اجرای پروژه قابل کنترل باشد. فاز سه روی همین Artifact مدل‌پذیر ساخته شده و بخش‌های مدل، ارزیابی و ذخیره پیش‌بینی را اضافه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ویژگی‌سازی بخش مهم پروژه بود. فقط از ستون‌های خام استفاده نکردیم. از متغیرهای عددی مثل beds، baths، مساحت، لگاریتم مساحت، نسبت مساحت به تعداد اتاق و نسبت تخت به حمام استفاده شد. از طرف دیگر، اطلاعات مکانی و آدرسی مثل شهر، گروه‌بندی شهر، وجود Unit و اعتبار State و City به مدل کمک می‌کنند. برای متن آگهی نیز ویژگی‌های TF-IDF ساخته شده تا مدل بتواند از کلمات و عبارت‌های تکرارشونده در آگهی‌ها استفاده کند. علاوه بر این، بعضی از missingها و مقادیر نامعتبر به صورت Flag نگهداری شدند، چون خود نبودن یا نامعتبر بودن یک مقدار ممکن است برای مدل سیگنال داشته باشد. خروجی این بخش یک ماتریس نهایی با ۴۱۴ ویژگی غیرثابت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فاز مدل‌سازی، اول Split ثابت و قابل تکرار ساختیم: ۷۰ درصد آموزش، ۱۵ درصد Validation و ۱۵ درصد Test دست‌نخورده. Split به صورت stratified روی log_price انجام شد تا توزیع قیمت در سه بخش تا حد ممکن متوازن بماند. Validation برای انتخاب مدل و وزن Ensemble استفاده شد، اما Test فقط بعد از نهایی شدن مدل ارزیابی شد. معیار اصلی RMSE روی log_price است، چون با هدف آموزش یکی است و نسبت به skew شدید قیمت‌های دلاری پایدارتر است. با این حال برای فهم کسب‌وکاری، معیارهای دلار مثل MAE، RMSE دلاری، MAPE و بازه‌های پیش‌بینی هم گزارش شده‌اند.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مدل‌سازی، سه خانواده قوی انتخاب کردیم: XGBoost، LightGBM و CatBoost. دلیل انتخاب این‌ها این است که برای داده‌های جدولی معمولاً عملکرد بسیار خوبی دارند، روابط غیرخطی و تعامل ویژگی‌ها را می‌گیرند، و امکانات Regularization و Early Stopping دارند. برای XGBoost چهل Trial، برای LightGBM چهل Trial و برای CatBoost پانزده Trial اجرا شده است. با Cross-validation پنج‌تایی، در مجموع تا ۴۷۵ fit مربوط به جست‌وجوی مدل انجام شده است. بعد از انتخاب بهترین تنظیمات، مدل‌ها با سه seed متفاوت آموزش داده شدند تا حساسیت به random state کاهش پیدا کند و سپس خروجی‌ها در یک Ensemble وزن‌دار ترکیب شدند.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اسلاید مقایسه Validation را می‌بینیم. Baseline ساده ما Dummy median است که برای همه رکوردها مقدار میانه را پیش‌بینی می‌کند و RMSE حدود 0.933 روی log_price دارد. در مقابل، هر سه مدل Gradient Boosting حدود 0.36 RMSE دارند. این اختلاف نشان می‌دهد ویژگی‌های ساخته‌شده واقعاً سیگنال دارند و مدل فقط نویز را حفظ نکرده است. بهترین نتیجه Validation مربوط به Ensemble با RMSE حدود 0.356 است. بنابراین بعد از انتخاب مدل روی Validation، همین Ensemble برای ارزیابی نهایی روی Test استفاده 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مدل نهایی یک Ensemble از نه مدل است: سه LightGBM، سه CatBoost و سه XGBoost، هر کدام با seedهای ۴۲، ۲۰۲۷ و ۳۱۴۱۵. وزن خانواده‌ها روی Validation بهینه شده است: LightGBM حدود 0.384، CatBoost حدود 0.322 و XGBoost حدود 0.294. هر وزن خانوادگی بین سه seed همان خانواده تقسیم شده است. دلیل این کار کاهش واریانس و ترکیب Biasهای متفاوت مدل‌هاست. بعد از ترکیب، یک Calibration خطی و smearing correction هم استفاده شده تا خروجی log-scale به قیمت دلاری قابل تفسیر تبدیل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حالا به Test دست‌نخورده می‌رسیم. روی Test، RMSE لگاریتمی 0.336، MAE لگاریتمی 0.228 و R² حدود 0.87 است. این نشان می‌دهد مدل روی مقیاس log بخش بزرگی از واریانس قیمت را توضیح می‌دهد. روی مقیاس دلار، MAE حدود ۵۲۱ هزار دلار و RMSE حدود ۲.۴۳ میلیون دلار است. اختلاف زیاد بین MAE و RMSE طبیعی است، چون بازار املاک نیویورک شامل آگهی‌های بسیار گران و outlierهای لوکس است و RMSE نسبت به خطاهای بزرگ حساس‌تر است. Median APE حدود 17.3 درصد است که برای حالت معمولی‌تر تصویر دقیق‌تری می‌دهد. همچنین بازه‌های پیش‌بینی کالیبره هستند: بازه ۹۰ درصدی پوشش 90.04 درصد و بازه ۹۵ درصدی پوشش 95.07 درصد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این بخش، پایپ‌لاین پیش‌بینی را نشان می‌دهیم. ابتدا verify_project.py اجرا می‌شود تا تنظیمات اصلی مانند تعداد Trialها، تعداد Foldها و مسیر داده بررسی شود. سپس validate_submission.py وجود مدل، متریک‌ها، دیتابیس و خروجی‌های اصلی را کنترل می‌کند. در مرحله آخر run_prediction_pipeline.py با split test اجرا می‌شود. خروجی نشان می‌دهد ۲۷۶۰ پیش‌بینی ساخته شده و هم در فایل outputs/final_predictions.csv و هم در جدول model_predictions داخل database/modeling.db ذخیره شده است. نکته مهم این است که مدل روی Test دوباره آموزش نمی‌بیند؛ مدل ذخیره‌شده فقط برای inference استفاده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دید کسب‌وکاری، خروجی مدل فقط یک عدد نیست. می‌تواند برای غربالگری قیمت استفاده شود؛ یعنی ببینیم یک آگهی نسبت به ویژگی‌هایش گران، ارزان یا در محدوده منطقی است. کاربرد دوم تشخیص anomaly است؛ اگر قیمت مشاهده‌شده خیلی از بازه پیش‌بینی دور باشد، آن آگهی برای بررسی انسانی Flag می‌شود. برای خریدار، مدل می‌تواند معیار اولیه مذاکره بدهد. برای فروشنده، می‌تواند یک starting point داده‌محور برای قیمت‌گذاری باشد. از نظر عملیاتی، چون خروجی در SQLite ذخیره شده، می‌توان آن را Query کرد یا به داشبورد متصل کرد. با این حال مدل جایگزین Appraisal حرفه‌ای نیست؛ برای آگهی‌های خاص، لوکس یا غیرمعمول همچنان بررسی متخصص لازم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دفاع علمی، باید محدودیت‌ها را شفاف بگوییم. اول اینکه داده مربوط به یک بازه زمانی محدود است، بنابراین برای اثبات تعمیم زمانی باید داده‌های آینده یا holdout زمانی داشته باشیم. دوم، بعضی متغیرها مثل source_page_number یا scrape_hour ممکن است علاوه بر ویژگی ملک، رفتار صفحه‌بندی یا رتبه‌بندی Redfin را هم یاد بگیرند؛ پس در آینده باید Ablation بدون این ستون‌ها انجام شود. سوم، پایپ‌لاین فعلی فاز سه Artifact آماده فاز دو را مصرف می‌کند؛ برای deployment کامل، باید Preprocessor ذخیره‌شده فاز دو روی آگهی خام جدید هم اعمال شود. چهارم، feature importance فعلی diagnostic است و بهتر است با SHAP یا Permutation Importance تقویت شود. این محدودیت‌ها نتیجه را باطل نمی‌کنند؛ بلکه مسیر بهبود علمی پروژه را مشخص می‌کنند.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ساختار مخزن طوری طراحی شده است که اجزای پیاده‌سازی سریع قابل پیدا کردن و اجرا باشند. config شامل تنظیمات مدل است، data فایل مدل‌پذیر را دارد، database دیتابیس SQLite را نگه می‌دارد، metrics نتایج و مقایسه مدل‌ها را دارد، models مدل نهایی و اجزای آن را ذخیره کرده، optuna Trialها را نگه داشته، و outputs پیش‌بینی‌های نهایی را دارد. کدها هم بین scripts و src تقسیم شده‌اند؛ scripts برای اجرای مراحل اصلی و src برای منطق قابل استفاده مجدد مثل modeling، metrics، ensemble و database است. برای بررسی سریع، دو دستور verify_project و validate_submission وجود دارد، و برای بازسازی پیش‌بینی‌ها run_prediction_pipeline.py اجرا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جمع‌بندی، خروجی اصلی پروژه فقط یک عدد متریک نیست. ما یک مسیر کامل از داده خام تا خروجی قابل ذخیره پیاده‌سازی کرده‌ایم. ابتدا داده Redfin جمع‌آوری و پاک‌سازی شد. سپس داده نهایی در SQLite ذخیره شد و بعد از Feature Engineering به ماتریس ۴۱۴ ویژگی تبدیل شد. در فاز مدل‌سازی، سه خانواده مدل با Optuna و Cross-validation تنظیم شدند و در نهایت یک Ensemble ذخیره‌شده ساخته شد. پایپ‌لاین پیش‌بینی این مدل را بارگذاری می‌کند، پیش‌بینی‌ها و بازه‌های عدم قطعیت را تولید می‌کند، و خروجی را در CSV و SQLite ذخیره می‌کند. بنابراین پروژه از نظر داده، کد، مدل، ارزیابی و کاربرد واقعی یک workflow کامل و قابل بازتولید ارائه می‌دهد. ممنون از توجه شما.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658368" y="502920"/>
            <a:ext cx="5029200" cy="256032"/>
          </a:xfrm>
          <a:prstGeom prst="rect">
            <a:avLst/>
          </a:prstGeom>
          <a:noFill/>
          <a:ln/>
        </p:spPr>
        <p:txBody>
          <a:bodyPr wrap="square" lIns="0" tIns="0" rIns="0" bIns="0" rtlCol="0" anchor="ctr"/>
          <a:lstStyle/>
          <a:p>
            <a:pPr indent="0" marL="0">
              <a:buNone/>
            </a:pPr>
            <a:r>
              <a:rPr lang="en-US" sz="1200" b="1" dirty="0">
                <a:solidFill>
                  <a:srgbClr val="A5D8FF"/>
                </a:solidFill>
                <a:latin typeface="Arial" pitchFamily="34" charset="0"/>
                <a:ea typeface="Arial" pitchFamily="34" charset="-122"/>
                <a:cs typeface="Arial" pitchFamily="34" charset="-120"/>
              </a:rPr>
              <a:t>Introduction to Data Science | Final Project</a:t>
            </a:r>
            <a:endParaRPr lang="en-US" sz="1200" dirty="0"/>
          </a:p>
        </p:txBody>
      </p:sp>
      <p:sp>
        <p:nvSpPr>
          <p:cNvPr id="4" name="Text 2"/>
          <p:cNvSpPr/>
          <p:nvPr/>
        </p:nvSpPr>
        <p:spPr>
          <a:xfrm>
            <a:off x="658368" y="1078992"/>
            <a:ext cx="6492240" cy="1335024"/>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rial" pitchFamily="34" charset="0"/>
                <a:ea typeface="Arial" pitchFamily="34" charset="-122"/>
                <a:cs typeface="Arial" pitchFamily="34" charset="-120"/>
              </a:rPr>
              <a:t>NYC Redfin</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Price Prediction</a:t>
            </a:r>
            <a:endParaRPr lang="en-US" sz="4200" dirty="0"/>
          </a:p>
        </p:txBody>
      </p:sp>
      <p:sp>
        <p:nvSpPr>
          <p:cNvPr id="5" name="Text 3"/>
          <p:cNvSpPr/>
          <p:nvPr/>
        </p:nvSpPr>
        <p:spPr>
          <a:xfrm>
            <a:off x="694944" y="2788920"/>
            <a:ext cx="6629400" cy="658368"/>
          </a:xfrm>
          <a:prstGeom prst="rect">
            <a:avLst/>
          </a:prstGeom>
          <a:noFill/>
          <a:ln/>
        </p:spPr>
        <p:txBody>
          <a:bodyPr wrap="square" lIns="0" tIns="0" rIns="0" bIns="0" rtlCol="0" anchor="ctr">
            <a:normAutofit/>
          </a:bodyPr>
          <a:lstStyle/>
          <a:p>
            <a:pPr indent="0" marL="0">
              <a:buNone/>
            </a:pPr>
            <a:r>
              <a:rPr lang="en-US" sz="1580" dirty="0">
                <a:solidFill>
                  <a:srgbClr val="E7F5FF"/>
                </a:solidFill>
                <a:latin typeface="Arial" pitchFamily="34" charset="0"/>
                <a:ea typeface="Arial" pitchFamily="34" charset="-122"/>
                <a:cs typeface="Arial" pitchFamily="34" charset="-120"/>
              </a:rPr>
              <a:t>Phase 1-3 complete pipeline: crawled real-estate data → SQLite → feature engineering → tuned ensemble → saved predictions</a:t>
            </a:r>
            <a:endParaRPr lang="en-US" sz="1580" dirty="0"/>
          </a:p>
        </p:txBody>
      </p:sp>
      <p:sp>
        <p:nvSpPr>
          <p:cNvPr id="6" name="Shape 4"/>
          <p:cNvSpPr/>
          <p:nvPr/>
        </p:nvSpPr>
        <p:spPr>
          <a:xfrm>
            <a:off x="7909560" y="1097280"/>
            <a:ext cx="3108960" cy="1097280"/>
          </a:xfrm>
          <a:prstGeom prst="roundRect">
            <a:avLst>
              <a:gd name="adj" fmla="val 7500"/>
            </a:avLst>
          </a:prstGeom>
          <a:solidFill>
            <a:srgbClr val="FFFFFF"/>
          </a:solidFill>
          <a:ln w="12700">
            <a:solidFill>
              <a:srgbClr val="DDE3EA"/>
            </a:solidFill>
            <a:prstDash val="solid"/>
          </a:ln>
        </p:spPr>
      </p:sp>
      <p:sp>
        <p:nvSpPr>
          <p:cNvPr id="7" name="Shape 5"/>
          <p:cNvSpPr/>
          <p:nvPr/>
        </p:nvSpPr>
        <p:spPr>
          <a:xfrm>
            <a:off x="7909560" y="1097280"/>
            <a:ext cx="64008" cy="1097280"/>
          </a:xfrm>
          <a:prstGeom prst="rect">
            <a:avLst/>
          </a:prstGeom>
          <a:solidFill>
            <a:srgbClr val="12B886"/>
          </a:solidFill>
          <a:ln w="12700">
            <a:solidFill>
              <a:srgbClr val="12B886">
                <a:alpha val="0"/>
              </a:srgbClr>
            </a:solidFill>
            <a:prstDash val="solid"/>
          </a:ln>
        </p:spPr>
      </p:sp>
      <p:sp>
        <p:nvSpPr>
          <p:cNvPr id="8" name="Text 6"/>
          <p:cNvSpPr/>
          <p:nvPr/>
        </p:nvSpPr>
        <p:spPr>
          <a:xfrm>
            <a:off x="8110728" y="1207008"/>
            <a:ext cx="2816352" cy="329184"/>
          </a:xfrm>
          <a:prstGeom prst="rect">
            <a:avLst/>
          </a:prstGeom>
          <a:noFill/>
          <a:ln/>
        </p:spPr>
        <p:txBody>
          <a:bodyPr wrap="square" lIns="0" tIns="0" rIns="0" bIns="0" rtlCol="0" anchor="ctr">
            <a:normAutofit/>
          </a:bodyPr>
          <a:lstStyle/>
          <a:p>
            <a:pPr indent="0" marL="0">
              <a:buNone/>
            </a:pPr>
            <a:r>
              <a:rPr lang="en-US" sz="2300" b="1" dirty="0">
                <a:solidFill>
                  <a:srgbClr val="12B886"/>
                </a:solidFill>
                <a:latin typeface="Arial" pitchFamily="34" charset="0"/>
                <a:ea typeface="Arial" pitchFamily="34" charset="-122"/>
                <a:cs typeface="Arial" pitchFamily="34" charset="-120"/>
              </a:rPr>
              <a:t>18,400</a:t>
            </a:r>
            <a:endParaRPr lang="en-US" sz="2300" dirty="0"/>
          </a:p>
        </p:txBody>
      </p:sp>
      <p:sp>
        <p:nvSpPr>
          <p:cNvPr id="9" name="Text 7"/>
          <p:cNvSpPr/>
          <p:nvPr/>
        </p:nvSpPr>
        <p:spPr>
          <a:xfrm>
            <a:off x="8110728" y="1591056"/>
            <a:ext cx="281635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clean listings</a:t>
            </a:r>
            <a:endParaRPr lang="en-US" sz="1000" dirty="0"/>
          </a:p>
        </p:txBody>
      </p:sp>
      <p:sp>
        <p:nvSpPr>
          <p:cNvPr id="10" name="Text 8"/>
          <p:cNvSpPr/>
          <p:nvPr/>
        </p:nvSpPr>
        <p:spPr>
          <a:xfrm>
            <a:off x="8110728" y="1819656"/>
            <a:ext cx="2816352" cy="32918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after de-duplication and validation</a:t>
            </a:r>
            <a:endParaRPr lang="en-US" sz="800" dirty="0"/>
          </a:p>
        </p:txBody>
      </p:sp>
      <p:sp>
        <p:nvSpPr>
          <p:cNvPr id="11" name="Shape 9"/>
          <p:cNvSpPr/>
          <p:nvPr/>
        </p:nvSpPr>
        <p:spPr>
          <a:xfrm>
            <a:off x="7909560" y="2487168"/>
            <a:ext cx="3108960" cy="1097280"/>
          </a:xfrm>
          <a:prstGeom prst="roundRect">
            <a:avLst>
              <a:gd name="adj" fmla="val 7500"/>
            </a:avLst>
          </a:prstGeom>
          <a:solidFill>
            <a:srgbClr val="FFFFFF"/>
          </a:solidFill>
          <a:ln w="12700">
            <a:solidFill>
              <a:srgbClr val="DDE3EA"/>
            </a:solidFill>
            <a:prstDash val="solid"/>
          </a:ln>
        </p:spPr>
      </p:sp>
      <p:sp>
        <p:nvSpPr>
          <p:cNvPr id="12" name="Shape 10"/>
          <p:cNvSpPr/>
          <p:nvPr/>
        </p:nvSpPr>
        <p:spPr>
          <a:xfrm>
            <a:off x="7909560" y="2487168"/>
            <a:ext cx="64008" cy="1097280"/>
          </a:xfrm>
          <a:prstGeom prst="rect">
            <a:avLst/>
          </a:prstGeom>
          <a:solidFill>
            <a:srgbClr val="1C7ED6"/>
          </a:solidFill>
          <a:ln w="12700">
            <a:solidFill>
              <a:srgbClr val="1C7ED6">
                <a:alpha val="0"/>
              </a:srgbClr>
            </a:solidFill>
            <a:prstDash val="solid"/>
          </a:ln>
        </p:spPr>
      </p:sp>
      <p:sp>
        <p:nvSpPr>
          <p:cNvPr id="13" name="Text 11"/>
          <p:cNvSpPr/>
          <p:nvPr/>
        </p:nvSpPr>
        <p:spPr>
          <a:xfrm>
            <a:off x="8110728" y="2596896"/>
            <a:ext cx="2816352" cy="329184"/>
          </a:xfrm>
          <a:prstGeom prst="rect">
            <a:avLst/>
          </a:prstGeom>
          <a:noFill/>
          <a:ln/>
        </p:spPr>
        <p:txBody>
          <a:bodyPr wrap="square" lIns="0" tIns="0" rIns="0" bIns="0" rtlCol="0" anchor="ctr">
            <a:normAutofit/>
          </a:bodyPr>
          <a:lstStyle/>
          <a:p>
            <a:pPr indent="0" marL="0">
              <a:buNone/>
            </a:pPr>
            <a:r>
              <a:rPr lang="en-US" sz="2300" b="1" dirty="0">
                <a:solidFill>
                  <a:srgbClr val="1C7ED6"/>
                </a:solidFill>
                <a:latin typeface="Arial" pitchFamily="34" charset="0"/>
                <a:ea typeface="Arial" pitchFamily="34" charset="-122"/>
                <a:cs typeface="Arial" pitchFamily="34" charset="-120"/>
              </a:rPr>
              <a:t>414</a:t>
            </a:r>
            <a:endParaRPr lang="en-US" sz="2300" dirty="0"/>
          </a:p>
        </p:txBody>
      </p:sp>
      <p:sp>
        <p:nvSpPr>
          <p:cNvPr id="14" name="Text 12"/>
          <p:cNvSpPr/>
          <p:nvPr/>
        </p:nvSpPr>
        <p:spPr>
          <a:xfrm>
            <a:off x="8110728" y="2980944"/>
            <a:ext cx="281635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final model features</a:t>
            </a:r>
            <a:endParaRPr lang="en-US" sz="1000" dirty="0"/>
          </a:p>
        </p:txBody>
      </p:sp>
      <p:sp>
        <p:nvSpPr>
          <p:cNvPr id="15" name="Text 13"/>
          <p:cNvSpPr/>
          <p:nvPr/>
        </p:nvSpPr>
        <p:spPr>
          <a:xfrm>
            <a:off x="8110728" y="3209544"/>
            <a:ext cx="2816352" cy="32918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numeric + text + address signals</a:t>
            </a:r>
            <a:endParaRPr lang="en-US" sz="800" dirty="0"/>
          </a:p>
        </p:txBody>
      </p:sp>
      <p:sp>
        <p:nvSpPr>
          <p:cNvPr id="16" name="Shape 14"/>
          <p:cNvSpPr/>
          <p:nvPr/>
        </p:nvSpPr>
        <p:spPr>
          <a:xfrm>
            <a:off x="7909560" y="3877056"/>
            <a:ext cx="3108960" cy="1097280"/>
          </a:xfrm>
          <a:prstGeom prst="roundRect">
            <a:avLst>
              <a:gd name="adj" fmla="val 7500"/>
            </a:avLst>
          </a:prstGeom>
          <a:solidFill>
            <a:srgbClr val="FFFFFF"/>
          </a:solidFill>
          <a:ln w="12700">
            <a:solidFill>
              <a:srgbClr val="DDE3EA"/>
            </a:solidFill>
            <a:prstDash val="solid"/>
          </a:ln>
        </p:spPr>
      </p:sp>
      <p:sp>
        <p:nvSpPr>
          <p:cNvPr id="17" name="Shape 15"/>
          <p:cNvSpPr/>
          <p:nvPr/>
        </p:nvSpPr>
        <p:spPr>
          <a:xfrm>
            <a:off x="7909560" y="3877056"/>
            <a:ext cx="64008" cy="1097280"/>
          </a:xfrm>
          <a:prstGeom prst="rect">
            <a:avLst/>
          </a:prstGeom>
          <a:solidFill>
            <a:srgbClr val="F59F00"/>
          </a:solidFill>
          <a:ln w="12700">
            <a:solidFill>
              <a:srgbClr val="F59F00">
                <a:alpha val="0"/>
              </a:srgbClr>
            </a:solidFill>
            <a:prstDash val="solid"/>
          </a:ln>
        </p:spPr>
      </p:sp>
      <p:sp>
        <p:nvSpPr>
          <p:cNvPr id="18" name="Text 16"/>
          <p:cNvSpPr/>
          <p:nvPr/>
        </p:nvSpPr>
        <p:spPr>
          <a:xfrm>
            <a:off x="8110728" y="3986784"/>
            <a:ext cx="2816352" cy="329184"/>
          </a:xfrm>
          <a:prstGeom prst="rect">
            <a:avLst/>
          </a:prstGeom>
          <a:noFill/>
          <a:ln/>
        </p:spPr>
        <p:txBody>
          <a:bodyPr wrap="square" lIns="0" tIns="0" rIns="0" bIns="0" rtlCol="0" anchor="ctr">
            <a:normAutofit/>
          </a:bodyPr>
          <a:lstStyle/>
          <a:p>
            <a:pPr indent="0" marL="0">
              <a:buNone/>
            </a:pPr>
            <a:r>
              <a:rPr lang="en-US" sz="2300" b="1" dirty="0">
                <a:solidFill>
                  <a:srgbClr val="F59F00"/>
                </a:solidFill>
                <a:latin typeface="Arial" pitchFamily="34" charset="0"/>
                <a:ea typeface="Arial" pitchFamily="34" charset="-122"/>
                <a:cs typeface="Arial" pitchFamily="34" charset="-120"/>
              </a:rPr>
              <a:t>0.8699</a:t>
            </a:r>
            <a:endParaRPr lang="en-US" sz="2300" dirty="0"/>
          </a:p>
        </p:txBody>
      </p:sp>
      <p:sp>
        <p:nvSpPr>
          <p:cNvPr id="19" name="Text 17"/>
          <p:cNvSpPr/>
          <p:nvPr/>
        </p:nvSpPr>
        <p:spPr>
          <a:xfrm>
            <a:off x="8110728" y="4370832"/>
            <a:ext cx="281635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R² on untouched test</a:t>
            </a:r>
            <a:endParaRPr lang="en-US" sz="1000" dirty="0"/>
          </a:p>
        </p:txBody>
      </p:sp>
      <p:sp>
        <p:nvSpPr>
          <p:cNvPr id="20" name="Text 18"/>
          <p:cNvSpPr/>
          <p:nvPr/>
        </p:nvSpPr>
        <p:spPr>
          <a:xfrm>
            <a:off x="8110728" y="4599432"/>
            <a:ext cx="2816352" cy="32918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final weighted ensemble</a:t>
            </a:r>
            <a:endParaRPr lang="en-US" sz="800" dirty="0"/>
          </a:p>
        </p:txBody>
      </p:sp>
      <p:sp>
        <p:nvSpPr>
          <p:cNvPr id="21" name="Text 19"/>
          <p:cNvSpPr/>
          <p:nvPr/>
        </p:nvSpPr>
        <p:spPr>
          <a:xfrm>
            <a:off x="694944" y="6108192"/>
            <a:ext cx="9966960" cy="256032"/>
          </a:xfrm>
          <a:prstGeom prst="rect">
            <a:avLst/>
          </a:prstGeom>
          <a:noFill/>
          <a:ln/>
        </p:spPr>
        <p:txBody>
          <a:bodyPr wrap="square" lIns="0" tIns="0" rIns="0" bIns="0" rtlCol="0" anchor="ctr">
            <a:normAutofit/>
          </a:bodyPr>
          <a:lstStyle/>
          <a:p>
            <a:pPr indent="0" marL="0">
              <a:buNone/>
            </a:pPr>
            <a:r>
              <a:rPr lang="en-US" sz="1000" dirty="0">
                <a:solidFill>
                  <a:srgbClr val="CED4DA"/>
                </a:solidFill>
                <a:latin typeface="Arial" pitchFamily="34" charset="0"/>
                <a:ea typeface="Arial" pitchFamily="34" charset="-122"/>
                <a:cs typeface="Arial" pitchFamily="34" charset="-120"/>
              </a:rPr>
              <a:t>Meraj Rastegar 810102576  |  Parham Heydarian 810102544  |  Mohammad Hossein Kardoost 810102495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END-TO-END PROJECT STORYLINE</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How the implemented system works from Phase 1 to Phase 3</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02</a:t>
            </a:r>
            <a:endParaRPr lang="en-US" sz="950" dirty="0"/>
          </a:p>
        </p:txBody>
      </p:sp>
      <p:sp>
        <p:nvSpPr>
          <p:cNvPr id="8" name="Shape 6"/>
          <p:cNvSpPr/>
          <p:nvPr/>
        </p:nvSpPr>
        <p:spPr>
          <a:xfrm>
            <a:off x="685800" y="1325880"/>
            <a:ext cx="2743200" cy="1051560"/>
          </a:xfrm>
          <a:prstGeom prst="roundRect">
            <a:avLst>
              <a:gd name="adj" fmla="val 7826"/>
            </a:avLst>
          </a:prstGeom>
          <a:solidFill>
            <a:srgbClr val="E7F5FF"/>
          </a:solidFill>
          <a:ln w="12700">
            <a:solidFill>
              <a:srgbClr val="DDE3EA"/>
            </a:solidFill>
            <a:prstDash val="solid"/>
          </a:ln>
        </p:spPr>
      </p:sp>
      <p:sp>
        <p:nvSpPr>
          <p:cNvPr id="9" name="Text 7"/>
          <p:cNvSpPr/>
          <p:nvPr/>
        </p:nvSpPr>
        <p:spPr>
          <a:xfrm>
            <a:off x="886968" y="1472184"/>
            <a:ext cx="23408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Dataset + problem</a:t>
            </a:r>
            <a:endParaRPr lang="en-US" sz="1200" dirty="0"/>
          </a:p>
        </p:txBody>
      </p:sp>
      <p:sp>
        <p:nvSpPr>
          <p:cNvPr id="10" name="Text 8"/>
          <p:cNvSpPr/>
          <p:nvPr/>
        </p:nvSpPr>
        <p:spPr>
          <a:xfrm>
            <a:off x="886968" y="180136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Phase 1 dataset choice, crawled source, target variable, and why price prediction is meaningful.</a:t>
            </a:r>
            <a:endParaRPr lang="en-US" sz="1020" dirty="0"/>
          </a:p>
        </p:txBody>
      </p:sp>
      <p:sp>
        <p:nvSpPr>
          <p:cNvPr id="11" name="Shape 9"/>
          <p:cNvSpPr/>
          <p:nvPr/>
        </p:nvSpPr>
        <p:spPr>
          <a:xfrm>
            <a:off x="3703320" y="1325880"/>
            <a:ext cx="2743200" cy="1051560"/>
          </a:xfrm>
          <a:prstGeom prst="roundRect">
            <a:avLst>
              <a:gd name="adj" fmla="val 7826"/>
            </a:avLst>
          </a:prstGeom>
          <a:solidFill>
            <a:srgbClr val="E6FCF5"/>
          </a:solidFill>
          <a:ln w="12700">
            <a:solidFill>
              <a:srgbClr val="DDE3EA"/>
            </a:solidFill>
            <a:prstDash val="solid"/>
          </a:ln>
        </p:spPr>
      </p:sp>
      <p:sp>
        <p:nvSpPr>
          <p:cNvPr id="12" name="Text 10"/>
          <p:cNvSpPr/>
          <p:nvPr/>
        </p:nvSpPr>
        <p:spPr>
          <a:xfrm>
            <a:off x="3904488" y="1472184"/>
            <a:ext cx="234086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EDA + preprocessing</a:t>
            </a:r>
            <a:endParaRPr lang="en-US" sz="1200" dirty="0"/>
          </a:p>
        </p:txBody>
      </p:sp>
      <p:sp>
        <p:nvSpPr>
          <p:cNvPr id="13" name="Text 11"/>
          <p:cNvSpPr/>
          <p:nvPr/>
        </p:nvSpPr>
        <p:spPr>
          <a:xfrm>
            <a:off x="3904488" y="180136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Data quality checks, missing values, outliers, feature readiness and final data matrix.</a:t>
            </a:r>
            <a:endParaRPr lang="en-US" sz="1020" dirty="0"/>
          </a:p>
        </p:txBody>
      </p:sp>
      <p:sp>
        <p:nvSpPr>
          <p:cNvPr id="14" name="Shape 12"/>
          <p:cNvSpPr/>
          <p:nvPr/>
        </p:nvSpPr>
        <p:spPr>
          <a:xfrm>
            <a:off x="6720840" y="1325880"/>
            <a:ext cx="2743200" cy="1051560"/>
          </a:xfrm>
          <a:prstGeom prst="roundRect">
            <a:avLst>
              <a:gd name="adj" fmla="val 7826"/>
            </a:avLst>
          </a:prstGeom>
          <a:solidFill>
            <a:srgbClr val="FFF4E6"/>
          </a:solidFill>
          <a:ln w="12700">
            <a:solidFill>
              <a:srgbClr val="DDE3EA"/>
            </a:solidFill>
            <a:prstDash val="solid"/>
          </a:ln>
        </p:spPr>
      </p:sp>
      <p:sp>
        <p:nvSpPr>
          <p:cNvPr id="15" name="Text 13"/>
          <p:cNvSpPr/>
          <p:nvPr/>
        </p:nvSpPr>
        <p:spPr>
          <a:xfrm>
            <a:off x="6922008" y="1472184"/>
            <a:ext cx="234086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Database + pipeline</a:t>
            </a:r>
            <a:endParaRPr lang="en-US" sz="1200" dirty="0"/>
          </a:p>
        </p:txBody>
      </p:sp>
      <p:sp>
        <p:nvSpPr>
          <p:cNvPr id="16" name="Text 14"/>
          <p:cNvSpPr/>
          <p:nvPr/>
        </p:nvSpPr>
        <p:spPr>
          <a:xfrm>
            <a:off x="6922008" y="180136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SQLite persistence, modular scripts, automation, CI evidence and reproducible commands.</a:t>
            </a:r>
            <a:endParaRPr lang="en-US" sz="1020" dirty="0"/>
          </a:p>
        </p:txBody>
      </p:sp>
      <p:sp>
        <p:nvSpPr>
          <p:cNvPr id="17" name="Shape 15"/>
          <p:cNvSpPr/>
          <p:nvPr/>
        </p:nvSpPr>
        <p:spPr>
          <a:xfrm>
            <a:off x="685800" y="2743200"/>
            <a:ext cx="2743200" cy="1051560"/>
          </a:xfrm>
          <a:prstGeom prst="roundRect">
            <a:avLst>
              <a:gd name="adj" fmla="val 7826"/>
            </a:avLst>
          </a:prstGeom>
          <a:solidFill>
            <a:srgbClr val="FFF0F6"/>
          </a:solidFill>
          <a:ln w="12700">
            <a:solidFill>
              <a:srgbClr val="DDE3EA"/>
            </a:solidFill>
            <a:prstDash val="solid"/>
          </a:ln>
        </p:spPr>
      </p:sp>
      <p:sp>
        <p:nvSpPr>
          <p:cNvPr id="18" name="Text 16"/>
          <p:cNvSpPr/>
          <p:nvPr/>
        </p:nvSpPr>
        <p:spPr>
          <a:xfrm>
            <a:off x="886968" y="2889504"/>
            <a:ext cx="234086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Model development</a:t>
            </a:r>
            <a:endParaRPr lang="en-US" sz="1200" dirty="0"/>
          </a:p>
        </p:txBody>
      </p:sp>
      <p:sp>
        <p:nvSpPr>
          <p:cNvPr id="19" name="Text 17"/>
          <p:cNvSpPr/>
          <p:nvPr/>
        </p:nvSpPr>
        <p:spPr>
          <a:xfrm>
            <a:off x="886968" y="321868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Split strategy, baseline, Optuna search, cross-validation, early stopping and final refit.</a:t>
            </a:r>
            <a:endParaRPr lang="en-US" sz="1020" dirty="0"/>
          </a:p>
        </p:txBody>
      </p:sp>
      <p:sp>
        <p:nvSpPr>
          <p:cNvPr id="20" name="Shape 18"/>
          <p:cNvSpPr/>
          <p:nvPr/>
        </p:nvSpPr>
        <p:spPr>
          <a:xfrm>
            <a:off x="3703320" y="2743200"/>
            <a:ext cx="2743200" cy="1051560"/>
          </a:xfrm>
          <a:prstGeom prst="roundRect">
            <a:avLst>
              <a:gd name="adj" fmla="val 7826"/>
            </a:avLst>
          </a:prstGeom>
          <a:solidFill>
            <a:srgbClr val="E7F5FF"/>
          </a:solidFill>
          <a:ln w="12700">
            <a:solidFill>
              <a:srgbClr val="DDE3EA"/>
            </a:solidFill>
            <a:prstDash val="solid"/>
          </a:ln>
        </p:spPr>
      </p:sp>
      <p:sp>
        <p:nvSpPr>
          <p:cNvPr id="21" name="Text 19"/>
          <p:cNvSpPr/>
          <p:nvPr/>
        </p:nvSpPr>
        <p:spPr>
          <a:xfrm>
            <a:off x="3904488" y="2889504"/>
            <a:ext cx="23408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Evaluation + predictions</a:t>
            </a:r>
            <a:endParaRPr lang="en-US" sz="1200" dirty="0"/>
          </a:p>
        </p:txBody>
      </p:sp>
      <p:sp>
        <p:nvSpPr>
          <p:cNvPr id="22" name="Text 20"/>
          <p:cNvSpPr/>
          <p:nvPr/>
        </p:nvSpPr>
        <p:spPr>
          <a:xfrm>
            <a:off x="3904488" y="321868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Validation comparison, untouched-test metrics, prediction intervals and SQLite/CSV outputs.</a:t>
            </a:r>
            <a:endParaRPr lang="en-US" sz="1020" dirty="0"/>
          </a:p>
        </p:txBody>
      </p:sp>
      <p:sp>
        <p:nvSpPr>
          <p:cNvPr id="23" name="Shape 21"/>
          <p:cNvSpPr/>
          <p:nvPr/>
        </p:nvSpPr>
        <p:spPr>
          <a:xfrm>
            <a:off x="6720840" y="2743200"/>
            <a:ext cx="2743200" cy="1051560"/>
          </a:xfrm>
          <a:prstGeom prst="roundRect">
            <a:avLst>
              <a:gd name="adj" fmla="val 7826"/>
            </a:avLst>
          </a:prstGeom>
          <a:solidFill>
            <a:srgbClr val="E6FCF5"/>
          </a:solidFill>
          <a:ln w="12700">
            <a:solidFill>
              <a:srgbClr val="DDE3EA"/>
            </a:solidFill>
            <a:prstDash val="solid"/>
          </a:ln>
        </p:spPr>
      </p:sp>
      <p:sp>
        <p:nvSpPr>
          <p:cNvPr id="24" name="Text 22"/>
          <p:cNvSpPr/>
          <p:nvPr/>
        </p:nvSpPr>
        <p:spPr>
          <a:xfrm>
            <a:off x="6922008" y="2889504"/>
            <a:ext cx="234086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Business + limitations</a:t>
            </a:r>
            <a:endParaRPr lang="en-US" sz="1200" dirty="0"/>
          </a:p>
        </p:txBody>
      </p:sp>
      <p:sp>
        <p:nvSpPr>
          <p:cNvPr id="25" name="Text 23"/>
          <p:cNvSpPr/>
          <p:nvPr/>
        </p:nvSpPr>
        <p:spPr>
          <a:xfrm>
            <a:off x="6922008" y="3218688"/>
            <a:ext cx="2340864" cy="44805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Decision value, operational use cases, scientific risks, limitations and future improvements.</a:t>
            </a:r>
            <a:endParaRPr lang="en-US" sz="1020" dirty="0"/>
          </a:p>
        </p:txBody>
      </p:sp>
      <p:sp>
        <p:nvSpPr>
          <p:cNvPr id="26" name="Text 24"/>
          <p:cNvSpPr/>
          <p:nvPr/>
        </p:nvSpPr>
        <p:spPr>
          <a:xfrm>
            <a:off x="749808" y="5074920"/>
            <a:ext cx="10241280" cy="329184"/>
          </a:xfrm>
          <a:prstGeom prst="rect">
            <a:avLst/>
          </a:prstGeom>
          <a:noFill/>
          <a:ln/>
        </p:spPr>
        <p:txBody>
          <a:bodyPr wrap="square" lIns="0" tIns="0" rIns="0" bIns="0" rtlCol="0" anchor="ctr">
            <a:normAutofit/>
          </a:bodyPr>
          <a:lstStyle/>
          <a:p>
            <a:pPr indent="0" marL="0">
              <a:buNone/>
            </a:pPr>
            <a:r>
              <a:rPr lang="en-US" sz="1400" b="1" dirty="0">
                <a:solidFill>
                  <a:srgbClr val="0B132B"/>
                </a:solidFill>
                <a:latin typeface="Arial" pitchFamily="34" charset="0"/>
                <a:ea typeface="Arial" pitchFamily="34" charset="-122"/>
                <a:cs typeface="Arial" pitchFamily="34" charset="-120"/>
              </a:rPr>
              <a:t>The presentation follows the actual implementation path: data collection, database storage, preprocessing, feature engineering, training, evaluation, prediction persistence and limitations.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FROM RAW LISTING DATA TO A MODELING TARGET</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Phase 1: dataset and supervised task definition</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03</a:t>
            </a:r>
            <a:endParaRPr lang="en-US" sz="950" dirty="0"/>
          </a:p>
        </p:txBody>
      </p:sp>
      <p:sp>
        <p:nvSpPr>
          <p:cNvPr id="8" name="Shape 6"/>
          <p:cNvSpPr/>
          <p:nvPr/>
        </p:nvSpPr>
        <p:spPr>
          <a:xfrm>
            <a:off x="685800" y="1417320"/>
            <a:ext cx="2103120" cy="1024128"/>
          </a:xfrm>
          <a:prstGeom prst="roundRect">
            <a:avLst>
              <a:gd name="adj" fmla="val 8036"/>
            </a:avLst>
          </a:prstGeom>
          <a:solidFill>
            <a:srgbClr val="FFFFFF"/>
          </a:solidFill>
          <a:ln w="12700">
            <a:solidFill>
              <a:srgbClr val="DDE3EA"/>
            </a:solidFill>
            <a:prstDash val="solid"/>
          </a:ln>
        </p:spPr>
      </p:sp>
      <p:sp>
        <p:nvSpPr>
          <p:cNvPr id="9" name="Shape 7"/>
          <p:cNvSpPr/>
          <p:nvPr/>
        </p:nvSpPr>
        <p:spPr>
          <a:xfrm>
            <a:off x="685800" y="1417320"/>
            <a:ext cx="64008" cy="1024128"/>
          </a:xfrm>
          <a:prstGeom prst="rect">
            <a:avLst/>
          </a:prstGeom>
          <a:solidFill>
            <a:srgbClr val="1C7ED6"/>
          </a:solidFill>
          <a:ln w="12700">
            <a:solidFill>
              <a:srgbClr val="1C7ED6">
                <a:alpha val="0"/>
              </a:srgbClr>
            </a:solidFill>
            <a:prstDash val="solid"/>
          </a:ln>
        </p:spPr>
      </p:sp>
      <p:sp>
        <p:nvSpPr>
          <p:cNvPr id="10" name="Text 8"/>
          <p:cNvSpPr/>
          <p:nvPr/>
        </p:nvSpPr>
        <p:spPr>
          <a:xfrm>
            <a:off x="886968" y="1527048"/>
            <a:ext cx="1810512" cy="329184"/>
          </a:xfrm>
          <a:prstGeom prst="rect">
            <a:avLst/>
          </a:prstGeom>
          <a:noFill/>
          <a:ln/>
        </p:spPr>
        <p:txBody>
          <a:bodyPr wrap="square" lIns="0" tIns="0" rIns="0" bIns="0" rtlCol="0" anchor="ctr">
            <a:normAutofit/>
          </a:bodyPr>
          <a:lstStyle/>
          <a:p>
            <a:pPr indent="0" marL="0">
              <a:buNone/>
            </a:pPr>
            <a:r>
              <a:rPr lang="en-US" sz="2300" b="1" dirty="0">
                <a:solidFill>
                  <a:srgbClr val="1C7ED6"/>
                </a:solidFill>
                <a:latin typeface="Arial" pitchFamily="34" charset="0"/>
                <a:ea typeface="Arial" pitchFamily="34" charset="-122"/>
                <a:cs typeface="Arial" pitchFamily="34" charset="-120"/>
              </a:rPr>
              <a:t>Redfin</a:t>
            </a:r>
            <a:endParaRPr lang="en-US" sz="2300" dirty="0"/>
          </a:p>
        </p:txBody>
      </p:sp>
      <p:sp>
        <p:nvSpPr>
          <p:cNvPr id="11" name="Text 9"/>
          <p:cNvSpPr/>
          <p:nvPr/>
        </p:nvSpPr>
        <p:spPr>
          <a:xfrm>
            <a:off x="886968" y="1911096"/>
            <a:ext cx="181051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source platform</a:t>
            </a:r>
            <a:endParaRPr lang="en-US" sz="1000" dirty="0"/>
          </a:p>
        </p:txBody>
      </p:sp>
      <p:sp>
        <p:nvSpPr>
          <p:cNvPr id="12" name="Text 10"/>
          <p:cNvSpPr/>
          <p:nvPr/>
        </p:nvSpPr>
        <p:spPr>
          <a:xfrm>
            <a:off x="886968" y="2139696"/>
            <a:ext cx="1810512" cy="256032"/>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NYC listing pages</a:t>
            </a:r>
            <a:endParaRPr lang="en-US" sz="800" dirty="0"/>
          </a:p>
        </p:txBody>
      </p:sp>
      <p:sp>
        <p:nvSpPr>
          <p:cNvPr id="13" name="Shape 11"/>
          <p:cNvSpPr/>
          <p:nvPr/>
        </p:nvSpPr>
        <p:spPr>
          <a:xfrm>
            <a:off x="2971800" y="1417320"/>
            <a:ext cx="2103120" cy="1024128"/>
          </a:xfrm>
          <a:prstGeom prst="roundRect">
            <a:avLst>
              <a:gd name="adj" fmla="val 8036"/>
            </a:avLst>
          </a:prstGeom>
          <a:solidFill>
            <a:srgbClr val="FFFFFF"/>
          </a:solidFill>
          <a:ln w="12700">
            <a:solidFill>
              <a:srgbClr val="DDE3EA"/>
            </a:solidFill>
            <a:prstDash val="solid"/>
          </a:ln>
        </p:spPr>
      </p:sp>
      <p:sp>
        <p:nvSpPr>
          <p:cNvPr id="14" name="Shape 12"/>
          <p:cNvSpPr/>
          <p:nvPr/>
        </p:nvSpPr>
        <p:spPr>
          <a:xfrm>
            <a:off x="2971800" y="1417320"/>
            <a:ext cx="64008" cy="1024128"/>
          </a:xfrm>
          <a:prstGeom prst="rect">
            <a:avLst/>
          </a:prstGeom>
          <a:solidFill>
            <a:srgbClr val="12B886"/>
          </a:solidFill>
          <a:ln w="12700">
            <a:solidFill>
              <a:srgbClr val="12B886">
                <a:alpha val="0"/>
              </a:srgbClr>
            </a:solidFill>
            <a:prstDash val="solid"/>
          </a:ln>
        </p:spPr>
      </p:sp>
      <p:sp>
        <p:nvSpPr>
          <p:cNvPr id="15" name="Text 13"/>
          <p:cNvSpPr/>
          <p:nvPr/>
        </p:nvSpPr>
        <p:spPr>
          <a:xfrm>
            <a:off x="3172968" y="1527048"/>
            <a:ext cx="1810512" cy="329184"/>
          </a:xfrm>
          <a:prstGeom prst="rect">
            <a:avLst/>
          </a:prstGeom>
          <a:noFill/>
          <a:ln/>
        </p:spPr>
        <p:txBody>
          <a:bodyPr wrap="square" lIns="0" tIns="0" rIns="0" bIns="0" rtlCol="0" anchor="ctr">
            <a:normAutofit/>
          </a:bodyPr>
          <a:lstStyle/>
          <a:p>
            <a:pPr indent="0" marL="0">
              <a:buNone/>
            </a:pPr>
            <a:r>
              <a:rPr lang="en-US" sz="2300" b="1" dirty="0">
                <a:solidFill>
                  <a:srgbClr val="12B886"/>
                </a:solidFill>
                <a:latin typeface="Arial" pitchFamily="34" charset="0"/>
                <a:ea typeface="Arial" pitchFamily="34" charset="-122"/>
                <a:cs typeface="Arial" pitchFamily="34" charset="-120"/>
              </a:rPr>
              <a:t>Crawled</a:t>
            </a:r>
            <a:endParaRPr lang="en-US" sz="2300" dirty="0"/>
          </a:p>
        </p:txBody>
      </p:sp>
      <p:sp>
        <p:nvSpPr>
          <p:cNvPr id="16" name="Text 14"/>
          <p:cNvSpPr/>
          <p:nvPr/>
        </p:nvSpPr>
        <p:spPr>
          <a:xfrm>
            <a:off x="3172968" y="1911096"/>
            <a:ext cx="181051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team-collected data</a:t>
            </a:r>
            <a:endParaRPr lang="en-US" sz="1000" dirty="0"/>
          </a:p>
        </p:txBody>
      </p:sp>
      <p:sp>
        <p:nvSpPr>
          <p:cNvPr id="17" name="Text 15"/>
          <p:cNvSpPr/>
          <p:nvPr/>
        </p:nvSpPr>
        <p:spPr>
          <a:xfrm>
            <a:off x="3172968" y="2139696"/>
            <a:ext cx="1810512" cy="256032"/>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not a ready Kaggle table</a:t>
            </a:r>
            <a:endParaRPr lang="en-US" sz="800" dirty="0"/>
          </a:p>
        </p:txBody>
      </p:sp>
      <p:sp>
        <p:nvSpPr>
          <p:cNvPr id="18" name="Shape 16"/>
          <p:cNvSpPr/>
          <p:nvPr/>
        </p:nvSpPr>
        <p:spPr>
          <a:xfrm>
            <a:off x="5257800" y="1417320"/>
            <a:ext cx="2103120" cy="1024128"/>
          </a:xfrm>
          <a:prstGeom prst="roundRect">
            <a:avLst>
              <a:gd name="adj" fmla="val 8036"/>
            </a:avLst>
          </a:prstGeom>
          <a:solidFill>
            <a:srgbClr val="FFFFFF"/>
          </a:solidFill>
          <a:ln w="12700">
            <a:solidFill>
              <a:srgbClr val="DDE3EA"/>
            </a:solidFill>
            <a:prstDash val="solid"/>
          </a:ln>
        </p:spPr>
      </p:sp>
      <p:sp>
        <p:nvSpPr>
          <p:cNvPr id="19" name="Shape 17"/>
          <p:cNvSpPr/>
          <p:nvPr/>
        </p:nvSpPr>
        <p:spPr>
          <a:xfrm>
            <a:off x="5257800" y="1417320"/>
            <a:ext cx="64008" cy="1024128"/>
          </a:xfrm>
          <a:prstGeom prst="rect">
            <a:avLst/>
          </a:prstGeom>
          <a:solidFill>
            <a:srgbClr val="F59F00"/>
          </a:solidFill>
          <a:ln w="12700">
            <a:solidFill>
              <a:srgbClr val="F59F00">
                <a:alpha val="0"/>
              </a:srgbClr>
            </a:solidFill>
            <a:prstDash val="solid"/>
          </a:ln>
        </p:spPr>
      </p:sp>
      <p:sp>
        <p:nvSpPr>
          <p:cNvPr id="20" name="Text 18"/>
          <p:cNvSpPr/>
          <p:nvPr/>
        </p:nvSpPr>
        <p:spPr>
          <a:xfrm>
            <a:off x="5458968" y="1527048"/>
            <a:ext cx="1810512" cy="329184"/>
          </a:xfrm>
          <a:prstGeom prst="rect">
            <a:avLst/>
          </a:prstGeom>
          <a:noFill/>
          <a:ln/>
        </p:spPr>
        <p:txBody>
          <a:bodyPr wrap="square" lIns="0" tIns="0" rIns="0" bIns="0" rtlCol="0" anchor="ctr">
            <a:normAutofit/>
          </a:bodyPr>
          <a:lstStyle/>
          <a:p>
            <a:pPr indent="0" marL="0">
              <a:buNone/>
            </a:pPr>
            <a:r>
              <a:rPr lang="en-US" sz="2300" b="1" dirty="0">
                <a:solidFill>
                  <a:srgbClr val="F59F00"/>
                </a:solidFill>
                <a:latin typeface="Arial" pitchFamily="34" charset="0"/>
                <a:ea typeface="Arial" pitchFamily="34" charset="-122"/>
                <a:cs typeface="Arial" pitchFamily="34" charset="-120"/>
              </a:rPr>
              <a:t>Price</a:t>
            </a:r>
            <a:endParaRPr lang="en-US" sz="2300" dirty="0"/>
          </a:p>
        </p:txBody>
      </p:sp>
      <p:sp>
        <p:nvSpPr>
          <p:cNvPr id="21" name="Text 19"/>
          <p:cNvSpPr/>
          <p:nvPr/>
        </p:nvSpPr>
        <p:spPr>
          <a:xfrm>
            <a:off x="5458968" y="1911096"/>
            <a:ext cx="181051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prediction target</a:t>
            </a:r>
            <a:endParaRPr lang="en-US" sz="1000" dirty="0"/>
          </a:p>
        </p:txBody>
      </p:sp>
      <p:sp>
        <p:nvSpPr>
          <p:cNvPr id="22" name="Text 20"/>
          <p:cNvSpPr/>
          <p:nvPr/>
        </p:nvSpPr>
        <p:spPr>
          <a:xfrm>
            <a:off x="5458968" y="2139696"/>
            <a:ext cx="1810512" cy="256032"/>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regression problem</a:t>
            </a:r>
            <a:endParaRPr lang="en-US" sz="800" dirty="0"/>
          </a:p>
        </p:txBody>
      </p:sp>
      <p:sp>
        <p:nvSpPr>
          <p:cNvPr id="23" name="Shape 21"/>
          <p:cNvSpPr/>
          <p:nvPr/>
        </p:nvSpPr>
        <p:spPr>
          <a:xfrm>
            <a:off x="7543800" y="1417320"/>
            <a:ext cx="2103120" cy="1024128"/>
          </a:xfrm>
          <a:prstGeom prst="roundRect">
            <a:avLst>
              <a:gd name="adj" fmla="val 8036"/>
            </a:avLst>
          </a:prstGeom>
          <a:solidFill>
            <a:srgbClr val="FFFFFF"/>
          </a:solidFill>
          <a:ln w="12700">
            <a:solidFill>
              <a:srgbClr val="DDE3EA"/>
            </a:solidFill>
            <a:prstDash val="solid"/>
          </a:ln>
        </p:spPr>
      </p:sp>
      <p:sp>
        <p:nvSpPr>
          <p:cNvPr id="24" name="Shape 22"/>
          <p:cNvSpPr/>
          <p:nvPr/>
        </p:nvSpPr>
        <p:spPr>
          <a:xfrm>
            <a:off x="7543800" y="1417320"/>
            <a:ext cx="64008" cy="1024128"/>
          </a:xfrm>
          <a:prstGeom prst="rect">
            <a:avLst/>
          </a:prstGeom>
          <a:solidFill>
            <a:srgbClr val="D6336C"/>
          </a:solidFill>
          <a:ln w="12700">
            <a:solidFill>
              <a:srgbClr val="D6336C">
                <a:alpha val="0"/>
              </a:srgbClr>
            </a:solidFill>
            <a:prstDash val="solid"/>
          </a:ln>
        </p:spPr>
      </p:sp>
      <p:sp>
        <p:nvSpPr>
          <p:cNvPr id="25" name="Text 23"/>
          <p:cNvSpPr/>
          <p:nvPr/>
        </p:nvSpPr>
        <p:spPr>
          <a:xfrm>
            <a:off x="7744968" y="1527048"/>
            <a:ext cx="1810512" cy="329184"/>
          </a:xfrm>
          <a:prstGeom prst="rect">
            <a:avLst/>
          </a:prstGeom>
          <a:noFill/>
          <a:ln/>
        </p:spPr>
        <p:txBody>
          <a:bodyPr wrap="square" lIns="0" tIns="0" rIns="0" bIns="0" rtlCol="0" anchor="ctr">
            <a:normAutofit/>
          </a:bodyPr>
          <a:lstStyle/>
          <a:p>
            <a:pPr indent="0" marL="0">
              <a:buNone/>
            </a:pPr>
            <a:r>
              <a:rPr lang="en-US" sz="2300" b="1" dirty="0">
                <a:solidFill>
                  <a:srgbClr val="D6336C"/>
                </a:solidFill>
                <a:latin typeface="Arial" pitchFamily="34" charset="0"/>
                <a:ea typeface="Arial" pitchFamily="34" charset="-122"/>
                <a:cs typeface="Arial" pitchFamily="34" charset="-120"/>
              </a:rPr>
              <a:t>log1p</a:t>
            </a:r>
            <a:endParaRPr lang="en-US" sz="2300" dirty="0"/>
          </a:p>
        </p:txBody>
      </p:sp>
      <p:sp>
        <p:nvSpPr>
          <p:cNvPr id="26" name="Text 24"/>
          <p:cNvSpPr/>
          <p:nvPr/>
        </p:nvSpPr>
        <p:spPr>
          <a:xfrm>
            <a:off x="7744968" y="1911096"/>
            <a:ext cx="181051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target transform</a:t>
            </a:r>
            <a:endParaRPr lang="en-US" sz="1000" dirty="0"/>
          </a:p>
        </p:txBody>
      </p:sp>
      <p:sp>
        <p:nvSpPr>
          <p:cNvPr id="27" name="Text 25"/>
          <p:cNvSpPr/>
          <p:nvPr/>
        </p:nvSpPr>
        <p:spPr>
          <a:xfrm>
            <a:off x="7744968" y="2139696"/>
            <a:ext cx="1810512" cy="256032"/>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handles price skew</a:t>
            </a:r>
            <a:endParaRPr lang="en-US" sz="800" dirty="0"/>
          </a:p>
        </p:txBody>
      </p:sp>
      <p:sp>
        <p:nvSpPr>
          <p:cNvPr id="28" name="Text 26"/>
          <p:cNvSpPr/>
          <p:nvPr/>
        </p:nvSpPr>
        <p:spPr>
          <a:xfrm>
            <a:off x="768096" y="2907792"/>
            <a:ext cx="3840480" cy="237744"/>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Core supervised-learning formulation</a:t>
            </a:r>
            <a:endParaRPr lang="en-US" sz="1500" dirty="0"/>
          </a:p>
        </p:txBody>
      </p:sp>
      <p:sp>
        <p:nvSpPr>
          <p:cNvPr id="29" name="Shape 27"/>
          <p:cNvSpPr/>
          <p:nvPr/>
        </p:nvSpPr>
        <p:spPr>
          <a:xfrm>
            <a:off x="749808" y="3310128"/>
            <a:ext cx="10241280" cy="1097280"/>
          </a:xfrm>
          <a:prstGeom prst="roundRect">
            <a:avLst>
              <a:gd name="adj" fmla="val 10000"/>
            </a:avLst>
          </a:prstGeom>
          <a:solidFill>
            <a:srgbClr val="FFFFFF"/>
          </a:solidFill>
          <a:ln w="12700">
            <a:solidFill>
              <a:srgbClr val="DDE3EA"/>
            </a:solidFill>
            <a:prstDash val="solid"/>
          </a:ln>
        </p:spPr>
      </p:sp>
      <p:sp>
        <p:nvSpPr>
          <p:cNvPr id="30" name="Text 28"/>
          <p:cNvSpPr/>
          <p:nvPr/>
        </p:nvSpPr>
        <p:spPr>
          <a:xfrm>
            <a:off x="1024128" y="3703320"/>
            <a:ext cx="9692640" cy="310896"/>
          </a:xfrm>
          <a:prstGeom prst="rect">
            <a:avLst/>
          </a:prstGeom>
          <a:noFill/>
          <a:ln/>
        </p:spPr>
        <p:txBody>
          <a:bodyPr wrap="square" lIns="0" tIns="0" rIns="0" bIns="0" rtlCol="0" anchor="ctr">
            <a:normAutofit/>
          </a:bodyPr>
          <a:lstStyle/>
          <a:p>
            <a:pPr algn="ctr" indent="0" marL="0">
              <a:buNone/>
            </a:pPr>
            <a:r>
              <a:rPr lang="en-US" sz="1620" b="1" dirty="0">
                <a:solidFill>
                  <a:srgbClr val="495057"/>
                </a:solidFill>
                <a:latin typeface="Arial" pitchFamily="34" charset="0"/>
                <a:ea typeface="Arial" pitchFamily="34" charset="-122"/>
                <a:cs typeface="Arial" pitchFamily="34" charset="-120"/>
              </a:rPr>
              <a:t>features from listing structure, location, text, and crawl metadata   →   log_price = log1p(price_dollar)   →   predicted price range</a:t>
            </a:r>
            <a:endParaRPr lang="en-US" sz="1620" dirty="0"/>
          </a:p>
        </p:txBody>
      </p:sp>
      <p:sp>
        <p:nvSpPr>
          <p:cNvPr id="31" name="Text 29"/>
          <p:cNvSpPr/>
          <p:nvPr/>
        </p:nvSpPr>
        <p:spPr>
          <a:xfrm>
            <a:off x="822960" y="4892040"/>
            <a:ext cx="10149840" cy="960120"/>
          </a:xfrm>
          <a:prstGeom prst="rect">
            <a:avLst/>
          </a:prstGeom>
          <a:noFill/>
          <a:ln/>
        </p:spPr>
        <p:txBody>
          <a:bodyPr wrap="square" lIns="508" tIns="508" rIns="508" bIns="508" rtlCol="0" anchor="t">
            <a:normAutofit/>
          </a:bodyPr>
          <a:lstStyle/>
          <a:p>
            <a:pPr indent="0" marL="0">
              <a:buNone/>
            </a:pPr>
            <a:r>
              <a:rPr lang="en-US" sz="1350" dirty="0">
                <a:solidFill>
                  <a:srgbClr val="495057"/>
                </a:solidFill>
                <a:latin typeface="Arial" pitchFamily="34" charset="0"/>
                <a:ea typeface="Arial" pitchFamily="34" charset="-122"/>
                <a:cs typeface="Arial" pitchFamily="34" charset="-120"/>
              </a:rPr>
              <a:t>• The task is regression, not classification: output is a continuous dollar price.</a:t>
            </a:r>
            <a:endParaRPr lang="en-US" sz="1350" dirty="0"/>
          </a:p>
          <a:p>
            <a:pPr indent="0" marL="0">
              <a:buNone/>
            </a:pPr>
            <a:r>
              <a:rPr lang="en-US" sz="1350" dirty="0">
                <a:solidFill>
                  <a:srgbClr val="495057"/>
                </a:solidFill>
                <a:latin typeface="Arial" pitchFamily="34" charset="0"/>
                <a:ea typeface="Arial" pitchFamily="34" charset="-122"/>
                <a:cs typeface="Arial" pitchFamily="34" charset="-120"/>
              </a:rPr>
              <a:t>• The target is learned on log scale because NYC property prices are heavy-tailed.</a:t>
            </a:r>
            <a:endParaRPr lang="en-US" sz="1350" dirty="0"/>
          </a:p>
          <a:p>
            <a:pPr indent="0" marL="0">
              <a:buNone/>
            </a:pPr>
            <a:r>
              <a:rPr lang="en-US" sz="1350" dirty="0">
                <a:solidFill>
                  <a:srgbClr val="495057"/>
                </a:solidFill>
                <a:latin typeface="Arial" pitchFamily="34" charset="0"/>
                <a:ea typeface="Arial" pitchFamily="34" charset="-122"/>
                <a:cs typeface="Arial" pitchFamily="34" charset="-120"/>
              </a:rPr>
              <a:t>• The modeling objective is not only accuracy; it is a reproducible, auditable data pipeline.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WHAT THE MODEL ACTUALLY LEARNED FROM</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Dataset size, quality checks, and EDA snapshot</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04</a:t>
            </a:r>
            <a:endParaRPr lang="en-US" sz="950" dirty="0"/>
          </a:p>
        </p:txBody>
      </p:sp>
      <p:graphicFrame>
        <p:nvGraphicFramePr>
          <p:cNvPr id="8" name="Chart 0" descr=""/>
          <p:cNvGraphicFramePr/>
          <p:nvPr/>
        </p:nvGraphicFramePr>
        <p:xfrm>
          <a:off x="731520" y="1417320"/>
          <a:ext cx="4846320" cy="30632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126480" y="1444752"/>
            <a:ext cx="4480560" cy="877824"/>
          </a:xfrm>
          <a:prstGeom prst="roundRect">
            <a:avLst>
              <a:gd name="adj" fmla="val 9375"/>
            </a:avLst>
          </a:prstGeom>
          <a:solidFill>
            <a:srgbClr val="E6FCF5"/>
          </a:solidFill>
          <a:ln w="12700">
            <a:solidFill>
              <a:srgbClr val="DDE3EA"/>
            </a:solidFill>
            <a:prstDash val="solid"/>
          </a:ln>
        </p:spPr>
      </p:sp>
      <p:sp>
        <p:nvSpPr>
          <p:cNvPr id="10" name="Text 7"/>
          <p:cNvSpPr/>
          <p:nvPr/>
        </p:nvSpPr>
        <p:spPr>
          <a:xfrm>
            <a:off x="6327648" y="1591056"/>
            <a:ext cx="407822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Data cleaning result</a:t>
            </a:r>
            <a:endParaRPr lang="en-US" sz="1200" dirty="0"/>
          </a:p>
        </p:txBody>
      </p:sp>
      <p:sp>
        <p:nvSpPr>
          <p:cNvPr id="11" name="Text 8"/>
          <p:cNvSpPr/>
          <p:nvPr/>
        </p:nvSpPr>
        <p:spPr>
          <a:xfrm>
            <a:off x="6327648" y="1920240"/>
            <a:ext cx="4078224" cy="274320"/>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18,580 raw rows became 18,400 clean rows after deduplication, validity checks, and removal of invalid records.</a:t>
            </a:r>
            <a:endParaRPr lang="en-US" sz="1020" dirty="0"/>
          </a:p>
        </p:txBody>
      </p:sp>
      <p:sp>
        <p:nvSpPr>
          <p:cNvPr id="12" name="Shape 9"/>
          <p:cNvSpPr/>
          <p:nvPr/>
        </p:nvSpPr>
        <p:spPr>
          <a:xfrm>
            <a:off x="6126480" y="2596896"/>
            <a:ext cx="4480560" cy="877824"/>
          </a:xfrm>
          <a:prstGeom prst="roundRect">
            <a:avLst>
              <a:gd name="adj" fmla="val 9375"/>
            </a:avLst>
          </a:prstGeom>
          <a:solidFill>
            <a:srgbClr val="E7F5FF"/>
          </a:solidFill>
          <a:ln w="12700">
            <a:solidFill>
              <a:srgbClr val="DDE3EA"/>
            </a:solidFill>
            <a:prstDash val="solid"/>
          </a:ln>
        </p:spPr>
      </p:sp>
      <p:sp>
        <p:nvSpPr>
          <p:cNvPr id="13" name="Text 10"/>
          <p:cNvSpPr/>
          <p:nvPr/>
        </p:nvSpPr>
        <p:spPr>
          <a:xfrm>
            <a:off x="6327648" y="2743200"/>
            <a:ext cx="407822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EDA signals</a:t>
            </a:r>
            <a:endParaRPr lang="en-US" sz="1200" dirty="0"/>
          </a:p>
        </p:txBody>
      </p:sp>
      <p:sp>
        <p:nvSpPr>
          <p:cNvPr id="14" name="Text 11"/>
          <p:cNvSpPr/>
          <p:nvPr/>
        </p:nvSpPr>
        <p:spPr>
          <a:xfrm>
            <a:off x="6327648" y="3072384"/>
            <a:ext cx="4078224" cy="274320"/>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Price, area, bedrooms, bathrooms, city/location and address text create meaningful predictive structure.</a:t>
            </a:r>
            <a:endParaRPr lang="en-US" sz="1020" dirty="0"/>
          </a:p>
        </p:txBody>
      </p:sp>
      <p:sp>
        <p:nvSpPr>
          <p:cNvPr id="15" name="Shape 12"/>
          <p:cNvSpPr/>
          <p:nvPr/>
        </p:nvSpPr>
        <p:spPr>
          <a:xfrm>
            <a:off x="6126480" y="3749040"/>
            <a:ext cx="4480560" cy="877824"/>
          </a:xfrm>
          <a:prstGeom prst="roundRect">
            <a:avLst>
              <a:gd name="adj" fmla="val 9375"/>
            </a:avLst>
          </a:prstGeom>
          <a:solidFill>
            <a:srgbClr val="FFF4E6"/>
          </a:solidFill>
          <a:ln w="12700">
            <a:solidFill>
              <a:srgbClr val="DDE3EA"/>
            </a:solidFill>
            <a:prstDash val="solid"/>
          </a:ln>
        </p:spPr>
      </p:sp>
      <p:sp>
        <p:nvSpPr>
          <p:cNvPr id="16" name="Text 13"/>
          <p:cNvSpPr/>
          <p:nvPr/>
        </p:nvSpPr>
        <p:spPr>
          <a:xfrm>
            <a:off x="6327648" y="3895344"/>
            <a:ext cx="407822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Final readiness</a:t>
            </a:r>
            <a:endParaRPr lang="en-US" sz="1200" dirty="0"/>
          </a:p>
        </p:txBody>
      </p:sp>
      <p:sp>
        <p:nvSpPr>
          <p:cNvPr id="17" name="Text 14"/>
          <p:cNvSpPr/>
          <p:nvPr/>
        </p:nvSpPr>
        <p:spPr>
          <a:xfrm>
            <a:off x="6327648" y="4224528"/>
            <a:ext cx="4078224" cy="274320"/>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Final numeric matrix has zero missing numeric values and unique listing IDs before split and modeling.</a:t>
            </a:r>
            <a:endParaRPr lang="en-US" sz="1020" dirty="0"/>
          </a:p>
        </p:txBody>
      </p:sp>
      <p:sp>
        <p:nvSpPr>
          <p:cNvPr id="18" name="Text 15"/>
          <p:cNvSpPr/>
          <p:nvPr/>
        </p:nvSpPr>
        <p:spPr>
          <a:xfrm>
            <a:off x="822960" y="5257800"/>
            <a:ext cx="9875520" cy="384048"/>
          </a:xfrm>
          <a:prstGeom prst="rect">
            <a:avLst/>
          </a:prstGeom>
          <a:noFill/>
          <a:ln/>
        </p:spPr>
        <p:txBody>
          <a:bodyPr wrap="square" lIns="0" tIns="0" rIns="0" bIns="0" rtlCol="0" anchor="ctr">
            <a:normAutofit/>
          </a:bodyPr>
          <a:lstStyle/>
          <a:p>
            <a:pPr indent="0" marL="0">
              <a:buNone/>
            </a:pPr>
            <a:r>
              <a:rPr lang="en-US" sz="1350" b="1" dirty="0">
                <a:solidFill>
                  <a:srgbClr val="0B132B"/>
                </a:solidFill>
                <a:latin typeface="Arial" pitchFamily="34" charset="0"/>
                <a:ea typeface="Arial" pitchFamily="34" charset="-122"/>
                <a:cs typeface="Arial" pitchFamily="34" charset="-120"/>
              </a:rPr>
              <a:t>Key risk controlled at this stage: invalid values and duplicates must be removed before train/validation/test split evaluation.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SQLITE PERSISTENCE + MODULAR SCRIPTS + CI-READY EXECUTION</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Phase 2: database and automated processing pipeline</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05</a:t>
            </a:r>
            <a:endParaRPr lang="en-US" sz="950" dirty="0"/>
          </a:p>
        </p:txBody>
      </p:sp>
      <p:sp>
        <p:nvSpPr>
          <p:cNvPr id="8" name="Shape 6"/>
          <p:cNvSpPr/>
          <p:nvPr/>
        </p:nvSpPr>
        <p:spPr>
          <a:xfrm>
            <a:off x="694944" y="1572768"/>
            <a:ext cx="1965960" cy="914400"/>
          </a:xfrm>
          <a:prstGeom prst="roundRect">
            <a:avLst>
              <a:gd name="adj" fmla="val 10000"/>
            </a:avLst>
          </a:prstGeom>
          <a:solidFill>
            <a:srgbClr val="FFFFFF"/>
          </a:solidFill>
          <a:ln w="12700">
            <a:solidFill>
              <a:srgbClr val="DDE3EA"/>
            </a:solidFill>
            <a:prstDash val="solid"/>
          </a:ln>
        </p:spPr>
      </p:sp>
      <p:sp>
        <p:nvSpPr>
          <p:cNvPr id="9" name="Text 7"/>
          <p:cNvSpPr/>
          <p:nvPr/>
        </p:nvSpPr>
        <p:spPr>
          <a:xfrm>
            <a:off x="804672" y="1700784"/>
            <a:ext cx="1746504" cy="164592"/>
          </a:xfrm>
          <a:prstGeom prst="rect">
            <a:avLst/>
          </a:prstGeom>
          <a:noFill/>
          <a:ln/>
        </p:spPr>
        <p:txBody>
          <a:bodyPr wrap="square" lIns="0" tIns="0" rIns="0" bIns="0" rtlCol="0" anchor="ctr">
            <a:normAutofit/>
          </a:bodyPr>
          <a:lstStyle/>
          <a:p>
            <a:pPr algn="ctr" indent="0" marL="0">
              <a:buNone/>
            </a:pPr>
            <a:r>
              <a:rPr lang="en-US" sz="1020" b="1" dirty="0">
                <a:solidFill>
                  <a:srgbClr val="1C7ED6"/>
                </a:solidFill>
                <a:latin typeface="Arial" pitchFamily="34" charset="0"/>
                <a:ea typeface="Arial" pitchFamily="34" charset="-122"/>
                <a:cs typeface="Arial" pitchFamily="34" charset="-120"/>
              </a:rPr>
              <a:t>Raw CSV</a:t>
            </a:r>
            <a:endParaRPr lang="en-US" sz="1020" dirty="0"/>
          </a:p>
        </p:txBody>
      </p:sp>
      <p:sp>
        <p:nvSpPr>
          <p:cNvPr id="10" name="Text 8"/>
          <p:cNvSpPr/>
          <p:nvPr/>
        </p:nvSpPr>
        <p:spPr>
          <a:xfrm>
            <a:off x="804672" y="1965960"/>
            <a:ext cx="174650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Redfin listings</a:t>
            </a:r>
            <a:endParaRPr lang="en-US" sz="860" dirty="0"/>
          </a:p>
        </p:txBody>
      </p:sp>
      <p:sp>
        <p:nvSpPr>
          <p:cNvPr id="11" name="Shape 9"/>
          <p:cNvSpPr/>
          <p:nvPr/>
        </p:nvSpPr>
        <p:spPr>
          <a:xfrm>
            <a:off x="2843784" y="1572768"/>
            <a:ext cx="1965960" cy="914400"/>
          </a:xfrm>
          <a:prstGeom prst="roundRect">
            <a:avLst>
              <a:gd name="adj" fmla="val 10000"/>
            </a:avLst>
          </a:prstGeom>
          <a:solidFill>
            <a:srgbClr val="FFFFFF"/>
          </a:solidFill>
          <a:ln w="12700">
            <a:solidFill>
              <a:srgbClr val="DDE3EA"/>
            </a:solidFill>
            <a:prstDash val="solid"/>
          </a:ln>
        </p:spPr>
      </p:sp>
      <p:sp>
        <p:nvSpPr>
          <p:cNvPr id="12" name="Text 10"/>
          <p:cNvSpPr/>
          <p:nvPr/>
        </p:nvSpPr>
        <p:spPr>
          <a:xfrm>
            <a:off x="2953512" y="1700784"/>
            <a:ext cx="1746504" cy="164592"/>
          </a:xfrm>
          <a:prstGeom prst="rect">
            <a:avLst/>
          </a:prstGeom>
          <a:noFill/>
          <a:ln/>
        </p:spPr>
        <p:txBody>
          <a:bodyPr wrap="square" lIns="0" tIns="0" rIns="0" bIns="0" rtlCol="0" anchor="ctr">
            <a:normAutofit/>
          </a:bodyPr>
          <a:lstStyle/>
          <a:p>
            <a:pPr algn="ctr" indent="0" marL="0">
              <a:buNone/>
            </a:pPr>
            <a:r>
              <a:rPr lang="en-US" sz="1020" b="1" dirty="0">
                <a:solidFill>
                  <a:srgbClr val="12B886"/>
                </a:solidFill>
                <a:latin typeface="Arial" pitchFamily="34" charset="0"/>
                <a:ea typeface="Arial" pitchFamily="34" charset="-122"/>
                <a:cs typeface="Arial" pitchFamily="34" charset="-120"/>
              </a:rPr>
              <a:t>SQLite</a:t>
            </a:r>
            <a:endParaRPr lang="en-US" sz="1020" dirty="0"/>
          </a:p>
        </p:txBody>
      </p:sp>
      <p:sp>
        <p:nvSpPr>
          <p:cNvPr id="13" name="Text 11"/>
          <p:cNvSpPr/>
          <p:nvPr/>
        </p:nvSpPr>
        <p:spPr>
          <a:xfrm>
            <a:off x="2953512" y="1965960"/>
            <a:ext cx="174650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schema + SQL checks</a:t>
            </a:r>
            <a:endParaRPr lang="en-US" sz="860" dirty="0"/>
          </a:p>
        </p:txBody>
      </p:sp>
      <p:sp>
        <p:nvSpPr>
          <p:cNvPr id="14" name="Shape 12"/>
          <p:cNvSpPr/>
          <p:nvPr/>
        </p:nvSpPr>
        <p:spPr>
          <a:xfrm>
            <a:off x="4992624" y="1572768"/>
            <a:ext cx="1965960" cy="914400"/>
          </a:xfrm>
          <a:prstGeom prst="roundRect">
            <a:avLst>
              <a:gd name="adj" fmla="val 10000"/>
            </a:avLst>
          </a:prstGeom>
          <a:solidFill>
            <a:srgbClr val="FFFFFF"/>
          </a:solidFill>
          <a:ln w="12700">
            <a:solidFill>
              <a:srgbClr val="DDE3EA"/>
            </a:solidFill>
            <a:prstDash val="solid"/>
          </a:ln>
        </p:spPr>
      </p:sp>
      <p:sp>
        <p:nvSpPr>
          <p:cNvPr id="15" name="Text 13"/>
          <p:cNvSpPr/>
          <p:nvPr/>
        </p:nvSpPr>
        <p:spPr>
          <a:xfrm>
            <a:off x="5102352" y="1700784"/>
            <a:ext cx="1746504" cy="164592"/>
          </a:xfrm>
          <a:prstGeom prst="rect">
            <a:avLst/>
          </a:prstGeom>
          <a:noFill/>
          <a:ln/>
        </p:spPr>
        <p:txBody>
          <a:bodyPr wrap="square" lIns="0" tIns="0" rIns="0" bIns="0" rtlCol="0" anchor="ctr">
            <a:normAutofit/>
          </a:bodyPr>
          <a:lstStyle/>
          <a:p>
            <a:pPr algn="ctr" indent="0" marL="0">
              <a:buNone/>
            </a:pPr>
            <a:r>
              <a:rPr lang="en-US" sz="1020" b="1" dirty="0">
                <a:solidFill>
                  <a:srgbClr val="F59F00"/>
                </a:solidFill>
                <a:latin typeface="Arial" pitchFamily="34" charset="0"/>
                <a:ea typeface="Arial" pitchFamily="34" charset="-122"/>
                <a:cs typeface="Arial" pitchFamily="34" charset="-120"/>
              </a:rPr>
              <a:t>Preprocess</a:t>
            </a:r>
            <a:endParaRPr lang="en-US" sz="1020" dirty="0"/>
          </a:p>
        </p:txBody>
      </p:sp>
      <p:sp>
        <p:nvSpPr>
          <p:cNvPr id="16" name="Text 14"/>
          <p:cNvSpPr/>
          <p:nvPr/>
        </p:nvSpPr>
        <p:spPr>
          <a:xfrm>
            <a:off x="5102352" y="1965960"/>
            <a:ext cx="174650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clean + validate</a:t>
            </a:r>
            <a:endParaRPr lang="en-US" sz="860" dirty="0"/>
          </a:p>
        </p:txBody>
      </p:sp>
      <p:sp>
        <p:nvSpPr>
          <p:cNvPr id="17" name="Shape 15"/>
          <p:cNvSpPr/>
          <p:nvPr/>
        </p:nvSpPr>
        <p:spPr>
          <a:xfrm>
            <a:off x="7141464" y="1572768"/>
            <a:ext cx="1965960" cy="914400"/>
          </a:xfrm>
          <a:prstGeom prst="roundRect">
            <a:avLst>
              <a:gd name="adj" fmla="val 10000"/>
            </a:avLst>
          </a:prstGeom>
          <a:solidFill>
            <a:srgbClr val="FFFFFF"/>
          </a:solidFill>
          <a:ln w="12700">
            <a:solidFill>
              <a:srgbClr val="DDE3EA"/>
            </a:solidFill>
            <a:prstDash val="solid"/>
          </a:ln>
        </p:spPr>
      </p:sp>
      <p:sp>
        <p:nvSpPr>
          <p:cNvPr id="18" name="Text 16"/>
          <p:cNvSpPr/>
          <p:nvPr/>
        </p:nvSpPr>
        <p:spPr>
          <a:xfrm>
            <a:off x="7251192" y="1700784"/>
            <a:ext cx="1746504" cy="164592"/>
          </a:xfrm>
          <a:prstGeom prst="rect">
            <a:avLst/>
          </a:prstGeom>
          <a:noFill/>
          <a:ln/>
        </p:spPr>
        <p:txBody>
          <a:bodyPr wrap="square" lIns="0" tIns="0" rIns="0" bIns="0" rtlCol="0" anchor="ctr">
            <a:normAutofit/>
          </a:bodyPr>
          <a:lstStyle/>
          <a:p>
            <a:pPr algn="ctr" indent="0" marL="0">
              <a:buNone/>
            </a:pPr>
            <a:r>
              <a:rPr lang="en-US" sz="1020" b="1" dirty="0">
                <a:solidFill>
                  <a:srgbClr val="D6336C"/>
                </a:solidFill>
                <a:latin typeface="Arial" pitchFamily="34" charset="0"/>
                <a:ea typeface="Arial" pitchFamily="34" charset="-122"/>
                <a:cs typeface="Arial" pitchFamily="34" charset="-120"/>
              </a:rPr>
              <a:t>Features</a:t>
            </a:r>
            <a:endParaRPr lang="en-US" sz="1020" dirty="0"/>
          </a:p>
        </p:txBody>
      </p:sp>
      <p:sp>
        <p:nvSpPr>
          <p:cNvPr id="19" name="Text 17"/>
          <p:cNvSpPr/>
          <p:nvPr/>
        </p:nvSpPr>
        <p:spPr>
          <a:xfrm>
            <a:off x="7251192" y="1965960"/>
            <a:ext cx="174650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encode + TF-IDF</a:t>
            </a:r>
            <a:endParaRPr lang="en-US" sz="860" dirty="0"/>
          </a:p>
        </p:txBody>
      </p:sp>
      <p:sp>
        <p:nvSpPr>
          <p:cNvPr id="20" name="Shape 18"/>
          <p:cNvSpPr/>
          <p:nvPr/>
        </p:nvSpPr>
        <p:spPr>
          <a:xfrm>
            <a:off x="9290304" y="1572768"/>
            <a:ext cx="1965960" cy="914400"/>
          </a:xfrm>
          <a:prstGeom prst="roundRect">
            <a:avLst>
              <a:gd name="adj" fmla="val 10000"/>
            </a:avLst>
          </a:prstGeom>
          <a:solidFill>
            <a:srgbClr val="FFFFFF"/>
          </a:solidFill>
          <a:ln w="12700">
            <a:solidFill>
              <a:srgbClr val="DDE3EA"/>
            </a:solidFill>
            <a:prstDash val="solid"/>
          </a:ln>
        </p:spPr>
      </p:sp>
      <p:sp>
        <p:nvSpPr>
          <p:cNvPr id="21" name="Text 19"/>
          <p:cNvSpPr/>
          <p:nvPr/>
        </p:nvSpPr>
        <p:spPr>
          <a:xfrm>
            <a:off x="9400032" y="1700784"/>
            <a:ext cx="1746504" cy="164592"/>
          </a:xfrm>
          <a:prstGeom prst="rect">
            <a:avLst/>
          </a:prstGeom>
          <a:noFill/>
          <a:ln/>
        </p:spPr>
        <p:txBody>
          <a:bodyPr wrap="square" lIns="0" tIns="0" rIns="0" bIns="0" rtlCol="0" anchor="ctr">
            <a:normAutofit/>
          </a:bodyPr>
          <a:lstStyle/>
          <a:p>
            <a:pPr algn="ctr" indent="0" marL="0">
              <a:buNone/>
            </a:pPr>
            <a:r>
              <a:rPr lang="en-US" sz="1020" b="1" dirty="0">
                <a:solidFill>
                  <a:srgbClr val="15AABF"/>
                </a:solidFill>
                <a:latin typeface="Arial" pitchFamily="34" charset="0"/>
                <a:ea typeface="Arial" pitchFamily="34" charset="-122"/>
                <a:cs typeface="Arial" pitchFamily="34" charset="-120"/>
              </a:rPr>
              <a:t>Model-ready</a:t>
            </a:r>
            <a:endParaRPr lang="en-US" sz="1020" dirty="0"/>
          </a:p>
        </p:txBody>
      </p:sp>
      <p:sp>
        <p:nvSpPr>
          <p:cNvPr id="22" name="Text 20"/>
          <p:cNvSpPr/>
          <p:nvPr/>
        </p:nvSpPr>
        <p:spPr>
          <a:xfrm>
            <a:off x="9400032" y="1965960"/>
            <a:ext cx="174650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CSV + database table</a:t>
            </a:r>
            <a:endParaRPr lang="en-US" sz="860" dirty="0"/>
          </a:p>
        </p:txBody>
      </p:sp>
      <p:sp>
        <p:nvSpPr>
          <p:cNvPr id="23" name="Shape 21"/>
          <p:cNvSpPr/>
          <p:nvPr/>
        </p:nvSpPr>
        <p:spPr>
          <a:xfrm>
            <a:off x="749808" y="3154680"/>
            <a:ext cx="3063240" cy="1143000"/>
          </a:xfrm>
          <a:prstGeom prst="roundRect">
            <a:avLst>
              <a:gd name="adj" fmla="val 7200"/>
            </a:avLst>
          </a:prstGeom>
          <a:solidFill>
            <a:srgbClr val="E7F5FF"/>
          </a:solidFill>
          <a:ln w="12700">
            <a:solidFill>
              <a:srgbClr val="DDE3EA"/>
            </a:solidFill>
            <a:prstDash val="solid"/>
          </a:ln>
        </p:spPr>
      </p:sp>
      <p:sp>
        <p:nvSpPr>
          <p:cNvPr id="24" name="Text 22"/>
          <p:cNvSpPr/>
          <p:nvPr/>
        </p:nvSpPr>
        <p:spPr>
          <a:xfrm>
            <a:off x="950976" y="3300984"/>
            <a:ext cx="266090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Database layer</a:t>
            </a:r>
            <a:endParaRPr lang="en-US" sz="1200" dirty="0"/>
          </a:p>
        </p:txBody>
      </p:sp>
      <p:sp>
        <p:nvSpPr>
          <p:cNvPr id="25" name="Text 23"/>
          <p:cNvSpPr/>
          <p:nvPr/>
        </p:nvSpPr>
        <p:spPr>
          <a:xfrm>
            <a:off x="950976" y="3630168"/>
            <a:ext cx="266090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SQLite stores the model-ready feature table and final prediction table. This makes data access auditable instead of relying only on loose CSV files.</a:t>
            </a:r>
            <a:endParaRPr lang="en-US" sz="1020" dirty="0"/>
          </a:p>
        </p:txBody>
      </p:sp>
      <p:sp>
        <p:nvSpPr>
          <p:cNvPr id="26" name="Shape 24"/>
          <p:cNvSpPr/>
          <p:nvPr/>
        </p:nvSpPr>
        <p:spPr>
          <a:xfrm>
            <a:off x="4069080" y="3154680"/>
            <a:ext cx="3063240" cy="1143000"/>
          </a:xfrm>
          <a:prstGeom prst="roundRect">
            <a:avLst>
              <a:gd name="adj" fmla="val 7200"/>
            </a:avLst>
          </a:prstGeom>
          <a:solidFill>
            <a:srgbClr val="E6FCF5"/>
          </a:solidFill>
          <a:ln w="12700">
            <a:solidFill>
              <a:srgbClr val="DDE3EA"/>
            </a:solidFill>
            <a:prstDash val="solid"/>
          </a:ln>
        </p:spPr>
      </p:sp>
      <p:sp>
        <p:nvSpPr>
          <p:cNvPr id="27" name="Text 25"/>
          <p:cNvSpPr/>
          <p:nvPr/>
        </p:nvSpPr>
        <p:spPr>
          <a:xfrm>
            <a:off x="4270248" y="3300984"/>
            <a:ext cx="266090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Pipeline scripts</a:t>
            </a:r>
            <a:endParaRPr lang="en-US" sz="1200" dirty="0"/>
          </a:p>
        </p:txBody>
      </p:sp>
      <p:sp>
        <p:nvSpPr>
          <p:cNvPr id="28" name="Text 26"/>
          <p:cNvSpPr/>
          <p:nvPr/>
        </p:nvSpPr>
        <p:spPr>
          <a:xfrm>
            <a:off x="4270248" y="3630168"/>
            <a:ext cx="266090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import_to_db.py, load_data.py, preprocess.py and feature_engineering.py are separated so each stage is testable.</a:t>
            </a:r>
            <a:endParaRPr lang="en-US" sz="1020" dirty="0"/>
          </a:p>
        </p:txBody>
      </p:sp>
      <p:sp>
        <p:nvSpPr>
          <p:cNvPr id="29" name="Shape 27"/>
          <p:cNvSpPr/>
          <p:nvPr/>
        </p:nvSpPr>
        <p:spPr>
          <a:xfrm>
            <a:off x="7388352" y="3154680"/>
            <a:ext cx="3063240" cy="1143000"/>
          </a:xfrm>
          <a:prstGeom prst="roundRect">
            <a:avLst>
              <a:gd name="adj" fmla="val 7200"/>
            </a:avLst>
          </a:prstGeom>
          <a:solidFill>
            <a:srgbClr val="FFF4E6"/>
          </a:solidFill>
          <a:ln w="12700">
            <a:solidFill>
              <a:srgbClr val="DDE3EA"/>
            </a:solidFill>
            <a:prstDash val="solid"/>
          </a:ln>
        </p:spPr>
      </p:sp>
      <p:sp>
        <p:nvSpPr>
          <p:cNvPr id="30" name="Text 28"/>
          <p:cNvSpPr/>
          <p:nvPr/>
        </p:nvSpPr>
        <p:spPr>
          <a:xfrm>
            <a:off x="7589520" y="3300984"/>
            <a:ext cx="266090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CI/CD evidence</a:t>
            </a:r>
            <a:endParaRPr lang="en-US" sz="1200" dirty="0"/>
          </a:p>
        </p:txBody>
      </p:sp>
      <p:sp>
        <p:nvSpPr>
          <p:cNvPr id="31" name="Text 29"/>
          <p:cNvSpPr/>
          <p:nvPr/>
        </p:nvSpPr>
        <p:spPr>
          <a:xfrm>
            <a:off x="7589520" y="3630168"/>
            <a:ext cx="266090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GitHub Actions and project validation scripts make the repository easier to reproduce and submit safely.</a:t>
            </a:r>
            <a:endParaRPr lang="en-US" sz="1020" dirty="0"/>
          </a:p>
        </p:txBody>
      </p:sp>
      <p:sp>
        <p:nvSpPr>
          <p:cNvPr id="32" name="Text 30"/>
          <p:cNvSpPr/>
          <p:nvPr/>
        </p:nvSpPr>
        <p:spPr>
          <a:xfrm>
            <a:off x="777240" y="5074920"/>
            <a:ext cx="10058400" cy="347472"/>
          </a:xfrm>
          <a:prstGeom prst="rect">
            <a:avLst/>
          </a:prstGeom>
          <a:noFill/>
          <a:ln/>
        </p:spPr>
        <p:txBody>
          <a:bodyPr wrap="square" lIns="0" tIns="0" rIns="0" bIns="0" rtlCol="0" anchor="ctr">
            <a:normAutofit/>
          </a:bodyPr>
          <a:lstStyle/>
          <a:p>
            <a:pPr indent="0" marL="0">
              <a:buNone/>
            </a:pPr>
            <a:r>
              <a:rPr lang="en-US" sz="1370" b="1" dirty="0">
                <a:solidFill>
                  <a:srgbClr val="0B132B"/>
                </a:solidFill>
                <a:latin typeface="Arial" pitchFamily="34" charset="0"/>
                <a:ea typeface="Arial" pitchFamily="34" charset="-122"/>
                <a:cs typeface="Arial" pitchFamily="34" charset="-120"/>
              </a:rPr>
              <a:t>Phase 3 consumes the Phase 2 model-ready artifact, then adds split management, training, evaluation and prediction persistence.</a:t>
            </a:r>
            <a:endParaRPr lang="en-US" sz="13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TURNING RAW LISTING INFORMATION INTO PREDICTIVE SIGNALS</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Feature engineering used before modeling</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06</a:t>
            </a:r>
            <a:endParaRPr lang="en-US" sz="950" dirty="0"/>
          </a:p>
        </p:txBody>
      </p:sp>
      <p:sp>
        <p:nvSpPr>
          <p:cNvPr id="8" name="Shape 6"/>
          <p:cNvSpPr/>
          <p:nvPr/>
        </p:nvSpPr>
        <p:spPr>
          <a:xfrm>
            <a:off x="713232" y="1389888"/>
            <a:ext cx="2514600" cy="1207008"/>
          </a:xfrm>
          <a:prstGeom prst="roundRect">
            <a:avLst>
              <a:gd name="adj" fmla="val 6818"/>
            </a:avLst>
          </a:prstGeom>
          <a:solidFill>
            <a:srgbClr val="E7F5FF"/>
          </a:solidFill>
          <a:ln w="12700">
            <a:solidFill>
              <a:srgbClr val="DDE3EA"/>
            </a:solidFill>
            <a:prstDash val="solid"/>
          </a:ln>
        </p:spPr>
      </p:sp>
      <p:sp>
        <p:nvSpPr>
          <p:cNvPr id="9" name="Text 7"/>
          <p:cNvSpPr/>
          <p:nvPr/>
        </p:nvSpPr>
        <p:spPr>
          <a:xfrm>
            <a:off x="914400" y="1536192"/>
            <a:ext cx="21122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Numeric structure</a:t>
            </a:r>
            <a:endParaRPr lang="en-US" sz="1200" dirty="0"/>
          </a:p>
        </p:txBody>
      </p:sp>
      <p:sp>
        <p:nvSpPr>
          <p:cNvPr id="10" name="Text 8"/>
          <p:cNvSpPr/>
          <p:nvPr/>
        </p:nvSpPr>
        <p:spPr>
          <a:xfrm>
            <a:off x="914400" y="1865376"/>
            <a:ext cx="2112264" cy="60350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beds, baths, area_sqft, log_area_sqft, area_per_bed, bed/bath ratios and validity flags.</a:t>
            </a:r>
            <a:endParaRPr lang="en-US" sz="1020" dirty="0"/>
          </a:p>
        </p:txBody>
      </p:sp>
      <p:sp>
        <p:nvSpPr>
          <p:cNvPr id="11" name="Shape 9"/>
          <p:cNvSpPr/>
          <p:nvPr/>
        </p:nvSpPr>
        <p:spPr>
          <a:xfrm>
            <a:off x="3456432" y="1389888"/>
            <a:ext cx="2514600" cy="1207008"/>
          </a:xfrm>
          <a:prstGeom prst="roundRect">
            <a:avLst>
              <a:gd name="adj" fmla="val 6818"/>
            </a:avLst>
          </a:prstGeom>
          <a:solidFill>
            <a:srgbClr val="E6FCF5"/>
          </a:solidFill>
          <a:ln w="12700">
            <a:solidFill>
              <a:srgbClr val="DDE3EA"/>
            </a:solidFill>
            <a:prstDash val="solid"/>
          </a:ln>
        </p:spPr>
      </p:sp>
      <p:sp>
        <p:nvSpPr>
          <p:cNvPr id="12" name="Text 10"/>
          <p:cNvSpPr/>
          <p:nvPr/>
        </p:nvSpPr>
        <p:spPr>
          <a:xfrm>
            <a:off x="3657600" y="1536192"/>
            <a:ext cx="211226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Location/address</a:t>
            </a:r>
            <a:endParaRPr lang="en-US" sz="1200" dirty="0"/>
          </a:p>
        </p:txBody>
      </p:sp>
      <p:sp>
        <p:nvSpPr>
          <p:cNvPr id="13" name="Text 11"/>
          <p:cNvSpPr/>
          <p:nvPr/>
        </p:nvSpPr>
        <p:spPr>
          <a:xfrm>
            <a:off x="3657600" y="1865376"/>
            <a:ext cx="2112264" cy="60350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city groups, state/city validation, unit indicators and address-derived fields.</a:t>
            </a:r>
            <a:endParaRPr lang="en-US" sz="1020" dirty="0"/>
          </a:p>
        </p:txBody>
      </p:sp>
      <p:sp>
        <p:nvSpPr>
          <p:cNvPr id="14" name="Shape 12"/>
          <p:cNvSpPr/>
          <p:nvPr/>
        </p:nvSpPr>
        <p:spPr>
          <a:xfrm>
            <a:off x="6199632" y="1389888"/>
            <a:ext cx="2514600" cy="1207008"/>
          </a:xfrm>
          <a:prstGeom prst="roundRect">
            <a:avLst>
              <a:gd name="adj" fmla="val 6818"/>
            </a:avLst>
          </a:prstGeom>
          <a:solidFill>
            <a:srgbClr val="FFF4E6"/>
          </a:solidFill>
          <a:ln w="12700">
            <a:solidFill>
              <a:srgbClr val="DDE3EA"/>
            </a:solidFill>
            <a:prstDash val="solid"/>
          </a:ln>
        </p:spPr>
      </p:sp>
      <p:sp>
        <p:nvSpPr>
          <p:cNvPr id="15" name="Text 13"/>
          <p:cNvSpPr/>
          <p:nvPr/>
        </p:nvSpPr>
        <p:spPr>
          <a:xfrm>
            <a:off x="6400800" y="1536192"/>
            <a:ext cx="211226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Text features</a:t>
            </a:r>
            <a:endParaRPr lang="en-US" sz="1200" dirty="0"/>
          </a:p>
        </p:txBody>
      </p:sp>
      <p:sp>
        <p:nvSpPr>
          <p:cNvPr id="16" name="Text 14"/>
          <p:cNvSpPr/>
          <p:nvPr/>
        </p:nvSpPr>
        <p:spPr>
          <a:xfrm>
            <a:off x="6400800" y="1865376"/>
            <a:ext cx="2112264" cy="60350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TF-IDF features from listing text, capturing tokens like neighborhood, brokerage and property descriptors.</a:t>
            </a:r>
            <a:endParaRPr lang="en-US" sz="1020" dirty="0"/>
          </a:p>
        </p:txBody>
      </p:sp>
      <p:sp>
        <p:nvSpPr>
          <p:cNvPr id="17" name="Shape 15"/>
          <p:cNvSpPr/>
          <p:nvPr/>
        </p:nvSpPr>
        <p:spPr>
          <a:xfrm>
            <a:off x="8942832" y="1389888"/>
            <a:ext cx="2514600" cy="1207008"/>
          </a:xfrm>
          <a:prstGeom prst="roundRect">
            <a:avLst>
              <a:gd name="adj" fmla="val 6818"/>
            </a:avLst>
          </a:prstGeom>
          <a:solidFill>
            <a:srgbClr val="FFF0F6"/>
          </a:solidFill>
          <a:ln w="12700">
            <a:solidFill>
              <a:srgbClr val="DDE3EA"/>
            </a:solidFill>
            <a:prstDash val="solid"/>
          </a:ln>
        </p:spPr>
      </p:sp>
      <p:sp>
        <p:nvSpPr>
          <p:cNvPr id="18" name="Text 16"/>
          <p:cNvSpPr/>
          <p:nvPr/>
        </p:nvSpPr>
        <p:spPr>
          <a:xfrm>
            <a:off x="9144000" y="1536192"/>
            <a:ext cx="211226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Quality flags</a:t>
            </a:r>
            <a:endParaRPr lang="en-US" sz="1200" dirty="0"/>
          </a:p>
        </p:txBody>
      </p:sp>
      <p:sp>
        <p:nvSpPr>
          <p:cNvPr id="19" name="Text 17"/>
          <p:cNvSpPr/>
          <p:nvPr/>
        </p:nvSpPr>
        <p:spPr>
          <a:xfrm>
            <a:off x="9144000" y="1865376"/>
            <a:ext cx="2112264" cy="60350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Missing/invalid indicators preserve useful missingness patterns instead of silently dropping information.</a:t>
            </a:r>
            <a:endParaRPr lang="en-US" sz="1020" dirty="0"/>
          </a:p>
        </p:txBody>
      </p:sp>
      <p:sp>
        <p:nvSpPr>
          <p:cNvPr id="20" name="Shape 18"/>
          <p:cNvSpPr/>
          <p:nvPr/>
        </p:nvSpPr>
        <p:spPr>
          <a:xfrm>
            <a:off x="1005840" y="3337560"/>
            <a:ext cx="9966960" cy="1261872"/>
          </a:xfrm>
          <a:prstGeom prst="roundRect">
            <a:avLst>
              <a:gd name="adj" fmla="val 8696"/>
            </a:avLst>
          </a:prstGeom>
          <a:solidFill>
            <a:srgbClr val="FFFFFF"/>
          </a:solidFill>
          <a:ln w="12700">
            <a:solidFill>
              <a:srgbClr val="DDE3EA"/>
            </a:solidFill>
            <a:prstDash val="solid"/>
          </a:ln>
        </p:spPr>
      </p:sp>
      <p:sp>
        <p:nvSpPr>
          <p:cNvPr id="21" name="Text 19"/>
          <p:cNvSpPr/>
          <p:nvPr/>
        </p:nvSpPr>
        <p:spPr>
          <a:xfrm>
            <a:off x="1234440" y="3703320"/>
            <a:ext cx="9509760" cy="475488"/>
          </a:xfrm>
          <a:prstGeom prst="rect">
            <a:avLst/>
          </a:prstGeom>
          <a:noFill/>
          <a:ln/>
        </p:spPr>
        <p:txBody>
          <a:bodyPr wrap="square" lIns="0" tIns="0" rIns="0" bIns="0" rtlCol="0" anchor="ctr">
            <a:normAutofit/>
          </a:bodyPr>
          <a:lstStyle/>
          <a:p>
            <a:pPr algn="ctr" indent="0" marL="0">
              <a:buNone/>
            </a:pPr>
            <a:r>
              <a:rPr lang="en-US" sz="1600" b="1" dirty="0">
                <a:solidFill>
                  <a:srgbClr val="0B132B"/>
                </a:solidFill>
                <a:latin typeface="Arial" pitchFamily="34" charset="0"/>
                <a:ea typeface="Arial" pitchFamily="34" charset="-122"/>
                <a:cs typeface="Arial" pitchFamily="34" charset="-120"/>
              </a:rPr>
              <a:t>Final feature matrix: 414 non-constant numeric columns</a:t>
            </a:r>
            <a:endParaRPr lang="en-US" sz="1600" dirty="0"/>
          </a:p>
          <a:p>
            <a:pPr algn="ctr" indent="0" marL="0">
              <a:buNone/>
            </a:pPr>
            <a:r>
              <a:rPr lang="en-US" sz="1600" b="1" dirty="0">
                <a:solidFill>
                  <a:srgbClr val="0B132B"/>
                </a:solidFill>
                <a:latin typeface="Arial" pitchFamily="34" charset="0"/>
                <a:ea typeface="Arial" pitchFamily="34" charset="-122"/>
                <a:cs typeface="Arial" pitchFamily="34" charset="-120"/>
              </a:rPr>
              <a:t>Feature families combine structural price drivers with location and text-derived market signals.</a:t>
            </a:r>
            <a:endParaRPr lang="en-US" sz="1600" dirty="0"/>
          </a:p>
        </p:txBody>
      </p:sp>
      <p:sp>
        <p:nvSpPr>
          <p:cNvPr id="22" name="Text 20"/>
          <p:cNvSpPr/>
          <p:nvPr/>
        </p:nvSpPr>
        <p:spPr>
          <a:xfrm>
            <a:off x="960120" y="5230368"/>
            <a:ext cx="10149840" cy="603504"/>
          </a:xfrm>
          <a:prstGeom prst="rect">
            <a:avLst/>
          </a:prstGeom>
          <a:noFill/>
          <a:ln/>
        </p:spPr>
        <p:txBody>
          <a:bodyPr wrap="square" lIns="508" tIns="508" rIns="508" bIns="508" rtlCol="0" anchor="t">
            <a:normAutofit/>
          </a:bodyPr>
          <a:lstStyle/>
          <a:p>
            <a:pPr indent="0" marL="0">
              <a:buNone/>
            </a:pPr>
            <a:r>
              <a:rPr lang="en-US" sz="1300" dirty="0">
                <a:solidFill>
                  <a:srgbClr val="495057"/>
                </a:solidFill>
                <a:latin typeface="Arial" pitchFamily="34" charset="0"/>
                <a:ea typeface="Arial" pitchFamily="34" charset="-122"/>
                <a:cs typeface="Arial" pitchFamily="34" charset="-120"/>
              </a:rPr>
              <a:t>• Preprocessing and feature engineering are explicitly documented to make the modeling decision traceable.</a:t>
            </a:r>
            <a:endParaRPr lang="en-US" sz="1300" dirty="0"/>
          </a:p>
          <a:p>
            <a:pPr indent="0" marL="0">
              <a:buNone/>
            </a:pPr>
            <a:r>
              <a:rPr lang="en-US" sz="1300" dirty="0">
                <a:solidFill>
                  <a:srgbClr val="495057"/>
                </a:solidFill>
                <a:latin typeface="Arial" pitchFamily="34" charset="0"/>
                <a:ea typeface="Arial" pitchFamily="34" charset="-122"/>
                <a:cs typeface="Arial" pitchFamily="34" charset="-120"/>
              </a:rPr>
              <a:t>• The feature set is rich enough for tree-based nonlinear models and ensemble learning.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REPRODUCIBILITY BEFORE LEADERBOARD-STYLE PERFORMANCE</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Modeling protocol and evaluation design</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07</a:t>
            </a:r>
            <a:endParaRPr lang="en-US" sz="950" dirty="0"/>
          </a:p>
        </p:txBody>
      </p:sp>
      <p:graphicFrame>
        <p:nvGraphicFramePr>
          <p:cNvPr id="8" name="Chart 0" descr=""/>
          <p:cNvGraphicFramePr/>
          <p:nvPr/>
        </p:nvGraphicFramePr>
        <p:xfrm>
          <a:off x="841248" y="1325880"/>
          <a:ext cx="4023360" cy="35204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577840" y="1417320"/>
            <a:ext cx="2148840" cy="960120"/>
          </a:xfrm>
          <a:prstGeom prst="roundRect">
            <a:avLst>
              <a:gd name="adj" fmla="val 8571"/>
            </a:avLst>
          </a:prstGeom>
          <a:solidFill>
            <a:srgbClr val="FFFFFF"/>
          </a:solidFill>
          <a:ln w="12700">
            <a:solidFill>
              <a:srgbClr val="DDE3EA"/>
            </a:solidFill>
            <a:prstDash val="solid"/>
          </a:ln>
        </p:spPr>
      </p:sp>
      <p:sp>
        <p:nvSpPr>
          <p:cNvPr id="10" name="Shape 7"/>
          <p:cNvSpPr/>
          <p:nvPr/>
        </p:nvSpPr>
        <p:spPr>
          <a:xfrm>
            <a:off x="5577840" y="1417320"/>
            <a:ext cx="64008" cy="960120"/>
          </a:xfrm>
          <a:prstGeom prst="rect">
            <a:avLst/>
          </a:prstGeom>
          <a:solidFill>
            <a:srgbClr val="1C7ED6"/>
          </a:solidFill>
          <a:ln w="12700">
            <a:solidFill>
              <a:srgbClr val="1C7ED6">
                <a:alpha val="0"/>
              </a:srgbClr>
            </a:solidFill>
            <a:prstDash val="solid"/>
          </a:ln>
        </p:spPr>
      </p:sp>
      <p:sp>
        <p:nvSpPr>
          <p:cNvPr id="11" name="Text 8"/>
          <p:cNvSpPr/>
          <p:nvPr/>
        </p:nvSpPr>
        <p:spPr>
          <a:xfrm>
            <a:off x="5779008" y="1527048"/>
            <a:ext cx="1856232" cy="329184"/>
          </a:xfrm>
          <a:prstGeom prst="rect">
            <a:avLst/>
          </a:prstGeom>
          <a:noFill/>
          <a:ln/>
        </p:spPr>
        <p:txBody>
          <a:bodyPr wrap="square" lIns="0" tIns="0" rIns="0" bIns="0" rtlCol="0" anchor="ctr">
            <a:normAutofit/>
          </a:bodyPr>
          <a:lstStyle/>
          <a:p>
            <a:pPr indent="0" marL="0">
              <a:buNone/>
            </a:pPr>
            <a:r>
              <a:rPr lang="en-US" sz="2000" b="1" dirty="0">
                <a:solidFill>
                  <a:srgbClr val="1C7ED6"/>
                </a:solidFill>
                <a:latin typeface="Arial" pitchFamily="34" charset="0"/>
                <a:ea typeface="Arial" pitchFamily="34" charset="-122"/>
                <a:cs typeface="Arial" pitchFamily="34" charset="-120"/>
              </a:rPr>
              <a:t>70%</a:t>
            </a:r>
            <a:endParaRPr lang="en-US" sz="2000" dirty="0"/>
          </a:p>
        </p:txBody>
      </p:sp>
      <p:sp>
        <p:nvSpPr>
          <p:cNvPr id="12" name="Text 9"/>
          <p:cNvSpPr/>
          <p:nvPr/>
        </p:nvSpPr>
        <p:spPr>
          <a:xfrm>
            <a:off x="5779008" y="1911096"/>
            <a:ext cx="185623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training rows</a:t>
            </a:r>
            <a:endParaRPr lang="en-US" sz="1000" dirty="0"/>
          </a:p>
        </p:txBody>
      </p:sp>
      <p:sp>
        <p:nvSpPr>
          <p:cNvPr id="13" name="Text 10"/>
          <p:cNvSpPr/>
          <p:nvPr/>
        </p:nvSpPr>
        <p:spPr>
          <a:xfrm>
            <a:off x="5779008" y="2139696"/>
            <a:ext cx="185623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12,880 listings</a:t>
            </a:r>
            <a:endParaRPr lang="en-US" sz="800" dirty="0"/>
          </a:p>
        </p:txBody>
      </p:sp>
      <p:sp>
        <p:nvSpPr>
          <p:cNvPr id="14" name="Shape 11"/>
          <p:cNvSpPr/>
          <p:nvPr/>
        </p:nvSpPr>
        <p:spPr>
          <a:xfrm>
            <a:off x="7973568" y="1417320"/>
            <a:ext cx="2148840" cy="960120"/>
          </a:xfrm>
          <a:prstGeom prst="roundRect">
            <a:avLst>
              <a:gd name="adj" fmla="val 8571"/>
            </a:avLst>
          </a:prstGeom>
          <a:solidFill>
            <a:srgbClr val="FFFFFF"/>
          </a:solidFill>
          <a:ln w="12700">
            <a:solidFill>
              <a:srgbClr val="DDE3EA"/>
            </a:solidFill>
            <a:prstDash val="solid"/>
          </a:ln>
        </p:spPr>
      </p:sp>
      <p:sp>
        <p:nvSpPr>
          <p:cNvPr id="15" name="Shape 12"/>
          <p:cNvSpPr/>
          <p:nvPr/>
        </p:nvSpPr>
        <p:spPr>
          <a:xfrm>
            <a:off x="7973568" y="1417320"/>
            <a:ext cx="64008" cy="960120"/>
          </a:xfrm>
          <a:prstGeom prst="rect">
            <a:avLst/>
          </a:prstGeom>
          <a:solidFill>
            <a:srgbClr val="12B886"/>
          </a:solidFill>
          <a:ln w="12700">
            <a:solidFill>
              <a:srgbClr val="12B886">
                <a:alpha val="0"/>
              </a:srgbClr>
            </a:solidFill>
            <a:prstDash val="solid"/>
          </a:ln>
        </p:spPr>
      </p:sp>
      <p:sp>
        <p:nvSpPr>
          <p:cNvPr id="16" name="Text 13"/>
          <p:cNvSpPr/>
          <p:nvPr/>
        </p:nvSpPr>
        <p:spPr>
          <a:xfrm>
            <a:off x="8174736" y="1527048"/>
            <a:ext cx="1856232" cy="329184"/>
          </a:xfrm>
          <a:prstGeom prst="rect">
            <a:avLst/>
          </a:prstGeom>
          <a:noFill/>
          <a:ln/>
        </p:spPr>
        <p:txBody>
          <a:bodyPr wrap="square" lIns="0" tIns="0" rIns="0" bIns="0" rtlCol="0" anchor="ctr">
            <a:normAutofit/>
          </a:bodyPr>
          <a:lstStyle/>
          <a:p>
            <a:pPr indent="0" marL="0">
              <a:buNone/>
            </a:pPr>
            <a:r>
              <a:rPr lang="en-US" sz="2000" b="1" dirty="0">
                <a:solidFill>
                  <a:srgbClr val="12B886"/>
                </a:solidFill>
                <a:latin typeface="Arial" pitchFamily="34" charset="0"/>
                <a:ea typeface="Arial" pitchFamily="34" charset="-122"/>
                <a:cs typeface="Arial" pitchFamily="34" charset="-120"/>
              </a:rPr>
              <a:t>15%</a:t>
            </a:r>
            <a:endParaRPr lang="en-US" sz="2000" dirty="0"/>
          </a:p>
        </p:txBody>
      </p:sp>
      <p:sp>
        <p:nvSpPr>
          <p:cNvPr id="17" name="Text 14"/>
          <p:cNvSpPr/>
          <p:nvPr/>
        </p:nvSpPr>
        <p:spPr>
          <a:xfrm>
            <a:off x="8174736" y="1911096"/>
            <a:ext cx="185623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validation rows</a:t>
            </a:r>
            <a:endParaRPr lang="en-US" sz="1000" dirty="0"/>
          </a:p>
        </p:txBody>
      </p:sp>
      <p:sp>
        <p:nvSpPr>
          <p:cNvPr id="18" name="Text 15"/>
          <p:cNvSpPr/>
          <p:nvPr/>
        </p:nvSpPr>
        <p:spPr>
          <a:xfrm>
            <a:off x="8174736" y="2139696"/>
            <a:ext cx="185623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2,760 listings</a:t>
            </a:r>
            <a:endParaRPr lang="en-US" sz="800" dirty="0"/>
          </a:p>
        </p:txBody>
      </p:sp>
      <p:sp>
        <p:nvSpPr>
          <p:cNvPr id="19" name="Shape 16"/>
          <p:cNvSpPr/>
          <p:nvPr/>
        </p:nvSpPr>
        <p:spPr>
          <a:xfrm>
            <a:off x="5577840" y="2633472"/>
            <a:ext cx="2148840" cy="960120"/>
          </a:xfrm>
          <a:prstGeom prst="roundRect">
            <a:avLst>
              <a:gd name="adj" fmla="val 8571"/>
            </a:avLst>
          </a:prstGeom>
          <a:solidFill>
            <a:srgbClr val="FFFFFF"/>
          </a:solidFill>
          <a:ln w="12700">
            <a:solidFill>
              <a:srgbClr val="DDE3EA"/>
            </a:solidFill>
            <a:prstDash val="solid"/>
          </a:ln>
        </p:spPr>
      </p:sp>
      <p:sp>
        <p:nvSpPr>
          <p:cNvPr id="20" name="Shape 17"/>
          <p:cNvSpPr/>
          <p:nvPr/>
        </p:nvSpPr>
        <p:spPr>
          <a:xfrm>
            <a:off x="5577840" y="2633472"/>
            <a:ext cx="64008" cy="960120"/>
          </a:xfrm>
          <a:prstGeom prst="rect">
            <a:avLst/>
          </a:prstGeom>
          <a:solidFill>
            <a:srgbClr val="F59F00"/>
          </a:solidFill>
          <a:ln w="12700">
            <a:solidFill>
              <a:srgbClr val="F59F00">
                <a:alpha val="0"/>
              </a:srgbClr>
            </a:solidFill>
            <a:prstDash val="solid"/>
          </a:ln>
        </p:spPr>
      </p:sp>
      <p:sp>
        <p:nvSpPr>
          <p:cNvPr id="21" name="Text 18"/>
          <p:cNvSpPr/>
          <p:nvPr/>
        </p:nvSpPr>
        <p:spPr>
          <a:xfrm>
            <a:off x="5779008" y="2743200"/>
            <a:ext cx="1856232" cy="329184"/>
          </a:xfrm>
          <a:prstGeom prst="rect">
            <a:avLst/>
          </a:prstGeom>
          <a:noFill/>
          <a:ln/>
        </p:spPr>
        <p:txBody>
          <a:bodyPr wrap="square" lIns="0" tIns="0" rIns="0" bIns="0" rtlCol="0" anchor="ctr">
            <a:normAutofit/>
          </a:bodyPr>
          <a:lstStyle/>
          <a:p>
            <a:pPr indent="0" marL="0">
              <a:buNone/>
            </a:pPr>
            <a:r>
              <a:rPr lang="en-US" sz="2000" b="1" dirty="0">
                <a:solidFill>
                  <a:srgbClr val="F59F00"/>
                </a:solidFill>
                <a:latin typeface="Arial" pitchFamily="34" charset="0"/>
                <a:ea typeface="Arial" pitchFamily="34" charset="-122"/>
                <a:cs typeface="Arial" pitchFamily="34" charset="-120"/>
              </a:rPr>
              <a:t>15%</a:t>
            </a:r>
            <a:endParaRPr lang="en-US" sz="2000" dirty="0"/>
          </a:p>
        </p:txBody>
      </p:sp>
      <p:sp>
        <p:nvSpPr>
          <p:cNvPr id="22" name="Text 19"/>
          <p:cNvSpPr/>
          <p:nvPr/>
        </p:nvSpPr>
        <p:spPr>
          <a:xfrm>
            <a:off x="5779008" y="3127248"/>
            <a:ext cx="185623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untouched test</a:t>
            </a:r>
            <a:endParaRPr lang="en-US" sz="1000" dirty="0"/>
          </a:p>
        </p:txBody>
      </p:sp>
      <p:sp>
        <p:nvSpPr>
          <p:cNvPr id="23" name="Text 20"/>
          <p:cNvSpPr/>
          <p:nvPr/>
        </p:nvSpPr>
        <p:spPr>
          <a:xfrm>
            <a:off x="5779008" y="3355848"/>
            <a:ext cx="185623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2,760 listings</a:t>
            </a:r>
            <a:endParaRPr lang="en-US" sz="800" dirty="0"/>
          </a:p>
        </p:txBody>
      </p:sp>
      <p:sp>
        <p:nvSpPr>
          <p:cNvPr id="24" name="Shape 21"/>
          <p:cNvSpPr/>
          <p:nvPr/>
        </p:nvSpPr>
        <p:spPr>
          <a:xfrm>
            <a:off x="7973568" y="2633472"/>
            <a:ext cx="2148840" cy="960120"/>
          </a:xfrm>
          <a:prstGeom prst="roundRect">
            <a:avLst>
              <a:gd name="adj" fmla="val 8571"/>
            </a:avLst>
          </a:prstGeom>
          <a:solidFill>
            <a:srgbClr val="FFFFFF"/>
          </a:solidFill>
          <a:ln w="12700">
            <a:solidFill>
              <a:srgbClr val="DDE3EA"/>
            </a:solidFill>
            <a:prstDash val="solid"/>
          </a:ln>
        </p:spPr>
      </p:sp>
      <p:sp>
        <p:nvSpPr>
          <p:cNvPr id="25" name="Shape 22"/>
          <p:cNvSpPr/>
          <p:nvPr/>
        </p:nvSpPr>
        <p:spPr>
          <a:xfrm>
            <a:off x="7973568" y="2633472"/>
            <a:ext cx="64008" cy="960120"/>
          </a:xfrm>
          <a:prstGeom prst="rect">
            <a:avLst/>
          </a:prstGeom>
          <a:solidFill>
            <a:srgbClr val="D6336C"/>
          </a:solidFill>
          <a:ln w="12700">
            <a:solidFill>
              <a:srgbClr val="D6336C">
                <a:alpha val="0"/>
              </a:srgbClr>
            </a:solidFill>
            <a:prstDash val="solid"/>
          </a:ln>
        </p:spPr>
      </p:sp>
      <p:sp>
        <p:nvSpPr>
          <p:cNvPr id="26" name="Text 23"/>
          <p:cNvSpPr/>
          <p:nvPr/>
        </p:nvSpPr>
        <p:spPr>
          <a:xfrm>
            <a:off x="8174736" y="2743200"/>
            <a:ext cx="1856232" cy="329184"/>
          </a:xfrm>
          <a:prstGeom prst="rect">
            <a:avLst/>
          </a:prstGeom>
          <a:noFill/>
          <a:ln/>
        </p:spPr>
        <p:txBody>
          <a:bodyPr wrap="square" lIns="0" tIns="0" rIns="0" bIns="0" rtlCol="0" anchor="ctr">
            <a:normAutofit/>
          </a:bodyPr>
          <a:lstStyle/>
          <a:p>
            <a:pPr indent="0" marL="0">
              <a:buNone/>
            </a:pPr>
            <a:r>
              <a:rPr lang="en-US" sz="2000" b="1" dirty="0">
                <a:solidFill>
                  <a:srgbClr val="D6336C"/>
                </a:solidFill>
                <a:latin typeface="Arial" pitchFamily="34" charset="0"/>
                <a:ea typeface="Arial" pitchFamily="34" charset="-122"/>
                <a:cs typeface="Arial" pitchFamily="34" charset="-120"/>
              </a:rPr>
              <a:t>5-fold</a:t>
            </a:r>
            <a:endParaRPr lang="en-US" sz="2000" dirty="0"/>
          </a:p>
        </p:txBody>
      </p:sp>
      <p:sp>
        <p:nvSpPr>
          <p:cNvPr id="27" name="Text 24"/>
          <p:cNvSpPr/>
          <p:nvPr/>
        </p:nvSpPr>
        <p:spPr>
          <a:xfrm>
            <a:off x="8174736" y="3127248"/>
            <a:ext cx="185623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cross-validation</a:t>
            </a:r>
            <a:endParaRPr lang="en-US" sz="1000" dirty="0"/>
          </a:p>
        </p:txBody>
      </p:sp>
      <p:sp>
        <p:nvSpPr>
          <p:cNvPr id="28" name="Text 25"/>
          <p:cNvSpPr/>
          <p:nvPr/>
        </p:nvSpPr>
        <p:spPr>
          <a:xfrm>
            <a:off x="8174736" y="3355848"/>
            <a:ext cx="185623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target-balanced folds</a:t>
            </a:r>
            <a:endParaRPr lang="en-US" sz="800" dirty="0"/>
          </a:p>
        </p:txBody>
      </p:sp>
      <p:sp>
        <p:nvSpPr>
          <p:cNvPr id="29" name="Shape 26"/>
          <p:cNvSpPr/>
          <p:nvPr/>
        </p:nvSpPr>
        <p:spPr>
          <a:xfrm>
            <a:off x="5623560" y="4151376"/>
            <a:ext cx="4480560" cy="841248"/>
          </a:xfrm>
          <a:prstGeom prst="roundRect">
            <a:avLst>
              <a:gd name="adj" fmla="val 9783"/>
            </a:avLst>
          </a:prstGeom>
          <a:solidFill>
            <a:srgbClr val="E7F5FF"/>
          </a:solidFill>
          <a:ln w="12700">
            <a:solidFill>
              <a:srgbClr val="DDE3EA"/>
            </a:solidFill>
            <a:prstDash val="solid"/>
          </a:ln>
        </p:spPr>
      </p:sp>
      <p:sp>
        <p:nvSpPr>
          <p:cNvPr id="30" name="Text 27"/>
          <p:cNvSpPr/>
          <p:nvPr/>
        </p:nvSpPr>
        <p:spPr>
          <a:xfrm>
            <a:off x="5824728" y="4297680"/>
            <a:ext cx="407822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Primary metric</a:t>
            </a:r>
            <a:endParaRPr lang="en-US" sz="1200" dirty="0"/>
          </a:p>
        </p:txBody>
      </p:sp>
      <p:sp>
        <p:nvSpPr>
          <p:cNvPr id="31" name="Text 28"/>
          <p:cNvSpPr/>
          <p:nvPr/>
        </p:nvSpPr>
        <p:spPr>
          <a:xfrm>
            <a:off x="5824728" y="4626864"/>
            <a:ext cx="4078224" cy="23774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RMSE on log_price: stable for skewed property prices and directly aligned with the training target.</a:t>
            </a:r>
            <a:endParaRPr lang="en-US" sz="1020" dirty="0"/>
          </a:p>
        </p:txBody>
      </p:sp>
      <p:sp>
        <p:nvSpPr>
          <p:cNvPr id="32" name="Shape 29"/>
          <p:cNvSpPr/>
          <p:nvPr/>
        </p:nvSpPr>
        <p:spPr>
          <a:xfrm>
            <a:off x="5623560" y="5193792"/>
            <a:ext cx="4480560" cy="841248"/>
          </a:xfrm>
          <a:prstGeom prst="roundRect">
            <a:avLst>
              <a:gd name="adj" fmla="val 9783"/>
            </a:avLst>
          </a:prstGeom>
          <a:solidFill>
            <a:srgbClr val="E6FCF5"/>
          </a:solidFill>
          <a:ln w="12700">
            <a:solidFill>
              <a:srgbClr val="DDE3EA"/>
            </a:solidFill>
            <a:prstDash val="solid"/>
          </a:ln>
        </p:spPr>
      </p:sp>
      <p:sp>
        <p:nvSpPr>
          <p:cNvPr id="33" name="Text 30"/>
          <p:cNvSpPr/>
          <p:nvPr/>
        </p:nvSpPr>
        <p:spPr>
          <a:xfrm>
            <a:off x="5824728" y="5340096"/>
            <a:ext cx="407822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Dollar-scale reporting</a:t>
            </a:r>
            <a:endParaRPr lang="en-US" sz="1200" dirty="0"/>
          </a:p>
        </p:txBody>
      </p:sp>
      <p:sp>
        <p:nvSpPr>
          <p:cNvPr id="34" name="Text 31"/>
          <p:cNvSpPr/>
          <p:nvPr/>
        </p:nvSpPr>
        <p:spPr>
          <a:xfrm>
            <a:off x="5824728" y="5669280"/>
            <a:ext cx="4078224" cy="237744"/>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MAE, RMSE, MAPE and prediction intervals are reported for real-world interpretability.</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MODEL SELECTION, HYPERPARAMETER SEARCH AND REGULARIZATION</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Model development: three tuned gradient-boosting families</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08</a:t>
            </a:r>
            <a:endParaRPr lang="en-US" sz="950" dirty="0"/>
          </a:p>
        </p:txBody>
      </p:sp>
      <p:sp>
        <p:nvSpPr>
          <p:cNvPr id="8" name="Shape 6"/>
          <p:cNvSpPr/>
          <p:nvPr/>
        </p:nvSpPr>
        <p:spPr>
          <a:xfrm>
            <a:off x="749808" y="1417320"/>
            <a:ext cx="6400800" cy="438912"/>
          </a:xfrm>
          <a:prstGeom prst="rect">
            <a:avLst/>
          </a:prstGeom>
          <a:solidFill>
            <a:srgbClr val="0B132B"/>
          </a:solidFill>
          <a:ln w="7620">
            <a:solidFill>
              <a:srgbClr val="DDE3EA"/>
            </a:solidFill>
            <a:prstDash val="solid"/>
          </a:ln>
        </p:spPr>
      </p:sp>
      <p:sp>
        <p:nvSpPr>
          <p:cNvPr id="9" name="Text 7"/>
          <p:cNvSpPr/>
          <p:nvPr/>
        </p:nvSpPr>
        <p:spPr>
          <a:xfrm>
            <a:off x="795528" y="1545336"/>
            <a:ext cx="1417320" cy="146304"/>
          </a:xfrm>
          <a:prstGeom prst="rect">
            <a:avLst/>
          </a:prstGeom>
          <a:noFill/>
          <a:ln/>
        </p:spPr>
        <p:txBody>
          <a:bodyPr wrap="square" lIns="0" tIns="0" rIns="0" bIns="0" rtlCol="0" anchor="ctr">
            <a:normAutofit/>
          </a:bodyPr>
          <a:lstStyle/>
          <a:p>
            <a:pPr algn="l" indent="0" marL="0">
              <a:buNone/>
            </a:pPr>
            <a:r>
              <a:rPr lang="en-US" sz="970" b="1" dirty="0">
                <a:solidFill>
                  <a:srgbClr val="FFFFFF"/>
                </a:solidFill>
                <a:latin typeface="Arial" pitchFamily="34" charset="0"/>
                <a:ea typeface="Arial" pitchFamily="34" charset="-122"/>
                <a:cs typeface="Arial" pitchFamily="34" charset="-120"/>
              </a:rPr>
              <a:t>Model</a:t>
            </a:r>
            <a:endParaRPr lang="en-US" sz="970" dirty="0"/>
          </a:p>
        </p:txBody>
      </p:sp>
      <p:sp>
        <p:nvSpPr>
          <p:cNvPr id="10" name="Text 8"/>
          <p:cNvSpPr/>
          <p:nvPr/>
        </p:nvSpPr>
        <p:spPr>
          <a:xfrm>
            <a:off x="2304288" y="1545336"/>
            <a:ext cx="960120" cy="146304"/>
          </a:xfrm>
          <a:prstGeom prst="rect">
            <a:avLst/>
          </a:prstGeom>
          <a:noFill/>
          <a:ln/>
        </p:spPr>
        <p:txBody>
          <a:bodyPr wrap="square" lIns="0" tIns="0" rIns="0" bIns="0" rtlCol="0" anchor="ctr">
            <a:normAutofit/>
          </a:bodyPr>
          <a:lstStyle/>
          <a:p>
            <a:pPr algn="ctr" indent="0" marL="0">
              <a:buNone/>
            </a:pPr>
            <a:r>
              <a:rPr lang="en-US" sz="970" b="1" dirty="0">
                <a:solidFill>
                  <a:srgbClr val="FFFFFF"/>
                </a:solidFill>
                <a:latin typeface="Arial" pitchFamily="34" charset="0"/>
                <a:ea typeface="Arial" pitchFamily="34" charset="-122"/>
                <a:cs typeface="Arial" pitchFamily="34" charset="-120"/>
              </a:rPr>
              <a:t>Trials</a:t>
            </a:r>
            <a:endParaRPr lang="en-US" sz="970" dirty="0"/>
          </a:p>
        </p:txBody>
      </p:sp>
      <p:sp>
        <p:nvSpPr>
          <p:cNvPr id="11" name="Text 9"/>
          <p:cNvSpPr/>
          <p:nvPr/>
        </p:nvSpPr>
        <p:spPr>
          <a:xfrm>
            <a:off x="3355848" y="1545336"/>
            <a:ext cx="749808" cy="146304"/>
          </a:xfrm>
          <a:prstGeom prst="rect">
            <a:avLst/>
          </a:prstGeom>
          <a:noFill/>
          <a:ln/>
        </p:spPr>
        <p:txBody>
          <a:bodyPr wrap="square" lIns="0" tIns="0" rIns="0" bIns="0" rtlCol="0" anchor="ctr">
            <a:normAutofit/>
          </a:bodyPr>
          <a:lstStyle/>
          <a:p>
            <a:pPr algn="ctr" indent="0" marL="0">
              <a:buNone/>
            </a:pPr>
            <a:r>
              <a:rPr lang="en-US" sz="970" b="1" dirty="0">
                <a:solidFill>
                  <a:srgbClr val="FFFFFF"/>
                </a:solidFill>
                <a:latin typeface="Arial" pitchFamily="34" charset="0"/>
                <a:ea typeface="Arial" pitchFamily="34" charset="-122"/>
                <a:cs typeface="Arial" pitchFamily="34" charset="-120"/>
              </a:rPr>
              <a:t>Folds</a:t>
            </a:r>
            <a:endParaRPr lang="en-US" sz="970" dirty="0"/>
          </a:p>
        </p:txBody>
      </p:sp>
      <p:sp>
        <p:nvSpPr>
          <p:cNvPr id="12" name="Text 10"/>
          <p:cNvSpPr/>
          <p:nvPr/>
        </p:nvSpPr>
        <p:spPr>
          <a:xfrm>
            <a:off x="4197096" y="1545336"/>
            <a:ext cx="969264" cy="146304"/>
          </a:xfrm>
          <a:prstGeom prst="rect">
            <a:avLst/>
          </a:prstGeom>
          <a:noFill/>
          <a:ln/>
        </p:spPr>
        <p:txBody>
          <a:bodyPr wrap="square" lIns="0" tIns="0" rIns="0" bIns="0" rtlCol="0" anchor="ctr">
            <a:normAutofit/>
          </a:bodyPr>
          <a:lstStyle/>
          <a:p>
            <a:pPr algn="ctr" indent="0" marL="0">
              <a:buNone/>
            </a:pPr>
            <a:r>
              <a:rPr lang="en-US" sz="970" b="1" dirty="0">
                <a:solidFill>
                  <a:srgbClr val="FFFFFF"/>
                </a:solidFill>
                <a:latin typeface="Arial" pitchFamily="34" charset="0"/>
                <a:ea typeface="Arial" pitchFamily="34" charset="-122"/>
                <a:cs typeface="Arial" pitchFamily="34" charset="-120"/>
              </a:rPr>
              <a:t>CV fits</a:t>
            </a:r>
            <a:endParaRPr lang="en-US" sz="970" dirty="0"/>
          </a:p>
        </p:txBody>
      </p:sp>
      <p:sp>
        <p:nvSpPr>
          <p:cNvPr id="13" name="Text 11"/>
          <p:cNvSpPr/>
          <p:nvPr/>
        </p:nvSpPr>
        <p:spPr>
          <a:xfrm>
            <a:off x="5257800" y="1545336"/>
            <a:ext cx="1234440" cy="146304"/>
          </a:xfrm>
          <a:prstGeom prst="rect">
            <a:avLst/>
          </a:prstGeom>
          <a:noFill/>
          <a:ln/>
        </p:spPr>
        <p:txBody>
          <a:bodyPr wrap="square" lIns="0" tIns="0" rIns="0" bIns="0" rtlCol="0" anchor="ctr">
            <a:normAutofit/>
          </a:bodyPr>
          <a:lstStyle/>
          <a:p>
            <a:pPr algn="ctr" indent="0" marL="0">
              <a:buNone/>
            </a:pPr>
            <a:r>
              <a:rPr lang="en-US" sz="970" b="1" dirty="0">
                <a:solidFill>
                  <a:srgbClr val="FFFFFF"/>
                </a:solidFill>
                <a:latin typeface="Arial" pitchFamily="34" charset="0"/>
                <a:ea typeface="Arial" pitchFamily="34" charset="-122"/>
                <a:cs typeface="Arial" pitchFamily="34" charset="-120"/>
              </a:rPr>
              <a:t>Max iter.</a:t>
            </a:r>
            <a:endParaRPr lang="en-US" sz="970" dirty="0"/>
          </a:p>
        </p:txBody>
      </p:sp>
      <p:sp>
        <p:nvSpPr>
          <p:cNvPr id="14" name="Shape 12"/>
          <p:cNvSpPr/>
          <p:nvPr/>
        </p:nvSpPr>
        <p:spPr>
          <a:xfrm>
            <a:off x="749808" y="1856232"/>
            <a:ext cx="6400800" cy="438912"/>
          </a:xfrm>
          <a:prstGeom prst="rect">
            <a:avLst/>
          </a:prstGeom>
          <a:solidFill>
            <a:srgbClr val="FFFFFF"/>
          </a:solidFill>
          <a:ln w="7620">
            <a:solidFill>
              <a:srgbClr val="DDE3EA"/>
            </a:solidFill>
            <a:prstDash val="solid"/>
          </a:ln>
        </p:spPr>
      </p:sp>
      <p:sp>
        <p:nvSpPr>
          <p:cNvPr id="15" name="Text 13"/>
          <p:cNvSpPr/>
          <p:nvPr/>
        </p:nvSpPr>
        <p:spPr>
          <a:xfrm>
            <a:off x="795528" y="1984248"/>
            <a:ext cx="1417320" cy="146304"/>
          </a:xfrm>
          <a:prstGeom prst="rect">
            <a:avLst/>
          </a:prstGeom>
          <a:noFill/>
          <a:ln/>
        </p:spPr>
        <p:txBody>
          <a:bodyPr wrap="square" lIns="0" tIns="0" rIns="0" bIns="0" rtlCol="0" anchor="ctr">
            <a:normAutofit/>
          </a:bodyPr>
          <a:lstStyle/>
          <a:p>
            <a:pPr algn="l" indent="0" marL="0">
              <a:buNone/>
            </a:pPr>
            <a:r>
              <a:rPr lang="en-US" sz="970" dirty="0">
                <a:solidFill>
                  <a:srgbClr val="495057"/>
                </a:solidFill>
                <a:latin typeface="Arial" pitchFamily="34" charset="0"/>
                <a:ea typeface="Arial" pitchFamily="34" charset="-122"/>
                <a:cs typeface="Arial" pitchFamily="34" charset="-120"/>
              </a:rPr>
              <a:t>XGBoost</a:t>
            </a:r>
            <a:endParaRPr lang="en-US" sz="970" dirty="0"/>
          </a:p>
        </p:txBody>
      </p:sp>
      <p:sp>
        <p:nvSpPr>
          <p:cNvPr id="16" name="Text 14"/>
          <p:cNvSpPr/>
          <p:nvPr/>
        </p:nvSpPr>
        <p:spPr>
          <a:xfrm>
            <a:off x="2304288" y="1984248"/>
            <a:ext cx="96012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40</a:t>
            </a:r>
            <a:endParaRPr lang="en-US" sz="970" dirty="0"/>
          </a:p>
        </p:txBody>
      </p:sp>
      <p:sp>
        <p:nvSpPr>
          <p:cNvPr id="17" name="Text 15"/>
          <p:cNvSpPr/>
          <p:nvPr/>
        </p:nvSpPr>
        <p:spPr>
          <a:xfrm>
            <a:off x="3355848" y="1984248"/>
            <a:ext cx="749808"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5</a:t>
            </a:r>
            <a:endParaRPr lang="en-US" sz="970" dirty="0"/>
          </a:p>
        </p:txBody>
      </p:sp>
      <p:sp>
        <p:nvSpPr>
          <p:cNvPr id="18" name="Text 16"/>
          <p:cNvSpPr/>
          <p:nvPr/>
        </p:nvSpPr>
        <p:spPr>
          <a:xfrm>
            <a:off x="4197096" y="1984248"/>
            <a:ext cx="969264"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200</a:t>
            </a:r>
            <a:endParaRPr lang="en-US" sz="970" dirty="0"/>
          </a:p>
        </p:txBody>
      </p:sp>
      <p:sp>
        <p:nvSpPr>
          <p:cNvPr id="19" name="Text 17"/>
          <p:cNvSpPr/>
          <p:nvPr/>
        </p:nvSpPr>
        <p:spPr>
          <a:xfrm>
            <a:off x="5257800" y="1984248"/>
            <a:ext cx="123444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5,500</a:t>
            </a:r>
            <a:endParaRPr lang="en-US" sz="970" dirty="0"/>
          </a:p>
        </p:txBody>
      </p:sp>
      <p:sp>
        <p:nvSpPr>
          <p:cNvPr id="20" name="Shape 18"/>
          <p:cNvSpPr/>
          <p:nvPr/>
        </p:nvSpPr>
        <p:spPr>
          <a:xfrm>
            <a:off x="749808" y="2295144"/>
            <a:ext cx="6400800" cy="438912"/>
          </a:xfrm>
          <a:prstGeom prst="rect">
            <a:avLst/>
          </a:prstGeom>
          <a:solidFill>
            <a:srgbClr val="FFFFFF"/>
          </a:solidFill>
          <a:ln w="7620">
            <a:solidFill>
              <a:srgbClr val="DDE3EA"/>
            </a:solidFill>
            <a:prstDash val="solid"/>
          </a:ln>
        </p:spPr>
      </p:sp>
      <p:sp>
        <p:nvSpPr>
          <p:cNvPr id="21" name="Text 19"/>
          <p:cNvSpPr/>
          <p:nvPr/>
        </p:nvSpPr>
        <p:spPr>
          <a:xfrm>
            <a:off x="795528" y="2423160"/>
            <a:ext cx="1417320" cy="146304"/>
          </a:xfrm>
          <a:prstGeom prst="rect">
            <a:avLst/>
          </a:prstGeom>
          <a:noFill/>
          <a:ln/>
        </p:spPr>
        <p:txBody>
          <a:bodyPr wrap="square" lIns="0" tIns="0" rIns="0" bIns="0" rtlCol="0" anchor="ctr">
            <a:normAutofit/>
          </a:bodyPr>
          <a:lstStyle/>
          <a:p>
            <a:pPr algn="l" indent="0" marL="0">
              <a:buNone/>
            </a:pPr>
            <a:r>
              <a:rPr lang="en-US" sz="970" dirty="0">
                <a:solidFill>
                  <a:srgbClr val="495057"/>
                </a:solidFill>
                <a:latin typeface="Arial" pitchFamily="34" charset="0"/>
                <a:ea typeface="Arial" pitchFamily="34" charset="-122"/>
                <a:cs typeface="Arial" pitchFamily="34" charset="-120"/>
              </a:rPr>
              <a:t>LightGBM</a:t>
            </a:r>
            <a:endParaRPr lang="en-US" sz="970" dirty="0"/>
          </a:p>
        </p:txBody>
      </p:sp>
      <p:sp>
        <p:nvSpPr>
          <p:cNvPr id="22" name="Text 20"/>
          <p:cNvSpPr/>
          <p:nvPr/>
        </p:nvSpPr>
        <p:spPr>
          <a:xfrm>
            <a:off x="2304288" y="2423160"/>
            <a:ext cx="96012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40</a:t>
            </a:r>
            <a:endParaRPr lang="en-US" sz="970" dirty="0"/>
          </a:p>
        </p:txBody>
      </p:sp>
      <p:sp>
        <p:nvSpPr>
          <p:cNvPr id="23" name="Text 21"/>
          <p:cNvSpPr/>
          <p:nvPr/>
        </p:nvSpPr>
        <p:spPr>
          <a:xfrm>
            <a:off x="3355848" y="2423160"/>
            <a:ext cx="749808"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5</a:t>
            </a:r>
            <a:endParaRPr lang="en-US" sz="970" dirty="0"/>
          </a:p>
        </p:txBody>
      </p:sp>
      <p:sp>
        <p:nvSpPr>
          <p:cNvPr id="24" name="Text 22"/>
          <p:cNvSpPr/>
          <p:nvPr/>
        </p:nvSpPr>
        <p:spPr>
          <a:xfrm>
            <a:off x="4197096" y="2423160"/>
            <a:ext cx="969264"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200</a:t>
            </a:r>
            <a:endParaRPr lang="en-US" sz="970" dirty="0"/>
          </a:p>
        </p:txBody>
      </p:sp>
      <p:sp>
        <p:nvSpPr>
          <p:cNvPr id="25" name="Text 23"/>
          <p:cNvSpPr/>
          <p:nvPr/>
        </p:nvSpPr>
        <p:spPr>
          <a:xfrm>
            <a:off x="5257800" y="2423160"/>
            <a:ext cx="123444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5,000</a:t>
            </a:r>
            <a:endParaRPr lang="en-US" sz="970" dirty="0"/>
          </a:p>
        </p:txBody>
      </p:sp>
      <p:sp>
        <p:nvSpPr>
          <p:cNvPr id="26" name="Shape 24"/>
          <p:cNvSpPr/>
          <p:nvPr/>
        </p:nvSpPr>
        <p:spPr>
          <a:xfrm>
            <a:off x="749808" y="2734056"/>
            <a:ext cx="6400800" cy="438912"/>
          </a:xfrm>
          <a:prstGeom prst="rect">
            <a:avLst/>
          </a:prstGeom>
          <a:solidFill>
            <a:srgbClr val="FFFFFF"/>
          </a:solidFill>
          <a:ln w="7620">
            <a:solidFill>
              <a:srgbClr val="DDE3EA"/>
            </a:solidFill>
            <a:prstDash val="solid"/>
          </a:ln>
        </p:spPr>
      </p:sp>
      <p:sp>
        <p:nvSpPr>
          <p:cNvPr id="27" name="Text 25"/>
          <p:cNvSpPr/>
          <p:nvPr/>
        </p:nvSpPr>
        <p:spPr>
          <a:xfrm>
            <a:off x="795528" y="2862072"/>
            <a:ext cx="1417320" cy="146304"/>
          </a:xfrm>
          <a:prstGeom prst="rect">
            <a:avLst/>
          </a:prstGeom>
          <a:noFill/>
          <a:ln/>
        </p:spPr>
        <p:txBody>
          <a:bodyPr wrap="square" lIns="0" tIns="0" rIns="0" bIns="0" rtlCol="0" anchor="ctr">
            <a:normAutofit/>
          </a:bodyPr>
          <a:lstStyle/>
          <a:p>
            <a:pPr algn="l" indent="0" marL="0">
              <a:buNone/>
            </a:pPr>
            <a:r>
              <a:rPr lang="en-US" sz="970" dirty="0">
                <a:solidFill>
                  <a:srgbClr val="495057"/>
                </a:solidFill>
                <a:latin typeface="Arial" pitchFamily="34" charset="0"/>
                <a:ea typeface="Arial" pitchFamily="34" charset="-122"/>
                <a:cs typeface="Arial" pitchFamily="34" charset="-120"/>
              </a:rPr>
              <a:t>CatBoost</a:t>
            </a:r>
            <a:endParaRPr lang="en-US" sz="970" dirty="0"/>
          </a:p>
        </p:txBody>
      </p:sp>
      <p:sp>
        <p:nvSpPr>
          <p:cNvPr id="28" name="Text 26"/>
          <p:cNvSpPr/>
          <p:nvPr/>
        </p:nvSpPr>
        <p:spPr>
          <a:xfrm>
            <a:off x="2304288" y="2862072"/>
            <a:ext cx="96012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15</a:t>
            </a:r>
            <a:endParaRPr lang="en-US" sz="970" dirty="0"/>
          </a:p>
        </p:txBody>
      </p:sp>
      <p:sp>
        <p:nvSpPr>
          <p:cNvPr id="29" name="Text 27"/>
          <p:cNvSpPr/>
          <p:nvPr/>
        </p:nvSpPr>
        <p:spPr>
          <a:xfrm>
            <a:off x="3355848" y="2862072"/>
            <a:ext cx="749808"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5</a:t>
            </a:r>
            <a:endParaRPr lang="en-US" sz="970" dirty="0"/>
          </a:p>
        </p:txBody>
      </p:sp>
      <p:sp>
        <p:nvSpPr>
          <p:cNvPr id="30" name="Text 28"/>
          <p:cNvSpPr/>
          <p:nvPr/>
        </p:nvSpPr>
        <p:spPr>
          <a:xfrm>
            <a:off x="4197096" y="2862072"/>
            <a:ext cx="969264"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75</a:t>
            </a:r>
            <a:endParaRPr lang="en-US" sz="970" dirty="0"/>
          </a:p>
        </p:txBody>
      </p:sp>
      <p:sp>
        <p:nvSpPr>
          <p:cNvPr id="31" name="Text 29"/>
          <p:cNvSpPr/>
          <p:nvPr/>
        </p:nvSpPr>
        <p:spPr>
          <a:xfrm>
            <a:off x="5257800" y="2862072"/>
            <a:ext cx="1234440" cy="146304"/>
          </a:xfrm>
          <a:prstGeom prst="rect">
            <a:avLst/>
          </a:prstGeom>
          <a:noFill/>
          <a:ln/>
        </p:spPr>
        <p:txBody>
          <a:bodyPr wrap="square" lIns="0" tIns="0" rIns="0" bIns="0" rtlCol="0" anchor="ctr">
            <a:normAutofit/>
          </a:bodyPr>
          <a:lstStyle/>
          <a:p>
            <a:pPr algn="ctr" indent="0" marL="0">
              <a:buNone/>
            </a:pPr>
            <a:r>
              <a:rPr lang="en-US" sz="970" dirty="0">
                <a:solidFill>
                  <a:srgbClr val="495057"/>
                </a:solidFill>
                <a:latin typeface="Arial" pitchFamily="34" charset="0"/>
                <a:ea typeface="Arial" pitchFamily="34" charset="-122"/>
                <a:cs typeface="Arial" pitchFamily="34" charset="-120"/>
              </a:rPr>
              <a:t>3,500</a:t>
            </a:r>
            <a:endParaRPr lang="en-US" sz="970" dirty="0"/>
          </a:p>
        </p:txBody>
      </p:sp>
      <p:sp>
        <p:nvSpPr>
          <p:cNvPr id="32" name="Shape 30"/>
          <p:cNvSpPr/>
          <p:nvPr/>
        </p:nvSpPr>
        <p:spPr>
          <a:xfrm>
            <a:off x="749808" y="3172968"/>
            <a:ext cx="6400800" cy="438912"/>
          </a:xfrm>
          <a:prstGeom prst="rect">
            <a:avLst/>
          </a:prstGeom>
          <a:solidFill>
            <a:srgbClr val="E7F5FF"/>
          </a:solidFill>
          <a:ln w="7620">
            <a:solidFill>
              <a:srgbClr val="DDE3EA"/>
            </a:solidFill>
            <a:prstDash val="solid"/>
          </a:ln>
        </p:spPr>
      </p:sp>
      <p:sp>
        <p:nvSpPr>
          <p:cNvPr id="33" name="Text 31"/>
          <p:cNvSpPr/>
          <p:nvPr/>
        </p:nvSpPr>
        <p:spPr>
          <a:xfrm>
            <a:off x="795528" y="3300984"/>
            <a:ext cx="1417320" cy="146304"/>
          </a:xfrm>
          <a:prstGeom prst="rect">
            <a:avLst/>
          </a:prstGeom>
          <a:noFill/>
          <a:ln/>
        </p:spPr>
        <p:txBody>
          <a:bodyPr wrap="square" lIns="0" tIns="0" rIns="0" bIns="0" rtlCol="0" anchor="ctr">
            <a:normAutofit/>
          </a:bodyPr>
          <a:lstStyle/>
          <a:p>
            <a:pPr algn="l" indent="0" marL="0">
              <a:buNone/>
            </a:pPr>
            <a:r>
              <a:rPr lang="en-US" sz="970" b="1" dirty="0">
                <a:solidFill>
                  <a:srgbClr val="495057"/>
                </a:solidFill>
                <a:latin typeface="Arial" pitchFamily="34" charset="0"/>
                <a:ea typeface="Arial" pitchFamily="34" charset="-122"/>
                <a:cs typeface="Arial" pitchFamily="34" charset="-120"/>
              </a:rPr>
              <a:t>Total</a:t>
            </a:r>
            <a:endParaRPr lang="en-US" sz="970" dirty="0"/>
          </a:p>
        </p:txBody>
      </p:sp>
      <p:sp>
        <p:nvSpPr>
          <p:cNvPr id="34" name="Text 32"/>
          <p:cNvSpPr/>
          <p:nvPr/>
        </p:nvSpPr>
        <p:spPr>
          <a:xfrm>
            <a:off x="2304288" y="3300984"/>
            <a:ext cx="960120" cy="146304"/>
          </a:xfrm>
          <a:prstGeom prst="rect">
            <a:avLst/>
          </a:prstGeom>
          <a:noFill/>
          <a:ln/>
        </p:spPr>
        <p:txBody>
          <a:bodyPr wrap="square" lIns="0" tIns="0" rIns="0" bIns="0" rtlCol="0" anchor="ctr">
            <a:normAutofit/>
          </a:bodyPr>
          <a:lstStyle/>
          <a:p>
            <a:pPr algn="ctr" indent="0" marL="0">
              <a:buNone/>
            </a:pPr>
            <a:r>
              <a:rPr lang="en-US" sz="970" b="1" dirty="0">
                <a:solidFill>
                  <a:srgbClr val="495057"/>
                </a:solidFill>
                <a:latin typeface="Arial" pitchFamily="34" charset="0"/>
                <a:ea typeface="Arial" pitchFamily="34" charset="-122"/>
                <a:cs typeface="Arial" pitchFamily="34" charset="-120"/>
              </a:rPr>
              <a:t>95</a:t>
            </a:r>
            <a:endParaRPr lang="en-US" sz="970" dirty="0"/>
          </a:p>
        </p:txBody>
      </p:sp>
      <p:sp>
        <p:nvSpPr>
          <p:cNvPr id="35" name="Text 33"/>
          <p:cNvSpPr/>
          <p:nvPr/>
        </p:nvSpPr>
        <p:spPr>
          <a:xfrm>
            <a:off x="3355848" y="3300984"/>
            <a:ext cx="749808" cy="146304"/>
          </a:xfrm>
          <a:prstGeom prst="rect">
            <a:avLst/>
          </a:prstGeom>
          <a:noFill/>
          <a:ln/>
        </p:spPr>
        <p:txBody>
          <a:bodyPr wrap="square" lIns="0" tIns="0" rIns="0" bIns="0" rtlCol="0" anchor="ctr">
            <a:normAutofit/>
          </a:bodyPr>
          <a:lstStyle/>
          <a:p>
            <a:pPr algn="ctr" indent="0" marL="0">
              <a:buNone/>
            </a:pPr>
            <a:r>
              <a:rPr lang="en-US" sz="970" b="1" dirty="0">
                <a:solidFill>
                  <a:srgbClr val="495057"/>
                </a:solidFill>
                <a:latin typeface="Arial" pitchFamily="34" charset="0"/>
                <a:ea typeface="Arial" pitchFamily="34" charset="-122"/>
                <a:cs typeface="Arial" pitchFamily="34" charset="-120"/>
              </a:rPr>
              <a:t>—</a:t>
            </a:r>
            <a:endParaRPr lang="en-US" sz="970" dirty="0"/>
          </a:p>
        </p:txBody>
      </p:sp>
      <p:sp>
        <p:nvSpPr>
          <p:cNvPr id="36" name="Text 34"/>
          <p:cNvSpPr/>
          <p:nvPr/>
        </p:nvSpPr>
        <p:spPr>
          <a:xfrm>
            <a:off x="4197096" y="3300984"/>
            <a:ext cx="969264" cy="146304"/>
          </a:xfrm>
          <a:prstGeom prst="rect">
            <a:avLst/>
          </a:prstGeom>
          <a:noFill/>
          <a:ln/>
        </p:spPr>
        <p:txBody>
          <a:bodyPr wrap="square" lIns="0" tIns="0" rIns="0" bIns="0" rtlCol="0" anchor="ctr">
            <a:normAutofit/>
          </a:bodyPr>
          <a:lstStyle/>
          <a:p>
            <a:pPr algn="ctr" indent="0" marL="0">
              <a:buNone/>
            </a:pPr>
            <a:r>
              <a:rPr lang="en-US" sz="970" b="1" dirty="0">
                <a:solidFill>
                  <a:srgbClr val="495057"/>
                </a:solidFill>
                <a:latin typeface="Arial" pitchFamily="34" charset="0"/>
                <a:ea typeface="Arial" pitchFamily="34" charset="-122"/>
                <a:cs typeface="Arial" pitchFamily="34" charset="-120"/>
              </a:rPr>
              <a:t>475</a:t>
            </a:r>
            <a:endParaRPr lang="en-US" sz="970" dirty="0"/>
          </a:p>
        </p:txBody>
      </p:sp>
      <p:sp>
        <p:nvSpPr>
          <p:cNvPr id="37" name="Text 35"/>
          <p:cNvSpPr/>
          <p:nvPr/>
        </p:nvSpPr>
        <p:spPr>
          <a:xfrm>
            <a:off x="5257800" y="3300984"/>
            <a:ext cx="1234440" cy="146304"/>
          </a:xfrm>
          <a:prstGeom prst="rect">
            <a:avLst/>
          </a:prstGeom>
          <a:noFill/>
          <a:ln/>
        </p:spPr>
        <p:txBody>
          <a:bodyPr wrap="square" lIns="0" tIns="0" rIns="0" bIns="0" rtlCol="0" anchor="ctr">
            <a:normAutofit/>
          </a:bodyPr>
          <a:lstStyle/>
          <a:p>
            <a:pPr algn="ctr" indent="0" marL="0">
              <a:buNone/>
            </a:pPr>
            <a:r>
              <a:rPr lang="en-US" sz="970" b="1" dirty="0">
                <a:solidFill>
                  <a:srgbClr val="495057"/>
                </a:solidFill>
                <a:latin typeface="Arial" pitchFamily="34" charset="0"/>
                <a:ea typeface="Arial" pitchFamily="34" charset="-122"/>
                <a:cs typeface="Arial" pitchFamily="34" charset="-120"/>
              </a:rPr>
              <a:t>—</a:t>
            </a:r>
            <a:endParaRPr lang="en-US" sz="970" dirty="0"/>
          </a:p>
        </p:txBody>
      </p:sp>
      <p:sp>
        <p:nvSpPr>
          <p:cNvPr id="38" name="Text 36"/>
          <p:cNvSpPr/>
          <p:nvPr/>
        </p:nvSpPr>
        <p:spPr>
          <a:xfrm>
            <a:off x="7571232" y="1417320"/>
            <a:ext cx="3108960" cy="237744"/>
          </a:xfrm>
          <a:prstGeom prst="rect">
            <a:avLst/>
          </a:prstGeom>
          <a:noFill/>
          <a:ln/>
        </p:spPr>
        <p:txBody>
          <a:bodyPr wrap="square" lIns="0" tIns="0" rIns="0" bIns="0" rtlCol="0" anchor="ctr"/>
          <a:lstStyle/>
          <a:p>
            <a:pPr indent="0" marL="0">
              <a:buNone/>
            </a:pPr>
            <a:r>
              <a:rPr lang="en-US" sz="1420" b="1" dirty="0">
                <a:solidFill>
                  <a:srgbClr val="0B132B"/>
                </a:solidFill>
                <a:latin typeface="Arial" pitchFamily="34" charset="0"/>
                <a:ea typeface="Arial" pitchFamily="34" charset="-122"/>
                <a:cs typeface="Arial" pitchFamily="34" charset="-120"/>
              </a:rPr>
              <a:t>Why these models?</a:t>
            </a:r>
            <a:endParaRPr lang="en-US" sz="1420" dirty="0"/>
          </a:p>
        </p:txBody>
      </p:sp>
      <p:sp>
        <p:nvSpPr>
          <p:cNvPr id="39" name="Text 37"/>
          <p:cNvSpPr/>
          <p:nvPr/>
        </p:nvSpPr>
        <p:spPr>
          <a:xfrm>
            <a:off x="7571232" y="1810512"/>
            <a:ext cx="3291840" cy="1463040"/>
          </a:xfrm>
          <a:prstGeom prst="rect">
            <a:avLst/>
          </a:prstGeom>
          <a:noFill/>
          <a:ln/>
        </p:spPr>
        <p:txBody>
          <a:bodyPr wrap="square" lIns="508" tIns="508" rIns="508" bIns="508" rtlCol="0" anchor="t">
            <a:normAutofit/>
          </a:bodyPr>
          <a:lstStyle/>
          <a:p>
            <a:pPr indent="0" marL="0">
              <a:buNone/>
            </a:pPr>
            <a:r>
              <a:rPr lang="en-US" sz="1140" dirty="0">
                <a:solidFill>
                  <a:srgbClr val="495057"/>
                </a:solidFill>
                <a:latin typeface="Arial" pitchFamily="34" charset="0"/>
                <a:ea typeface="Arial" pitchFamily="34" charset="-122"/>
                <a:cs typeface="Arial" pitchFamily="34" charset="-120"/>
              </a:rPr>
              <a:t>• Strong baselines for tabular regression.</a:t>
            </a:r>
            <a:endParaRPr lang="en-US" sz="1140" dirty="0"/>
          </a:p>
          <a:p>
            <a:pPr indent="0" marL="0">
              <a:buNone/>
            </a:pPr>
            <a:r>
              <a:rPr lang="en-US" sz="1140" dirty="0">
                <a:solidFill>
                  <a:srgbClr val="495057"/>
                </a:solidFill>
                <a:latin typeface="Arial" pitchFamily="34" charset="0"/>
                <a:ea typeface="Arial" pitchFamily="34" charset="-122"/>
                <a:cs typeface="Arial" pitchFamily="34" charset="-120"/>
              </a:rPr>
              <a:t>• Capture nonlinear interactions without manual interaction enumeration.</a:t>
            </a:r>
            <a:endParaRPr lang="en-US" sz="1140" dirty="0"/>
          </a:p>
          <a:p>
            <a:pPr indent="0" marL="0">
              <a:buNone/>
            </a:pPr>
            <a:r>
              <a:rPr lang="en-US" sz="1140" dirty="0">
                <a:solidFill>
                  <a:srgbClr val="495057"/>
                </a:solidFill>
                <a:latin typeface="Arial" pitchFamily="34" charset="0"/>
                <a:ea typeface="Arial" pitchFamily="34" charset="-122"/>
                <a:cs typeface="Arial" pitchFamily="34" charset="-120"/>
              </a:rPr>
              <a:t>• Support regularization, early stopping and robust validation.</a:t>
            </a:r>
            <a:endParaRPr lang="en-US" sz="1140" dirty="0"/>
          </a:p>
          <a:p>
            <a:pPr indent="0" marL="0">
              <a:buNone/>
            </a:pPr>
            <a:r>
              <a:rPr lang="en-US" sz="1140" dirty="0">
                <a:solidFill>
                  <a:srgbClr val="495057"/>
                </a:solidFill>
                <a:latin typeface="Arial" pitchFamily="34" charset="0"/>
                <a:ea typeface="Arial" pitchFamily="34" charset="-122"/>
                <a:cs typeface="Arial" pitchFamily="34" charset="-120"/>
              </a:rPr>
              <a:t>• Different model biases make ensemble averaging useful.</a:t>
            </a:r>
            <a:endParaRPr lang="en-US" sz="1140" dirty="0"/>
          </a:p>
        </p:txBody>
      </p:sp>
      <p:sp>
        <p:nvSpPr>
          <p:cNvPr id="40" name="Shape 38"/>
          <p:cNvSpPr/>
          <p:nvPr/>
        </p:nvSpPr>
        <p:spPr>
          <a:xfrm>
            <a:off x="822960" y="4343400"/>
            <a:ext cx="9966960" cy="960120"/>
          </a:xfrm>
          <a:prstGeom prst="roundRect">
            <a:avLst>
              <a:gd name="adj" fmla="val 8571"/>
            </a:avLst>
          </a:prstGeom>
          <a:solidFill>
            <a:srgbClr val="E6FCF5"/>
          </a:solidFill>
          <a:ln w="12700">
            <a:solidFill>
              <a:srgbClr val="DDE3EA"/>
            </a:solidFill>
            <a:prstDash val="solid"/>
          </a:ln>
        </p:spPr>
      </p:sp>
      <p:sp>
        <p:nvSpPr>
          <p:cNvPr id="41" name="Text 39"/>
          <p:cNvSpPr/>
          <p:nvPr/>
        </p:nvSpPr>
        <p:spPr>
          <a:xfrm>
            <a:off x="1024128" y="4489704"/>
            <a:ext cx="956462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Training discipline</a:t>
            </a:r>
            <a:endParaRPr lang="en-US" sz="1200" dirty="0"/>
          </a:p>
        </p:txBody>
      </p:sp>
      <p:sp>
        <p:nvSpPr>
          <p:cNvPr id="42" name="Text 40"/>
          <p:cNvSpPr/>
          <p:nvPr/>
        </p:nvSpPr>
        <p:spPr>
          <a:xfrm>
            <a:off x="1024128" y="4818888"/>
            <a:ext cx="9564624" cy="35661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Hyperparameters are tuned by Optuna on cross-validation; final models are refit with three deterministic seeds and then combined with non-negative optimized weights.</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EVIDENCE THAT ENGINEERED FEATURES CARRY PREDICTIVE SIGNAL</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Validation comparison: models versus baseline</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09</a:t>
            </a:r>
            <a:endParaRPr lang="en-US" sz="950" dirty="0"/>
          </a:p>
        </p:txBody>
      </p:sp>
      <p:graphicFrame>
        <p:nvGraphicFramePr>
          <p:cNvPr id="8" name="Chart 0" descr=""/>
          <p:cNvGraphicFramePr/>
          <p:nvPr/>
        </p:nvGraphicFramePr>
        <p:xfrm>
          <a:off x="777240" y="1417320"/>
          <a:ext cx="5989320"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333488" y="1444752"/>
            <a:ext cx="2468880" cy="914400"/>
          </a:xfrm>
          <a:prstGeom prst="roundRect">
            <a:avLst>
              <a:gd name="adj" fmla="val 9000"/>
            </a:avLst>
          </a:prstGeom>
          <a:solidFill>
            <a:srgbClr val="FFFFFF"/>
          </a:solidFill>
          <a:ln w="12700">
            <a:solidFill>
              <a:srgbClr val="DDE3EA"/>
            </a:solidFill>
            <a:prstDash val="solid"/>
          </a:ln>
        </p:spPr>
      </p:sp>
      <p:sp>
        <p:nvSpPr>
          <p:cNvPr id="10" name="Shape 7"/>
          <p:cNvSpPr/>
          <p:nvPr/>
        </p:nvSpPr>
        <p:spPr>
          <a:xfrm>
            <a:off x="7333488" y="1444752"/>
            <a:ext cx="64008" cy="914400"/>
          </a:xfrm>
          <a:prstGeom prst="rect">
            <a:avLst/>
          </a:prstGeom>
          <a:solidFill>
            <a:srgbClr val="12B886"/>
          </a:solidFill>
          <a:ln w="12700">
            <a:solidFill>
              <a:srgbClr val="12B886">
                <a:alpha val="0"/>
              </a:srgbClr>
            </a:solidFill>
            <a:prstDash val="solid"/>
          </a:ln>
        </p:spPr>
      </p:sp>
      <p:sp>
        <p:nvSpPr>
          <p:cNvPr id="11" name="Text 8"/>
          <p:cNvSpPr/>
          <p:nvPr/>
        </p:nvSpPr>
        <p:spPr>
          <a:xfrm>
            <a:off x="7534656" y="1554480"/>
            <a:ext cx="2176272" cy="329184"/>
          </a:xfrm>
          <a:prstGeom prst="rect">
            <a:avLst/>
          </a:prstGeom>
          <a:noFill/>
          <a:ln/>
        </p:spPr>
        <p:txBody>
          <a:bodyPr wrap="square" lIns="0" tIns="0" rIns="0" bIns="0" rtlCol="0" anchor="ctr">
            <a:normAutofit/>
          </a:bodyPr>
          <a:lstStyle/>
          <a:p>
            <a:pPr indent="0" marL="0">
              <a:buNone/>
            </a:pPr>
            <a:r>
              <a:rPr lang="en-US" sz="2000" b="1" dirty="0">
                <a:solidFill>
                  <a:srgbClr val="12B886"/>
                </a:solidFill>
                <a:latin typeface="Arial" pitchFamily="34" charset="0"/>
                <a:ea typeface="Arial" pitchFamily="34" charset="-122"/>
                <a:cs typeface="Arial" pitchFamily="34" charset="-120"/>
              </a:rPr>
              <a:t>0.3560</a:t>
            </a:r>
            <a:endParaRPr lang="en-US" sz="2000" dirty="0"/>
          </a:p>
        </p:txBody>
      </p:sp>
      <p:sp>
        <p:nvSpPr>
          <p:cNvPr id="12" name="Text 9"/>
          <p:cNvSpPr/>
          <p:nvPr/>
        </p:nvSpPr>
        <p:spPr>
          <a:xfrm>
            <a:off x="7534656" y="1938528"/>
            <a:ext cx="217627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best validation RMSE_log</a:t>
            </a:r>
            <a:endParaRPr lang="en-US" sz="1000" dirty="0"/>
          </a:p>
        </p:txBody>
      </p:sp>
      <p:sp>
        <p:nvSpPr>
          <p:cNvPr id="13" name="Text 10"/>
          <p:cNvSpPr/>
          <p:nvPr/>
        </p:nvSpPr>
        <p:spPr>
          <a:xfrm>
            <a:off x="7534656" y="2167128"/>
            <a:ext cx="2176272" cy="14630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weighted ensemble</a:t>
            </a:r>
            <a:endParaRPr lang="en-US" sz="800" dirty="0"/>
          </a:p>
        </p:txBody>
      </p:sp>
      <p:sp>
        <p:nvSpPr>
          <p:cNvPr id="14" name="Shape 11"/>
          <p:cNvSpPr/>
          <p:nvPr/>
        </p:nvSpPr>
        <p:spPr>
          <a:xfrm>
            <a:off x="7333488" y="2578608"/>
            <a:ext cx="2468880" cy="914400"/>
          </a:xfrm>
          <a:prstGeom prst="roundRect">
            <a:avLst>
              <a:gd name="adj" fmla="val 9000"/>
            </a:avLst>
          </a:prstGeom>
          <a:solidFill>
            <a:srgbClr val="FFFFFF"/>
          </a:solidFill>
          <a:ln w="12700">
            <a:solidFill>
              <a:srgbClr val="DDE3EA"/>
            </a:solidFill>
            <a:prstDash val="solid"/>
          </a:ln>
        </p:spPr>
      </p:sp>
      <p:sp>
        <p:nvSpPr>
          <p:cNvPr id="15" name="Shape 12"/>
          <p:cNvSpPr/>
          <p:nvPr/>
        </p:nvSpPr>
        <p:spPr>
          <a:xfrm>
            <a:off x="7333488" y="2578608"/>
            <a:ext cx="64008" cy="914400"/>
          </a:xfrm>
          <a:prstGeom prst="rect">
            <a:avLst/>
          </a:prstGeom>
          <a:solidFill>
            <a:srgbClr val="D6336C"/>
          </a:solidFill>
          <a:ln w="12700">
            <a:solidFill>
              <a:srgbClr val="D6336C">
                <a:alpha val="0"/>
              </a:srgbClr>
            </a:solidFill>
            <a:prstDash val="solid"/>
          </a:ln>
        </p:spPr>
      </p:sp>
      <p:sp>
        <p:nvSpPr>
          <p:cNvPr id="16" name="Text 13"/>
          <p:cNvSpPr/>
          <p:nvPr/>
        </p:nvSpPr>
        <p:spPr>
          <a:xfrm>
            <a:off x="7534656" y="2688336"/>
            <a:ext cx="2176272" cy="329184"/>
          </a:xfrm>
          <a:prstGeom prst="rect">
            <a:avLst/>
          </a:prstGeom>
          <a:noFill/>
          <a:ln/>
        </p:spPr>
        <p:txBody>
          <a:bodyPr wrap="square" lIns="0" tIns="0" rIns="0" bIns="0" rtlCol="0" anchor="ctr">
            <a:normAutofit/>
          </a:bodyPr>
          <a:lstStyle/>
          <a:p>
            <a:pPr indent="0" marL="0">
              <a:buNone/>
            </a:pPr>
            <a:r>
              <a:rPr lang="en-US" sz="2000" b="1" dirty="0">
                <a:solidFill>
                  <a:srgbClr val="D6336C"/>
                </a:solidFill>
                <a:latin typeface="Arial" pitchFamily="34" charset="0"/>
                <a:ea typeface="Arial" pitchFamily="34" charset="-122"/>
                <a:cs typeface="Arial" pitchFamily="34" charset="-120"/>
              </a:rPr>
              <a:t>0.9335</a:t>
            </a:r>
            <a:endParaRPr lang="en-US" sz="2000" dirty="0"/>
          </a:p>
        </p:txBody>
      </p:sp>
      <p:sp>
        <p:nvSpPr>
          <p:cNvPr id="17" name="Text 14"/>
          <p:cNvSpPr/>
          <p:nvPr/>
        </p:nvSpPr>
        <p:spPr>
          <a:xfrm>
            <a:off x="7534656" y="3072384"/>
            <a:ext cx="217627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dummy baseline RMSE_log</a:t>
            </a:r>
            <a:endParaRPr lang="en-US" sz="1000" dirty="0"/>
          </a:p>
        </p:txBody>
      </p:sp>
      <p:sp>
        <p:nvSpPr>
          <p:cNvPr id="18" name="Text 15"/>
          <p:cNvSpPr/>
          <p:nvPr/>
        </p:nvSpPr>
        <p:spPr>
          <a:xfrm>
            <a:off x="7534656" y="3300984"/>
            <a:ext cx="2176272" cy="14630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median predictor</a:t>
            </a:r>
            <a:endParaRPr lang="en-US" sz="800" dirty="0"/>
          </a:p>
        </p:txBody>
      </p:sp>
      <p:sp>
        <p:nvSpPr>
          <p:cNvPr id="19" name="Shape 16"/>
          <p:cNvSpPr/>
          <p:nvPr/>
        </p:nvSpPr>
        <p:spPr>
          <a:xfrm>
            <a:off x="7333488" y="3712464"/>
            <a:ext cx="2468880" cy="914400"/>
          </a:xfrm>
          <a:prstGeom prst="roundRect">
            <a:avLst>
              <a:gd name="adj" fmla="val 9000"/>
            </a:avLst>
          </a:prstGeom>
          <a:solidFill>
            <a:srgbClr val="FFFFFF"/>
          </a:solidFill>
          <a:ln w="12700">
            <a:solidFill>
              <a:srgbClr val="DDE3EA"/>
            </a:solidFill>
            <a:prstDash val="solid"/>
          </a:ln>
        </p:spPr>
      </p:sp>
      <p:sp>
        <p:nvSpPr>
          <p:cNvPr id="20" name="Shape 17"/>
          <p:cNvSpPr/>
          <p:nvPr/>
        </p:nvSpPr>
        <p:spPr>
          <a:xfrm>
            <a:off x="7333488" y="3712464"/>
            <a:ext cx="64008" cy="914400"/>
          </a:xfrm>
          <a:prstGeom prst="rect">
            <a:avLst/>
          </a:prstGeom>
          <a:solidFill>
            <a:srgbClr val="F59F00"/>
          </a:solidFill>
          <a:ln w="12700">
            <a:solidFill>
              <a:srgbClr val="F59F00">
                <a:alpha val="0"/>
              </a:srgbClr>
            </a:solidFill>
            <a:prstDash val="solid"/>
          </a:ln>
        </p:spPr>
      </p:sp>
      <p:sp>
        <p:nvSpPr>
          <p:cNvPr id="21" name="Text 18"/>
          <p:cNvSpPr/>
          <p:nvPr/>
        </p:nvSpPr>
        <p:spPr>
          <a:xfrm>
            <a:off x="7534656" y="3822192"/>
            <a:ext cx="2176272" cy="329184"/>
          </a:xfrm>
          <a:prstGeom prst="rect">
            <a:avLst/>
          </a:prstGeom>
          <a:noFill/>
          <a:ln/>
        </p:spPr>
        <p:txBody>
          <a:bodyPr wrap="square" lIns="0" tIns="0" rIns="0" bIns="0" rtlCol="0" anchor="ctr">
            <a:normAutofit/>
          </a:bodyPr>
          <a:lstStyle/>
          <a:p>
            <a:pPr indent="0" marL="0">
              <a:buNone/>
            </a:pPr>
            <a:r>
              <a:rPr lang="en-US" sz="2000" b="1" dirty="0">
                <a:solidFill>
                  <a:srgbClr val="F59F00"/>
                </a:solidFill>
                <a:latin typeface="Arial" pitchFamily="34" charset="0"/>
                <a:ea typeface="Arial" pitchFamily="34" charset="-122"/>
                <a:cs typeface="Arial" pitchFamily="34" charset="-120"/>
              </a:rPr>
              <a:t>≈62%</a:t>
            </a:r>
            <a:endParaRPr lang="en-US" sz="2000" dirty="0"/>
          </a:p>
        </p:txBody>
      </p:sp>
      <p:sp>
        <p:nvSpPr>
          <p:cNvPr id="22" name="Text 19"/>
          <p:cNvSpPr/>
          <p:nvPr/>
        </p:nvSpPr>
        <p:spPr>
          <a:xfrm>
            <a:off x="7534656" y="4206240"/>
            <a:ext cx="217627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RMSE reduction vs dummy</a:t>
            </a:r>
            <a:endParaRPr lang="en-US" sz="1000" dirty="0"/>
          </a:p>
        </p:txBody>
      </p:sp>
      <p:sp>
        <p:nvSpPr>
          <p:cNvPr id="23" name="Text 20"/>
          <p:cNvSpPr/>
          <p:nvPr/>
        </p:nvSpPr>
        <p:spPr>
          <a:xfrm>
            <a:off x="7534656" y="4434840"/>
            <a:ext cx="2176272" cy="14630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validation scale</a:t>
            </a:r>
            <a:endParaRPr lang="en-US" sz="800" dirty="0"/>
          </a:p>
        </p:txBody>
      </p:sp>
      <p:sp>
        <p:nvSpPr>
          <p:cNvPr id="24" name="Text 21"/>
          <p:cNvSpPr/>
          <p:nvPr/>
        </p:nvSpPr>
        <p:spPr>
          <a:xfrm>
            <a:off x="868680" y="5577840"/>
            <a:ext cx="9784080" cy="329184"/>
          </a:xfrm>
          <a:prstGeom prst="rect">
            <a:avLst/>
          </a:prstGeom>
          <a:noFill/>
          <a:ln/>
        </p:spPr>
        <p:txBody>
          <a:bodyPr wrap="square" lIns="0" tIns="0" rIns="0" bIns="0" rtlCol="0" anchor="ctr">
            <a:normAutofit/>
          </a:bodyPr>
          <a:lstStyle/>
          <a:p>
            <a:pPr indent="0" marL="0">
              <a:buNone/>
            </a:pPr>
            <a:r>
              <a:rPr lang="en-US" sz="1320" b="1" dirty="0">
                <a:solidFill>
                  <a:srgbClr val="0B132B"/>
                </a:solidFill>
                <a:latin typeface="Arial" pitchFamily="34" charset="0"/>
                <a:ea typeface="Arial" pitchFamily="34" charset="-122"/>
                <a:cs typeface="Arial" pitchFamily="34" charset="-120"/>
              </a:rPr>
              <a:t>Interpretation: all tuned boosters beat the median baseline by a wide margin; the ensemble gives the best validation RMSE and is selected for the final test.</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THREE FAMILIES × THREE SEEDS = NINE COMPONENT PREDICTORS</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Final ensemble architecture</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10</a:t>
            </a:r>
            <a:endParaRPr lang="en-US" sz="950" dirty="0"/>
          </a:p>
        </p:txBody>
      </p:sp>
      <p:graphicFrame>
        <p:nvGraphicFramePr>
          <p:cNvPr id="8" name="Chart 0" descr=""/>
          <p:cNvGraphicFramePr/>
          <p:nvPr/>
        </p:nvGraphicFramePr>
        <p:xfrm>
          <a:off x="731520" y="1417320"/>
          <a:ext cx="4800600" cy="32918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080760" y="1417320"/>
            <a:ext cx="4480560" cy="777240"/>
          </a:xfrm>
          <a:prstGeom prst="roundRect">
            <a:avLst>
              <a:gd name="adj" fmla="val 10588"/>
            </a:avLst>
          </a:prstGeom>
          <a:solidFill>
            <a:srgbClr val="E6FCF5"/>
          </a:solidFill>
          <a:ln w="12700">
            <a:solidFill>
              <a:srgbClr val="DDE3EA"/>
            </a:solidFill>
            <a:prstDash val="solid"/>
          </a:ln>
        </p:spPr>
      </p:sp>
      <p:sp>
        <p:nvSpPr>
          <p:cNvPr id="10" name="Text 7"/>
          <p:cNvSpPr/>
          <p:nvPr/>
        </p:nvSpPr>
        <p:spPr>
          <a:xfrm>
            <a:off x="6281928" y="1563624"/>
            <a:ext cx="407822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LightGBM family</a:t>
            </a:r>
            <a:endParaRPr lang="en-US" sz="1200" dirty="0"/>
          </a:p>
        </p:txBody>
      </p:sp>
      <p:sp>
        <p:nvSpPr>
          <p:cNvPr id="11" name="Text 8"/>
          <p:cNvSpPr/>
          <p:nvPr/>
        </p:nvSpPr>
        <p:spPr>
          <a:xfrm>
            <a:off x="6281928" y="1892808"/>
            <a:ext cx="4078224" cy="1737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Weight 0.38382 split equally across seeds 42, 2027 and 31415.</a:t>
            </a:r>
            <a:endParaRPr lang="en-US" sz="1020" dirty="0"/>
          </a:p>
        </p:txBody>
      </p:sp>
      <p:sp>
        <p:nvSpPr>
          <p:cNvPr id="12" name="Shape 9"/>
          <p:cNvSpPr/>
          <p:nvPr/>
        </p:nvSpPr>
        <p:spPr>
          <a:xfrm>
            <a:off x="6080760" y="2450592"/>
            <a:ext cx="4480560" cy="777240"/>
          </a:xfrm>
          <a:prstGeom prst="roundRect">
            <a:avLst>
              <a:gd name="adj" fmla="val 10588"/>
            </a:avLst>
          </a:prstGeom>
          <a:solidFill>
            <a:srgbClr val="FFF4E6"/>
          </a:solidFill>
          <a:ln w="12700">
            <a:solidFill>
              <a:srgbClr val="DDE3EA"/>
            </a:solidFill>
            <a:prstDash val="solid"/>
          </a:ln>
        </p:spPr>
      </p:sp>
      <p:sp>
        <p:nvSpPr>
          <p:cNvPr id="13" name="Text 10"/>
          <p:cNvSpPr/>
          <p:nvPr/>
        </p:nvSpPr>
        <p:spPr>
          <a:xfrm>
            <a:off x="6281928" y="2596896"/>
            <a:ext cx="407822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CatBoost family</a:t>
            </a:r>
            <a:endParaRPr lang="en-US" sz="1200" dirty="0"/>
          </a:p>
        </p:txBody>
      </p:sp>
      <p:sp>
        <p:nvSpPr>
          <p:cNvPr id="14" name="Text 11"/>
          <p:cNvSpPr/>
          <p:nvPr/>
        </p:nvSpPr>
        <p:spPr>
          <a:xfrm>
            <a:off x="6281928" y="2926080"/>
            <a:ext cx="4078224" cy="1737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Weight 0.32215 split equally across seeds 42, 2027 and 31415.</a:t>
            </a:r>
            <a:endParaRPr lang="en-US" sz="1020" dirty="0"/>
          </a:p>
        </p:txBody>
      </p:sp>
      <p:sp>
        <p:nvSpPr>
          <p:cNvPr id="15" name="Shape 12"/>
          <p:cNvSpPr/>
          <p:nvPr/>
        </p:nvSpPr>
        <p:spPr>
          <a:xfrm>
            <a:off x="6080760" y="3483864"/>
            <a:ext cx="4480560" cy="777240"/>
          </a:xfrm>
          <a:prstGeom prst="roundRect">
            <a:avLst>
              <a:gd name="adj" fmla="val 10588"/>
            </a:avLst>
          </a:prstGeom>
          <a:solidFill>
            <a:srgbClr val="E7F5FF"/>
          </a:solidFill>
          <a:ln w="12700">
            <a:solidFill>
              <a:srgbClr val="DDE3EA"/>
            </a:solidFill>
            <a:prstDash val="solid"/>
          </a:ln>
        </p:spPr>
      </p:sp>
      <p:sp>
        <p:nvSpPr>
          <p:cNvPr id="16" name="Text 13"/>
          <p:cNvSpPr/>
          <p:nvPr/>
        </p:nvSpPr>
        <p:spPr>
          <a:xfrm>
            <a:off x="6281928" y="3630168"/>
            <a:ext cx="407822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XGBoost family</a:t>
            </a:r>
            <a:endParaRPr lang="en-US" sz="1200" dirty="0"/>
          </a:p>
        </p:txBody>
      </p:sp>
      <p:sp>
        <p:nvSpPr>
          <p:cNvPr id="17" name="Text 14"/>
          <p:cNvSpPr/>
          <p:nvPr/>
        </p:nvSpPr>
        <p:spPr>
          <a:xfrm>
            <a:off x="6281928" y="3959352"/>
            <a:ext cx="4078224" cy="1737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Weight 0.29403 split equally across seeds 42, 2027 and 31415.</a:t>
            </a:r>
            <a:endParaRPr lang="en-US" sz="1020" dirty="0"/>
          </a:p>
        </p:txBody>
      </p:sp>
      <p:sp>
        <p:nvSpPr>
          <p:cNvPr id="18" name="Shape 15"/>
          <p:cNvSpPr/>
          <p:nvPr/>
        </p:nvSpPr>
        <p:spPr>
          <a:xfrm>
            <a:off x="6080760" y="4517136"/>
            <a:ext cx="4480560" cy="777240"/>
          </a:xfrm>
          <a:prstGeom prst="roundRect">
            <a:avLst>
              <a:gd name="adj" fmla="val 10588"/>
            </a:avLst>
          </a:prstGeom>
          <a:solidFill>
            <a:srgbClr val="FFF0F6"/>
          </a:solidFill>
          <a:ln w="12700">
            <a:solidFill>
              <a:srgbClr val="DDE3EA"/>
            </a:solidFill>
            <a:prstDash val="solid"/>
          </a:ln>
        </p:spPr>
      </p:sp>
      <p:sp>
        <p:nvSpPr>
          <p:cNvPr id="19" name="Text 16"/>
          <p:cNvSpPr/>
          <p:nvPr/>
        </p:nvSpPr>
        <p:spPr>
          <a:xfrm>
            <a:off x="6281928" y="4663440"/>
            <a:ext cx="407822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Post-processing</a:t>
            </a:r>
            <a:endParaRPr lang="en-US" sz="1200" dirty="0"/>
          </a:p>
        </p:txBody>
      </p:sp>
      <p:sp>
        <p:nvSpPr>
          <p:cNvPr id="20" name="Text 17"/>
          <p:cNvSpPr/>
          <p:nvPr/>
        </p:nvSpPr>
        <p:spPr>
          <a:xfrm>
            <a:off x="6281928" y="4992624"/>
            <a:ext cx="4078224" cy="1737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Linear calibration and smearing correction convert log predictions back to dollar estimates.</a:t>
            </a:r>
            <a:endParaRPr lang="en-US" sz="1020" dirty="0"/>
          </a:p>
        </p:txBody>
      </p:sp>
      <p:sp>
        <p:nvSpPr>
          <p:cNvPr id="21" name="Text 18"/>
          <p:cNvSpPr/>
          <p:nvPr/>
        </p:nvSpPr>
        <p:spPr>
          <a:xfrm>
            <a:off x="868680" y="5623560"/>
            <a:ext cx="9875520" cy="329184"/>
          </a:xfrm>
          <a:prstGeom prst="rect">
            <a:avLst/>
          </a:prstGeom>
          <a:noFill/>
          <a:ln/>
        </p:spPr>
        <p:txBody>
          <a:bodyPr wrap="square" lIns="0" tIns="0" rIns="0" bIns="0" rtlCol="0" anchor="ctr">
            <a:normAutofit/>
          </a:bodyPr>
          <a:lstStyle/>
          <a:p>
            <a:pPr indent="0" marL="0">
              <a:buNone/>
            </a:pPr>
            <a:r>
              <a:rPr lang="en-US" sz="1330" b="1" dirty="0">
                <a:solidFill>
                  <a:srgbClr val="0B132B"/>
                </a:solidFill>
                <a:latin typeface="Arial" pitchFamily="34" charset="0"/>
                <a:ea typeface="Arial" pitchFamily="34" charset="-122"/>
                <a:cs typeface="Arial" pitchFamily="34" charset="-120"/>
              </a:rPr>
              <a:t>Reason for ensembling: reduce variance, average complementary model biases, and improve validation RMSE before touching the final test.</a:t>
            </a:r>
            <a:endParaRPr lang="en-US" sz="13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ONE FINAL TEST AFTER MODEL CHOICE WAS FROZEN</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Final untouched-test performance</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11</a:t>
            </a:r>
            <a:endParaRPr lang="en-US" sz="950" dirty="0"/>
          </a:p>
        </p:txBody>
      </p:sp>
      <p:sp>
        <p:nvSpPr>
          <p:cNvPr id="8" name="Shape 6"/>
          <p:cNvSpPr/>
          <p:nvPr/>
        </p:nvSpPr>
        <p:spPr>
          <a:xfrm>
            <a:off x="768096" y="1417320"/>
            <a:ext cx="2121408" cy="960120"/>
          </a:xfrm>
          <a:prstGeom prst="roundRect">
            <a:avLst>
              <a:gd name="adj" fmla="val 8571"/>
            </a:avLst>
          </a:prstGeom>
          <a:solidFill>
            <a:srgbClr val="FFFFFF"/>
          </a:solidFill>
          <a:ln w="12700">
            <a:solidFill>
              <a:srgbClr val="DDE3EA"/>
            </a:solidFill>
            <a:prstDash val="solid"/>
          </a:ln>
        </p:spPr>
      </p:sp>
      <p:sp>
        <p:nvSpPr>
          <p:cNvPr id="9" name="Shape 7"/>
          <p:cNvSpPr/>
          <p:nvPr/>
        </p:nvSpPr>
        <p:spPr>
          <a:xfrm>
            <a:off x="768096" y="1417320"/>
            <a:ext cx="64008" cy="960120"/>
          </a:xfrm>
          <a:prstGeom prst="rect">
            <a:avLst/>
          </a:prstGeom>
          <a:solidFill>
            <a:srgbClr val="1C7ED6"/>
          </a:solidFill>
          <a:ln w="12700">
            <a:solidFill>
              <a:srgbClr val="1C7ED6">
                <a:alpha val="0"/>
              </a:srgbClr>
            </a:solidFill>
            <a:prstDash val="solid"/>
          </a:ln>
        </p:spPr>
      </p:sp>
      <p:sp>
        <p:nvSpPr>
          <p:cNvPr id="10" name="Text 8"/>
          <p:cNvSpPr/>
          <p:nvPr/>
        </p:nvSpPr>
        <p:spPr>
          <a:xfrm>
            <a:off x="969264" y="1527048"/>
            <a:ext cx="1828800" cy="329184"/>
          </a:xfrm>
          <a:prstGeom prst="rect">
            <a:avLst/>
          </a:prstGeom>
          <a:noFill/>
          <a:ln/>
        </p:spPr>
        <p:txBody>
          <a:bodyPr wrap="square" lIns="0" tIns="0" rIns="0" bIns="0" rtlCol="0" anchor="ctr">
            <a:normAutofit/>
          </a:bodyPr>
          <a:lstStyle/>
          <a:p>
            <a:pPr indent="0" marL="0">
              <a:buNone/>
            </a:pPr>
            <a:r>
              <a:rPr lang="en-US" sz="2000" b="1" dirty="0">
                <a:solidFill>
                  <a:srgbClr val="1C7ED6"/>
                </a:solidFill>
                <a:latin typeface="Arial" pitchFamily="34" charset="0"/>
                <a:ea typeface="Arial" pitchFamily="34" charset="-122"/>
                <a:cs typeface="Arial" pitchFamily="34" charset="-120"/>
              </a:rPr>
              <a:t>0.3360</a:t>
            </a:r>
            <a:endParaRPr lang="en-US" sz="2000" dirty="0"/>
          </a:p>
        </p:txBody>
      </p:sp>
      <p:sp>
        <p:nvSpPr>
          <p:cNvPr id="11" name="Text 9"/>
          <p:cNvSpPr/>
          <p:nvPr/>
        </p:nvSpPr>
        <p:spPr>
          <a:xfrm>
            <a:off x="969264" y="19110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RMSE_log</a:t>
            </a:r>
            <a:endParaRPr lang="en-US" sz="1000" dirty="0"/>
          </a:p>
        </p:txBody>
      </p:sp>
      <p:sp>
        <p:nvSpPr>
          <p:cNvPr id="12" name="Text 10"/>
          <p:cNvSpPr/>
          <p:nvPr/>
        </p:nvSpPr>
        <p:spPr>
          <a:xfrm>
            <a:off x="969264" y="21396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primary test metric</a:t>
            </a:r>
            <a:endParaRPr lang="en-US" sz="800" dirty="0"/>
          </a:p>
        </p:txBody>
      </p:sp>
      <p:sp>
        <p:nvSpPr>
          <p:cNvPr id="13" name="Shape 11"/>
          <p:cNvSpPr/>
          <p:nvPr/>
        </p:nvSpPr>
        <p:spPr>
          <a:xfrm>
            <a:off x="3063240" y="1417320"/>
            <a:ext cx="2121408" cy="960120"/>
          </a:xfrm>
          <a:prstGeom prst="roundRect">
            <a:avLst>
              <a:gd name="adj" fmla="val 8571"/>
            </a:avLst>
          </a:prstGeom>
          <a:solidFill>
            <a:srgbClr val="FFFFFF"/>
          </a:solidFill>
          <a:ln w="12700">
            <a:solidFill>
              <a:srgbClr val="DDE3EA"/>
            </a:solidFill>
            <a:prstDash val="solid"/>
          </a:ln>
        </p:spPr>
      </p:sp>
      <p:sp>
        <p:nvSpPr>
          <p:cNvPr id="14" name="Shape 12"/>
          <p:cNvSpPr/>
          <p:nvPr/>
        </p:nvSpPr>
        <p:spPr>
          <a:xfrm>
            <a:off x="3063240" y="1417320"/>
            <a:ext cx="64008" cy="960120"/>
          </a:xfrm>
          <a:prstGeom prst="rect">
            <a:avLst/>
          </a:prstGeom>
          <a:solidFill>
            <a:srgbClr val="12B886"/>
          </a:solidFill>
          <a:ln w="12700">
            <a:solidFill>
              <a:srgbClr val="12B886">
                <a:alpha val="0"/>
              </a:srgbClr>
            </a:solidFill>
            <a:prstDash val="solid"/>
          </a:ln>
        </p:spPr>
      </p:sp>
      <p:sp>
        <p:nvSpPr>
          <p:cNvPr id="15" name="Text 13"/>
          <p:cNvSpPr/>
          <p:nvPr/>
        </p:nvSpPr>
        <p:spPr>
          <a:xfrm>
            <a:off x="3264408" y="1527048"/>
            <a:ext cx="1828800" cy="329184"/>
          </a:xfrm>
          <a:prstGeom prst="rect">
            <a:avLst/>
          </a:prstGeom>
          <a:noFill/>
          <a:ln/>
        </p:spPr>
        <p:txBody>
          <a:bodyPr wrap="square" lIns="0" tIns="0" rIns="0" bIns="0" rtlCol="0" anchor="ctr">
            <a:normAutofit/>
          </a:bodyPr>
          <a:lstStyle/>
          <a:p>
            <a:pPr indent="0" marL="0">
              <a:buNone/>
            </a:pPr>
            <a:r>
              <a:rPr lang="en-US" sz="2000" b="1" dirty="0">
                <a:solidFill>
                  <a:srgbClr val="12B886"/>
                </a:solidFill>
                <a:latin typeface="Arial" pitchFamily="34" charset="0"/>
                <a:ea typeface="Arial" pitchFamily="34" charset="-122"/>
                <a:cs typeface="Arial" pitchFamily="34" charset="-120"/>
              </a:rPr>
              <a:t>0.2284</a:t>
            </a:r>
            <a:endParaRPr lang="en-US" sz="2000" dirty="0"/>
          </a:p>
        </p:txBody>
      </p:sp>
      <p:sp>
        <p:nvSpPr>
          <p:cNvPr id="16" name="Text 14"/>
          <p:cNvSpPr/>
          <p:nvPr/>
        </p:nvSpPr>
        <p:spPr>
          <a:xfrm>
            <a:off x="3264408" y="19110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MAE_log</a:t>
            </a:r>
            <a:endParaRPr lang="en-US" sz="1000" dirty="0"/>
          </a:p>
        </p:txBody>
      </p:sp>
      <p:sp>
        <p:nvSpPr>
          <p:cNvPr id="17" name="Text 15"/>
          <p:cNvSpPr/>
          <p:nvPr/>
        </p:nvSpPr>
        <p:spPr>
          <a:xfrm>
            <a:off x="3264408" y="21396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absolute log error</a:t>
            </a:r>
            <a:endParaRPr lang="en-US" sz="800" dirty="0"/>
          </a:p>
        </p:txBody>
      </p:sp>
      <p:sp>
        <p:nvSpPr>
          <p:cNvPr id="18" name="Shape 16"/>
          <p:cNvSpPr/>
          <p:nvPr/>
        </p:nvSpPr>
        <p:spPr>
          <a:xfrm>
            <a:off x="5358384" y="1417320"/>
            <a:ext cx="2121408" cy="960120"/>
          </a:xfrm>
          <a:prstGeom prst="roundRect">
            <a:avLst>
              <a:gd name="adj" fmla="val 8571"/>
            </a:avLst>
          </a:prstGeom>
          <a:solidFill>
            <a:srgbClr val="FFFFFF"/>
          </a:solidFill>
          <a:ln w="12700">
            <a:solidFill>
              <a:srgbClr val="DDE3EA"/>
            </a:solidFill>
            <a:prstDash val="solid"/>
          </a:ln>
        </p:spPr>
      </p:sp>
      <p:sp>
        <p:nvSpPr>
          <p:cNvPr id="19" name="Shape 17"/>
          <p:cNvSpPr/>
          <p:nvPr/>
        </p:nvSpPr>
        <p:spPr>
          <a:xfrm>
            <a:off x="5358384" y="1417320"/>
            <a:ext cx="64008" cy="960120"/>
          </a:xfrm>
          <a:prstGeom prst="rect">
            <a:avLst/>
          </a:prstGeom>
          <a:solidFill>
            <a:srgbClr val="F59F00"/>
          </a:solidFill>
          <a:ln w="12700">
            <a:solidFill>
              <a:srgbClr val="F59F00">
                <a:alpha val="0"/>
              </a:srgbClr>
            </a:solidFill>
            <a:prstDash val="solid"/>
          </a:ln>
        </p:spPr>
      </p:sp>
      <p:sp>
        <p:nvSpPr>
          <p:cNvPr id="20" name="Text 18"/>
          <p:cNvSpPr/>
          <p:nvPr/>
        </p:nvSpPr>
        <p:spPr>
          <a:xfrm>
            <a:off x="5559552" y="1527048"/>
            <a:ext cx="1828800" cy="329184"/>
          </a:xfrm>
          <a:prstGeom prst="rect">
            <a:avLst/>
          </a:prstGeom>
          <a:noFill/>
          <a:ln/>
        </p:spPr>
        <p:txBody>
          <a:bodyPr wrap="square" lIns="0" tIns="0" rIns="0" bIns="0" rtlCol="0" anchor="ctr">
            <a:normAutofit/>
          </a:bodyPr>
          <a:lstStyle/>
          <a:p>
            <a:pPr indent="0" marL="0">
              <a:buNone/>
            </a:pPr>
            <a:r>
              <a:rPr lang="en-US" sz="2000" b="1" dirty="0">
                <a:solidFill>
                  <a:srgbClr val="F59F00"/>
                </a:solidFill>
                <a:latin typeface="Arial" pitchFamily="34" charset="0"/>
                <a:ea typeface="Arial" pitchFamily="34" charset="-122"/>
                <a:cs typeface="Arial" pitchFamily="34" charset="-120"/>
              </a:rPr>
              <a:t>0.8699</a:t>
            </a:r>
            <a:endParaRPr lang="en-US" sz="2000" dirty="0"/>
          </a:p>
        </p:txBody>
      </p:sp>
      <p:sp>
        <p:nvSpPr>
          <p:cNvPr id="21" name="Text 19"/>
          <p:cNvSpPr/>
          <p:nvPr/>
        </p:nvSpPr>
        <p:spPr>
          <a:xfrm>
            <a:off x="5559552" y="19110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R²_log</a:t>
            </a:r>
            <a:endParaRPr lang="en-US" sz="1000" dirty="0"/>
          </a:p>
        </p:txBody>
      </p:sp>
      <p:sp>
        <p:nvSpPr>
          <p:cNvPr id="22" name="Text 20"/>
          <p:cNvSpPr/>
          <p:nvPr/>
        </p:nvSpPr>
        <p:spPr>
          <a:xfrm>
            <a:off x="5559552" y="21396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explained variance</a:t>
            </a:r>
            <a:endParaRPr lang="en-US" sz="800" dirty="0"/>
          </a:p>
        </p:txBody>
      </p:sp>
      <p:sp>
        <p:nvSpPr>
          <p:cNvPr id="23" name="Shape 21"/>
          <p:cNvSpPr/>
          <p:nvPr/>
        </p:nvSpPr>
        <p:spPr>
          <a:xfrm>
            <a:off x="7653528" y="1417320"/>
            <a:ext cx="2121408" cy="960120"/>
          </a:xfrm>
          <a:prstGeom prst="roundRect">
            <a:avLst>
              <a:gd name="adj" fmla="val 8571"/>
            </a:avLst>
          </a:prstGeom>
          <a:solidFill>
            <a:srgbClr val="FFFFFF"/>
          </a:solidFill>
          <a:ln w="12700">
            <a:solidFill>
              <a:srgbClr val="DDE3EA"/>
            </a:solidFill>
            <a:prstDash val="solid"/>
          </a:ln>
        </p:spPr>
      </p:sp>
      <p:sp>
        <p:nvSpPr>
          <p:cNvPr id="24" name="Shape 22"/>
          <p:cNvSpPr/>
          <p:nvPr/>
        </p:nvSpPr>
        <p:spPr>
          <a:xfrm>
            <a:off x="7653528" y="1417320"/>
            <a:ext cx="64008" cy="960120"/>
          </a:xfrm>
          <a:prstGeom prst="rect">
            <a:avLst/>
          </a:prstGeom>
          <a:solidFill>
            <a:srgbClr val="D6336C"/>
          </a:solidFill>
          <a:ln w="12700">
            <a:solidFill>
              <a:srgbClr val="D6336C">
                <a:alpha val="0"/>
              </a:srgbClr>
            </a:solidFill>
            <a:prstDash val="solid"/>
          </a:ln>
        </p:spPr>
      </p:sp>
      <p:sp>
        <p:nvSpPr>
          <p:cNvPr id="25" name="Text 23"/>
          <p:cNvSpPr/>
          <p:nvPr/>
        </p:nvSpPr>
        <p:spPr>
          <a:xfrm>
            <a:off x="7854696" y="1527048"/>
            <a:ext cx="1828800" cy="329184"/>
          </a:xfrm>
          <a:prstGeom prst="rect">
            <a:avLst/>
          </a:prstGeom>
          <a:noFill/>
          <a:ln/>
        </p:spPr>
        <p:txBody>
          <a:bodyPr wrap="square" lIns="0" tIns="0" rIns="0" bIns="0" rtlCol="0" anchor="ctr">
            <a:normAutofit/>
          </a:bodyPr>
          <a:lstStyle/>
          <a:p>
            <a:pPr indent="0" marL="0">
              <a:buNone/>
            </a:pPr>
            <a:r>
              <a:rPr lang="en-US" sz="2000" b="1" dirty="0">
                <a:solidFill>
                  <a:srgbClr val="D6336C"/>
                </a:solidFill>
                <a:latin typeface="Arial" pitchFamily="34" charset="0"/>
                <a:ea typeface="Arial" pitchFamily="34" charset="-122"/>
                <a:cs typeface="Arial" pitchFamily="34" charset="-120"/>
              </a:rPr>
              <a:t>27.41%</a:t>
            </a:r>
            <a:endParaRPr lang="en-US" sz="2000" dirty="0"/>
          </a:p>
        </p:txBody>
      </p:sp>
      <p:sp>
        <p:nvSpPr>
          <p:cNvPr id="26" name="Text 24"/>
          <p:cNvSpPr/>
          <p:nvPr/>
        </p:nvSpPr>
        <p:spPr>
          <a:xfrm>
            <a:off x="7854696" y="19110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MAPE</a:t>
            </a:r>
            <a:endParaRPr lang="en-US" sz="1000" dirty="0"/>
          </a:p>
        </p:txBody>
      </p:sp>
      <p:sp>
        <p:nvSpPr>
          <p:cNvPr id="27" name="Text 25"/>
          <p:cNvSpPr/>
          <p:nvPr/>
        </p:nvSpPr>
        <p:spPr>
          <a:xfrm>
            <a:off x="7854696" y="21396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dollar scale</a:t>
            </a:r>
            <a:endParaRPr lang="en-US" sz="800" dirty="0"/>
          </a:p>
        </p:txBody>
      </p:sp>
      <p:sp>
        <p:nvSpPr>
          <p:cNvPr id="28" name="Shape 26"/>
          <p:cNvSpPr/>
          <p:nvPr/>
        </p:nvSpPr>
        <p:spPr>
          <a:xfrm>
            <a:off x="768096" y="2788920"/>
            <a:ext cx="2121408" cy="960120"/>
          </a:xfrm>
          <a:prstGeom prst="roundRect">
            <a:avLst>
              <a:gd name="adj" fmla="val 8571"/>
            </a:avLst>
          </a:prstGeom>
          <a:solidFill>
            <a:srgbClr val="FFFFFF"/>
          </a:solidFill>
          <a:ln w="12700">
            <a:solidFill>
              <a:srgbClr val="DDE3EA"/>
            </a:solidFill>
            <a:prstDash val="solid"/>
          </a:ln>
        </p:spPr>
      </p:sp>
      <p:sp>
        <p:nvSpPr>
          <p:cNvPr id="29" name="Shape 27"/>
          <p:cNvSpPr/>
          <p:nvPr/>
        </p:nvSpPr>
        <p:spPr>
          <a:xfrm>
            <a:off x="768096" y="2788920"/>
            <a:ext cx="64008" cy="960120"/>
          </a:xfrm>
          <a:prstGeom prst="rect">
            <a:avLst/>
          </a:prstGeom>
          <a:solidFill>
            <a:srgbClr val="12B886"/>
          </a:solidFill>
          <a:ln w="12700">
            <a:solidFill>
              <a:srgbClr val="12B886">
                <a:alpha val="0"/>
              </a:srgbClr>
            </a:solidFill>
            <a:prstDash val="solid"/>
          </a:ln>
        </p:spPr>
      </p:sp>
      <p:sp>
        <p:nvSpPr>
          <p:cNvPr id="30" name="Text 28"/>
          <p:cNvSpPr/>
          <p:nvPr/>
        </p:nvSpPr>
        <p:spPr>
          <a:xfrm>
            <a:off x="969264" y="2898648"/>
            <a:ext cx="1828800" cy="329184"/>
          </a:xfrm>
          <a:prstGeom prst="rect">
            <a:avLst/>
          </a:prstGeom>
          <a:noFill/>
          <a:ln/>
        </p:spPr>
        <p:txBody>
          <a:bodyPr wrap="square" lIns="0" tIns="0" rIns="0" bIns="0" rtlCol="0" anchor="ctr">
            <a:normAutofit/>
          </a:bodyPr>
          <a:lstStyle/>
          <a:p>
            <a:pPr indent="0" marL="0">
              <a:buNone/>
            </a:pPr>
            <a:r>
              <a:rPr lang="en-US" sz="2000" b="1" dirty="0">
                <a:solidFill>
                  <a:srgbClr val="12B886"/>
                </a:solidFill>
                <a:latin typeface="Arial" pitchFamily="34" charset="0"/>
                <a:ea typeface="Arial" pitchFamily="34" charset="-122"/>
                <a:cs typeface="Arial" pitchFamily="34" charset="-120"/>
              </a:rPr>
              <a:t>$520,964</a:t>
            </a:r>
            <a:endParaRPr lang="en-US" sz="2000" dirty="0"/>
          </a:p>
        </p:txBody>
      </p:sp>
      <p:sp>
        <p:nvSpPr>
          <p:cNvPr id="31" name="Text 29"/>
          <p:cNvSpPr/>
          <p:nvPr/>
        </p:nvSpPr>
        <p:spPr>
          <a:xfrm>
            <a:off x="969264" y="32826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MAE dollar</a:t>
            </a:r>
            <a:endParaRPr lang="en-US" sz="1000" dirty="0"/>
          </a:p>
        </p:txBody>
      </p:sp>
      <p:sp>
        <p:nvSpPr>
          <p:cNvPr id="32" name="Text 30"/>
          <p:cNvSpPr/>
          <p:nvPr/>
        </p:nvSpPr>
        <p:spPr>
          <a:xfrm>
            <a:off x="969264" y="35112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average absolute error</a:t>
            </a:r>
            <a:endParaRPr lang="en-US" sz="800" dirty="0"/>
          </a:p>
        </p:txBody>
      </p:sp>
      <p:sp>
        <p:nvSpPr>
          <p:cNvPr id="33" name="Shape 31"/>
          <p:cNvSpPr/>
          <p:nvPr/>
        </p:nvSpPr>
        <p:spPr>
          <a:xfrm>
            <a:off x="3063240" y="2788920"/>
            <a:ext cx="2121408" cy="960120"/>
          </a:xfrm>
          <a:prstGeom prst="roundRect">
            <a:avLst>
              <a:gd name="adj" fmla="val 8571"/>
            </a:avLst>
          </a:prstGeom>
          <a:solidFill>
            <a:srgbClr val="FFFFFF"/>
          </a:solidFill>
          <a:ln w="12700">
            <a:solidFill>
              <a:srgbClr val="DDE3EA"/>
            </a:solidFill>
            <a:prstDash val="solid"/>
          </a:ln>
        </p:spPr>
      </p:sp>
      <p:sp>
        <p:nvSpPr>
          <p:cNvPr id="34" name="Shape 32"/>
          <p:cNvSpPr/>
          <p:nvPr/>
        </p:nvSpPr>
        <p:spPr>
          <a:xfrm>
            <a:off x="3063240" y="2788920"/>
            <a:ext cx="64008" cy="960120"/>
          </a:xfrm>
          <a:prstGeom prst="rect">
            <a:avLst/>
          </a:prstGeom>
          <a:solidFill>
            <a:srgbClr val="D6336C"/>
          </a:solidFill>
          <a:ln w="12700">
            <a:solidFill>
              <a:srgbClr val="D6336C">
                <a:alpha val="0"/>
              </a:srgbClr>
            </a:solidFill>
            <a:prstDash val="solid"/>
          </a:ln>
        </p:spPr>
      </p:sp>
      <p:sp>
        <p:nvSpPr>
          <p:cNvPr id="35" name="Text 33"/>
          <p:cNvSpPr/>
          <p:nvPr/>
        </p:nvSpPr>
        <p:spPr>
          <a:xfrm>
            <a:off x="3264408" y="2898648"/>
            <a:ext cx="1828800" cy="329184"/>
          </a:xfrm>
          <a:prstGeom prst="rect">
            <a:avLst/>
          </a:prstGeom>
          <a:noFill/>
          <a:ln/>
        </p:spPr>
        <p:txBody>
          <a:bodyPr wrap="square" lIns="0" tIns="0" rIns="0" bIns="0" rtlCol="0" anchor="ctr">
            <a:normAutofit/>
          </a:bodyPr>
          <a:lstStyle/>
          <a:p>
            <a:pPr indent="0" marL="0">
              <a:buNone/>
            </a:pPr>
            <a:r>
              <a:rPr lang="en-US" sz="2000" b="1" dirty="0">
                <a:solidFill>
                  <a:srgbClr val="D6336C"/>
                </a:solidFill>
                <a:latin typeface="Arial" pitchFamily="34" charset="0"/>
                <a:ea typeface="Arial" pitchFamily="34" charset="-122"/>
                <a:cs typeface="Arial" pitchFamily="34" charset="-120"/>
              </a:rPr>
              <a:t>$2.43M</a:t>
            </a:r>
            <a:endParaRPr lang="en-US" sz="2000" dirty="0"/>
          </a:p>
        </p:txBody>
      </p:sp>
      <p:sp>
        <p:nvSpPr>
          <p:cNvPr id="36" name="Text 34"/>
          <p:cNvSpPr/>
          <p:nvPr/>
        </p:nvSpPr>
        <p:spPr>
          <a:xfrm>
            <a:off x="3264408" y="32826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RMSE dollar</a:t>
            </a:r>
            <a:endParaRPr lang="en-US" sz="1000" dirty="0"/>
          </a:p>
        </p:txBody>
      </p:sp>
      <p:sp>
        <p:nvSpPr>
          <p:cNvPr id="37" name="Text 35"/>
          <p:cNvSpPr/>
          <p:nvPr/>
        </p:nvSpPr>
        <p:spPr>
          <a:xfrm>
            <a:off x="3264408" y="35112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sensitive to luxury outliers</a:t>
            </a:r>
            <a:endParaRPr lang="en-US" sz="800" dirty="0"/>
          </a:p>
        </p:txBody>
      </p:sp>
      <p:sp>
        <p:nvSpPr>
          <p:cNvPr id="38" name="Shape 36"/>
          <p:cNvSpPr/>
          <p:nvPr/>
        </p:nvSpPr>
        <p:spPr>
          <a:xfrm>
            <a:off x="5358384" y="2788920"/>
            <a:ext cx="2121408" cy="960120"/>
          </a:xfrm>
          <a:prstGeom prst="roundRect">
            <a:avLst>
              <a:gd name="adj" fmla="val 8571"/>
            </a:avLst>
          </a:prstGeom>
          <a:solidFill>
            <a:srgbClr val="FFFFFF"/>
          </a:solidFill>
          <a:ln w="12700">
            <a:solidFill>
              <a:srgbClr val="DDE3EA"/>
            </a:solidFill>
            <a:prstDash val="solid"/>
          </a:ln>
        </p:spPr>
      </p:sp>
      <p:sp>
        <p:nvSpPr>
          <p:cNvPr id="39" name="Shape 37"/>
          <p:cNvSpPr/>
          <p:nvPr/>
        </p:nvSpPr>
        <p:spPr>
          <a:xfrm>
            <a:off x="5358384" y="2788920"/>
            <a:ext cx="64008" cy="960120"/>
          </a:xfrm>
          <a:prstGeom prst="rect">
            <a:avLst/>
          </a:prstGeom>
          <a:solidFill>
            <a:srgbClr val="1C7ED6"/>
          </a:solidFill>
          <a:ln w="12700">
            <a:solidFill>
              <a:srgbClr val="1C7ED6">
                <a:alpha val="0"/>
              </a:srgbClr>
            </a:solidFill>
            <a:prstDash val="solid"/>
          </a:ln>
        </p:spPr>
      </p:sp>
      <p:sp>
        <p:nvSpPr>
          <p:cNvPr id="40" name="Text 38"/>
          <p:cNvSpPr/>
          <p:nvPr/>
        </p:nvSpPr>
        <p:spPr>
          <a:xfrm>
            <a:off x="5559552" y="2898648"/>
            <a:ext cx="1828800" cy="329184"/>
          </a:xfrm>
          <a:prstGeom prst="rect">
            <a:avLst/>
          </a:prstGeom>
          <a:noFill/>
          <a:ln/>
        </p:spPr>
        <p:txBody>
          <a:bodyPr wrap="square" lIns="0" tIns="0" rIns="0" bIns="0" rtlCol="0" anchor="ctr">
            <a:normAutofit/>
          </a:bodyPr>
          <a:lstStyle/>
          <a:p>
            <a:pPr indent="0" marL="0">
              <a:buNone/>
            </a:pPr>
            <a:r>
              <a:rPr lang="en-US" sz="2000" b="1" dirty="0">
                <a:solidFill>
                  <a:srgbClr val="1C7ED6"/>
                </a:solidFill>
                <a:latin typeface="Arial" pitchFamily="34" charset="0"/>
                <a:ea typeface="Arial" pitchFamily="34" charset="-122"/>
                <a:cs typeface="Arial" pitchFamily="34" charset="-120"/>
              </a:rPr>
              <a:t>17.33%</a:t>
            </a:r>
            <a:endParaRPr lang="en-US" sz="2000" dirty="0"/>
          </a:p>
        </p:txBody>
      </p:sp>
      <p:sp>
        <p:nvSpPr>
          <p:cNvPr id="41" name="Text 39"/>
          <p:cNvSpPr/>
          <p:nvPr/>
        </p:nvSpPr>
        <p:spPr>
          <a:xfrm>
            <a:off x="5559552" y="32826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Median APE</a:t>
            </a:r>
            <a:endParaRPr lang="en-US" sz="1000" dirty="0"/>
          </a:p>
        </p:txBody>
      </p:sp>
      <p:sp>
        <p:nvSpPr>
          <p:cNvPr id="42" name="Text 40"/>
          <p:cNvSpPr/>
          <p:nvPr/>
        </p:nvSpPr>
        <p:spPr>
          <a:xfrm>
            <a:off x="5559552" y="35112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typical relative error</a:t>
            </a:r>
            <a:endParaRPr lang="en-US" sz="800" dirty="0"/>
          </a:p>
        </p:txBody>
      </p:sp>
      <p:sp>
        <p:nvSpPr>
          <p:cNvPr id="43" name="Shape 41"/>
          <p:cNvSpPr/>
          <p:nvPr/>
        </p:nvSpPr>
        <p:spPr>
          <a:xfrm>
            <a:off x="7653528" y="2788920"/>
            <a:ext cx="2121408" cy="960120"/>
          </a:xfrm>
          <a:prstGeom prst="roundRect">
            <a:avLst>
              <a:gd name="adj" fmla="val 8571"/>
            </a:avLst>
          </a:prstGeom>
          <a:solidFill>
            <a:srgbClr val="FFFFFF"/>
          </a:solidFill>
          <a:ln w="12700">
            <a:solidFill>
              <a:srgbClr val="DDE3EA"/>
            </a:solidFill>
            <a:prstDash val="solid"/>
          </a:ln>
        </p:spPr>
      </p:sp>
      <p:sp>
        <p:nvSpPr>
          <p:cNvPr id="44" name="Shape 42"/>
          <p:cNvSpPr/>
          <p:nvPr/>
        </p:nvSpPr>
        <p:spPr>
          <a:xfrm>
            <a:off x="7653528" y="2788920"/>
            <a:ext cx="64008" cy="960120"/>
          </a:xfrm>
          <a:prstGeom prst="rect">
            <a:avLst/>
          </a:prstGeom>
          <a:solidFill>
            <a:srgbClr val="F59F00"/>
          </a:solidFill>
          <a:ln w="12700">
            <a:solidFill>
              <a:srgbClr val="F59F00">
                <a:alpha val="0"/>
              </a:srgbClr>
            </a:solidFill>
            <a:prstDash val="solid"/>
          </a:ln>
        </p:spPr>
      </p:sp>
      <p:sp>
        <p:nvSpPr>
          <p:cNvPr id="45" name="Text 43"/>
          <p:cNvSpPr/>
          <p:nvPr/>
        </p:nvSpPr>
        <p:spPr>
          <a:xfrm>
            <a:off x="7854696" y="2898648"/>
            <a:ext cx="1828800" cy="329184"/>
          </a:xfrm>
          <a:prstGeom prst="rect">
            <a:avLst/>
          </a:prstGeom>
          <a:noFill/>
          <a:ln/>
        </p:spPr>
        <p:txBody>
          <a:bodyPr wrap="square" lIns="0" tIns="0" rIns="0" bIns="0" rtlCol="0" anchor="ctr">
            <a:normAutofit/>
          </a:bodyPr>
          <a:lstStyle/>
          <a:p>
            <a:pPr indent="0" marL="0">
              <a:buNone/>
            </a:pPr>
            <a:r>
              <a:rPr lang="en-US" sz="2000" b="1" dirty="0">
                <a:solidFill>
                  <a:srgbClr val="F59F00"/>
                </a:solidFill>
                <a:latin typeface="Arial" pitchFamily="34" charset="0"/>
                <a:ea typeface="Arial" pitchFamily="34" charset="-122"/>
                <a:cs typeface="Arial" pitchFamily="34" charset="-120"/>
              </a:rPr>
              <a:t>52.50%</a:t>
            </a:r>
            <a:endParaRPr lang="en-US" sz="2000" dirty="0"/>
          </a:p>
        </p:txBody>
      </p:sp>
      <p:sp>
        <p:nvSpPr>
          <p:cNvPr id="46" name="Text 44"/>
          <p:cNvSpPr/>
          <p:nvPr/>
        </p:nvSpPr>
        <p:spPr>
          <a:xfrm>
            <a:off x="7854696" y="3282696"/>
            <a:ext cx="1828800"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P90 APE</a:t>
            </a:r>
            <a:endParaRPr lang="en-US" sz="1000" dirty="0"/>
          </a:p>
        </p:txBody>
      </p:sp>
      <p:sp>
        <p:nvSpPr>
          <p:cNvPr id="47" name="Text 45"/>
          <p:cNvSpPr/>
          <p:nvPr/>
        </p:nvSpPr>
        <p:spPr>
          <a:xfrm>
            <a:off x="7854696" y="3511296"/>
            <a:ext cx="1828800"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tail error</a:t>
            </a:r>
            <a:endParaRPr lang="en-US" sz="800" dirty="0"/>
          </a:p>
        </p:txBody>
      </p:sp>
      <p:sp>
        <p:nvSpPr>
          <p:cNvPr id="48" name="Shape 46"/>
          <p:cNvSpPr/>
          <p:nvPr/>
        </p:nvSpPr>
        <p:spPr>
          <a:xfrm>
            <a:off x="822960" y="4617720"/>
            <a:ext cx="4526280" cy="868680"/>
          </a:xfrm>
          <a:prstGeom prst="roundRect">
            <a:avLst>
              <a:gd name="adj" fmla="val 9474"/>
            </a:avLst>
          </a:prstGeom>
          <a:solidFill>
            <a:srgbClr val="E7F5FF"/>
          </a:solidFill>
          <a:ln w="12700">
            <a:solidFill>
              <a:srgbClr val="DDE3EA"/>
            </a:solidFill>
            <a:prstDash val="solid"/>
          </a:ln>
        </p:spPr>
      </p:sp>
      <p:sp>
        <p:nvSpPr>
          <p:cNvPr id="49" name="Text 47"/>
          <p:cNvSpPr/>
          <p:nvPr/>
        </p:nvSpPr>
        <p:spPr>
          <a:xfrm>
            <a:off x="1024128" y="4764024"/>
            <a:ext cx="412394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Prediction interval check</a:t>
            </a:r>
            <a:endParaRPr lang="en-US" sz="1200" dirty="0"/>
          </a:p>
        </p:txBody>
      </p:sp>
      <p:sp>
        <p:nvSpPr>
          <p:cNvPr id="50" name="Text 48"/>
          <p:cNvSpPr/>
          <p:nvPr/>
        </p:nvSpPr>
        <p:spPr>
          <a:xfrm>
            <a:off x="1024128" y="5093208"/>
            <a:ext cx="4123944" cy="2651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90% nominal interval covers 90.04% of test rows; 95% interval covers 95.07%.</a:t>
            </a:r>
            <a:endParaRPr lang="en-US" sz="1020" dirty="0"/>
          </a:p>
        </p:txBody>
      </p:sp>
      <p:sp>
        <p:nvSpPr>
          <p:cNvPr id="51" name="Shape 49"/>
          <p:cNvSpPr/>
          <p:nvPr/>
        </p:nvSpPr>
        <p:spPr>
          <a:xfrm>
            <a:off x="5806440" y="4617720"/>
            <a:ext cx="4526280" cy="868680"/>
          </a:xfrm>
          <a:prstGeom prst="roundRect">
            <a:avLst>
              <a:gd name="adj" fmla="val 9474"/>
            </a:avLst>
          </a:prstGeom>
          <a:solidFill>
            <a:srgbClr val="FFF0F6"/>
          </a:solidFill>
          <a:ln w="12700">
            <a:solidFill>
              <a:srgbClr val="DDE3EA"/>
            </a:solidFill>
            <a:prstDash val="solid"/>
          </a:ln>
        </p:spPr>
      </p:sp>
      <p:sp>
        <p:nvSpPr>
          <p:cNvPr id="52" name="Text 50"/>
          <p:cNvSpPr/>
          <p:nvPr/>
        </p:nvSpPr>
        <p:spPr>
          <a:xfrm>
            <a:off x="6007608" y="4764024"/>
            <a:ext cx="412394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Correct interpretation</a:t>
            </a:r>
            <a:endParaRPr lang="en-US" sz="1200" dirty="0"/>
          </a:p>
        </p:txBody>
      </p:sp>
      <p:sp>
        <p:nvSpPr>
          <p:cNvPr id="53" name="Text 51"/>
          <p:cNvSpPr/>
          <p:nvPr/>
        </p:nvSpPr>
        <p:spPr>
          <a:xfrm>
            <a:off x="6007608" y="5093208"/>
            <a:ext cx="4123944" cy="2651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Dollar RMSE is high because NYC luxury listings create extreme price tails; log metrics are more stable.</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OUTPUTS ARE WRITTEN TO BOTH CSV AND SQLITE</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Prediction pipeline and persistence demo</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12</a:t>
            </a:r>
            <a:endParaRPr lang="en-US" sz="950" dirty="0"/>
          </a:p>
        </p:txBody>
      </p:sp>
      <p:sp>
        <p:nvSpPr>
          <p:cNvPr id="8" name="Shape 6"/>
          <p:cNvSpPr/>
          <p:nvPr/>
        </p:nvSpPr>
        <p:spPr>
          <a:xfrm>
            <a:off x="777240" y="1325880"/>
            <a:ext cx="5486400" cy="2084832"/>
          </a:xfrm>
          <a:prstGeom prst="roundRect">
            <a:avLst>
              <a:gd name="adj" fmla="val 4386"/>
            </a:avLst>
          </a:prstGeom>
          <a:solidFill>
            <a:srgbClr val="0B132B"/>
          </a:solidFill>
          <a:ln w="12700">
            <a:solidFill>
              <a:srgbClr val="0B132B">
                <a:alpha val="0"/>
              </a:srgbClr>
            </a:solidFill>
            <a:prstDash val="solid"/>
          </a:ln>
        </p:spPr>
      </p:sp>
      <p:sp>
        <p:nvSpPr>
          <p:cNvPr id="9" name="Text 7"/>
          <p:cNvSpPr/>
          <p:nvPr/>
        </p:nvSpPr>
        <p:spPr>
          <a:xfrm>
            <a:off x="1051560" y="1783080"/>
            <a:ext cx="4937760" cy="969264"/>
          </a:xfrm>
          <a:prstGeom prst="rect">
            <a:avLst/>
          </a:prstGeom>
          <a:noFill/>
          <a:ln/>
        </p:spPr>
        <p:txBody>
          <a:bodyPr wrap="square" lIns="0" tIns="0" rIns="0" bIns="0" rtlCol="0" anchor="ctr"/>
          <a:lstStyle/>
          <a:p>
            <a:pPr indent="0" marL="0">
              <a:buNone/>
            </a:pPr>
            <a:r>
              <a:rPr lang="en-US" sz="1320" b="1" dirty="0">
                <a:solidFill>
                  <a:srgbClr val="FFFFFF"/>
                </a:solidFill>
                <a:latin typeface="Arial" pitchFamily="34" charset="0"/>
                <a:ea typeface="Arial" pitchFamily="34" charset="-122"/>
                <a:cs typeface="Arial" pitchFamily="34" charset="-120"/>
              </a:rPr>
              <a:t>python scripts/verify_project.py</a:t>
            </a:r>
            <a:endParaRPr lang="en-US" sz="1320" dirty="0"/>
          </a:p>
          <a:p>
            <a:pPr indent="0" marL="0">
              <a:buNone/>
            </a:pPr>
            <a:r>
              <a:rPr lang="en-US" sz="1320" b="1" dirty="0">
                <a:solidFill>
                  <a:srgbClr val="FFFFFF"/>
                </a:solidFill>
                <a:latin typeface="Arial" pitchFamily="34" charset="0"/>
                <a:ea typeface="Arial" pitchFamily="34" charset="-122"/>
                <a:cs typeface="Arial" pitchFamily="34" charset="-120"/>
              </a:rPr>
              <a:t>python scripts/validate_submission.py</a:t>
            </a:r>
            <a:endParaRPr lang="en-US" sz="1320" dirty="0"/>
          </a:p>
          <a:p>
            <a:pPr indent="0" marL="0">
              <a:buNone/>
            </a:pPr>
            <a:r>
              <a:rPr lang="en-US" sz="1320" b="1" dirty="0">
                <a:solidFill>
                  <a:srgbClr val="FFFFFF"/>
                </a:solidFill>
                <a:latin typeface="Arial" pitchFamily="34" charset="0"/>
                <a:ea typeface="Arial" pitchFamily="34" charset="-122"/>
                <a:cs typeface="Arial" pitchFamily="34" charset="-120"/>
              </a:rPr>
              <a:t>python run_prediction_pipeline.py --split test</a:t>
            </a:r>
            <a:endParaRPr lang="en-US" sz="1320" dirty="0"/>
          </a:p>
        </p:txBody>
      </p:sp>
      <p:sp>
        <p:nvSpPr>
          <p:cNvPr id="10" name="Shape 8"/>
          <p:cNvSpPr/>
          <p:nvPr/>
        </p:nvSpPr>
        <p:spPr>
          <a:xfrm>
            <a:off x="6812280" y="1389888"/>
            <a:ext cx="2423160" cy="960120"/>
          </a:xfrm>
          <a:prstGeom prst="roundRect">
            <a:avLst>
              <a:gd name="adj" fmla="val 8571"/>
            </a:avLst>
          </a:prstGeom>
          <a:solidFill>
            <a:srgbClr val="FFFFFF"/>
          </a:solidFill>
          <a:ln w="12700">
            <a:solidFill>
              <a:srgbClr val="DDE3EA"/>
            </a:solidFill>
            <a:prstDash val="solid"/>
          </a:ln>
        </p:spPr>
      </p:sp>
      <p:sp>
        <p:nvSpPr>
          <p:cNvPr id="11" name="Shape 9"/>
          <p:cNvSpPr/>
          <p:nvPr/>
        </p:nvSpPr>
        <p:spPr>
          <a:xfrm>
            <a:off x="6812280" y="1389888"/>
            <a:ext cx="64008" cy="960120"/>
          </a:xfrm>
          <a:prstGeom prst="rect">
            <a:avLst/>
          </a:prstGeom>
          <a:solidFill>
            <a:srgbClr val="12B886"/>
          </a:solidFill>
          <a:ln w="12700">
            <a:solidFill>
              <a:srgbClr val="12B886">
                <a:alpha val="0"/>
              </a:srgbClr>
            </a:solidFill>
            <a:prstDash val="solid"/>
          </a:ln>
        </p:spPr>
      </p:sp>
      <p:sp>
        <p:nvSpPr>
          <p:cNvPr id="12" name="Text 10"/>
          <p:cNvSpPr/>
          <p:nvPr/>
        </p:nvSpPr>
        <p:spPr>
          <a:xfrm>
            <a:off x="7013448" y="1499616"/>
            <a:ext cx="2130552" cy="329184"/>
          </a:xfrm>
          <a:prstGeom prst="rect">
            <a:avLst/>
          </a:prstGeom>
          <a:noFill/>
          <a:ln/>
        </p:spPr>
        <p:txBody>
          <a:bodyPr wrap="square" lIns="0" tIns="0" rIns="0" bIns="0" rtlCol="0" anchor="ctr">
            <a:normAutofit/>
          </a:bodyPr>
          <a:lstStyle/>
          <a:p>
            <a:pPr indent="0" marL="0">
              <a:buNone/>
            </a:pPr>
            <a:r>
              <a:rPr lang="en-US" sz="2000" b="1" dirty="0">
                <a:solidFill>
                  <a:srgbClr val="12B886"/>
                </a:solidFill>
                <a:latin typeface="Arial" pitchFamily="34" charset="0"/>
                <a:ea typeface="Arial" pitchFamily="34" charset="-122"/>
                <a:cs typeface="Arial" pitchFamily="34" charset="-120"/>
              </a:rPr>
              <a:t>2,760</a:t>
            </a:r>
            <a:endParaRPr lang="en-US" sz="2000" dirty="0"/>
          </a:p>
        </p:txBody>
      </p:sp>
      <p:sp>
        <p:nvSpPr>
          <p:cNvPr id="13" name="Text 11"/>
          <p:cNvSpPr/>
          <p:nvPr/>
        </p:nvSpPr>
        <p:spPr>
          <a:xfrm>
            <a:off x="7013448" y="1883664"/>
            <a:ext cx="213055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test predictions</a:t>
            </a:r>
            <a:endParaRPr lang="en-US" sz="1000" dirty="0"/>
          </a:p>
        </p:txBody>
      </p:sp>
      <p:sp>
        <p:nvSpPr>
          <p:cNvPr id="14" name="Text 12"/>
          <p:cNvSpPr/>
          <p:nvPr/>
        </p:nvSpPr>
        <p:spPr>
          <a:xfrm>
            <a:off x="7013448" y="2112264"/>
            <a:ext cx="213055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CSV output rows</a:t>
            </a:r>
            <a:endParaRPr lang="en-US" sz="800" dirty="0"/>
          </a:p>
        </p:txBody>
      </p:sp>
      <p:sp>
        <p:nvSpPr>
          <p:cNvPr id="15" name="Shape 13"/>
          <p:cNvSpPr/>
          <p:nvPr/>
        </p:nvSpPr>
        <p:spPr>
          <a:xfrm>
            <a:off x="6812280" y="2633472"/>
            <a:ext cx="2423160" cy="960120"/>
          </a:xfrm>
          <a:prstGeom prst="roundRect">
            <a:avLst>
              <a:gd name="adj" fmla="val 8571"/>
            </a:avLst>
          </a:prstGeom>
          <a:solidFill>
            <a:srgbClr val="FFFFFF"/>
          </a:solidFill>
          <a:ln w="12700">
            <a:solidFill>
              <a:srgbClr val="DDE3EA"/>
            </a:solidFill>
            <a:prstDash val="solid"/>
          </a:ln>
        </p:spPr>
      </p:sp>
      <p:sp>
        <p:nvSpPr>
          <p:cNvPr id="16" name="Shape 14"/>
          <p:cNvSpPr/>
          <p:nvPr/>
        </p:nvSpPr>
        <p:spPr>
          <a:xfrm>
            <a:off x="6812280" y="2633472"/>
            <a:ext cx="64008" cy="960120"/>
          </a:xfrm>
          <a:prstGeom prst="rect">
            <a:avLst/>
          </a:prstGeom>
          <a:solidFill>
            <a:srgbClr val="1C7ED6"/>
          </a:solidFill>
          <a:ln w="12700">
            <a:solidFill>
              <a:srgbClr val="1C7ED6">
                <a:alpha val="0"/>
              </a:srgbClr>
            </a:solidFill>
            <a:prstDash val="solid"/>
          </a:ln>
        </p:spPr>
      </p:sp>
      <p:sp>
        <p:nvSpPr>
          <p:cNvPr id="17" name="Text 15"/>
          <p:cNvSpPr/>
          <p:nvPr/>
        </p:nvSpPr>
        <p:spPr>
          <a:xfrm>
            <a:off x="7013448" y="2743200"/>
            <a:ext cx="2130552" cy="329184"/>
          </a:xfrm>
          <a:prstGeom prst="rect">
            <a:avLst/>
          </a:prstGeom>
          <a:noFill/>
          <a:ln/>
        </p:spPr>
        <p:txBody>
          <a:bodyPr wrap="square" lIns="0" tIns="0" rIns="0" bIns="0" rtlCol="0" anchor="ctr">
            <a:normAutofit/>
          </a:bodyPr>
          <a:lstStyle/>
          <a:p>
            <a:pPr indent="0" marL="0">
              <a:buNone/>
            </a:pPr>
            <a:r>
              <a:rPr lang="en-US" sz="2000" b="1" dirty="0">
                <a:solidFill>
                  <a:srgbClr val="1C7ED6"/>
                </a:solidFill>
                <a:latin typeface="Arial" pitchFamily="34" charset="0"/>
                <a:ea typeface="Arial" pitchFamily="34" charset="-122"/>
                <a:cs typeface="Arial" pitchFamily="34" charset="-120"/>
              </a:rPr>
              <a:t>2,760</a:t>
            </a:r>
            <a:endParaRPr lang="en-US" sz="2000" dirty="0"/>
          </a:p>
        </p:txBody>
      </p:sp>
      <p:sp>
        <p:nvSpPr>
          <p:cNvPr id="18" name="Text 16"/>
          <p:cNvSpPr/>
          <p:nvPr/>
        </p:nvSpPr>
        <p:spPr>
          <a:xfrm>
            <a:off x="7013448" y="3127248"/>
            <a:ext cx="2130552" cy="201168"/>
          </a:xfrm>
          <a:prstGeom prst="rect">
            <a:avLst/>
          </a:prstGeom>
          <a:noFill/>
          <a:ln/>
        </p:spPr>
        <p:txBody>
          <a:bodyPr wrap="square" lIns="0" tIns="0" rIns="0" bIns="0" rtlCol="0" anchor="ctr">
            <a:normAutofit/>
          </a:bodyPr>
          <a:lstStyle/>
          <a:p>
            <a:pPr indent="0" marL="0">
              <a:buNone/>
            </a:pPr>
            <a:r>
              <a:rPr lang="en-US" sz="1000" b="1" dirty="0">
                <a:solidFill>
                  <a:srgbClr val="0B132B"/>
                </a:solidFill>
                <a:latin typeface="Arial" pitchFamily="34" charset="0"/>
                <a:ea typeface="Arial" pitchFamily="34" charset="-122"/>
                <a:cs typeface="Arial" pitchFamily="34" charset="-120"/>
              </a:rPr>
              <a:t>SQLite records</a:t>
            </a:r>
            <a:endParaRPr lang="en-US" sz="1000" dirty="0"/>
          </a:p>
        </p:txBody>
      </p:sp>
      <p:sp>
        <p:nvSpPr>
          <p:cNvPr id="19" name="Text 17"/>
          <p:cNvSpPr/>
          <p:nvPr/>
        </p:nvSpPr>
        <p:spPr>
          <a:xfrm>
            <a:off x="7013448" y="3355848"/>
            <a:ext cx="2130552" cy="192024"/>
          </a:xfrm>
          <a:prstGeom prst="rect">
            <a:avLst/>
          </a:prstGeom>
          <a:noFill/>
          <a:ln/>
        </p:spPr>
        <p:txBody>
          <a:bodyPr wrap="square" lIns="0" tIns="0" rIns="0" bIns="0" rtlCol="0" anchor="ctr">
            <a:normAutofit/>
          </a:bodyPr>
          <a:lstStyle/>
          <a:p>
            <a:pPr indent="0" marL="0">
              <a:buNone/>
            </a:pPr>
            <a:r>
              <a:rPr lang="en-US" sz="800" dirty="0">
                <a:solidFill>
                  <a:srgbClr val="6C757D"/>
                </a:solidFill>
                <a:latin typeface="Arial" pitchFamily="34" charset="0"/>
                <a:ea typeface="Arial" pitchFamily="34" charset="-122"/>
                <a:cs typeface="Arial" pitchFamily="34" charset="-120"/>
              </a:rPr>
              <a:t>model_predictions table</a:t>
            </a:r>
            <a:endParaRPr lang="en-US" sz="800" dirty="0"/>
          </a:p>
        </p:txBody>
      </p:sp>
      <p:sp>
        <p:nvSpPr>
          <p:cNvPr id="20" name="Shape 18"/>
          <p:cNvSpPr/>
          <p:nvPr/>
        </p:nvSpPr>
        <p:spPr>
          <a:xfrm>
            <a:off x="804672" y="3950208"/>
            <a:ext cx="3017520" cy="987552"/>
          </a:xfrm>
          <a:prstGeom prst="roundRect">
            <a:avLst>
              <a:gd name="adj" fmla="val 8333"/>
            </a:avLst>
          </a:prstGeom>
          <a:solidFill>
            <a:srgbClr val="E6FCF5"/>
          </a:solidFill>
          <a:ln w="12700">
            <a:solidFill>
              <a:srgbClr val="DDE3EA"/>
            </a:solidFill>
            <a:prstDash val="solid"/>
          </a:ln>
        </p:spPr>
      </p:sp>
      <p:sp>
        <p:nvSpPr>
          <p:cNvPr id="21" name="Text 19"/>
          <p:cNvSpPr/>
          <p:nvPr/>
        </p:nvSpPr>
        <p:spPr>
          <a:xfrm>
            <a:off x="1005840" y="4096512"/>
            <a:ext cx="261518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CSV artifact</a:t>
            </a:r>
            <a:endParaRPr lang="en-US" sz="1200" dirty="0"/>
          </a:p>
        </p:txBody>
      </p:sp>
      <p:sp>
        <p:nvSpPr>
          <p:cNvPr id="22" name="Text 20"/>
          <p:cNvSpPr/>
          <p:nvPr/>
        </p:nvSpPr>
        <p:spPr>
          <a:xfrm>
            <a:off x="1005840" y="4425696"/>
            <a:ext cx="2615184" cy="384048"/>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outputs/final_predictions.csv contains IDs, true values, predicted prices, errors, intervals and component predictions.</a:t>
            </a:r>
            <a:endParaRPr lang="en-US" sz="1020" dirty="0"/>
          </a:p>
        </p:txBody>
      </p:sp>
      <p:sp>
        <p:nvSpPr>
          <p:cNvPr id="23" name="Shape 21"/>
          <p:cNvSpPr/>
          <p:nvPr/>
        </p:nvSpPr>
        <p:spPr>
          <a:xfrm>
            <a:off x="4069080" y="3950208"/>
            <a:ext cx="3017520" cy="987552"/>
          </a:xfrm>
          <a:prstGeom prst="roundRect">
            <a:avLst>
              <a:gd name="adj" fmla="val 8333"/>
            </a:avLst>
          </a:prstGeom>
          <a:solidFill>
            <a:srgbClr val="E7F5FF"/>
          </a:solidFill>
          <a:ln w="12700">
            <a:solidFill>
              <a:srgbClr val="DDE3EA"/>
            </a:solidFill>
            <a:prstDash val="solid"/>
          </a:ln>
        </p:spPr>
      </p:sp>
      <p:sp>
        <p:nvSpPr>
          <p:cNvPr id="24" name="Text 22"/>
          <p:cNvSpPr/>
          <p:nvPr/>
        </p:nvSpPr>
        <p:spPr>
          <a:xfrm>
            <a:off x="4270248" y="4096512"/>
            <a:ext cx="261518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SQLite table</a:t>
            </a:r>
            <a:endParaRPr lang="en-US" sz="1200" dirty="0"/>
          </a:p>
        </p:txBody>
      </p:sp>
      <p:sp>
        <p:nvSpPr>
          <p:cNvPr id="25" name="Text 23"/>
          <p:cNvSpPr/>
          <p:nvPr/>
        </p:nvSpPr>
        <p:spPr>
          <a:xfrm>
            <a:off x="4270248" y="4425696"/>
            <a:ext cx="2615184" cy="384048"/>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database/modeling.db → model_predictions keeps final predictions queryable for later analysis.</a:t>
            </a:r>
            <a:endParaRPr lang="en-US" sz="1020" dirty="0"/>
          </a:p>
        </p:txBody>
      </p:sp>
      <p:sp>
        <p:nvSpPr>
          <p:cNvPr id="26" name="Shape 24"/>
          <p:cNvSpPr/>
          <p:nvPr/>
        </p:nvSpPr>
        <p:spPr>
          <a:xfrm>
            <a:off x="7333488" y="3950208"/>
            <a:ext cx="3017520" cy="987552"/>
          </a:xfrm>
          <a:prstGeom prst="roundRect">
            <a:avLst>
              <a:gd name="adj" fmla="val 8333"/>
            </a:avLst>
          </a:prstGeom>
          <a:solidFill>
            <a:srgbClr val="FFF4E6"/>
          </a:solidFill>
          <a:ln w="12700">
            <a:solidFill>
              <a:srgbClr val="DDE3EA"/>
            </a:solidFill>
            <a:prstDash val="solid"/>
          </a:ln>
        </p:spPr>
      </p:sp>
      <p:sp>
        <p:nvSpPr>
          <p:cNvPr id="27" name="Text 25"/>
          <p:cNvSpPr/>
          <p:nvPr/>
        </p:nvSpPr>
        <p:spPr>
          <a:xfrm>
            <a:off x="7534656" y="4096512"/>
            <a:ext cx="261518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Saved model</a:t>
            </a:r>
            <a:endParaRPr lang="en-US" sz="1200" dirty="0"/>
          </a:p>
        </p:txBody>
      </p:sp>
      <p:sp>
        <p:nvSpPr>
          <p:cNvPr id="28" name="Text 26"/>
          <p:cNvSpPr/>
          <p:nvPr/>
        </p:nvSpPr>
        <p:spPr>
          <a:xfrm>
            <a:off x="7534656" y="4425696"/>
            <a:ext cx="2615184" cy="384048"/>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models/best_model.joblib loads the final ensemble; prediction does not retrain on test data.</a:t>
            </a:r>
            <a:endParaRPr lang="en-US" sz="1020" dirty="0"/>
          </a:p>
        </p:txBody>
      </p:sp>
      <p:sp>
        <p:nvSpPr>
          <p:cNvPr id="29" name="Text 27"/>
          <p:cNvSpPr/>
          <p:nvPr/>
        </p:nvSpPr>
        <p:spPr>
          <a:xfrm>
            <a:off x="868680" y="5596128"/>
            <a:ext cx="9875520" cy="329184"/>
          </a:xfrm>
          <a:prstGeom prst="rect">
            <a:avLst/>
          </a:prstGeom>
          <a:noFill/>
          <a:ln/>
        </p:spPr>
        <p:txBody>
          <a:bodyPr wrap="square" lIns="0" tIns="0" rIns="0" bIns="0" rtlCol="0" anchor="ctr">
            <a:normAutofit/>
          </a:bodyPr>
          <a:lstStyle/>
          <a:p>
            <a:pPr indent="0" marL="0">
              <a:buNone/>
            </a:pPr>
            <a:r>
              <a:rPr lang="en-US" sz="1310" b="1" dirty="0">
                <a:solidFill>
                  <a:srgbClr val="0B132B"/>
                </a:solidFill>
                <a:latin typeface="Arial" pitchFamily="34" charset="0"/>
                <a:ea typeface="Arial" pitchFamily="34" charset="-122"/>
                <a:cs typeface="Arial" pitchFamily="34" charset="-120"/>
              </a:rPr>
              <a:t>Inference uses the saved final model; the training pipeline remains reproducible separately through run_pipeline.py.</a:t>
            </a:r>
            <a:endParaRPr lang="en-US" sz="13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HOW THE OUTPUT CAN SUPPORT DECISIONS</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Business and real-world interpretation</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13</a:t>
            </a:r>
            <a:endParaRPr lang="en-US" sz="950" dirty="0"/>
          </a:p>
        </p:txBody>
      </p:sp>
      <p:sp>
        <p:nvSpPr>
          <p:cNvPr id="8" name="Shape 6"/>
          <p:cNvSpPr/>
          <p:nvPr/>
        </p:nvSpPr>
        <p:spPr>
          <a:xfrm>
            <a:off x="713232" y="1371600"/>
            <a:ext cx="2788920" cy="1234440"/>
          </a:xfrm>
          <a:prstGeom prst="roundRect">
            <a:avLst>
              <a:gd name="adj" fmla="val 6667"/>
            </a:avLst>
          </a:prstGeom>
          <a:solidFill>
            <a:srgbClr val="E7F5FF"/>
          </a:solidFill>
          <a:ln w="12700">
            <a:solidFill>
              <a:srgbClr val="DDE3EA"/>
            </a:solidFill>
            <a:prstDash val="solid"/>
          </a:ln>
        </p:spPr>
      </p:sp>
      <p:sp>
        <p:nvSpPr>
          <p:cNvPr id="9" name="Text 7"/>
          <p:cNvSpPr/>
          <p:nvPr/>
        </p:nvSpPr>
        <p:spPr>
          <a:xfrm>
            <a:off x="914400" y="1517904"/>
            <a:ext cx="238658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Valuation screening</a:t>
            </a:r>
            <a:endParaRPr lang="en-US" sz="1200" dirty="0"/>
          </a:p>
        </p:txBody>
      </p:sp>
      <p:sp>
        <p:nvSpPr>
          <p:cNvPr id="10" name="Text 8"/>
          <p:cNvSpPr/>
          <p:nvPr/>
        </p:nvSpPr>
        <p:spPr>
          <a:xfrm>
            <a:off x="914400" y="184708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Estimate a likely price range for a listing and compare it with the observed listing price.</a:t>
            </a:r>
            <a:endParaRPr lang="en-US" sz="1020" dirty="0"/>
          </a:p>
        </p:txBody>
      </p:sp>
      <p:sp>
        <p:nvSpPr>
          <p:cNvPr id="11" name="Shape 9"/>
          <p:cNvSpPr/>
          <p:nvPr/>
        </p:nvSpPr>
        <p:spPr>
          <a:xfrm>
            <a:off x="3794760" y="1371600"/>
            <a:ext cx="2788920" cy="1234440"/>
          </a:xfrm>
          <a:prstGeom prst="roundRect">
            <a:avLst>
              <a:gd name="adj" fmla="val 6667"/>
            </a:avLst>
          </a:prstGeom>
          <a:solidFill>
            <a:srgbClr val="FFF0F6"/>
          </a:solidFill>
          <a:ln w="12700">
            <a:solidFill>
              <a:srgbClr val="DDE3EA"/>
            </a:solidFill>
            <a:prstDash val="solid"/>
          </a:ln>
        </p:spPr>
      </p:sp>
      <p:sp>
        <p:nvSpPr>
          <p:cNvPr id="12" name="Text 10"/>
          <p:cNvSpPr/>
          <p:nvPr/>
        </p:nvSpPr>
        <p:spPr>
          <a:xfrm>
            <a:off x="3995928" y="1517904"/>
            <a:ext cx="238658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Pricing anomaly detection</a:t>
            </a:r>
            <a:endParaRPr lang="en-US" sz="1200" dirty="0"/>
          </a:p>
        </p:txBody>
      </p:sp>
      <p:sp>
        <p:nvSpPr>
          <p:cNvPr id="13" name="Text 11"/>
          <p:cNvSpPr/>
          <p:nvPr/>
        </p:nvSpPr>
        <p:spPr>
          <a:xfrm>
            <a:off x="3995928" y="184708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Flag listings whose price is far above or below the model-implied range for manual review.</a:t>
            </a:r>
            <a:endParaRPr lang="en-US" sz="1020" dirty="0"/>
          </a:p>
        </p:txBody>
      </p:sp>
      <p:sp>
        <p:nvSpPr>
          <p:cNvPr id="14" name="Shape 12"/>
          <p:cNvSpPr/>
          <p:nvPr/>
        </p:nvSpPr>
        <p:spPr>
          <a:xfrm>
            <a:off x="6876288" y="1371600"/>
            <a:ext cx="2788920" cy="1234440"/>
          </a:xfrm>
          <a:prstGeom prst="roundRect">
            <a:avLst>
              <a:gd name="adj" fmla="val 6667"/>
            </a:avLst>
          </a:prstGeom>
          <a:solidFill>
            <a:srgbClr val="E6FCF5"/>
          </a:solidFill>
          <a:ln w="12700">
            <a:solidFill>
              <a:srgbClr val="DDE3EA"/>
            </a:solidFill>
            <a:prstDash val="solid"/>
          </a:ln>
        </p:spPr>
      </p:sp>
      <p:sp>
        <p:nvSpPr>
          <p:cNvPr id="15" name="Text 13"/>
          <p:cNvSpPr/>
          <p:nvPr/>
        </p:nvSpPr>
        <p:spPr>
          <a:xfrm>
            <a:off x="7077456" y="1517904"/>
            <a:ext cx="238658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Portfolio analytics</a:t>
            </a:r>
            <a:endParaRPr lang="en-US" sz="1200" dirty="0"/>
          </a:p>
        </p:txBody>
      </p:sp>
      <p:sp>
        <p:nvSpPr>
          <p:cNvPr id="16" name="Text 14"/>
          <p:cNvSpPr/>
          <p:nvPr/>
        </p:nvSpPr>
        <p:spPr>
          <a:xfrm>
            <a:off x="7077456" y="184708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Aggregate model residuals by city, property type or price range to find systematic patterns.</a:t>
            </a:r>
            <a:endParaRPr lang="en-US" sz="1020" dirty="0"/>
          </a:p>
        </p:txBody>
      </p:sp>
      <p:sp>
        <p:nvSpPr>
          <p:cNvPr id="17" name="Shape 15"/>
          <p:cNvSpPr/>
          <p:nvPr/>
        </p:nvSpPr>
        <p:spPr>
          <a:xfrm>
            <a:off x="713232" y="3063240"/>
            <a:ext cx="2788920" cy="1234440"/>
          </a:xfrm>
          <a:prstGeom prst="roundRect">
            <a:avLst>
              <a:gd name="adj" fmla="val 6667"/>
            </a:avLst>
          </a:prstGeom>
          <a:solidFill>
            <a:srgbClr val="FFF4E6"/>
          </a:solidFill>
          <a:ln w="12700">
            <a:solidFill>
              <a:srgbClr val="DDE3EA"/>
            </a:solidFill>
            <a:prstDash val="solid"/>
          </a:ln>
        </p:spPr>
      </p:sp>
      <p:sp>
        <p:nvSpPr>
          <p:cNvPr id="18" name="Text 16"/>
          <p:cNvSpPr/>
          <p:nvPr/>
        </p:nvSpPr>
        <p:spPr>
          <a:xfrm>
            <a:off x="914400" y="3209544"/>
            <a:ext cx="238658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Buyer support</a:t>
            </a:r>
            <a:endParaRPr lang="en-US" sz="1200" dirty="0"/>
          </a:p>
        </p:txBody>
      </p:sp>
      <p:sp>
        <p:nvSpPr>
          <p:cNvPr id="19" name="Text 17"/>
          <p:cNvSpPr/>
          <p:nvPr/>
        </p:nvSpPr>
        <p:spPr>
          <a:xfrm>
            <a:off x="914400" y="353872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Use predicted ranges as a benchmark during initial search and negotiation.</a:t>
            </a:r>
            <a:endParaRPr lang="en-US" sz="1020" dirty="0"/>
          </a:p>
        </p:txBody>
      </p:sp>
      <p:sp>
        <p:nvSpPr>
          <p:cNvPr id="20" name="Shape 18"/>
          <p:cNvSpPr/>
          <p:nvPr/>
        </p:nvSpPr>
        <p:spPr>
          <a:xfrm>
            <a:off x="3794760" y="3063240"/>
            <a:ext cx="2788920" cy="1234440"/>
          </a:xfrm>
          <a:prstGeom prst="roundRect">
            <a:avLst>
              <a:gd name="adj" fmla="val 6667"/>
            </a:avLst>
          </a:prstGeom>
          <a:solidFill>
            <a:srgbClr val="E7F5FF"/>
          </a:solidFill>
          <a:ln w="12700">
            <a:solidFill>
              <a:srgbClr val="DDE3EA"/>
            </a:solidFill>
            <a:prstDash val="solid"/>
          </a:ln>
        </p:spPr>
      </p:sp>
      <p:sp>
        <p:nvSpPr>
          <p:cNvPr id="21" name="Text 19"/>
          <p:cNvSpPr/>
          <p:nvPr/>
        </p:nvSpPr>
        <p:spPr>
          <a:xfrm>
            <a:off x="3995928" y="3209544"/>
            <a:ext cx="238658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Seller support</a:t>
            </a:r>
            <a:endParaRPr lang="en-US" sz="1200" dirty="0"/>
          </a:p>
        </p:txBody>
      </p:sp>
      <p:sp>
        <p:nvSpPr>
          <p:cNvPr id="22" name="Text 20"/>
          <p:cNvSpPr/>
          <p:nvPr/>
        </p:nvSpPr>
        <p:spPr>
          <a:xfrm>
            <a:off x="3995928" y="353872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Provide a data-driven starting point for listing strategy before human appraisal.</a:t>
            </a:r>
            <a:endParaRPr lang="en-US" sz="1020" dirty="0"/>
          </a:p>
        </p:txBody>
      </p:sp>
      <p:sp>
        <p:nvSpPr>
          <p:cNvPr id="23" name="Shape 21"/>
          <p:cNvSpPr/>
          <p:nvPr/>
        </p:nvSpPr>
        <p:spPr>
          <a:xfrm>
            <a:off x="6876288" y="3063240"/>
            <a:ext cx="2788920" cy="1234440"/>
          </a:xfrm>
          <a:prstGeom prst="roundRect">
            <a:avLst>
              <a:gd name="adj" fmla="val 6667"/>
            </a:avLst>
          </a:prstGeom>
          <a:solidFill>
            <a:srgbClr val="E6FCF5"/>
          </a:solidFill>
          <a:ln w="12700">
            <a:solidFill>
              <a:srgbClr val="DDE3EA"/>
            </a:solidFill>
            <a:prstDash val="solid"/>
          </a:ln>
        </p:spPr>
      </p:sp>
      <p:sp>
        <p:nvSpPr>
          <p:cNvPr id="24" name="Text 22"/>
          <p:cNvSpPr/>
          <p:nvPr/>
        </p:nvSpPr>
        <p:spPr>
          <a:xfrm>
            <a:off x="7077456" y="3209544"/>
            <a:ext cx="238658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Operations</a:t>
            </a:r>
            <a:endParaRPr lang="en-US" sz="1200" dirty="0"/>
          </a:p>
        </p:txBody>
      </p:sp>
      <p:sp>
        <p:nvSpPr>
          <p:cNvPr id="25" name="Text 23"/>
          <p:cNvSpPr/>
          <p:nvPr/>
        </p:nvSpPr>
        <p:spPr>
          <a:xfrm>
            <a:off x="7077456" y="3538728"/>
            <a:ext cx="2386584" cy="63093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Store predictions in SQL so they can be queried, audited, and integrated with dashboards.</a:t>
            </a:r>
            <a:endParaRPr lang="en-US" sz="1020" dirty="0"/>
          </a:p>
        </p:txBody>
      </p:sp>
      <p:sp>
        <p:nvSpPr>
          <p:cNvPr id="26" name="Text 24"/>
          <p:cNvSpPr/>
          <p:nvPr/>
        </p:nvSpPr>
        <p:spPr>
          <a:xfrm>
            <a:off x="868680" y="5440680"/>
            <a:ext cx="9692640" cy="384048"/>
          </a:xfrm>
          <a:prstGeom prst="rect">
            <a:avLst/>
          </a:prstGeom>
          <a:noFill/>
          <a:ln/>
        </p:spPr>
        <p:txBody>
          <a:bodyPr wrap="square" lIns="0" tIns="0" rIns="0" bIns="0" rtlCol="0" anchor="ctr">
            <a:normAutofit/>
          </a:bodyPr>
          <a:lstStyle/>
          <a:p>
            <a:pPr algn="ctr" indent="0" marL="0">
              <a:buNone/>
            </a:pPr>
            <a:r>
              <a:rPr lang="en-US" sz="1400" b="1" dirty="0">
                <a:solidFill>
                  <a:srgbClr val="0B132B"/>
                </a:solidFill>
                <a:latin typeface="Arial" pitchFamily="34" charset="0"/>
                <a:ea typeface="Arial" pitchFamily="34" charset="-122"/>
                <a:cs typeface="Arial" pitchFamily="34" charset="-120"/>
              </a:rPr>
              <a:t>The model is decision support, not an appraisal substitute: high-value and unusual listings still require expert review.</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WHAT WE CONTROL NOW AND WHAT SHOULD IMPROVE NEXT</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Limitations and scientific defensibility</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14</a:t>
            </a:r>
            <a:endParaRPr lang="en-US" sz="950" dirty="0"/>
          </a:p>
        </p:txBody>
      </p:sp>
      <p:sp>
        <p:nvSpPr>
          <p:cNvPr id="8" name="Shape 6"/>
          <p:cNvSpPr/>
          <p:nvPr/>
        </p:nvSpPr>
        <p:spPr>
          <a:xfrm>
            <a:off x="749808" y="1353312"/>
            <a:ext cx="2971800" cy="1097280"/>
          </a:xfrm>
          <a:prstGeom prst="roundRect">
            <a:avLst>
              <a:gd name="adj" fmla="val 7500"/>
            </a:avLst>
          </a:prstGeom>
          <a:solidFill>
            <a:srgbClr val="FFF0F6"/>
          </a:solidFill>
          <a:ln w="12700">
            <a:solidFill>
              <a:srgbClr val="DDE3EA"/>
            </a:solidFill>
            <a:prstDash val="solid"/>
          </a:ln>
        </p:spPr>
      </p:sp>
      <p:sp>
        <p:nvSpPr>
          <p:cNvPr id="9" name="Text 7"/>
          <p:cNvSpPr/>
          <p:nvPr/>
        </p:nvSpPr>
        <p:spPr>
          <a:xfrm>
            <a:off x="950976" y="1499616"/>
            <a:ext cx="256946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Temporal generalization</a:t>
            </a:r>
            <a:endParaRPr lang="en-US" sz="1200" dirty="0"/>
          </a:p>
        </p:txBody>
      </p:sp>
      <p:sp>
        <p:nvSpPr>
          <p:cNvPr id="10" name="Text 8"/>
          <p:cNvSpPr/>
          <p:nvPr/>
        </p:nvSpPr>
        <p:spPr>
          <a:xfrm>
            <a:off x="950976" y="1828800"/>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The data is a limited snapshot. A future listing holdout is needed to prove performance over time.</a:t>
            </a:r>
            <a:endParaRPr lang="en-US" sz="1020" dirty="0"/>
          </a:p>
        </p:txBody>
      </p:sp>
      <p:sp>
        <p:nvSpPr>
          <p:cNvPr id="11" name="Shape 9"/>
          <p:cNvSpPr/>
          <p:nvPr/>
        </p:nvSpPr>
        <p:spPr>
          <a:xfrm>
            <a:off x="3977640" y="1353312"/>
            <a:ext cx="2971800" cy="1097280"/>
          </a:xfrm>
          <a:prstGeom prst="roundRect">
            <a:avLst>
              <a:gd name="adj" fmla="val 7500"/>
            </a:avLst>
          </a:prstGeom>
          <a:solidFill>
            <a:srgbClr val="FFF4E6"/>
          </a:solidFill>
          <a:ln w="12700">
            <a:solidFill>
              <a:srgbClr val="DDE3EA"/>
            </a:solidFill>
            <a:prstDash val="solid"/>
          </a:ln>
        </p:spPr>
      </p:sp>
      <p:sp>
        <p:nvSpPr>
          <p:cNvPr id="12" name="Text 10"/>
          <p:cNvSpPr/>
          <p:nvPr/>
        </p:nvSpPr>
        <p:spPr>
          <a:xfrm>
            <a:off x="4178808" y="1499616"/>
            <a:ext cx="256946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Crawl-related signals</a:t>
            </a:r>
            <a:endParaRPr lang="en-US" sz="1200" dirty="0"/>
          </a:p>
        </p:txBody>
      </p:sp>
      <p:sp>
        <p:nvSpPr>
          <p:cNvPr id="13" name="Text 11"/>
          <p:cNvSpPr/>
          <p:nvPr/>
        </p:nvSpPr>
        <p:spPr>
          <a:xfrm>
            <a:off x="4178808" y="1828800"/>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source_page_number and scrape metadata may capture Redfin ranking behavior; ablation should test this.</a:t>
            </a:r>
            <a:endParaRPr lang="en-US" sz="1020" dirty="0"/>
          </a:p>
        </p:txBody>
      </p:sp>
      <p:sp>
        <p:nvSpPr>
          <p:cNvPr id="14" name="Shape 12"/>
          <p:cNvSpPr/>
          <p:nvPr/>
        </p:nvSpPr>
        <p:spPr>
          <a:xfrm>
            <a:off x="7205472" y="1353312"/>
            <a:ext cx="2971800" cy="1097280"/>
          </a:xfrm>
          <a:prstGeom prst="roundRect">
            <a:avLst>
              <a:gd name="adj" fmla="val 7500"/>
            </a:avLst>
          </a:prstGeom>
          <a:solidFill>
            <a:srgbClr val="E7F5FF"/>
          </a:solidFill>
          <a:ln w="12700">
            <a:solidFill>
              <a:srgbClr val="DDE3EA"/>
            </a:solidFill>
            <a:prstDash val="solid"/>
          </a:ln>
        </p:spPr>
      </p:sp>
      <p:sp>
        <p:nvSpPr>
          <p:cNvPr id="15" name="Text 13"/>
          <p:cNvSpPr/>
          <p:nvPr/>
        </p:nvSpPr>
        <p:spPr>
          <a:xfrm>
            <a:off x="7406640" y="1499616"/>
            <a:ext cx="25694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Raw-data inference</a:t>
            </a:r>
            <a:endParaRPr lang="en-US" sz="1200" dirty="0"/>
          </a:p>
        </p:txBody>
      </p:sp>
      <p:sp>
        <p:nvSpPr>
          <p:cNvPr id="16" name="Text 14"/>
          <p:cNvSpPr/>
          <p:nvPr/>
        </p:nvSpPr>
        <p:spPr>
          <a:xfrm>
            <a:off x="7406640" y="1828800"/>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Production inference should reuse the saved Phase 2 preprocessor for completely raw new listings.</a:t>
            </a:r>
            <a:endParaRPr lang="en-US" sz="1020" dirty="0"/>
          </a:p>
        </p:txBody>
      </p:sp>
      <p:sp>
        <p:nvSpPr>
          <p:cNvPr id="17" name="Shape 15"/>
          <p:cNvSpPr/>
          <p:nvPr/>
        </p:nvSpPr>
        <p:spPr>
          <a:xfrm>
            <a:off x="749808" y="2880360"/>
            <a:ext cx="2971800" cy="1097280"/>
          </a:xfrm>
          <a:prstGeom prst="roundRect">
            <a:avLst>
              <a:gd name="adj" fmla="val 7500"/>
            </a:avLst>
          </a:prstGeom>
          <a:solidFill>
            <a:srgbClr val="E6FCF5"/>
          </a:solidFill>
          <a:ln w="12700">
            <a:solidFill>
              <a:srgbClr val="DDE3EA"/>
            </a:solidFill>
            <a:prstDash val="solid"/>
          </a:ln>
        </p:spPr>
      </p:sp>
      <p:sp>
        <p:nvSpPr>
          <p:cNvPr id="18" name="Text 16"/>
          <p:cNvSpPr/>
          <p:nvPr/>
        </p:nvSpPr>
        <p:spPr>
          <a:xfrm>
            <a:off x="950976" y="3026664"/>
            <a:ext cx="256946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Interpretability</a:t>
            </a:r>
            <a:endParaRPr lang="en-US" sz="1200" dirty="0"/>
          </a:p>
        </p:txBody>
      </p:sp>
      <p:sp>
        <p:nvSpPr>
          <p:cNvPr id="19" name="Text 17"/>
          <p:cNvSpPr/>
          <p:nvPr/>
        </p:nvSpPr>
        <p:spPr>
          <a:xfrm>
            <a:off x="950976" y="3355848"/>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Native feature importance is a diagnostic; SHAP or permutation importance is stronger for reporting.</a:t>
            </a:r>
            <a:endParaRPr lang="en-US" sz="1020" dirty="0"/>
          </a:p>
        </p:txBody>
      </p:sp>
      <p:sp>
        <p:nvSpPr>
          <p:cNvPr id="20" name="Shape 18"/>
          <p:cNvSpPr/>
          <p:nvPr/>
        </p:nvSpPr>
        <p:spPr>
          <a:xfrm>
            <a:off x="3977640" y="2880360"/>
            <a:ext cx="2971800" cy="1097280"/>
          </a:xfrm>
          <a:prstGeom prst="roundRect">
            <a:avLst>
              <a:gd name="adj" fmla="val 7500"/>
            </a:avLst>
          </a:prstGeom>
          <a:solidFill>
            <a:srgbClr val="FFF0F6"/>
          </a:solidFill>
          <a:ln w="12700">
            <a:solidFill>
              <a:srgbClr val="DDE3EA"/>
            </a:solidFill>
            <a:prstDash val="solid"/>
          </a:ln>
        </p:spPr>
      </p:sp>
      <p:sp>
        <p:nvSpPr>
          <p:cNvPr id="21" name="Text 19"/>
          <p:cNvSpPr/>
          <p:nvPr/>
        </p:nvSpPr>
        <p:spPr>
          <a:xfrm>
            <a:off x="4178808" y="3026664"/>
            <a:ext cx="2569464" cy="228600"/>
          </a:xfrm>
          <a:prstGeom prst="rect">
            <a:avLst/>
          </a:prstGeom>
          <a:noFill/>
          <a:ln/>
        </p:spPr>
        <p:txBody>
          <a:bodyPr wrap="square" lIns="0" tIns="0" rIns="0" bIns="0" rtlCol="0" anchor="ctr">
            <a:normAutofit/>
          </a:bodyPr>
          <a:lstStyle/>
          <a:p>
            <a:pPr indent="0" marL="0">
              <a:buNone/>
            </a:pPr>
            <a:r>
              <a:rPr lang="en-US" sz="1200" b="1" dirty="0">
                <a:solidFill>
                  <a:srgbClr val="D6336C"/>
                </a:solidFill>
                <a:latin typeface="Arial" pitchFamily="34" charset="0"/>
                <a:ea typeface="Arial" pitchFamily="34" charset="-122"/>
                <a:cs typeface="Arial" pitchFamily="34" charset="-120"/>
              </a:rPr>
              <a:t>High-price tails</a:t>
            </a:r>
            <a:endParaRPr lang="en-US" sz="1200" dirty="0"/>
          </a:p>
        </p:txBody>
      </p:sp>
      <p:sp>
        <p:nvSpPr>
          <p:cNvPr id="22" name="Text 20"/>
          <p:cNvSpPr/>
          <p:nvPr/>
        </p:nvSpPr>
        <p:spPr>
          <a:xfrm>
            <a:off x="4178808" y="3355848"/>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Dollar RMSE is dominated by luxury outliers; segment-level reporting would be more informative.</a:t>
            </a:r>
            <a:endParaRPr lang="en-US" sz="1020" dirty="0"/>
          </a:p>
        </p:txBody>
      </p:sp>
      <p:sp>
        <p:nvSpPr>
          <p:cNvPr id="23" name="Shape 21"/>
          <p:cNvSpPr/>
          <p:nvPr/>
        </p:nvSpPr>
        <p:spPr>
          <a:xfrm>
            <a:off x="7205472" y="2880360"/>
            <a:ext cx="2971800" cy="1097280"/>
          </a:xfrm>
          <a:prstGeom prst="roundRect">
            <a:avLst>
              <a:gd name="adj" fmla="val 7500"/>
            </a:avLst>
          </a:prstGeom>
          <a:solidFill>
            <a:srgbClr val="E7F5FF"/>
          </a:solidFill>
          <a:ln w="12700">
            <a:solidFill>
              <a:srgbClr val="DDE3EA"/>
            </a:solidFill>
            <a:prstDash val="solid"/>
          </a:ln>
        </p:spPr>
      </p:sp>
      <p:sp>
        <p:nvSpPr>
          <p:cNvPr id="24" name="Text 22"/>
          <p:cNvSpPr/>
          <p:nvPr/>
        </p:nvSpPr>
        <p:spPr>
          <a:xfrm>
            <a:off x="7406640" y="3026664"/>
            <a:ext cx="25694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External validity</a:t>
            </a:r>
            <a:endParaRPr lang="en-US" sz="1200" dirty="0"/>
          </a:p>
        </p:txBody>
      </p:sp>
      <p:sp>
        <p:nvSpPr>
          <p:cNvPr id="25" name="Text 23"/>
          <p:cNvSpPr/>
          <p:nvPr/>
        </p:nvSpPr>
        <p:spPr>
          <a:xfrm>
            <a:off x="7406640" y="3355848"/>
            <a:ext cx="2569464" cy="49377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More cities, dates and market states would improve robustness beyond this NYC snapshot.</a:t>
            </a:r>
            <a:endParaRPr lang="en-US" sz="1020" dirty="0"/>
          </a:p>
        </p:txBody>
      </p:sp>
      <p:sp>
        <p:nvSpPr>
          <p:cNvPr id="26" name="Text 24"/>
          <p:cNvSpPr/>
          <p:nvPr/>
        </p:nvSpPr>
        <p:spPr>
          <a:xfrm>
            <a:off x="868680" y="5230368"/>
            <a:ext cx="9875520" cy="475488"/>
          </a:xfrm>
          <a:prstGeom prst="rect">
            <a:avLst/>
          </a:prstGeom>
          <a:noFill/>
          <a:ln/>
        </p:spPr>
        <p:txBody>
          <a:bodyPr wrap="square" lIns="0" tIns="0" rIns="0" bIns="0" rtlCol="0" anchor="ctr">
            <a:normAutofit/>
          </a:bodyPr>
          <a:lstStyle/>
          <a:p>
            <a:pPr algn="ctr" indent="0" marL="0">
              <a:buNone/>
            </a:pPr>
            <a:r>
              <a:rPr lang="en-US" sz="1400" b="1" dirty="0">
                <a:solidFill>
                  <a:srgbClr val="0B132B"/>
                </a:solidFill>
                <a:latin typeface="Arial" pitchFamily="34" charset="0"/>
                <a:ea typeface="Arial" pitchFamily="34" charset="-122"/>
                <a:cs typeface="Arial" pitchFamily="34" charset="-120"/>
              </a:rPr>
              <a:t>Being explicit about limitations strengthens the project: the current result is strong for this dataset, while future work targets deployment-grade validity.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IMPLEMENTATION STRUCTURE AND REPRODUCIBLE EXECUTION</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Repository structure and clean-code organization</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15</a:t>
            </a:r>
            <a:endParaRPr lang="en-US" sz="950" dirty="0"/>
          </a:p>
        </p:txBody>
      </p:sp>
      <p:sp>
        <p:nvSpPr>
          <p:cNvPr id="8" name="Shape 6"/>
          <p:cNvSpPr/>
          <p:nvPr/>
        </p:nvSpPr>
        <p:spPr>
          <a:xfrm>
            <a:off x="786384" y="1298448"/>
            <a:ext cx="5074920" cy="4343400"/>
          </a:xfrm>
          <a:prstGeom prst="roundRect">
            <a:avLst>
              <a:gd name="adj" fmla="val 2105"/>
            </a:avLst>
          </a:prstGeom>
          <a:solidFill>
            <a:srgbClr val="0B132B"/>
          </a:solidFill>
          <a:ln w="12700">
            <a:solidFill>
              <a:srgbClr val="0B132B">
                <a:alpha val="0"/>
              </a:srgbClr>
            </a:solidFill>
            <a:prstDash val="solid"/>
          </a:ln>
        </p:spPr>
      </p:sp>
      <p:sp>
        <p:nvSpPr>
          <p:cNvPr id="9" name="Text 7"/>
          <p:cNvSpPr/>
          <p:nvPr/>
        </p:nvSpPr>
        <p:spPr>
          <a:xfrm>
            <a:off x="1033272" y="1627632"/>
            <a:ext cx="4572000" cy="3520440"/>
          </a:xfrm>
          <a:prstGeom prst="rect">
            <a:avLst/>
          </a:prstGeom>
          <a:noFill/>
          <a:ln/>
        </p:spPr>
        <p:txBody>
          <a:bodyPr wrap="square" lIns="0" tIns="0" rIns="0" bIns="0" rtlCol="0" anchor="ctr"/>
          <a:lstStyle/>
          <a:p>
            <a:pPr indent="0" marL="0">
              <a:buNone/>
            </a:pPr>
            <a:r>
              <a:rPr lang="en-US" sz="1120" dirty="0">
                <a:solidFill>
                  <a:srgbClr val="FFFFFF"/>
                </a:solidFill>
                <a:latin typeface="Arial" pitchFamily="34" charset="0"/>
                <a:ea typeface="Arial" pitchFamily="34" charset="-122"/>
                <a:cs typeface="Arial" pitchFamily="34" charset="-120"/>
              </a:rPr>
              <a:t>DS_Project_P3_.../</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config/modeling_config.json</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data/model_ready_encoded.csv</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database/modeling.db</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metrics/test_metrics.json</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models/best_model.joblib</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optuna/trials_*.csv</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outputs/final_predictions.csv</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presentation/</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scripts/</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src/</a:t>
            </a:r>
            <a:endParaRPr lang="en-US" sz="1120" dirty="0"/>
          </a:p>
          <a:p>
            <a:pPr indent="0" marL="0">
              <a:buNone/>
            </a:pPr>
            <a:r>
              <a:rPr lang="en-US" sz="1120" dirty="0">
                <a:solidFill>
                  <a:srgbClr val="FFFFFF"/>
                </a:solidFill>
                <a:latin typeface="Arial" pitchFamily="34" charset="0"/>
                <a:ea typeface="Arial" pitchFamily="34" charset="-122"/>
                <a:cs typeface="Arial" pitchFamily="34" charset="-120"/>
              </a:rPr>
              <a:t>└── README.md</a:t>
            </a:r>
            <a:endParaRPr lang="en-US" sz="1120" dirty="0"/>
          </a:p>
        </p:txBody>
      </p:sp>
      <p:sp>
        <p:nvSpPr>
          <p:cNvPr id="10" name="Shape 8"/>
          <p:cNvSpPr/>
          <p:nvPr/>
        </p:nvSpPr>
        <p:spPr>
          <a:xfrm>
            <a:off x="6400800" y="1325880"/>
            <a:ext cx="4206240" cy="960120"/>
          </a:xfrm>
          <a:prstGeom prst="roundRect">
            <a:avLst>
              <a:gd name="adj" fmla="val 8571"/>
            </a:avLst>
          </a:prstGeom>
          <a:solidFill>
            <a:srgbClr val="E6FCF5"/>
          </a:solidFill>
          <a:ln w="12700">
            <a:solidFill>
              <a:srgbClr val="DDE3EA"/>
            </a:solidFill>
            <a:prstDash val="solid"/>
          </a:ln>
        </p:spPr>
      </p:sp>
      <p:sp>
        <p:nvSpPr>
          <p:cNvPr id="11" name="Text 9"/>
          <p:cNvSpPr/>
          <p:nvPr/>
        </p:nvSpPr>
        <p:spPr>
          <a:xfrm>
            <a:off x="6601968" y="1472184"/>
            <a:ext cx="380390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Fast verification</a:t>
            </a:r>
            <a:endParaRPr lang="en-US" sz="1200" dirty="0"/>
          </a:p>
        </p:txBody>
      </p:sp>
      <p:sp>
        <p:nvSpPr>
          <p:cNvPr id="12" name="Text 10"/>
          <p:cNvSpPr/>
          <p:nvPr/>
        </p:nvSpPr>
        <p:spPr>
          <a:xfrm>
            <a:off x="6601968" y="1801368"/>
            <a:ext cx="3803904" cy="35661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scripts/verify_project.py and scripts/validate_submission.py check core artifacts before execution.</a:t>
            </a:r>
            <a:endParaRPr lang="en-US" sz="1020" dirty="0"/>
          </a:p>
        </p:txBody>
      </p:sp>
      <p:sp>
        <p:nvSpPr>
          <p:cNvPr id="13" name="Shape 11"/>
          <p:cNvSpPr/>
          <p:nvPr/>
        </p:nvSpPr>
        <p:spPr>
          <a:xfrm>
            <a:off x="6400800" y="2560320"/>
            <a:ext cx="4206240" cy="960120"/>
          </a:xfrm>
          <a:prstGeom prst="roundRect">
            <a:avLst>
              <a:gd name="adj" fmla="val 8571"/>
            </a:avLst>
          </a:prstGeom>
          <a:solidFill>
            <a:srgbClr val="E7F5FF"/>
          </a:solidFill>
          <a:ln w="12700">
            <a:solidFill>
              <a:srgbClr val="DDE3EA"/>
            </a:solidFill>
            <a:prstDash val="solid"/>
          </a:ln>
        </p:spPr>
      </p:sp>
      <p:sp>
        <p:nvSpPr>
          <p:cNvPr id="14" name="Text 12"/>
          <p:cNvSpPr/>
          <p:nvPr/>
        </p:nvSpPr>
        <p:spPr>
          <a:xfrm>
            <a:off x="6601968" y="2706624"/>
            <a:ext cx="380390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Reproducible prediction</a:t>
            </a:r>
            <a:endParaRPr lang="en-US" sz="1200" dirty="0"/>
          </a:p>
        </p:txBody>
      </p:sp>
      <p:sp>
        <p:nvSpPr>
          <p:cNvPr id="15" name="Text 13"/>
          <p:cNvSpPr/>
          <p:nvPr/>
        </p:nvSpPr>
        <p:spPr>
          <a:xfrm>
            <a:off x="6601968" y="3035808"/>
            <a:ext cx="3803904" cy="35661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run_prediction_pipeline.py loads the saved model and regenerates final_predictions.csv.</a:t>
            </a:r>
            <a:endParaRPr lang="en-US" sz="1020" dirty="0"/>
          </a:p>
        </p:txBody>
      </p:sp>
      <p:sp>
        <p:nvSpPr>
          <p:cNvPr id="16" name="Shape 14"/>
          <p:cNvSpPr/>
          <p:nvPr/>
        </p:nvSpPr>
        <p:spPr>
          <a:xfrm>
            <a:off x="6400800" y="3794760"/>
            <a:ext cx="4206240" cy="960120"/>
          </a:xfrm>
          <a:prstGeom prst="roundRect">
            <a:avLst>
              <a:gd name="adj" fmla="val 8571"/>
            </a:avLst>
          </a:prstGeom>
          <a:solidFill>
            <a:srgbClr val="FFF4E6"/>
          </a:solidFill>
          <a:ln w="12700">
            <a:solidFill>
              <a:srgbClr val="DDE3EA"/>
            </a:solidFill>
            <a:prstDash val="solid"/>
          </a:ln>
        </p:spPr>
      </p:sp>
      <p:sp>
        <p:nvSpPr>
          <p:cNvPr id="17" name="Text 15"/>
          <p:cNvSpPr/>
          <p:nvPr/>
        </p:nvSpPr>
        <p:spPr>
          <a:xfrm>
            <a:off x="6601968" y="3941064"/>
            <a:ext cx="380390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Full retraining path</a:t>
            </a:r>
            <a:endParaRPr lang="en-US" sz="1200" dirty="0"/>
          </a:p>
        </p:txBody>
      </p:sp>
      <p:sp>
        <p:nvSpPr>
          <p:cNvPr id="18" name="Text 16"/>
          <p:cNvSpPr/>
          <p:nvPr/>
        </p:nvSpPr>
        <p:spPr>
          <a:xfrm>
            <a:off x="6601968" y="4270248"/>
            <a:ext cx="3803904" cy="35661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run_pipeline.py can rerun training and prediction; --fresh-studies reruns Optuna from scratch.</a:t>
            </a:r>
            <a:endParaRPr lang="en-US" sz="1020" dirty="0"/>
          </a:p>
        </p:txBody>
      </p:sp>
      <p:sp>
        <p:nvSpPr>
          <p:cNvPr id="19" name="Text 17"/>
          <p:cNvSpPr/>
          <p:nvPr/>
        </p:nvSpPr>
        <p:spPr>
          <a:xfrm>
            <a:off x="868680" y="5989320"/>
            <a:ext cx="9875520" cy="310896"/>
          </a:xfrm>
          <a:prstGeom prst="rect">
            <a:avLst/>
          </a:prstGeom>
          <a:noFill/>
          <a:ln/>
        </p:spPr>
        <p:txBody>
          <a:bodyPr wrap="square" lIns="0" tIns="0" rIns="0" bIns="0" rtlCol="0" anchor="ctr">
            <a:normAutofit/>
          </a:bodyPr>
          <a:lstStyle/>
          <a:p>
            <a:pPr indent="0" marL="0">
              <a:buNone/>
            </a:pPr>
            <a:r>
              <a:rPr lang="en-US" sz="1280" b="1" dirty="0">
                <a:solidFill>
                  <a:srgbClr val="0B132B"/>
                </a:solidFill>
                <a:latin typeface="Arial" pitchFamily="34" charset="0"/>
                <a:ea typeface="Arial" pitchFamily="34" charset="-122"/>
                <a:cs typeface="Arial" pitchFamily="34" charset="-120"/>
              </a:rPr>
              <a:t>Clean-code principle: data access, validation, modeling, metrics, ensemble logic and persistence are separated into scripts/src modules.</a:t>
            </a:r>
            <a:endParaRPr lang="en-US" sz="12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7ED6"/>
          </a:solidFill>
          <a:ln w="12700">
            <a:solidFill>
              <a:srgbClr val="1C7ED6">
                <a:alpha val="0"/>
              </a:srgbClr>
            </a:solidFill>
            <a:prstDash val="solid"/>
          </a:ln>
        </p:spPr>
      </p:sp>
      <p:sp>
        <p:nvSpPr>
          <p:cNvPr id="3" name="Text 1"/>
          <p:cNvSpPr/>
          <p:nvPr/>
        </p:nvSpPr>
        <p:spPr>
          <a:xfrm>
            <a:off x="566928" y="310896"/>
            <a:ext cx="2377440" cy="201168"/>
          </a:xfrm>
          <a:prstGeom prst="rect">
            <a:avLst/>
          </a:prstGeom>
          <a:noFill/>
          <a:ln/>
        </p:spPr>
        <p:txBody>
          <a:bodyPr wrap="square" lIns="0" tIns="0" rIns="0" bIns="0" rtlCol="0" anchor="ctr"/>
          <a:lstStyle/>
          <a:p>
            <a:pPr indent="0" marL="0">
              <a:buNone/>
            </a:pPr>
            <a:r>
              <a:rPr lang="en-US" sz="850" b="1" dirty="0">
                <a:solidFill>
                  <a:srgbClr val="1C7ED6"/>
                </a:solidFill>
                <a:latin typeface="Arial" pitchFamily="34" charset="0"/>
                <a:ea typeface="Arial" pitchFamily="34" charset="-122"/>
                <a:cs typeface="Arial" pitchFamily="34" charset="-120"/>
              </a:rPr>
              <a:t>WHAT THE DEVELOPED SYSTEM DELIVERS</a:t>
            </a:r>
            <a:endParaRPr lang="en-US" sz="850" dirty="0"/>
          </a:p>
        </p:txBody>
      </p:sp>
      <p:sp>
        <p:nvSpPr>
          <p:cNvPr id="4" name="Text 2"/>
          <p:cNvSpPr/>
          <p:nvPr/>
        </p:nvSpPr>
        <p:spPr>
          <a:xfrm>
            <a:off x="566928" y="521208"/>
            <a:ext cx="9966960" cy="438912"/>
          </a:xfrm>
          <a:prstGeom prst="rect">
            <a:avLst/>
          </a:prstGeom>
          <a:noFill/>
          <a:ln/>
        </p:spPr>
        <p:txBody>
          <a:bodyPr wrap="square" lIns="0" tIns="0" rIns="0" bIns="0" rtlCol="0" anchor="ctr">
            <a:normAutofit/>
          </a:bodyPr>
          <a:lstStyle/>
          <a:p>
            <a:pPr indent="0" marL="0">
              <a:buNone/>
            </a:pPr>
            <a:r>
              <a:rPr lang="en-US" sz="2600" b="1" dirty="0">
                <a:solidFill>
                  <a:srgbClr val="0B132B"/>
                </a:solidFill>
                <a:latin typeface="Arial" pitchFamily="34" charset="0"/>
                <a:ea typeface="Arial" pitchFamily="34" charset="-122"/>
                <a:cs typeface="Arial" pitchFamily="34" charset="-120"/>
              </a:rPr>
              <a:t>End-to-end implementation summary</a:t>
            </a:r>
            <a:endParaRPr lang="en-US" sz="2600" dirty="0"/>
          </a:p>
        </p:txBody>
      </p:sp>
      <p:sp>
        <p:nvSpPr>
          <p:cNvPr id="5" name="Shape 3"/>
          <p:cNvSpPr/>
          <p:nvPr/>
        </p:nvSpPr>
        <p:spPr>
          <a:xfrm>
            <a:off x="566928" y="1078992"/>
            <a:ext cx="11064240" cy="18288"/>
          </a:xfrm>
          <a:prstGeom prst="rect">
            <a:avLst/>
          </a:prstGeom>
          <a:solidFill>
            <a:srgbClr val="DDE3EA"/>
          </a:solidFill>
          <a:ln w="12700">
            <a:solidFill>
              <a:srgbClr val="DDE3EA">
                <a:alpha val="0"/>
              </a:srgbClr>
            </a:solidFill>
            <a:prstDash val="solid"/>
          </a:ln>
        </p:spPr>
      </p:sp>
      <p:sp>
        <p:nvSpPr>
          <p:cNvPr id="6" name="Text 4"/>
          <p:cNvSpPr/>
          <p:nvPr/>
        </p:nvSpPr>
        <p:spPr>
          <a:xfrm>
            <a:off x="566928" y="6537960"/>
            <a:ext cx="6400800" cy="164592"/>
          </a:xfrm>
          <a:prstGeom prst="rect">
            <a:avLst/>
          </a:prstGeom>
          <a:noFill/>
          <a:ln/>
        </p:spPr>
        <p:txBody>
          <a:bodyPr wrap="square" lIns="0" tIns="0" rIns="0" bIns="0" rtlCol="0" anchor="ctr"/>
          <a:lstStyle/>
          <a:p>
            <a:pPr indent="0" marL="0">
              <a:buNone/>
            </a:pPr>
            <a:r>
              <a:rPr lang="en-US" sz="780" dirty="0">
                <a:solidFill>
                  <a:srgbClr val="6C757D"/>
                </a:solidFill>
                <a:latin typeface="Arial" pitchFamily="34" charset="0"/>
                <a:ea typeface="Arial" pitchFamily="34" charset="-122"/>
                <a:cs typeface="Arial" pitchFamily="34" charset="-120"/>
              </a:rPr>
              <a:t>NYC Redfin Price Prediction  |  Phase 1-3 Final Presentation</a:t>
            </a:r>
            <a:endParaRPr lang="en-US" sz="780" dirty="0"/>
          </a:p>
        </p:txBody>
      </p:sp>
      <p:sp>
        <p:nvSpPr>
          <p:cNvPr id="7" name="Text 5"/>
          <p:cNvSpPr/>
          <p:nvPr/>
        </p:nvSpPr>
        <p:spPr>
          <a:xfrm>
            <a:off x="11201400" y="6446520"/>
            <a:ext cx="438912" cy="237744"/>
          </a:xfrm>
          <a:prstGeom prst="rect">
            <a:avLst/>
          </a:prstGeom>
          <a:noFill/>
          <a:ln/>
        </p:spPr>
        <p:txBody>
          <a:bodyPr wrap="square" lIns="0" tIns="0" rIns="0" bIns="0" rtlCol="0" anchor="ctr"/>
          <a:lstStyle/>
          <a:p>
            <a:pPr algn="r" indent="0" marL="0">
              <a:buNone/>
            </a:pPr>
            <a:r>
              <a:rPr lang="en-US" sz="950" b="1" dirty="0">
                <a:solidFill>
                  <a:srgbClr val="6C757D"/>
                </a:solidFill>
                <a:latin typeface="Arial" pitchFamily="34" charset="0"/>
                <a:ea typeface="Arial" pitchFamily="34" charset="-122"/>
                <a:cs typeface="Arial" pitchFamily="34" charset="-120"/>
              </a:rPr>
              <a:t>16</a:t>
            </a:r>
            <a:endParaRPr lang="en-US" sz="950" dirty="0"/>
          </a:p>
        </p:txBody>
      </p:sp>
      <p:sp>
        <p:nvSpPr>
          <p:cNvPr id="8" name="Shape 6"/>
          <p:cNvSpPr/>
          <p:nvPr/>
        </p:nvSpPr>
        <p:spPr>
          <a:xfrm>
            <a:off x="749808" y="1417320"/>
            <a:ext cx="1874520" cy="914400"/>
          </a:xfrm>
          <a:prstGeom prst="roundRect">
            <a:avLst>
              <a:gd name="adj" fmla="val 10000"/>
            </a:avLst>
          </a:prstGeom>
          <a:solidFill>
            <a:srgbClr val="FFFFFF"/>
          </a:solidFill>
          <a:ln w="12700">
            <a:solidFill>
              <a:srgbClr val="DDE3EA"/>
            </a:solidFill>
            <a:prstDash val="solid"/>
          </a:ln>
        </p:spPr>
      </p:sp>
      <p:sp>
        <p:nvSpPr>
          <p:cNvPr id="9" name="Text 7"/>
          <p:cNvSpPr/>
          <p:nvPr/>
        </p:nvSpPr>
        <p:spPr>
          <a:xfrm>
            <a:off x="859536" y="1545336"/>
            <a:ext cx="1655064" cy="164592"/>
          </a:xfrm>
          <a:prstGeom prst="rect">
            <a:avLst/>
          </a:prstGeom>
          <a:noFill/>
          <a:ln/>
        </p:spPr>
        <p:txBody>
          <a:bodyPr wrap="square" lIns="0" tIns="0" rIns="0" bIns="0" rtlCol="0" anchor="ctr">
            <a:normAutofit/>
          </a:bodyPr>
          <a:lstStyle/>
          <a:p>
            <a:pPr algn="ctr" indent="0" marL="0">
              <a:buNone/>
            </a:pPr>
            <a:r>
              <a:rPr lang="en-US" sz="1020" b="1" dirty="0">
                <a:solidFill>
                  <a:srgbClr val="1C7ED6"/>
                </a:solidFill>
                <a:latin typeface="Arial" pitchFamily="34" charset="0"/>
                <a:ea typeface="Arial" pitchFamily="34" charset="-122"/>
                <a:cs typeface="Arial" pitchFamily="34" charset="-120"/>
              </a:rPr>
              <a:t>Crawled data</a:t>
            </a:r>
            <a:endParaRPr lang="en-US" sz="1020" dirty="0"/>
          </a:p>
        </p:txBody>
      </p:sp>
      <p:sp>
        <p:nvSpPr>
          <p:cNvPr id="10" name="Text 8"/>
          <p:cNvSpPr/>
          <p:nvPr/>
        </p:nvSpPr>
        <p:spPr>
          <a:xfrm>
            <a:off x="859536" y="1810512"/>
            <a:ext cx="165506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18,580 raw Redfin listings</a:t>
            </a:r>
            <a:endParaRPr lang="en-US" sz="860" dirty="0"/>
          </a:p>
        </p:txBody>
      </p:sp>
      <p:sp>
        <p:nvSpPr>
          <p:cNvPr id="11" name="Shape 9"/>
          <p:cNvSpPr/>
          <p:nvPr/>
        </p:nvSpPr>
        <p:spPr>
          <a:xfrm>
            <a:off x="2834640" y="1417320"/>
            <a:ext cx="1874520" cy="914400"/>
          </a:xfrm>
          <a:prstGeom prst="roundRect">
            <a:avLst>
              <a:gd name="adj" fmla="val 10000"/>
            </a:avLst>
          </a:prstGeom>
          <a:solidFill>
            <a:srgbClr val="FFFFFF"/>
          </a:solidFill>
          <a:ln w="12700">
            <a:solidFill>
              <a:srgbClr val="DDE3EA"/>
            </a:solidFill>
            <a:prstDash val="solid"/>
          </a:ln>
        </p:spPr>
      </p:sp>
      <p:sp>
        <p:nvSpPr>
          <p:cNvPr id="12" name="Text 10"/>
          <p:cNvSpPr/>
          <p:nvPr/>
        </p:nvSpPr>
        <p:spPr>
          <a:xfrm>
            <a:off x="2944368" y="1545336"/>
            <a:ext cx="1655064" cy="164592"/>
          </a:xfrm>
          <a:prstGeom prst="rect">
            <a:avLst/>
          </a:prstGeom>
          <a:noFill/>
          <a:ln/>
        </p:spPr>
        <p:txBody>
          <a:bodyPr wrap="square" lIns="0" tIns="0" rIns="0" bIns="0" rtlCol="0" anchor="ctr">
            <a:normAutofit/>
          </a:bodyPr>
          <a:lstStyle/>
          <a:p>
            <a:pPr algn="ctr" indent="0" marL="0">
              <a:buNone/>
            </a:pPr>
            <a:r>
              <a:rPr lang="en-US" sz="1020" b="1" dirty="0">
                <a:solidFill>
                  <a:srgbClr val="12B886"/>
                </a:solidFill>
                <a:latin typeface="Arial" pitchFamily="34" charset="0"/>
                <a:ea typeface="Arial" pitchFamily="34" charset="-122"/>
                <a:cs typeface="Arial" pitchFamily="34" charset="-120"/>
              </a:rPr>
              <a:t>Clean database</a:t>
            </a:r>
            <a:endParaRPr lang="en-US" sz="1020" dirty="0"/>
          </a:p>
        </p:txBody>
      </p:sp>
      <p:sp>
        <p:nvSpPr>
          <p:cNvPr id="13" name="Text 11"/>
          <p:cNvSpPr/>
          <p:nvPr/>
        </p:nvSpPr>
        <p:spPr>
          <a:xfrm>
            <a:off x="2944368" y="1810512"/>
            <a:ext cx="165506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18,400 validated records in SQLite</a:t>
            </a:r>
            <a:endParaRPr lang="en-US" sz="860" dirty="0"/>
          </a:p>
        </p:txBody>
      </p:sp>
      <p:sp>
        <p:nvSpPr>
          <p:cNvPr id="14" name="Shape 12"/>
          <p:cNvSpPr/>
          <p:nvPr/>
        </p:nvSpPr>
        <p:spPr>
          <a:xfrm>
            <a:off x="4919472" y="1417320"/>
            <a:ext cx="1874520" cy="914400"/>
          </a:xfrm>
          <a:prstGeom prst="roundRect">
            <a:avLst>
              <a:gd name="adj" fmla="val 10000"/>
            </a:avLst>
          </a:prstGeom>
          <a:solidFill>
            <a:srgbClr val="FFFFFF"/>
          </a:solidFill>
          <a:ln w="12700">
            <a:solidFill>
              <a:srgbClr val="DDE3EA"/>
            </a:solidFill>
            <a:prstDash val="solid"/>
          </a:ln>
        </p:spPr>
      </p:sp>
      <p:sp>
        <p:nvSpPr>
          <p:cNvPr id="15" name="Text 13"/>
          <p:cNvSpPr/>
          <p:nvPr/>
        </p:nvSpPr>
        <p:spPr>
          <a:xfrm>
            <a:off x="5029200" y="1545336"/>
            <a:ext cx="1655064" cy="164592"/>
          </a:xfrm>
          <a:prstGeom prst="rect">
            <a:avLst/>
          </a:prstGeom>
          <a:noFill/>
          <a:ln/>
        </p:spPr>
        <p:txBody>
          <a:bodyPr wrap="square" lIns="0" tIns="0" rIns="0" bIns="0" rtlCol="0" anchor="ctr">
            <a:normAutofit/>
          </a:bodyPr>
          <a:lstStyle/>
          <a:p>
            <a:pPr algn="ctr" indent="0" marL="0">
              <a:buNone/>
            </a:pPr>
            <a:r>
              <a:rPr lang="en-US" sz="1020" b="1" dirty="0">
                <a:solidFill>
                  <a:srgbClr val="F59F00"/>
                </a:solidFill>
                <a:latin typeface="Arial" pitchFamily="34" charset="0"/>
                <a:ea typeface="Arial" pitchFamily="34" charset="-122"/>
                <a:cs typeface="Arial" pitchFamily="34" charset="-120"/>
              </a:rPr>
              <a:t>Feature matrix</a:t>
            </a:r>
            <a:endParaRPr lang="en-US" sz="1020" dirty="0"/>
          </a:p>
        </p:txBody>
      </p:sp>
      <p:sp>
        <p:nvSpPr>
          <p:cNvPr id="16" name="Text 14"/>
          <p:cNvSpPr/>
          <p:nvPr/>
        </p:nvSpPr>
        <p:spPr>
          <a:xfrm>
            <a:off x="5029200" y="1810512"/>
            <a:ext cx="165506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414 model-ready predictors</a:t>
            </a:r>
            <a:endParaRPr lang="en-US" sz="860" dirty="0"/>
          </a:p>
        </p:txBody>
      </p:sp>
      <p:sp>
        <p:nvSpPr>
          <p:cNvPr id="17" name="Shape 15"/>
          <p:cNvSpPr/>
          <p:nvPr/>
        </p:nvSpPr>
        <p:spPr>
          <a:xfrm>
            <a:off x="7004304" y="1417320"/>
            <a:ext cx="1874520" cy="914400"/>
          </a:xfrm>
          <a:prstGeom prst="roundRect">
            <a:avLst>
              <a:gd name="adj" fmla="val 10000"/>
            </a:avLst>
          </a:prstGeom>
          <a:solidFill>
            <a:srgbClr val="FFFFFF"/>
          </a:solidFill>
          <a:ln w="12700">
            <a:solidFill>
              <a:srgbClr val="DDE3EA"/>
            </a:solidFill>
            <a:prstDash val="solid"/>
          </a:ln>
        </p:spPr>
      </p:sp>
      <p:sp>
        <p:nvSpPr>
          <p:cNvPr id="18" name="Text 16"/>
          <p:cNvSpPr/>
          <p:nvPr/>
        </p:nvSpPr>
        <p:spPr>
          <a:xfrm>
            <a:off x="7114032" y="1545336"/>
            <a:ext cx="1655064" cy="164592"/>
          </a:xfrm>
          <a:prstGeom prst="rect">
            <a:avLst/>
          </a:prstGeom>
          <a:noFill/>
          <a:ln/>
        </p:spPr>
        <p:txBody>
          <a:bodyPr wrap="square" lIns="0" tIns="0" rIns="0" bIns="0" rtlCol="0" anchor="ctr">
            <a:normAutofit/>
          </a:bodyPr>
          <a:lstStyle/>
          <a:p>
            <a:pPr algn="ctr" indent="0" marL="0">
              <a:buNone/>
            </a:pPr>
            <a:r>
              <a:rPr lang="en-US" sz="1020" b="1" dirty="0">
                <a:solidFill>
                  <a:srgbClr val="D6336C"/>
                </a:solidFill>
                <a:latin typeface="Arial" pitchFamily="34" charset="0"/>
                <a:ea typeface="Arial" pitchFamily="34" charset="-122"/>
                <a:cs typeface="Arial" pitchFamily="34" charset="-120"/>
              </a:rPr>
              <a:t>Tuned models</a:t>
            </a:r>
            <a:endParaRPr lang="en-US" sz="1020" dirty="0"/>
          </a:p>
        </p:txBody>
      </p:sp>
      <p:sp>
        <p:nvSpPr>
          <p:cNvPr id="19" name="Text 17"/>
          <p:cNvSpPr/>
          <p:nvPr/>
        </p:nvSpPr>
        <p:spPr>
          <a:xfrm>
            <a:off x="7114032" y="1810512"/>
            <a:ext cx="165506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Optuna + 5-fold CV</a:t>
            </a:r>
            <a:endParaRPr lang="en-US" sz="860" dirty="0"/>
          </a:p>
        </p:txBody>
      </p:sp>
      <p:sp>
        <p:nvSpPr>
          <p:cNvPr id="20" name="Shape 18"/>
          <p:cNvSpPr/>
          <p:nvPr/>
        </p:nvSpPr>
        <p:spPr>
          <a:xfrm>
            <a:off x="9089136" y="1417320"/>
            <a:ext cx="1874520" cy="914400"/>
          </a:xfrm>
          <a:prstGeom prst="roundRect">
            <a:avLst>
              <a:gd name="adj" fmla="val 10000"/>
            </a:avLst>
          </a:prstGeom>
          <a:solidFill>
            <a:srgbClr val="FFFFFF"/>
          </a:solidFill>
          <a:ln w="12700">
            <a:solidFill>
              <a:srgbClr val="DDE3EA"/>
            </a:solidFill>
            <a:prstDash val="solid"/>
          </a:ln>
        </p:spPr>
      </p:sp>
      <p:sp>
        <p:nvSpPr>
          <p:cNvPr id="21" name="Text 19"/>
          <p:cNvSpPr/>
          <p:nvPr/>
        </p:nvSpPr>
        <p:spPr>
          <a:xfrm>
            <a:off x="9198864" y="1545336"/>
            <a:ext cx="1655064" cy="164592"/>
          </a:xfrm>
          <a:prstGeom prst="rect">
            <a:avLst/>
          </a:prstGeom>
          <a:noFill/>
          <a:ln/>
        </p:spPr>
        <p:txBody>
          <a:bodyPr wrap="square" lIns="0" tIns="0" rIns="0" bIns="0" rtlCol="0" anchor="ctr">
            <a:normAutofit/>
          </a:bodyPr>
          <a:lstStyle/>
          <a:p>
            <a:pPr algn="ctr" indent="0" marL="0">
              <a:buNone/>
            </a:pPr>
            <a:r>
              <a:rPr lang="en-US" sz="1020" b="1" dirty="0">
                <a:solidFill>
                  <a:srgbClr val="15AABF"/>
                </a:solidFill>
                <a:latin typeface="Arial" pitchFamily="34" charset="0"/>
                <a:ea typeface="Arial" pitchFamily="34" charset="-122"/>
                <a:cs typeface="Arial" pitchFamily="34" charset="-120"/>
              </a:rPr>
              <a:t>Saved outputs</a:t>
            </a:r>
            <a:endParaRPr lang="en-US" sz="1020" dirty="0"/>
          </a:p>
        </p:txBody>
      </p:sp>
      <p:sp>
        <p:nvSpPr>
          <p:cNvPr id="22" name="Text 20"/>
          <p:cNvSpPr/>
          <p:nvPr/>
        </p:nvSpPr>
        <p:spPr>
          <a:xfrm>
            <a:off x="9198864" y="1810512"/>
            <a:ext cx="1655064" cy="365760"/>
          </a:xfrm>
          <a:prstGeom prst="rect">
            <a:avLst/>
          </a:prstGeom>
          <a:noFill/>
          <a:ln/>
        </p:spPr>
        <p:txBody>
          <a:bodyPr wrap="square" lIns="0" tIns="0" rIns="0" bIns="0" rtlCol="0" anchor="ctr">
            <a:normAutofit/>
          </a:bodyPr>
          <a:lstStyle/>
          <a:p>
            <a:pPr algn="ctr" indent="0" marL="0">
              <a:buNone/>
            </a:pPr>
            <a:r>
              <a:rPr lang="en-US" sz="860" dirty="0">
                <a:solidFill>
                  <a:srgbClr val="495057"/>
                </a:solidFill>
                <a:latin typeface="Arial" pitchFamily="34" charset="0"/>
                <a:ea typeface="Arial" pitchFamily="34" charset="-122"/>
                <a:cs typeface="Arial" pitchFamily="34" charset="-120"/>
              </a:rPr>
              <a:t>CSV + SQLite predictions</a:t>
            </a:r>
            <a:endParaRPr lang="en-US" sz="860" dirty="0"/>
          </a:p>
        </p:txBody>
      </p:sp>
      <p:sp>
        <p:nvSpPr>
          <p:cNvPr id="23" name="Shape 21"/>
          <p:cNvSpPr/>
          <p:nvPr/>
        </p:nvSpPr>
        <p:spPr>
          <a:xfrm>
            <a:off x="822960" y="3154680"/>
            <a:ext cx="2971800" cy="1143000"/>
          </a:xfrm>
          <a:prstGeom prst="roundRect">
            <a:avLst>
              <a:gd name="adj" fmla="val 7200"/>
            </a:avLst>
          </a:prstGeom>
          <a:solidFill>
            <a:srgbClr val="E7F5FF"/>
          </a:solidFill>
          <a:ln w="12700">
            <a:solidFill>
              <a:srgbClr val="DDE3EA"/>
            </a:solidFill>
            <a:prstDash val="solid"/>
          </a:ln>
        </p:spPr>
      </p:sp>
      <p:sp>
        <p:nvSpPr>
          <p:cNvPr id="24" name="Text 22"/>
          <p:cNvSpPr/>
          <p:nvPr/>
        </p:nvSpPr>
        <p:spPr>
          <a:xfrm>
            <a:off x="1024128" y="3300984"/>
            <a:ext cx="2569464" cy="228600"/>
          </a:xfrm>
          <a:prstGeom prst="rect">
            <a:avLst/>
          </a:prstGeom>
          <a:noFill/>
          <a:ln/>
        </p:spPr>
        <p:txBody>
          <a:bodyPr wrap="square" lIns="0" tIns="0" rIns="0" bIns="0" rtlCol="0" anchor="ctr">
            <a:normAutofit/>
          </a:bodyPr>
          <a:lstStyle/>
          <a:p>
            <a:pPr indent="0" marL="0">
              <a:buNone/>
            </a:pPr>
            <a:r>
              <a:rPr lang="en-US" sz="1200" b="1" dirty="0">
                <a:solidFill>
                  <a:srgbClr val="1C7ED6"/>
                </a:solidFill>
                <a:latin typeface="Arial" pitchFamily="34" charset="0"/>
                <a:ea typeface="Arial" pitchFamily="34" charset="-122"/>
                <a:cs typeface="Arial" pitchFamily="34" charset="-120"/>
              </a:rPr>
              <a:t>Training pipeline</a:t>
            </a:r>
            <a:endParaRPr lang="en-US" sz="1200" dirty="0"/>
          </a:p>
        </p:txBody>
      </p:sp>
      <p:sp>
        <p:nvSpPr>
          <p:cNvPr id="25" name="Text 23"/>
          <p:cNvSpPr/>
          <p:nvPr/>
        </p:nvSpPr>
        <p:spPr>
          <a:xfrm>
            <a:off x="1024128" y="3630168"/>
            <a:ext cx="256946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Loads model-ready data, applies fixed split, tunes XGBoost/LightGBM/CatBoost, refits with three seeds and saves the ensemble.</a:t>
            </a:r>
            <a:endParaRPr lang="en-US" sz="1020" dirty="0"/>
          </a:p>
        </p:txBody>
      </p:sp>
      <p:sp>
        <p:nvSpPr>
          <p:cNvPr id="26" name="Shape 24"/>
          <p:cNvSpPr/>
          <p:nvPr/>
        </p:nvSpPr>
        <p:spPr>
          <a:xfrm>
            <a:off x="4069080" y="3154680"/>
            <a:ext cx="2971800" cy="1143000"/>
          </a:xfrm>
          <a:prstGeom prst="roundRect">
            <a:avLst>
              <a:gd name="adj" fmla="val 7200"/>
            </a:avLst>
          </a:prstGeom>
          <a:solidFill>
            <a:srgbClr val="E6FCF5"/>
          </a:solidFill>
          <a:ln w="12700">
            <a:solidFill>
              <a:srgbClr val="DDE3EA"/>
            </a:solidFill>
            <a:prstDash val="solid"/>
          </a:ln>
        </p:spPr>
      </p:sp>
      <p:sp>
        <p:nvSpPr>
          <p:cNvPr id="27" name="Text 25"/>
          <p:cNvSpPr/>
          <p:nvPr/>
        </p:nvSpPr>
        <p:spPr>
          <a:xfrm>
            <a:off x="4270248" y="3300984"/>
            <a:ext cx="2569464" cy="228600"/>
          </a:xfrm>
          <a:prstGeom prst="rect">
            <a:avLst/>
          </a:prstGeom>
          <a:noFill/>
          <a:ln/>
        </p:spPr>
        <p:txBody>
          <a:bodyPr wrap="square" lIns="0" tIns="0" rIns="0" bIns="0" rtlCol="0" anchor="ctr">
            <a:normAutofit/>
          </a:bodyPr>
          <a:lstStyle/>
          <a:p>
            <a:pPr indent="0" marL="0">
              <a:buNone/>
            </a:pPr>
            <a:r>
              <a:rPr lang="en-US" sz="1200" b="1" dirty="0">
                <a:solidFill>
                  <a:srgbClr val="12B886"/>
                </a:solidFill>
                <a:latin typeface="Arial" pitchFamily="34" charset="0"/>
                <a:ea typeface="Arial" pitchFamily="34" charset="-122"/>
                <a:cs typeface="Arial" pitchFamily="34" charset="-120"/>
              </a:rPr>
              <a:t>Prediction pipeline</a:t>
            </a:r>
            <a:endParaRPr lang="en-US" sz="1200" dirty="0"/>
          </a:p>
        </p:txBody>
      </p:sp>
      <p:sp>
        <p:nvSpPr>
          <p:cNvPr id="28" name="Text 26"/>
          <p:cNvSpPr/>
          <p:nvPr/>
        </p:nvSpPr>
        <p:spPr>
          <a:xfrm>
            <a:off x="4270248" y="3630168"/>
            <a:ext cx="256946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Loads models/best_model.joblib, predicts the selected split, calculates errors and intervals, and persists the result.</a:t>
            </a:r>
            <a:endParaRPr lang="en-US" sz="1020" dirty="0"/>
          </a:p>
        </p:txBody>
      </p:sp>
      <p:sp>
        <p:nvSpPr>
          <p:cNvPr id="29" name="Shape 27"/>
          <p:cNvSpPr/>
          <p:nvPr/>
        </p:nvSpPr>
        <p:spPr>
          <a:xfrm>
            <a:off x="7315200" y="3154680"/>
            <a:ext cx="2971800" cy="1143000"/>
          </a:xfrm>
          <a:prstGeom prst="roundRect">
            <a:avLst>
              <a:gd name="adj" fmla="val 7200"/>
            </a:avLst>
          </a:prstGeom>
          <a:solidFill>
            <a:srgbClr val="FFF4E6"/>
          </a:solidFill>
          <a:ln w="12700">
            <a:solidFill>
              <a:srgbClr val="DDE3EA"/>
            </a:solidFill>
            <a:prstDash val="solid"/>
          </a:ln>
        </p:spPr>
      </p:sp>
      <p:sp>
        <p:nvSpPr>
          <p:cNvPr id="30" name="Text 28"/>
          <p:cNvSpPr/>
          <p:nvPr/>
        </p:nvSpPr>
        <p:spPr>
          <a:xfrm>
            <a:off x="7516368" y="3300984"/>
            <a:ext cx="2569464" cy="228600"/>
          </a:xfrm>
          <a:prstGeom prst="rect">
            <a:avLst/>
          </a:prstGeom>
          <a:noFill/>
          <a:ln/>
        </p:spPr>
        <p:txBody>
          <a:bodyPr wrap="square" lIns="0" tIns="0" rIns="0" bIns="0" rtlCol="0" anchor="ctr">
            <a:normAutofit/>
          </a:bodyPr>
          <a:lstStyle/>
          <a:p>
            <a:pPr indent="0" marL="0">
              <a:buNone/>
            </a:pPr>
            <a:r>
              <a:rPr lang="en-US" sz="1200" b="1" dirty="0">
                <a:solidFill>
                  <a:srgbClr val="F59F00"/>
                </a:solidFill>
                <a:latin typeface="Arial" pitchFamily="34" charset="0"/>
                <a:ea typeface="Arial" pitchFamily="34" charset="-122"/>
                <a:cs typeface="Arial" pitchFamily="34" charset="-120"/>
              </a:rPr>
              <a:t>Decision output</a:t>
            </a:r>
            <a:endParaRPr lang="en-US" sz="1200" dirty="0"/>
          </a:p>
        </p:txBody>
      </p:sp>
      <p:sp>
        <p:nvSpPr>
          <p:cNvPr id="31" name="Text 29"/>
          <p:cNvSpPr/>
          <p:nvPr/>
        </p:nvSpPr>
        <p:spPr>
          <a:xfrm>
            <a:off x="7516368" y="3630168"/>
            <a:ext cx="2569464" cy="539496"/>
          </a:xfrm>
          <a:prstGeom prst="rect">
            <a:avLst/>
          </a:prstGeom>
          <a:noFill/>
          <a:ln/>
        </p:spPr>
        <p:txBody>
          <a:bodyPr wrap="square" lIns="0" tIns="0" rIns="0" bIns="0" rtlCol="0" anchor="t">
            <a:normAutofit/>
          </a:bodyPr>
          <a:lstStyle/>
          <a:p>
            <a:pPr indent="0" marL="0">
              <a:buNone/>
            </a:pPr>
            <a:r>
              <a:rPr lang="en-US" sz="1020" dirty="0">
                <a:solidFill>
                  <a:srgbClr val="495057"/>
                </a:solidFill>
                <a:latin typeface="Arial" pitchFamily="34" charset="0"/>
                <a:ea typeface="Arial" pitchFamily="34" charset="-122"/>
                <a:cs typeface="Arial" pitchFamily="34" charset="-120"/>
              </a:rPr>
              <a:t>Produces price estimates, uncertainty intervals and residuals that can support screening, anomaly detection and dashboard analysis.</a:t>
            </a:r>
            <a:endParaRPr lang="en-US" sz="1020" dirty="0"/>
          </a:p>
        </p:txBody>
      </p:sp>
      <p:sp>
        <p:nvSpPr>
          <p:cNvPr id="32" name="Shape 30"/>
          <p:cNvSpPr/>
          <p:nvPr/>
        </p:nvSpPr>
        <p:spPr>
          <a:xfrm>
            <a:off x="1051560" y="5102352"/>
            <a:ext cx="9738360" cy="713232"/>
          </a:xfrm>
          <a:prstGeom prst="roundRect">
            <a:avLst>
              <a:gd name="adj" fmla="val 12821"/>
            </a:avLst>
          </a:prstGeom>
          <a:solidFill>
            <a:srgbClr val="0B132B"/>
          </a:solidFill>
          <a:ln w="12700">
            <a:solidFill>
              <a:srgbClr val="0B132B">
                <a:alpha val="0"/>
              </a:srgbClr>
            </a:solidFill>
            <a:prstDash val="solid"/>
          </a:ln>
        </p:spPr>
      </p:sp>
      <p:sp>
        <p:nvSpPr>
          <p:cNvPr id="33" name="Text 31"/>
          <p:cNvSpPr/>
          <p:nvPr/>
        </p:nvSpPr>
        <p:spPr>
          <a:xfrm>
            <a:off x="1325880" y="5358384"/>
            <a:ext cx="9189720" cy="18288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rial" pitchFamily="34" charset="0"/>
                <a:ea typeface="Arial" pitchFamily="34" charset="-122"/>
                <a:cs typeface="Arial" pitchFamily="34" charset="-120"/>
              </a:rPr>
              <a:t>Final result: a reproducible machine-learning workflow, not just a standalone model score.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Tehran - Introduction to Data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Redfin Price Prediction - Final Presentation</dc:title>
  <dc:subject>Introduction to Data Science Final Project Phase 3</dc:subject>
  <dc:creator>DS Project Team 810102576 810102544 810102495</dc:creator>
  <cp:lastModifiedBy>DS Project Team 810102576 810102544 810102495</cp:lastModifiedBy>
  <cp:revision>1</cp:revision>
  <dcterms:created xsi:type="dcterms:W3CDTF">2026-07-29T21:48:32Z</dcterms:created>
  <dcterms:modified xsi:type="dcterms:W3CDTF">2026-07-29T21:48:32Z</dcterms:modified>
</cp:coreProperties>
</file>