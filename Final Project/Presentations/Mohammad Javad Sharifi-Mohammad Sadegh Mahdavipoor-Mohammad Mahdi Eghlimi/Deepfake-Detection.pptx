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1" r:id="rId5"/>
    <p:sldId id="274" r:id="rId6"/>
    <p:sldId id="285" r:id="rId7"/>
    <p:sldId id="266" r:id="rId8"/>
    <p:sldId id="268" r:id="rId9"/>
    <p:sldId id="270" r:id="rId10"/>
    <p:sldId id="272" r:id="rId11"/>
    <p:sldId id="277" r:id="rId12"/>
    <p:sldId id="276" r:id="rId13"/>
    <p:sldId id="279" r:id="rId14"/>
    <p:sldId id="281" r:id="rId15"/>
    <p:sldId id="283" r:id="rId16"/>
    <p:sldId id="287" r:id="rId17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Geist" panose="020B0604020202020204" charset="0"/>
      <p:regular r:id="rId27"/>
    </p:embeddedFont>
    <p:embeddedFont>
      <p:font typeface="Geist Bold" panose="020B0604020202020204" charset="0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8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81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3" Type="http://schemas.openxmlformats.org/officeDocument/2006/relationships/image" Target="../media/image40.jpe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436266"/>
            <a:ext cx="4722763" cy="4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Deepfake Detection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025402"/>
            <a:ext cx="4722763" cy="462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University of Tehran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 Data Science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96119" y="2673474"/>
            <a:ext cx="2161134" cy="478110"/>
          </a:xfrm>
          <a:prstGeom prst="roundRect">
            <a:avLst>
              <a:gd name="adj" fmla="val 10897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4380" y="2811735"/>
            <a:ext cx="2022872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Mohammad Javad Sharifi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96119" y="3792401"/>
            <a:ext cx="2161134" cy="478110"/>
          </a:xfrm>
          <a:prstGeom prst="roundRect">
            <a:avLst>
              <a:gd name="adj" fmla="val 10897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4380" y="3930662"/>
            <a:ext cx="2022872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Mohammad Mahdi Eghlimi</a:t>
            </a:r>
            <a:endParaRPr lang="en-US" sz="12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49BBD40-983F-4D5F-80D8-D238ABEFE3BD}"/>
              </a:ext>
            </a:extLst>
          </p:cNvPr>
          <p:cNvSpPr/>
          <p:nvPr/>
        </p:nvSpPr>
        <p:spPr>
          <a:xfrm>
            <a:off x="496119" y="3229050"/>
            <a:ext cx="2753518" cy="478110"/>
          </a:xfrm>
          <a:prstGeom prst="roundRect">
            <a:avLst>
              <a:gd name="adj" fmla="val 10897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4380" y="3367311"/>
            <a:ext cx="4446240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Mohammad Sadegh </a:t>
            </a:r>
            <a:r>
              <a:rPr lang="en-US" sz="1200" b="1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Mahdavipoor</a:t>
            </a:r>
            <a:endParaRPr lang="en-US" sz="1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1372B8E3-762A-4B40-870F-371EB6F276A0}"/>
              </a:ext>
            </a:extLst>
          </p:cNvPr>
          <p:cNvSpPr/>
          <p:nvPr/>
        </p:nvSpPr>
        <p:spPr>
          <a:xfrm>
            <a:off x="295870" y="603423"/>
            <a:ext cx="4722763" cy="462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 The Name of God</a:t>
            </a:r>
            <a:endParaRPr lang="en-US" sz="95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D618756-C3FD-41CF-8E5E-9C97B55B2940}"/>
              </a:ext>
            </a:extLst>
          </p:cNvPr>
          <p:cNvSpPr/>
          <p:nvPr/>
        </p:nvSpPr>
        <p:spPr>
          <a:xfrm>
            <a:off x="362123" y="4759300"/>
            <a:ext cx="3021509" cy="7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774F2C-77BA-4254-90C2-3FB40103E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283" y="603422"/>
            <a:ext cx="4760717" cy="45400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989" y="361950"/>
            <a:ext cx="3257848" cy="4419600"/>
          </a:xfrm>
          <a:prstGeom prst="roundRect">
            <a:avLst>
              <a:gd name="adj" fmla="val 2613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29158" y="474613"/>
            <a:ext cx="3021509" cy="7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Deepfake Problem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158" y="1369740"/>
            <a:ext cx="3021509" cy="10199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8765" y="1502197"/>
            <a:ext cx="2699445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Are Deepfakes?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18765" y="1806922"/>
            <a:ext cx="2699445" cy="450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Synthetic media created using deep learning to manipulate or fabricate video and image content — indistinguishable to the human eye.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158" y="2502322"/>
            <a:ext cx="3021509" cy="10199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8765" y="2634779"/>
            <a:ext cx="2699445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18765" y="2939504"/>
            <a:ext cx="2699445" cy="450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Security threats, large-scale misinformation, and a fundamental erosion of trust in digital media integrity.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158" y="3634904"/>
            <a:ext cx="3021509" cy="10199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8765" y="3767361"/>
            <a:ext cx="2699445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Our Focus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718765" y="4072086"/>
            <a:ext cx="2699445" cy="450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Image-based deepfake detection using both classical machine learning and deep learning architectures.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5988984" y="1198968"/>
            <a:ext cx="4775671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 vs. Fabricated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3916810" y="4221538"/>
            <a:ext cx="4775671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Deepfakes exploit generative models to swap, alter, or synthesize facial features with near-photorealistic fidelity.</a:t>
            </a:r>
            <a:endParaRPr lang="en-US" sz="9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7741194-6F6F-4655-B528-CEB6568A15B5}"/>
              </a:ext>
            </a:extLst>
          </p:cNvPr>
          <p:cNvSpPr/>
          <p:nvPr/>
        </p:nvSpPr>
        <p:spPr>
          <a:xfrm>
            <a:off x="7993626" y="4781550"/>
            <a:ext cx="1150374" cy="364331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F1C1AC2-4586-4225-95E7-57E7B50B402F}"/>
              </a:ext>
            </a:extLst>
          </p:cNvPr>
          <p:cNvSpPr/>
          <p:nvPr/>
        </p:nvSpPr>
        <p:spPr>
          <a:xfrm>
            <a:off x="225089" y="4836988"/>
            <a:ext cx="3021509" cy="7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D3636D-3C54-413D-B5DE-B915A44F8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6810" y="1491053"/>
            <a:ext cx="2438400" cy="2438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A8EA131-54BE-4455-A93F-AA02959496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138" y="1501318"/>
            <a:ext cx="2438400" cy="2438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1681"/>
            <a:ext cx="8151763" cy="296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Workflow: Three Phases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267519" y="781496"/>
            <a:ext cx="8608963" cy="102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raw data collection to final inference pipeline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59346"/>
            <a:ext cx="2717229" cy="3643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7201" y="1390576"/>
            <a:ext cx="2535064" cy="14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1: Dataset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87201" y="1578693"/>
            <a:ext cx="2535064" cy="1162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Source: 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leveraged a high-quality , pre-</a:t>
            </a:r>
            <a:r>
              <a:rPr lang="en-US" sz="7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labaled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Deepfake data set from Kaggle</a:t>
            </a:r>
          </a:p>
          <a:p>
            <a:pPr marL="0" indent="0" algn="l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Structure: 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Utilized standardized </a:t>
            </a:r>
            <a:r>
              <a:rPr lang="en-US" sz="7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 , Validation  and Test 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partitions  for unbiased evaluation</a:t>
            </a:r>
          </a:p>
          <a:p>
            <a:pPr marL="0" indent="0" algn="l">
              <a:lnSpc>
                <a:spcPct val="94000"/>
              </a:lnSpc>
              <a:buNone/>
            </a:pP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035" y="922829"/>
            <a:ext cx="2717229" cy="3643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04431" y="1390576"/>
            <a:ext cx="2535064" cy="14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2: Preprocessing &amp; EDA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304431" y="1578694"/>
            <a:ext cx="2535064" cy="205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Normalization, augmentation, resizing, and exploratory data analysis for quality and balance verification.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959346"/>
            <a:ext cx="2717229" cy="3643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1660" y="1390576"/>
            <a:ext cx="2535064" cy="14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3: Training &amp; Inference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6021660" y="1578694"/>
            <a:ext cx="2535064" cy="205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 training across SVM, Random Forest, VGG, </a:t>
            </a:r>
            <a:r>
              <a:rPr lang="en-US" sz="7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ResNet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CNN ,followed by inference pipeline deployment.</a:t>
            </a:r>
            <a:endParaRPr lang="en-US" sz="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8061" y="2301925"/>
            <a:ext cx="4787801" cy="28415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10481" y="4123568"/>
            <a:ext cx="1190138" cy="47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3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010581" y="4123568"/>
            <a:ext cx="1190138" cy="47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2 </a:t>
            </a:r>
            <a:r>
              <a:rPr lang="en-US" sz="1400" b="1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Prepration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2486226" y="4110246"/>
            <a:ext cx="1190138" cy="47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1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Data</a:t>
            </a:r>
            <a:endParaRPr lang="en-US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700CC2C-5706-400A-8377-789A3AC47E65}"/>
              </a:ext>
            </a:extLst>
          </p:cNvPr>
          <p:cNvSpPr/>
          <p:nvPr/>
        </p:nvSpPr>
        <p:spPr>
          <a:xfrm>
            <a:off x="7981537" y="4774627"/>
            <a:ext cx="1150374" cy="364331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2AC8DF-2634-4921-8DBF-536643B5D392}"/>
              </a:ext>
            </a:extLst>
          </p:cNvPr>
          <p:cNvSpPr txBox="1"/>
          <p:nvPr/>
        </p:nvSpPr>
        <p:spPr>
          <a:xfrm>
            <a:off x="200226" y="475219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GB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1: Dataset Overview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7594" y="981717"/>
            <a:ext cx="4000277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 Splits at a Glance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9083" y="1400640"/>
            <a:ext cx="4000277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140K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45152" y="1758955"/>
            <a:ext cx="4000277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Training Images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45152" y="2128424"/>
            <a:ext cx="4000277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70K Real / 70K Fake — perfectly balanced split for unbiased model training.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98442" y="2558671"/>
            <a:ext cx="4000277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39K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1734" y="2902517"/>
            <a:ext cx="4000277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Validation Images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9084" y="3252778"/>
            <a:ext cx="4000277" cy="60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~20K Real / 19K Fake — used for hyperparameter tuning and early stopping.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1733" y="3794151"/>
            <a:ext cx="4000277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11K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1734" y="4080739"/>
            <a:ext cx="4000277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Test Images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1734" y="4413371"/>
            <a:ext cx="4093695" cy="31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5.5K Real / 5.5K Fake — held-out set for final performance evaluation.</a:t>
            </a:r>
            <a:endParaRPr lang="en-US" sz="7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15" y="-6661"/>
            <a:ext cx="4000277" cy="2879378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396" y="2571750"/>
            <a:ext cx="4000277" cy="28793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59A084-9A5A-40F6-A661-6AA953D8656B}"/>
              </a:ext>
            </a:extLst>
          </p:cNvPr>
          <p:cNvSpPr txBox="1"/>
          <p:nvPr/>
        </p:nvSpPr>
        <p:spPr>
          <a:xfrm>
            <a:off x="151733" y="469662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GB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7EA194-F93E-431F-8CF6-E8731AC2DBE5}"/>
              </a:ext>
            </a:extLst>
          </p:cNvPr>
          <p:cNvSpPr/>
          <p:nvPr/>
        </p:nvSpPr>
        <p:spPr>
          <a:xfrm>
            <a:off x="7993626" y="4774627"/>
            <a:ext cx="1150374" cy="364331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8278"/>
            <a:ext cx="8151763" cy="4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2: Database Creation ,Preprocessing &amp; EDA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908274"/>
            <a:ext cx="2634555" cy="372070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0379" y="2001292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0092" y="2404318"/>
            <a:ext cx="2386608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Making Database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0092" y="2680320"/>
            <a:ext cx="2386608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Infrastructure: 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Lightweight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SQLite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engine for fast , serverless metadata management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54648" y="1908274"/>
            <a:ext cx="2634630" cy="372070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8908" y="2001292"/>
            <a:ext cx="186035" cy="1860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78622" y="2404318"/>
            <a:ext cx="2386682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378622" y="2680320"/>
            <a:ext cx="2386682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Apply pixel normalization (0–1 scaling), geometric augmentation (flips, rotations), and uniform resizing for all inputs.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013252" y="1908274"/>
            <a:ext cx="2634555" cy="372070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7512" y="2001292"/>
            <a:ext cx="186035" cy="1860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37225" y="2404318"/>
            <a:ext cx="2386608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137225" y="2680320"/>
            <a:ext cx="2386608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 class distribution, verify label balance, assess image quality, and identify potential sources of bias or noise.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96119" y="3427586"/>
            <a:ext cx="8151763" cy="458763"/>
          </a:xfrm>
          <a:prstGeom prst="roundRect">
            <a:avLst>
              <a:gd name="adj" fmla="val 11357"/>
            </a:avLst>
          </a:prstGeom>
          <a:solidFill>
            <a:srgbClr val="002A8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92" y="3588321"/>
            <a:ext cx="155004" cy="1239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9071" y="3582516"/>
            <a:ext cx="8082037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EDA confirmed near-perfect class balance across all splits — no resampling required prior to model training.</a:t>
            </a:r>
            <a:endParaRPr lang="en-US" sz="9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83D54E-790B-45E2-B9F6-279F04B05522}"/>
              </a:ext>
            </a:extLst>
          </p:cNvPr>
          <p:cNvSpPr txBox="1"/>
          <p:nvPr/>
        </p:nvSpPr>
        <p:spPr>
          <a:xfrm>
            <a:off x="151733" y="469662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GB"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04C92B7-8A17-4835-911A-16AE6634D556}"/>
              </a:ext>
            </a:extLst>
          </p:cNvPr>
          <p:cNvSpPr/>
          <p:nvPr/>
        </p:nvSpPr>
        <p:spPr>
          <a:xfrm>
            <a:off x="7993626" y="4774627"/>
            <a:ext cx="1150374" cy="364331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3272"/>
            <a:ext cx="8151763" cy="3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Downsampling &amp; Resolution Standardization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8236" y="920279"/>
            <a:ext cx="4102745" cy="3879949"/>
          </a:xfrm>
          <a:prstGeom prst="roundRect">
            <a:avLst>
              <a:gd name="adj" fmla="val 2266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0275" y="1040457"/>
            <a:ext cx="3858667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7C9EB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 Downsampling</a:t>
            </a: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(Dataset Level)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75" y="1374056"/>
            <a:ext cx="610493" cy="732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0946" y="1496095"/>
            <a:ext cx="3127995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 Dataset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60946" y="1814661"/>
            <a:ext cx="312799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~190,000 raw images — complete acquisition corpus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75" y="2106662"/>
            <a:ext cx="610493" cy="732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0946" y="2228701"/>
            <a:ext cx="3127995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Stratified Sampling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260946" y="2547268"/>
            <a:ext cx="312799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Preserved Real/Fake ratios &amp; Train/Val/Test proportions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275" y="2839269"/>
            <a:ext cx="610493" cy="732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0946" y="2961308"/>
            <a:ext cx="3127995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Development Subset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260946" y="3279874"/>
            <a:ext cx="312799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10,001 images — </a:t>
            </a:r>
            <a:r>
              <a:rPr lang="en-US" sz="95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seed=42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reproducibility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275" y="3571875"/>
            <a:ext cx="610493" cy="732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0946" y="3693914"/>
            <a:ext cx="3127995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Quality Check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260946" y="4012481"/>
            <a:ext cx="312799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Zero corrupted BLOBs detected across all splits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725665" y="1040457"/>
            <a:ext cx="3926979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77C9EB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Image Preprocessing</a:t>
            </a: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(Image Level)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Shape 12"/>
          <p:cNvSpPr/>
          <p:nvPr/>
        </p:nvSpPr>
        <p:spPr>
          <a:xfrm>
            <a:off x="4725665" y="1374056"/>
            <a:ext cx="488379" cy="732606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878288" y="1621334"/>
            <a:ext cx="183133" cy="238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334223" y="1496095"/>
            <a:ext cx="3318421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Native Resolution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334223" y="1814661"/>
            <a:ext cx="3318421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256×256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px — uniform across entire dataset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725665" y="2226841"/>
            <a:ext cx="488379" cy="732606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878288" y="2474119"/>
            <a:ext cx="183133" cy="238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334223" y="2348880"/>
            <a:ext cx="3318421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Target Resizing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334223" y="2667446"/>
            <a:ext cx="3318421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224×224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px for ResNet/VGG  |  </a:t>
            </a: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128×128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px for SimpleCNN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725665" y="3079626"/>
            <a:ext cx="488379" cy="732606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878288" y="3326904"/>
            <a:ext cx="183133" cy="238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334223" y="3201665"/>
            <a:ext cx="3318421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334223" y="3520232"/>
            <a:ext cx="3318421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RGB channels: </a:t>
            </a: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mean=0.5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std=0.5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zero-centered inputs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725665" y="3932411"/>
            <a:ext cx="488379" cy="732606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878288" y="4179689"/>
            <a:ext cx="183133" cy="238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334223" y="4054450"/>
            <a:ext cx="3318421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Input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334223" y="4373017"/>
            <a:ext cx="331842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Tensors ready for training pipeline ingestion</a:t>
            </a:r>
            <a:endParaRPr lang="en-US" sz="9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0BD458-B4BA-4A2A-9AD0-4BCDEECD89E8}"/>
              </a:ext>
            </a:extLst>
          </p:cNvPr>
          <p:cNvSpPr txBox="1"/>
          <p:nvPr/>
        </p:nvSpPr>
        <p:spPr>
          <a:xfrm>
            <a:off x="151733" y="47492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GB" sz="14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F371F0F-2FB6-41EF-B56B-EA59C6AE3FA2}"/>
              </a:ext>
            </a:extLst>
          </p:cNvPr>
          <p:cNvSpPr/>
          <p:nvPr/>
        </p:nvSpPr>
        <p:spPr>
          <a:xfrm>
            <a:off x="7993626" y="4769345"/>
            <a:ext cx="1150374" cy="364331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613"/>
            <a:ext cx="8151763" cy="365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3: Model Training &amp; Inference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70731"/>
            <a:ext cx="86089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Multiple architectures trained in parallel, evaluated on identical held-out data for fair comparison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5156" y="1224632"/>
            <a:ext cx="3932113" cy="3517255"/>
          </a:xfrm>
          <a:prstGeom prst="roundRect">
            <a:avLst>
              <a:gd name="adj" fmla="val 2301"/>
            </a:avLst>
          </a:prstGeom>
          <a:solidFill>
            <a:srgbClr val="12386E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7521" y="1326505"/>
            <a:ext cx="3707383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9FEED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7521" y="1623715"/>
            <a:ext cx="1802755" cy="865510"/>
          </a:xfrm>
          <a:prstGeom prst="roundRect">
            <a:avLst>
              <a:gd name="adj" fmla="val 5455"/>
            </a:avLst>
          </a:prstGeom>
          <a:solidFill>
            <a:srgbClr val="12386E"/>
          </a:solidFill>
          <a:ln w="28575">
            <a:solidFill>
              <a:srgbClr val="0070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412" y="1745605"/>
            <a:ext cx="337245" cy="33724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131" y="1838325"/>
            <a:ext cx="151730" cy="1517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412" y="2184722"/>
            <a:ext cx="1558975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SVM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32149" y="1623715"/>
            <a:ext cx="1802755" cy="865510"/>
          </a:xfrm>
          <a:prstGeom prst="roundRect">
            <a:avLst>
              <a:gd name="adj" fmla="val 5455"/>
            </a:avLst>
          </a:prstGeom>
          <a:solidFill>
            <a:srgbClr val="12386E"/>
          </a:solidFill>
          <a:ln w="28575">
            <a:solidFill>
              <a:srgbClr val="0070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4039" y="1745605"/>
            <a:ext cx="337245" cy="33724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46759" y="1838325"/>
            <a:ext cx="151730" cy="1517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54039" y="2184722"/>
            <a:ext cx="1558975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27521" y="2591098"/>
            <a:ext cx="1802755" cy="865510"/>
          </a:xfrm>
          <a:prstGeom prst="roundRect">
            <a:avLst>
              <a:gd name="adj" fmla="val 5455"/>
            </a:avLst>
          </a:prstGeom>
          <a:solidFill>
            <a:srgbClr val="12386E"/>
          </a:solidFill>
          <a:ln w="28575">
            <a:solidFill>
              <a:srgbClr val="0070C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412" y="2712988"/>
            <a:ext cx="337245" cy="33724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131" y="2805708"/>
            <a:ext cx="151730" cy="1517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412" y="3152105"/>
            <a:ext cx="1558975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VGG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2432149" y="2591098"/>
            <a:ext cx="1802755" cy="865510"/>
          </a:xfrm>
          <a:prstGeom prst="roundRect">
            <a:avLst>
              <a:gd name="adj" fmla="val 5455"/>
            </a:avLst>
          </a:prstGeom>
          <a:solidFill>
            <a:srgbClr val="12386E"/>
          </a:solidFill>
          <a:ln w="28575">
            <a:solidFill>
              <a:srgbClr val="0070C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554039" y="2712988"/>
            <a:ext cx="337245" cy="33724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46759" y="2805708"/>
            <a:ext cx="151730" cy="1517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554039" y="3152105"/>
            <a:ext cx="1558975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ResNet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27521" y="3558480"/>
            <a:ext cx="3707383" cy="865510"/>
          </a:xfrm>
          <a:prstGeom prst="roundRect">
            <a:avLst>
              <a:gd name="adj" fmla="val 5455"/>
            </a:avLst>
          </a:prstGeom>
          <a:solidFill>
            <a:srgbClr val="12386E"/>
          </a:solidFill>
          <a:ln w="28575">
            <a:solidFill>
              <a:srgbClr val="0070C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175399" y="3680371"/>
            <a:ext cx="337245" cy="337245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55817" y="3760790"/>
            <a:ext cx="176332" cy="1763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9412" y="4119488"/>
            <a:ext cx="3463603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CNN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45360" y="1326505"/>
            <a:ext cx="4107210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AC49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Inference Pipeline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4497250" y="1529669"/>
            <a:ext cx="337245" cy="63720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84477" y="1736080"/>
            <a:ext cx="3668092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 Image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984477" y="2020565"/>
            <a:ext cx="366809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Raw image ingested from file system or live stream.</a:t>
            </a:r>
            <a:endParaRPr lang="en-US" sz="8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4666809" y="2289980"/>
            <a:ext cx="337245" cy="63720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53099" y="2512442"/>
            <a:ext cx="3499470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5153099" y="2796927"/>
            <a:ext cx="349947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Resize, normalize, and format tensor for model input.</a:t>
            </a:r>
            <a:endParaRPr lang="en-US" sz="8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4802104" y="3017814"/>
            <a:ext cx="337245" cy="71437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321722" y="3288804"/>
            <a:ext cx="3330848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Prediction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5321722" y="3573289"/>
            <a:ext cx="333084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Forward pass through trained model to obtain class probabilities.</a:t>
            </a:r>
            <a:endParaRPr lang="en-US" sz="85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4964534" y="3802670"/>
            <a:ext cx="337245" cy="71437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490344" y="4065166"/>
            <a:ext cx="3162226" cy="182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Output: Real / Fake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5490344" y="4349651"/>
            <a:ext cx="31622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Binary classification label returned with confidence score.</a:t>
            </a:r>
            <a:endParaRPr lang="en-US" sz="8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32368C-C47B-4E51-9F08-F77FF20CD37F}"/>
              </a:ext>
            </a:extLst>
          </p:cNvPr>
          <p:cNvSpPr txBox="1"/>
          <p:nvPr/>
        </p:nvSpPr>
        <p:spPr>
          <a:xfrm>
            <a:off x="151733" y="47492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</a:t>
            </a:r>
            <a:endParaRPr lang="en-GB" sz="14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2CE2DCF-A748-48EF-8116-AEFE9D823AE2}"/>
              </a:ext>
            </a:extLst>
          </p:cNvPr>
          <p:cNvSpPr/>
          <p:nvPr/>
        </p:nvSpPr>
        <p:spPr>
          <a:xfrm>
            <a:off x="7993626" y="4769345"/>
            <a:ext cx="1150374" cy="364331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1606"/>
            <a:ext cx="8151763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Classical Models: SVM &amp; Random Forest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805681"/>
            <a:ext cx="8608963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Baseline machine learning models establishing minimum performance thresholds for comparison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32779" y="1005483"/>
            <a:ext cx="4096792" cy="3077617"/>
          </a:xfrm>
          <a:prstGeom prst="roundRect">
            <a:avLst>
              <a:gd name="adj" fmla="val 2222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2684" y="1069107"/>
            <a:ext cx="3906887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77C9EB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Support Vector Machine (SVM)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2684" y="1352624"/>
            <a:ext cx="3906887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66.76%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522684" y="1768004"/>
            <a:ext cx="3906887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Accuracy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2684" y="1994967"/>
            <a:ext cx="3906887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Overall correct classification rate on the held-out test set.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22684" y="2296790"/>
            <a:ext cx="3906887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65.00%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522684" y="2712169"/>
            <a:ext cx="3906887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2684" y="2939132"/>
            <a:ext cx="3906887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Ratio of true positives among all predicted fake samples.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22684" y="3240956"/>
            <a:ext cx="3906887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73.24%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522684" y="3656335"/>
            <a:ext cx="3906887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2684" y="3883298"/>
            <a:ext cx="3906887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Coverage of actual fake images correctly identified by the model.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692625" y="1069107"/>
            <a:ext cx="3960019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9FEED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Random Forest (RF)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92625" y="1352624"/>
            <a:ext cx="3960019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66.01%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4692625" y="1768004"/>
            <a:ext cx="3960019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2625" y="1994967"/>
            <a:ext cx="3960019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692625" y="2296790"/>
            <a:ext cx="3960019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66.10%</a:t>
            </a:r>
            <a:endParaRPr lang="en-US" sz="2450" dirty="0"/>
          </a:p>
        </p:txBody>
      </p:sp>
      <p:sp>
        <p:nvSpPr>
          <p:cNvPr id="20" name="Text 18"/>
          <p:cNvSpPr/>
          <p:nvPr/>
        </p:nvSpPr>
        <p:spPr>
          <a:xfrm>
            <a:off x="4692625" y="2712169"/>
            <a:ext cx="3960019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2625" y="2939132"/>
            <a:ext cx="3960019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92625" y="3240956"/>
            <a:ext cx="3960019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68.03%</a:t>
            </a:r>
            <a:endParaRPr lang="en-US" sz="2450" dirty="0"/>
          </a:p>
        </p:txBody>
      </p:sp>
      <p:sp>
        <p:nvSpPr>
          <p:cNvPr id="23" name="Text 21"/>
          <p:cNvSpPr/>
          <p:nvPr/>
        </p:nvSpPr>
        <p:spPr>
          <a:xfrm>
            <a:off x="4692625" y="3656335"/>
            <a:ext cx="3960019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Recall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2625" y="3883298"/>
            <a:ext cx="3960019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96119" y="4155802"/>
            <a:ext cx="4075881" cy="636091"/>
          </a:xfrm>
          <a:prstGeom prst="roundRect">
            <a:avLst>
              <a:gd name="adj" fmla="val 627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1030" y="4160565"/>
            <a:ext cx="2035522" cy="208062"/>
          </a:xfrm>
          <a:custGeom>
            <a:avLst/>
            <a:gdLst/>
            <a:ahLst/>
            <a:cxnLst/>
            <a:rect l="l" t="t" r="r" b="b"/>
            <a:pathLst>
              <a:path w="2035522" h="208062">
                <a:moveTo>
                  <a:pt x="33241" y="0"/>
                </a:moveTo>
                <a:lnTo>
                  <a:pt x="2035522" y="0"/>
                </a:lnTo>
                <a:lnTo>
                  <a:pt x="2035522" y="208062"/>
                </a:lnTo>
                <a:lnTo>
                  <a:pt x="0" y="208062"/>
                </a:lnTo>
                <a:lnTo>
                  <a:pt x="0" y="33241"/>
                </a:lnTo>
                <a:arcTo wR="33241" hR="33241" stAng="10800000" swAng="5400000"/>
                <a:close/>
              </a:path>
            </a:pathLst>
          </a:custGeom>
          <a:solidFill>
            <a:srgbClr val="1F2A5D"/>
          </a:solidFill>
          <a:ln/>
        </p:spPr>
      </p:sp>
      <p:sp>
        <p:nvSpPr>
          <p:cNvPr id="29" name="Text 27"/>
          <p:cNvSpPr/>
          <p:nvPr/>
        </p:nvSpPr>
        <p:spPr>
          <a:xfrm>
            <a:off x="595982" y="4208934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536552" y="4160565"/>
            <a:ext cx="2035522" cy="208062"/>
          </a:xfrm>
          <a:prstGeom prst="rect">
            <a:avLst/>
          </a:prstGeom>
          <a:solidFill>
            <a:srgbClr val="1F2A5D"/>
          </a:solidFill>
          <a:ln/>
        </p:spPr>
      </p:sp>
      <p:sp>
        <p:nvSpPr>
          <p:cNvPr id="31" name="Text 29"/>
          <p:cNvSpPr/>
          <p:nvPr/>
        </p:nvSpPr>
        <p:spPr>
          <a:xfrm>
            <a:off x="2631504" y="4208934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Hyper parameters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702549" y="4208934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5982" y="4419377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SVM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1504" y="4419377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pt-BR" sz="800" dirty="0">
                <a:solidFill>
                  <a:schemeClr val="bg1"/>
                </a:solidFill>
              </a:rPr>
              <a:t>C=1.0, max_iter=2000, PCA(n=100)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95982" y="4629820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Random Forest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1504" y="4629820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pt-BR" sz="800" dirty="0">
                <a:solidFill>
                  <a:schemeClr val="bg1"/>
                </a:solidFill>
              </a:rPr>
              <a:t>n_estimators=100, PCA(n=100)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6702549" y="4629820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7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44C14C-EDC0-4669-9AF0-799C911B4C99}"/>
              </a:ext>
            </a:extLst>
          </p:cNvPr>
          <p:cNvSpPr txBox="1"/>
          <p:nvPr/>
        </p:nvSpPr>
        <p:spPr>
          <a:xfrm>
            <a:off x="151733" y="47492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</a:t>
            </a:r>
            <a:endParaRPr lang="en-GB" sz="14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647E849-E8F3-4170-AE3D-E7B21CC370C2}"/>
              </a:ext>
            </a:extLst>
          </p:cNvPr>
          <p:cNvSpPr/>
          <p:nvPr/>
        </p:nvSpPr>
        <p:spPr>
          <a:xfrm>
            <a:off x="7993626" y="4791893"/>
            <a:ext cx="1150374" cy="341783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B6841C1-9223-456F-9DBC-8378D6F88526}"/>
              </a:ext>
            </a:extLst>
          </p:cNvPr>
          <p:cNvCxnSpPr>
            <a:cxnSpLocks/>
          </p:cNvCxnSpPr>
          <p:nvPr/>
        </p:nvCxnSpPr>
        <p:spPr>
          <a:xfrm>
            <a:off x="501030" y="4593654"/>
            <a:ext cx="4070970" cy="73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1606"/>
            <a:ext cx="8151763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Deep Learning Models: VGG &amp; ResNet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805681"/>
            <a:ext cx="8608963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 neural networks leveraging convolutional feature hierarchies for artifact-level detection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27732" y="996404"/>
            <a:ext cx="4096792" cy="3077617"/>
          </a:xfrm>
          <a:prstGeom prst="roundRect">
            <a:avLst>
              <a:gd name="adj" fmla="val 2222"/>
            </a:avLst>
          </a:prstGeom>
          <a:solidFill>
            <a:srgbClr val="12386E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2684" y="1069107"/>
            <a:ext cx="3906887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AC49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VGG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2684" y="1352624"/>
            <a:ext cx="3906887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79.00%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522684" y="1768004"/>
            <a:ext cx="3906887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Accuracy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2684" y="1994967"/>
            <a:ext cx="3906887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22684" y="2296790"/>
            <a:ext cx="3906887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72.23%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522684" y="2712169"/>
            <a:ext cx="3906887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2684" y="3240956"/>
            <a:ext cx="3906887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97.17%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522684" y="3656335"/>
            <a:ext cx="3906887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Recall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92625" y="1069107"/>
            <a:ext cx="3960019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C593DB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ResNet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92625" y="1352624"/>
            <a:ext cx="3960019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79.84%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4692625" y="1768004"/>
            <a:ext cx="3960019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2625" y="2296790"/>
            <a:ext cx="3960019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73.33%</a:t>
            </a:r>
            <a:endParaRPr lang="en-US" sz="2450" dirty="0"/>
          </a:p>
        </p:txBody>
      </p:sp>
      <p:sp>
        <p:nvSpPr>
          <p:cNvPr id="20" name="Text 18"/>
          <p:cNvSpPr/>
          <p:nvPr/>
        </p:nvSpPr>
        <p:spPr>
          <a:xfrm>
            <a:off x="4692625" y="2712169"/>
            <a:ext cx="3960019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92625" y="3240956"/>
            <a:ext cx="3960019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94.62%</a:t>
            </a:r>
            <a:endParaRPr lang="en-US" sz="2450" dirty="0"/>
          </a:p>
        </p:txBody>
      </p:sp>
      <p:sp>
        <p:nvSpPr>
          <p:cNvPr id="23" name="Text 21"/>
          <p:cNvSpPr/>
          <p:nvPr/>
        </p:nvSpPr>
        <p:spPr>
          <a:xfrm>
            <a:off x="4692625" y="3656335"/>
            <a:ext cx="3960019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6119" y="4155802"/>
            <a:ext cx="5651463" cy="636091"/>
          </a:xfrm>
          <a:prstGeom prst="roundRect">
            <a:avLst>
              <a:gd name="adj" fmla="val 627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1030" y="4160565"/>
            <a:ext cx="2035522" cy="208062"/>
          </a:xfrm>
          <a:custGeom>
            <a:avLst/>
            <a:gdLst/>
            <a:ahLst/>
            <a:cxnLst/>
            <a:rect l="l" t="t" r="r" b="b"/>
            <a:pathLst>
              <a:path w="2035522" h="208062">
                <a:moveTo>
                  <a:pt x="33241" y="0"/>
                </a:moveTo>
                <a:lnTo>
                  <a:pt x="2035522" y="0"/>
                </a:lnTo>
                <a:lnTo>
                  <a:pt x="2035522" y="208062"/>
                </a:lnTo>
                <a:lnTo>
                  <a:pt x="0" y="208062"/>
                </a:lnTo>
                <a:lnTo>
                  <a:pt x="0" y="33241"/>
                </a:lnTo>
                <a:arcTo wR="33241" hR="33241" stAng="10800000" swAng="5400000"/>
                <a:close/>
              </a:path>
            </a:pathLst>
          </a:custGeom>
          <a:solidFill>
            <a:srgbClr val="12386E"/>
          </a:solidFill>
          <a:ln/>
        </p:spPr>
      </p:sp>
      <p:sp>
        <p:nvSpPr>
          <p:cNvPr id="29" name="Text 27"/>
          <p:cNvSpPr/>
          <p:nvPr/>
        </p:nvSpPr>
        <p:spPr>
          <a:xfrm>
            <a:off x="595982" y="4208934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536552" y="4160565"/>
            <a:ext cx="3611030" cy="228250"/>
          </a:xfrm>
          <a:prstGeom prst="rect">
            <a:avLst/>
          </a:prstGeom>
          <a:solidFill>
            <a:srgbClr val="12386E"/>
          </a:solidFill>
          <a:ln/>
        </p:spPr>
      </p:sp>
      <p:sp>
        <p:nvSpPr>
          <p:cNvPr id="31" name="Text 29"/>
          <p:cNvSpPr/>
          <p:nvPr/>
        </p:nvSpPr>
        <p:spPr>
          <a:xfrm>
            <a:off x="2631504" y="4208934"/>
            <a:ext cx="18456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Hyper parameters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5982" y="4419377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VGG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31504" y="4419377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pt-BR" sz="800" dirty="0">
                <a:solidFill>
                  <a:schemeClr val="bg1"/>
                </a:solidFill>
              </a:rPr>
              <a:t>batch=64, epochs=5+5, input=224×224, dropout=0.5, Adam, lr=1e-3 → 1e-5/1e-4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95982" y="4629820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ResNet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1504" y="4629820"/>
            <a:ext cx="230281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GB" sz="800" dirty="0">
                <a:solidFill>
                  <a:schemeClr val="bg1"/>
                </a:solidFill>
              </a:rPr>
              <a:t>batch=64, epochs=5+5, input=224×224, dropout=0.5, Adam, </a:t>
            </a:r>
            <a:r>
              <a:rPr lang="en-GB" sz="800" dirty="0" err="1">
                <a:solidFill>
                  <a:schemeClr val="bg1"/>
                </a:solidFill>
              </a:rPr>
              <a:t>lr</a:t>
            </a:r>
            <a:r>
              <a:rPr lang="en-GB" sz="800" dirty="0">
                <a:solidFill>
                  <a:schemeClr val="bg1"/>
                </a:solidFill>
              </a:rPr>
              <a:t>=1e-3 → 1e-5/1e-4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5EF585-8B9C-42F2-BC08-F8D3C490340C}"/>
              </a:ext>
            </a:extLst>
          </p:cNvPr>
          <p:cNvSpPr/>
          <p:nvPr/>
        </p:nvSpPr>
        <p:spPr>
          <a:xfrm>
            <a:off x="7993626" y="4791893"/>
            <a:ext cx="1150374" cy="341783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919AD2-E2A9-4705-B961-1F37C345B39D}"/>
              </a:ext>
            </a:extLst>
          </p:cNvPr>
          <p:cNvSpPr txBox="1"/>
          <p:nvPr/>
        </p:nvSpPr>
        <p:spPr>
          <a:xfrm>
            <a:off x="151733" y="47492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</a:t>
            </a:r>
            <a:endParaRPr lang="en-GB" sz="14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D9F1866-249A-4327-8402-D5CEDAD9243B}"/>
              </a:ext>
            </a:extLst>
          </p:cNvPr>
          <p:cNvCxnSpPr>
            <a:cxnSpLocks/>
          </p:cNvCxnSpPr>
          <p:nvPr/>
        </p:nvCxnSpPr>
        <p:spPr>
          <a:xfrm>
            <a:off x="501030" y="4589533"/>
            <a:ext cx="5646552" cy="4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933"/>
            <a:ext cx="710282" cy="147191"/>
          </a:xfrm>
          <a:prstGeom prst="roundRect">
            <a:avLst>
              <a:gd name="adj" fmla="val 22122"/>
            </a:avLst>
          </a:prstGeom>
          <a:solidFill>
            <a:srgbClr val="00194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36" y="376758"/>
            <a:ext cx="77465" cy="774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0396" y="370954"/>
            <a:ext cx="935087" cy="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BEST MODEL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96119" y="519336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Best Model: CNN with Optimal Performance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96119" y="947812"/>
            <a:ext cx="8608963" cy="112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Convolutional Neural Network achieved superior results across all evaluation metrics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34576" y="1132159"/>
            <a:ext cx="3426098" cy="3656409"/>
          </a:xfrm>
          <a:prstGeom prst="roundRect">
            <a:avLst>
              <a:gd name="adj" fmla="val 2037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23280" y="1220763"/>
            <a:ext cx="32323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CNN — Best Model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23280" y="1511796"/>
            <a:ext cx="3232324" cy="319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90.2%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23280" y="1936849"/>
            <a:ext cx="32323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Accuracy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23280" y="2481932"/>
            <a:ext cx="3232324" cy="319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88.45%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523280" y="2906985"/>
            <a:ext cx="32323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23280" y="3452068"/>
            <a:ext cx="3232324" cy="319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93.2%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523280" y="3877121"/>
            <a:ext cx="32323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Recall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3280" y="4307532"/>
            <a:ext cx="3232324" cy="408831"/>
          </a:xfrm>
          <a:prstGeom prst="roundRect">
            <a:avLst>
              <a:gd name="adj" fmla="val 9956"/>
            </a:avLst>
          </a:prstGeom>
          <a:solidFill>
            <a:srgbClr val="002A80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67" y="4429497"/>
            <a:ext cx="121072" cy="9688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8126" y="4399806"/>
            <a:ext cx="2820591" cy="22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CNN outperformed all classical and deep baselines — recommended for production deployment.</a:t>
            </a:r>
            <a:endParaRPr lang="en-US" sz="7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F807F4-5654-4A45-B0C2-E0089AA88C15}"/>
              </a:ext>
            </a:extLst>
          </p:cNvPr>
          <p:cNvSpPr txBox="1"/>
          <p:nvPr/>
        </p:nvSpPr>
        <p:spPr>
          <a:xfrm>
            <a:off x="151733" y="47492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</a:t>
            </a:r>
            <a:endParaRPr lang="en-GB" sz="14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208242-6B27-4606-B4B1-4B35D9EE0D58}"/>
              </a:ext>
            </a:extLst>
          </p:cNvPr>
          <p:cNvSpPr/>
          <p:nvPr/>
        </p:nvSpPr>
        <p:spPr>
          <a:xfrm>
            <a:off x="7993626" y="4803769"/>
            <a:ext cx="1150374" cy="341783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3A72D0F6-0F0B-40A8-A698-3DB8DA854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393" y="3964305"/>
            <a:ext cx="3009157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Hyperparameters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eist" panose="020B0604020202020204" charset="0"/>
              <a:ea typeface="Geist" panose="020B0604020202020204" charset="0"/>
              <a:cs typeface="Geist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Input=128×128 | Batch=64 | Epochs=10 | Adam(</a:t>
            </a:r>
            <a:r>
              <a:rPr kumimoji="0" lang="en-US" altLang="en-US" sz="7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lr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eist" panose="020B0604020202020204" charset="0"/>
                <a:ea typeface="Geist" panose="020B0604020202020204" charset="0"/>
                <a:cs typeface="Geist" panose="020B0604020202020204" charset="0"/>
              </a:rPr>
              <a:t>=1e-3) | Dropout=0.5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eist" panose="020B0604020202020204" charset="0"/>
              <a:ea typeface="Geist" panose="020B0604020202020204" charset="0"/>
              <a:cs typeface="Geist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eist" panose="020B0604020202020204" charset="0"/>
              <a:ea typeface="Geist" panose="020B0604020202020204" charset="0"/>
              <a:cs typeface="Geist" panose="020B060402020202020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F653DA6-A0B6-4FB7-9EF9-F50847F7B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0450" y="1220762"/>
            <a:ext cx="4521140" cy="323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1CCBAE-BBBB-4AF8-890D-94BF3FB27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900" y="2688956"/>
            <a:ext cx="4572481" cy="23680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 0"/>
          <p:cNvSpPr/>
          <p:nvPr/>
        </p:nvSpPr>
        <p:spPr>
          <a:xfrm>
            <a:off x="496119" y="598066"/>
            <a:ext cx="8151763" cy="4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Comparison – Why CNN Performs Best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4829" y="1187201"/>
            <a:ext cx="4948610" cy="1935707"/>
          </a:xfrm>
          <a:prstGeom prst="roundRect">
            <a:avLst>
              <a:gd name="adj" fmla="val 2660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68803" y="1339192"/>
            <a:ext cx="4700662" cy="1669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8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vs. SVM &amp; Random Forest: Better spatial pattern learning and hierarchical feature extraction unsuitable for classical ML.</a:t>
            </a:r>
          </a:p>
          <a:p>
            <a:pPr algn="l">
              <a:lnSpc>
                <a:spcPct val="108000"/>
              </a:lnSpc>
              <a:buSzPct val="100000"/>
            </a:pPr>
            <a:endParaRPr lang="en-US" sz="1200" dirty="0"/>
          </a:p>
          <a:p>
            <a:pPr marL="193040" indent="-193040" algn="l">
              <a:lnSpc>
                <a:spcPct val="108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vs. ResNet: Optimal architecture-to-dataset fit; ResNet's depth causes overfitting on this dataset size.</a:t>
            </a:r>
          </a:p>
          <a:p>
            <a:pPr algn="l">
              <a:lnSpc>
                <a:spcPct val="108000"/>
              </a:lnSpc>
              <a:buSzPct val="100000"/>
            </a:pPr>
            <a:endParaRPr lang="en-US" sz="1200" dirty="0"/>
          </a:p>
          <a:p>
            <a:pPr marL="193040" indent="-193040" algn="l">
              <a:lnSpc>
                <a:spcPct val="108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vs. VGG: Fewer parameters, faster convergence, better generalization without sacrificing accuracy.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487EA8-45AF-483B-870F-0A318B076BCF}"/>
              </a:ext>
            </a:extLst>
          </p:cNvPr>
          <p:cNvSpPr txBox="1"/>
          <p:nvPr/>
        </p:nvSpPr>
        <p:spPr>
          <a:xfrm>
            <a:off x="151733" y="47492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11</a:t>
            </a:r>
            <a:endParaRPr lang="en-GB" sz="14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48A48A-28F7-4194-A174-8DA5789F43EC}"/>
              </a:ext>
            </a:extLst>
          </p:cNvPr>
          <p:cNvSpPr/>
          <p:nvPr/>
        </p:nvSpPr>
        <p:spPr>
          <a:xfrm>
            <a:off x="7993626" y="4803769"/>
            <a:ext cx="1150374" cy="341783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251"/>
            <a:ext cx="8151763" cy="3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Next Steps &amp; Future Enhancements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267519" y="1013445"/>
            <a:ext cx="8608963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Leveraging the optimal CNN model for deployment and exploring advanced detection frontiers.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402928"/>
            <a:ext cx="3931667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Immediate Deployment &amp; Iteration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6119" y="1721718"/>
            <a:ext cx="3931667" cy="869826"/>
          </a:xfrm>
          <a:prstGeom prst="roundRect">
            <a:avLst>
              <a:gd name="adj" fmla="val 5709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576" y="1854175"/>
            <a:ext cx="3666753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Real-time Integration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8576" y="2158901"/>
            <a:ext cx="3666753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Deploy the trained CNN model into a real-time deepfake detection pipeline for immediate threat assessment.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6119" y="2704207"/>
            <a:ext cx="3931667" cy="869826"/>
          </a:xfrm>
          <a:prstGeom prst="roundRect">
            <a:avLst>
              <a:gd name="adj" fmla="val 5709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8576" y="2836664"/>
            <a:ext cx="3666753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Continuous Monitoring &amp; Retraining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8576" y="3141390"/>
            <a:ext cx="3666753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Establish feedback loops for performance monitoring and periodic retraining with new deepfake datasets to maintain efficacy.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20977" y="1402928"/>
            <a:ext cx="3931667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Advanced Research &amp; Development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20977" y="1721718"/>
            <a:ext cx="3931667" cy="869826"/>
          </a:xfrm>
          <a:prstGeom prst="roundRect">
            <a:avLst>
              <a:gd name="adj" fmla="val 5709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3434" y="1854175"/>
            <a:ext cx="3666753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Multimodal Detection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53434" y="2158901"/>
            <a:ext cx="3666753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Investigate integrating audio and contextual cues alongside visual analysis for a more robust detection system.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20977" y="2704207"/>
            <a:ext cx="3931667" cy="869826"/>
          </a:xfrm>
          <a:prstGeom prst="roundRect">
            <a:avLst>
              <a:gd name="adj" fmla="val 5709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3434" y="2836664"/>
            <a:ext cx="3666753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Adversarial Robustness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53434" y="3141390"/>
            <a:ext cx="3666753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Research and implement techniques to enhance the model's resilience against adversarial attacks designed to bypass detection.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20977" y="3686696"/>
            <a:ext cx="3931667" cy="869826"/>
          </a:xfrm>
          <a:prstGeom prst="roundRect">
            <a:avLst>
              <a:gd name="adj" fmla="val 5709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3434" y="3819153"/>
            <a:ext cx="3666753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Explainable AI (XAI)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53434" y="4123879"/>
            <a:ext cx="3666753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 methods to provide transparent insights into the model's decisions, increasing user trust and understanding.</a:t>
            </a:r>
            <a:endParaRPr lang="en-US" sz="9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B723EAA-A60A-4B3A-9ABD-8B8F258F7185}"/>
              </a:ext>
            </a:extLst>
          </p:cNvPr>
          <p:cNvSpPr/>
          <p:nvPr/>
        </p:nvSpPr>
        <p:spPr>
          <a:xfrm>
            <a:off x="7993626" y="4803769"/>
            <a:ext cx="1150374" cy="341783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358746-5DA7-429C-97D3-CFFF4ADC6032}"/>
              </a:ext>
            </a:extLst>
          </p:cNvPr>
          <p:cNvSpPr txBox="1"/>
          <p:nvPr/>
        </p:nvSpPr>
        <p:spPr>
          <a:xfrm>
            <a:off x="151733" y="47492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12</a:t>
            </a:r>
            <a:endParaRPr lang="en-GB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21" y="26925"/>
            <a:ext cx="7315200" cy="38481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341114"/>
            <a:ext cx="8151763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Inference Data Pipeline –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604689"/>
            <a:ext cx="8608963" cy="60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91440" indent="-91440" algn="l">
              <a:lnSpc>
                <a:spcPct val="81000"/>
              </a:lnSpc>
              <a:buSzPct val="100000"/>
              <a:buChar char="•"/>
            </a:pPr>
            <a:r>
              <a:rPr lang="en-US" sz="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End-to-end flow from test images to stored predictions (Real/Fake).</a:t>
            </a:r>
            <a:endParaRPr lang="en-US" sz="4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CA26FD1-22F8-4100-B923-BFDFF23EF2A1}"/>
              </a:ext>
            </a:extLst>
          </p:cNvPr>
          <p:cNvGrpSpPr/>
          <p:nvPr/>
        </p:nvGrpSpPr>
        <p:grpSpPr>
          <a:xfrm>
            <a:off x="167556" y="3957106"/>
            <a:ext cx="2668190" cy="360050"/>
            <a:chOff x="519336" y="4868912"/>
            <a:chExt cx="2668190" cy="240208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9336" y="4872744"/>
              <a:ext cx="93018" cy="93018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66601" y="4868912"/>
              <a:ext cx="2520925" cy="1007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8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load_data.py</a:t>
              </a:r>
              <a:endParaRPr lang="en-US" sz="8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666601" y="4988272"/>
              <a:ext cx="2520925" cy="120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81000"/>
                </a:lnSpc>
                <a:buNone/>
              </a:pPr>
              <a:r>
                <a:rPr lang="en-US" sz="4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Collect test image paths from ./dataset/test/Real and ./dataset/test/Fake. Store paths in source_data.db → raw_test_data (avoid duplicates).</a:t>
              </a:r>
              <a:endParaRPr lang="en-US" sz="4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B128FE4-866D-4B3F-BD8F-BED435B0FAB8}"/>
              </a:ext>
            </a:extLst>
          </p:cNvPr>
          <p:cNvGrpSpPr/>
          <p:nvPr/>
        </p:nvGrpSpPr>
        <p:grpSpPr>
          <a:xfrm>
            <a:off x="5893276" y="3989887"/>
            <a:ext cx="2668266" cy="265699"/>
            <a:chOff x="5979616" y="4868912"/>
            <a:chExt cx="2668266" cy="179784"/>
          </a:xfrm>
        </p:grpSpPr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79616" y="4872744"/>
              <a:ext cx="93018" cy="93018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6126882" y="4868912"/>
              <a:ext cx="2521000" cy="1007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8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make_predictions.py</a:t>
              </a:r>
              <a:endParaRPr lang="en-US" sz="800" dirty="0"/>
            </a:p>
          </p:txBody>
        </p:sp>
        <p:sp>
          <p:nvSpPr>
            <p:cNvPr id="16" name="Text 10"/>
            <p:cNvSpPr/>
            <p:nvPr/>
          </p:nvSpPr>
          <p:spPr>
            <a:xfrm>
              <a:off x="6126882" y="4988272"/>
              <a:ext cx="2521000" cy="604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1000"/>
                </a:lnSpc>
                <a:buNone/>
              </a:pPr>
              <a:r>
                <a:rPr lang="en-US" sz="4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Load SimpleCNN (3 Conv blocks + classifier). Use simple_cnn.pth to predict Fake vs Real.</a:t>
              </a:r>
              <a:endParaRPr lang="en-US" sz="450" dirty="0"/>
            </a:p>
          </p:txBody>
        </p:sp>
      </p:grp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9336" y="5194288"/>
            <a:ext cx="93018" cy="93018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F2503787-ECD9-4BA8-9733-5F6742BE0EE6}"/>
              </a:ext>
            </a:extLst>
          </p:cNvPr>
          <p:cNvGrpSpPr/>
          <p:nvPr/>
        </p:nvGrpSpPr>
        <p:grpSpPr>
          <a:xfrm>
            <a:off x="4528226" y="4530612"/>
            <a:ext cx="4033316" cy="279626"/>
            <a:chOff x="4614565" y="5190455"/>
            <a:chExt cx="4033316" cy="179784"/>
          </a:xfrm>
        </p:grpSpPr>
        <p:pic>
          <p:nvPicPr>
            <p:cNvPr id="22" name="Image 5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14565" y="5194288"/>
              <a:ext cx="93018" cy="93018"/>
            </a:xfrm>
            <a:prstGeom prst="rect">
              <a:avLst/>
            </a:prstGeom>
          </p:spPr>
        </p:pic>
        <p:sp>
          <p:nvSpPr>
            <p:cNvPr id="23" name="Text 15"/>
            <p:cNvSpPr/>
            <p:nvPr/>
          </p:nvSpPr>
          <p:spPr>
            <a:xfrm>
              <a:off x="4761830" y="5190455"/>
              <a:ext cx="3886051" cy="1007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8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run_pipeline.py</a:t>
              </a:r>
              <a:endParaRPr lang="en-US" sz="800" dirty="0"/>
            </a:p>
          </p:txBody>
        </p:sp>
        <p:sp>
          <p:nvSpPr>
            <p:cNvPr id="24" name="Text 16"/>
            <p:cNvSpPr/>
            <p:nvPr/>
          </p:nvSpPr>
          <p:spPr>
            <a:xfrm>
              <a:off x="4761830" y="5309815"/>
              <a:ext cx="3886051" cy="604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1000"/>
                </a:lnSpc>
                <a:buNone/>
              </a:pPr>
              <a:r>
                <a:rPr lang="en-US" sz="4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Orchestrator: run full flow (load → preprocess → predict → save).</a:t>
              </a:r>
              <a:endParaRPr lang="en-US" sz="45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C9FC5D5-6A01-45AD-AB65-1422124135BB}"/>
              </a:ext>
            </a:extLst>
          </p:cNvPr>
          <p:cNvGrpSpPr/>
          <p:nvPr/>
        </p:nvGrpSpPr>
        <p:grpSpPr>
          <a:xfrm>
            <a:off x="2932870" y="3982781"/>
            <a:ext cx="2692141" cy="343146"/>
            <a:chOff x="3255025" y="4868912"/>
            <a:chExt cx="2692141" cy="240208"/>
          </a:xfrm>
        </p:grpSpPr>
        <p:sp>
          <p:nvSpPr>
            <p:cNvPr id="11" name="Text 6"/>
            <p:cNvSpPr/>
            <p:nvPr/>
          </p:nvSpPr>
          <p:spPr>
            <a:xfrm>
              <a:off x="3426166" y="4868912"/>
              <a:ext cx="2521000" cy="1007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8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preprocess.py</a:t>
              </a:r>
              <a:endParaRPr lang="en-US" sz="8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3396704" y="4988272"/>
              <a:ext cx="2521000" cy="120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81000"/>
                </a:lnSpc>
                <a:buNone/>
              </a:pPr>
              <a:r>
                <a:rPr lang="en-US" sz="4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Open image, convert to RGB, resize to 128×128. Convert to tensor, normalize (mean=0.5, std=0.5), shape 1×3×128×128.</a:t>
              </a:r>
              <a:endParaRPr lang="en-US" sz="450" dirty="0"/>
            </a:p>
          </p:txBody>
        </p:sp>
        <p:pic>
          <p:nvPicPr>
            <p:cNvPr id="28" name="Image 2" descr="preencoded.png">
              <a:extLst>
                <a:ext uri="{FF2B5EF4-FFF2-40B4-BE49-F238E27FC236}">
                  <a16:creationId xmlns:a16="http://schemas.microsoft.com/office/drawing/2014/main" id="{A092E060-92A2-4023-A12C-8CCAD504A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55025" y="4876651"/>
              <a:ext cx="93018" cy="93018"/>
            </a:xfrm>
            <a:prstGeom prst="rect">
              <a:avLst/>
            </a:prstGeom>
          </p:spPr>
        </p:pic>
      </p:grp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5FE3AC56-162E-4D93-80D4-00CB8103E6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9336" y="5369386"/>
            <a:ext cx="93018" cy="93018"/>
          </a:xfrm>
          <a:prstGeom prst="rect">
            <a:avLst/>
          </a:prstGeom>
        </p:spPr>
      </p:pic>
      <p:pic>
        <p:nvPicPr>
          <p:cNvPr id="37" name="Image 4" descr="preencoded.png">
            <a:extLst>
              <a:ext uri="{FF2B5EF4-FFF2-40B4-BE49-F238E27FC236}">
                <a16:creationId xmlns:a16="http://schemas.microsoft.com/office/drawing/2014/main" id="{99A35DC2-F7C5-417C-AFE2-15AAF1F970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9336" y="5369386"/>
            <a:ext cx="93018" cy="93018"/>
          </a:xfrm>
          <a:prstGeom prst="rect">
            <a:avLst/>
          </a:prstGeom>
        </p:spPr>
      </p:pic>
      <p:pic>
        <p:nvPicPr>
          <p:cNvPr id="38" name="Image 4" descr="preencoded.png">
            <a:extLst>
              <a:ext uri="{FF2B5EF4-FFF2-40B4-BE49-F238E27FC236}">
                <a16:creationId xmlns:a16="http://schemas.microsoft.com/office/drawing/2014/main" id="{7DCAD709-DA44-4CFA-86BF-2116CF785B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9336" y="5369386"/>
            <a:ext cx="93018" cy="9301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D069CBF-B0F5-4A5C-BEB3-F2C2B8E749DF}"/>
              </a:ext>
            </a:extLst>
          </p:cNvPr>
          <p:cNvGrpSpPr/>
          <p:nvPr/>
        </p:nvGrpSpPr>
        <p:grpSpPr>
          <a:xfrm>
            <a:off x="985163" y="4516451"/>
            <a:ext cx="4064273" cy="259664"/>
            <a:chOff x="913911" y="4049466"/>
            <a:chExt cx="4064273" cy="25966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690E26D-A65F-4CE3-BA69-010203D31856}"/>
                </a:ext>
              </a:extLst>
            </p:cNvPr>
            <p:cNvGrpSpPr/>
            <p:nvPr/>
          </p:nvGrpSpPr>
          <p:grpSpPr>
            <a:xfrm>
              <a:off x="913911" y="4049466"/>
              <a:ext cx="4064273" cy="259664"/>
              <a:chOff x="488379" y="5184107"/>
              <a:chExt cx="4064273" cy="186132"/>
            </a:xfrm>
          </p:grpSpPr>
          <p:sp>
            <p:nvSpPr>
              <p:cNvPr id="19" name="Text 12"/>
              <p:cNvSpPr/>
              <p:nvPr/>
            </p:nvSpPr>
            <p:spPr>
              <a:xfrm>
                <a:off x="666601" y="5190455"/>
                <a:ext cx="3886051" cy="10075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8000"/>
                  </a:lnSpc>
                  <a:buNone/>
                </a:pPr>
                <a:r>
                  <a:rPr lang="en-US" sz="800" b="1" dirty="0">
                    <a:solidFill>
                      <a:srgbClr val="EBEDF0"/>
                    </a:solidFill>
                    <a:latin typeface="Geist Bold" pitchFamily="34" charset="0"/>
                    <a:ea typeface="Geist Bold" pitchFamily="34" charset="-122"/>
                    <a:cs typeface="Geist Bold" pitchFamily="34" charset="-120"/>
                  </a:rPr>
                  <a:t>predictions.py</a:t>
                </a:r>
                <a:endParaRPr lang="en-US" sz="800" dirty="0"/>
              </a:p>
            </p:txBody>
          </p:sp>
          <p:sp>
            <p:nvSpPr>
              <p:cNvPr id="20" name="Text 13"/>
              <p:cNvSpPr/>
              <p:nvPr/>
            </p:nvSpPr>
            <p:spPr>
              <a:xfrm>
                <a:off x="666601" y="5309815"/>
                <a:ext cx="3886051" cy="604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81000"/>
                  </a:lnSpc>
                  <a:buNone/>
                </a:pPr>
                <a:r>
                  <a:rPr lang="en-US" sz="450" dirty="0">
                    <a:solidFill>
                      <a:srgbClr val="EBEDF0"/>
                    </a:solidFill>
                    <a:latin typeface="Geist" pitchFamily="34" charset="0"/>
                    <a:ea typeface="Geist" pitchFamily="34" charset="-122"/>
                    <a:cs typeface="Geist" pitchFamily="34" charset="-120"/>
                  </a:rPr>
                  <a:t>Store results in predictions_results.db → inference_results. Save image_path with predicted_label.</a:t>
                </a:r>
                <a:endParaRPr lang="en-US" sz="450" dirty="0"/>
              </a:p>
            </p:txBody>
          </p:sp>
          <p:sp>
            <p:nvSpPr>
              <p:cNvPr id="36" name="Shape 11">
                <a:extLst>
                  <a:ext uri="{FF2B5EF4-FFF2-40B4-BE49-F238E27FC236}">
                    <a16:creationId xmlns:a16="http://schemas.microsoft.com/office/drawing/2014/main" id="{71E4E04F-B834-42BA-9306-3F4B45DC8DCA}"/>
                  </a:ext>
                </a:extLst>
              </p:cNvPr>
              <p:cNvSpPr/>
              <p:nvPr/>
            </p:nvSpPr>
            <p:spPr>
              <a:xfrm>
                <a:off x="488379" y="5184107"/>
                <a:ext cx="139526" cy="139526"/>
              </a:xfrm>
              <a:prstGeom prst="roundRect">
                <a:avLst>
                  <a:gd name="adj" fmla="val 18670"/>
                </a:avLst>
              </a:prstGeom>
              <a:solidFill>
                <a:srgbClr val="101620"/>
              </a:solidFill>
              <a:ln w="4763">
                <a:solidFill>
                  <a:srgbClr val="002A80"/>
                </a:solidFill>
                <a:prstDash val="solid"/>
              </a:ln>
            </p:spPr>
          </p:sp>
        </p:grpSp>
        <p:pic>
          <p:nvPicPr>
            <p:cNvPr id="39" name="Image 4" descr="preencoded.png">
              <a:extLst>
                <a:ext uri="{FF2B5EF4-FFF2-40B4-BE49-F238E27FC236}">
                  <a16:creationId xmlns:a16="http://schemas.microsoft.com/office/drawing/2014/main" id="{1F9B1639-AAE6-4AA4-AE66-634978C8A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7165" y="4072720"/>
              <a:ext cx="93018" cy="93018"/>
            </a:xfrm>
            <a:prstGeom prst="rect">
              <a:avLst/>
            </a:prstGeom>
          </p:spPr>
        </p:pic>
      </p:grpSp>
      <p:pic>
        <p:nvPicPr>
          <p:cNvPr id="41" name="Image 5" descr="preencoded.png">
            <a:extLst>
              <a:ext uri="{FF2B5EF4-FFF2-40B4-BE49-F238E27FC236}">
                <a16:creationId xmlns:a16="http://schemas.microsoft.com/office/drawing/2014/main" id="{173741A1-85FC-4985-B1C6-7CF127B47A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4565" y="5369386"/>
            <a:ext cx="93018" cy="9301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3043065-7666-492E-BB60-28D40F21889E}"/>
              </a:ext>
            </a:extLst>
          </p:cNvPr>
          <p:cNvSpPr txBox="1"/>
          <p:nvPr/>
        </p:nvSpPr>
        <p:spPr>
          <a:xfrm>
            <a:off x="72378" y="474401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13</a:t>
            </a:r>
            <a:endParaRPr lang="en-GB" sz="14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DF2B22B-9FC7-4CAA-8142-453B9B052C1A}"/>
              </a:ext>
            </a:extLst>
          </p:cNvPr>
          <p:cNvSpPr/>
          <p:nvPr/>
        </p:nvSpPr>
        <p:spPr>
          <a:xfrm>
            <a:off x="7993626" y="4803769"/>
            <a:ext cx="1150374" cy="341783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835" y="677534"/>
            <a:ext cx="8151763" cy="4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Deepfake in the Real World &amp; Industry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65261"/>
            <a:ext cx="8608963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93040" indent="-193040" algn="l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 Deepfakes are used — and why detection is critical.</a:t>
            </a:r>
            <a:endParaRPr lang="en-US" sz="9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1F30110-DA11-486A-B3D3-F81CE4B8831C}"/>
              </a:ext>
            </a:extLst>
          </p:cNvPr>
          <p:cNvGrpSpPr/>
          <p:nvPr/>
        </p:nvGrpSpPr>
        <p:grpSpPr>
          <a:xfrm>
            <a:off x="100912" y="1752010"/>
            <a:ext cx="4381798" cy="486817"/>
            <a:chOff x="496119" y="2379464"/>
            <a:chExt cx="4381798" cy="486817"/>
          </a:xfrm>
        </p:grpSpPr>
        <p:sp>
          <p:nvSpPr>
            <p:cNvPr id="4" name="Text 2"/>
            <p:cNvSpPr/>
            <p:nvPr/>
          </p:nvSpPr>
          <p:spPr>
            <a:xfrm>
              <a:off x="496119" y="2379464"/>
              <a:ext cx="3924598" cy="201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F2F5FA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Media &amp; Social Networks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96119" y="2705026"/>
              <a:ext cx="4381798" cy="1612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9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Manipulated celebrity images and viral misinformation.</a:t>
              </a:r>
              <a:endParaRPr lang="en-US" sz="95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E30104-1691-44C2-ADAF-E48DEE265619}"/>
              </a:ext>
            </a:extLst>
          </p:cNvPr>
          <p:cNvGrpSpPr/>
          <p:nvPr/>
        </p:nvGrpSpPr>
        <p:grpSpPr>
          <a:xfrm>
            <a:off x="6079386" y="1752010"/>
            <a:ext cx="4381798" cy="486817"/>
            <a:chOff x="4728046" y="2379464"/>
            <a:chExt cx="4381798" cy="486817"/>
          </a:xfrm>
        </p:grpSpPr>
        <p:sp>
          <p:nvSpPr>
            <p:cNvPr id="6" name="Text 4"/>
            <p:cNvSpPr/>
            <p:nvPr/>
          </p:nvSpPr>
          <p:spPr>
            <a:xfrm>
              <a:off x="4728046" y="2379464"/>
              <a:ext cx="3924598" cy="201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F2F5FA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Cybersecurity &amp; Fraud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728046" y="2705026"/>
              <a:ext cx="4381798" cy="1612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9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Identity spoofing, fake profile images, impersonation.</a:t>
              </a:r>
              <a:endParaRPr lang="en-US" sz="95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85025C-A8E3-4C4E-A314-3501454D6C19}"/>
              </a:ext>
            </a:extLst>
          </p:cNvPr>
          <p:cNvGrpSpPr/>
          <p:nvPr/>
        </p:nvGrpSpPr>
        <p:grpSpPr>
          <a:xfrm>
            <a:off x="100912" y="4030350"/>
            <a:ext cx="4381798" cy="486817"/>
            <a:chOff x="496119" y="3241402"/>
            <a:chExt cx="4381798" cy="486817"/>
          </a:xfrm>
        </p:grpSpPr>
        <p:sp>
          <p:nvSpPr>
            <p:cNvPr id="8" name="Text 6"/>
            <p:cNvSpPr/>
            <p:nvPr/>
          </p:nvSpPr>
          <p:spPr>
            <a:xfrm>
              <a:off x="496119" y="3241402"/>
              <a:ext cx="3924598" cy="201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F2F5FA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Entertainment &amp; Film Industry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96119" y="3566964"/>
              <a:ext cx="4381798" cy="1612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9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Face replacement and visual effects in movies.</a:t>
              </a:r>
              <a:endParaRPr lang="en-US" sz="95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BF6440-BF0D-40C6-90EE-03275EB500C6}"/>
              </a:ext>
            </a:extLst>
          </p:cNvPr>
          <p:cNvGrpSpPr/>
          <p:nvPr/>
        </p:nvGrpSpPr>
        <p:grpSpPr>
          <a:xfrm>
            <a:off x="6215883" y="4072171"/>
            <a:ext cx="4381798" cy="446484"/>
            <a:chOff x="4728046" y="3281735"/>
            <a:chExt cx="4381798" cy="446484"/>
          </a:xfrm>
        </p:grpSpPr>
        <p:sp>
          <p:nvSpPr>
            <p:cNvPr id="10" name="Text 8"/>
            <p:cNvSpPr/>
            <p:nvPr/>
          </p:nvSpPr>
          <p:spPr>
            <a:xfrm>
              <a:off x="4728046" y="3281735"/>
              <a:ext cx="3924598" cy="2015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F2F5FA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Industrial / Enterprise Use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728046" y="3566964"/>
              <a:ext cx="4381798" cy="1612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9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Synthetic data and simulations, with risk of misuse.</a:t>
              </a:r>
              <a:endParaRPr lang="en-US" sz="950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E805EDD5-2D0B-4E61-A4E1-195882B2758C}"/>
              </a:ext>
            </a:extLst>
          </p:cNvPr>
          <p:cNvSpPr/>
          <p:nvPr/>
        </p:nvSpPr>
        <p:spPr>
          <a:xfrm>
            <a:off x="7993626" y="4803769"/>
            <a:ext cx="1150374" cy="341783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4A8361-510C-4EF1-9B93-FD9EA0E86EB9}"/>
              </a:ext>
            </a:extLst>
          </p:cNvPr>
          <p:cNvSpPr txBox="1"/>
          <p:nvPr/>
        </p:nvSpPr>
        <p:spPr>
          <a:xfrm>
            <a:off x="72378" y="474401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14</a:t>
            </a:r>
            <a:endParaRPr lang="en-GB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F84895-3CAC-4DF8-882E-DCC567AA6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744" y="2251206"/>
            <a:ext cx="3770139" cy="19680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470" y="199950"/>
            <a:ext cx="8151763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Git Workflow &amp; Version Control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2752" y="1219481"/>
            <a:ext cx="4249264" cy="2335625"/>
          </a:xfrm>
          <a:prstGeom prst="roundRect">
            <a:avLst>
              <a:gd name="adj" fmla="val 1370"/>
            </a:avLst>
          </a:prstGeom>
          <a:solidFill>
            <a:srgbClr val="1F2A5D">
              <a:alpha val="95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988945" y="1665628"/>
            <a:ext cx="3135288" cy="1443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91440" indent="-91440" algn="l">
              <a:lnSpc>
                <a:spcPct val="81000"/>
              </a:lnSpc>
              <a:buSzPct val="100000"/>
              <a:buChar char="•"/>
            </a:pPr>
            <a:r>
              <a:rPr lang="en-US" sz="12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tracked with Git repository.</a:t>
            </a:r>
          </a:p>
          <a:p>
            <a:pPr marL="91440" indent="-91440" algn="l">
              <a:lnSpc>
                <a:spcPct val="81000"/>
              </a:lnSpc>
              <a:buSzPct val="100000"/>
              <a:buChar char="•"/>
            </a:pPr>
            <a:endParaRPr lang="en-US" sz="1200" b="1" dirty="0"/>
          </a:p>
          <a:p>
            <a:pPr marL="91440" indent="-91440" algn="l">
              <a:lnSpc>
                <a:spcPct val="81000"/>
              </a:lnSpc>
              <a:buSzPct val="100000"/>
              <a:buChar char="•"/>
            </a:pPr>
            <a:r>
              <a:rPr lang="en-US" sz="12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Commits documenting pipeline phases and model experiments.</a:t>
            </a:r>
          </a:p>
          <a:p>
            <a:pPr marL="91440" indent="-91440" algn="l">
              <a:lnSpc>
                <a:spcPct val="81000"/>
              </a:lnSpc>
              <a:buSzPct val="100000"/>
              <a:buChar char="•"/>
            </a:pPr>
            <a:endParaRPr lang="en-US" sz="1200" b="1" dirty="0"/>
          </a:p>
          <a:p>
            <a:pPr marL="91440" indent="-91440" algn="l">
              <a:lnSpc>
                <a:spcPct val="81000"/>
              </a:lnSpc>
              <a:buSzPct val="100000"/>
              <a:buChar char="•"/>
            </a:pPr>
            <a:r>
              <a:rPr lang="en-US" sz="12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Branching used for experimenting with different models.</a:t>
            </a:r>
            <a:endParaRPr lang="en-US" sz="1200" b="1" dirty="0"/>
          </a:p>
        </p:txBody>
      </p:sp>
      <p:sp>
        <p:nvSpPr>
          <p:cNvPr id="6" name="Text 3"/>
          <p:cNvSpPr/>
          <p:nvPr/>
        </p:nvSpPr>
        <p:spPr>
          <a:xfrm>
            <a:off x="496119" y="5524202"/>
            <a:ext cx="8608963" cy="60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[PLACEHOLDER: future screenshot of Git log / commits / branch structure]</a:t>
            </a:r>
            <a:endParaRPr lang="en-US" sz="45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41BB8A-F53E-475E-B0B8-AAE11A80CA2C}"/>
              </a:ext>
            </a:extLst>
          </p:cNvPr>
          <p:cNvSpPr/>
          <p:nvPr/>
        </p:nvSpPr>
        <p:spPr>
          <a:xfrm>
            <a:off x="7993626" y="4803769"/>
            <a:ext cx="1150374" cy="341783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DFAC0D-4D7E-4928-9CCE-3B1533B0BC11}"/>
              </a:ext>
            </a:extLst>
          </p:cNvPr>
          <p:cNvSpPr txBox="1"/>
          <p:nvPr/>
        </p:nvSpPr>
        <p:spPr>
          <a:xfrm>
            <a:off x="72378" y="474401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15</a:t>
            </a:r>
            <a:endParaRPr lang="en-GB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F4401C-8D30-4D71-A661-DBE571CD1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378" y="3640163"/>
            <a:ext cx="6258798" cy="9145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345185" y="475344"/>
            <a:ext cx="8151763" cy="4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3660" y="1443097"/>
            <a:ext cx="8841435" cy="130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Our Deepfake Detection pipeline combines robust data processing and a tuned CNN model to reliably distinguish Real from Fake images.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96119" y="3080296"/>
            <a:ext cx="8608963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-1258977" y="4195927"/>
            <a:ext cx="8151763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 for your attention. 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69A9C-78ED-4FB9-BA6F-207A10E38599}"/>
              </a:ext>
            </a:extLst>
          </p:cNvPr>
          <p:cNvSpPr txBox="1"/>
          <p:nvPr/>
        </p:nvSpPr>
        <p:spPr>
          <a:xfrm>
            <a:off x="72378" y="474401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16</a:t>
            </a:r>
            <a:endParaRPr lang="en-GB" sz="14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272AFB-BAA2-4308-8F32-96B0D7A1F2B8}"/>
              </a:ext>
            </a:extLst>
          </p:cNvPr>
          <p:cNvSpPr/>
          <p:nvPr/>
        </p:nvSpPr>
        <p:spPr>
          <a:xfrm>
            <a:off x="7993626" y="4796020"/>
            <a:ext cx="1150374" cy="341783"/>
          </a:xfrm>
          <a:prstGeom prst="ellipse">
            <a:avLst/>
          </a:prstGeom>
          <a:solidFill>
            <a:srgbClr val="101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1324</Words>
  <Application>Microsoft Office PowerPoint</Application>
  <PresentationFormat>On-screen Show (16:9)</PresentationFormat>
  <Paragraphs>233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Consolas</vt:lpstr>
      <vt:lpstr>Arial</vt:lpstr>
      <vt:lpstr>Geist Bold</vt:lpstr>
      <vt:lpstr>Geist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Mahdi Eghlimi</dc:creator>
  <cp:lastModifiedBy>Mahdi Eghlimi</cp:lastModifiedBy>
  <cp:revision>23</cp:revision>
  <dcterms:created xsi:type="dcterms:W3CDTF">2026-07-30T06:59:10Z</dcterms:created>
  <dcterms:modified xsi:type="dcterms:W3CDTF">2026-07-30T20:37:31Z</dcterms:modified>
</cp:coreProperties>
</file>