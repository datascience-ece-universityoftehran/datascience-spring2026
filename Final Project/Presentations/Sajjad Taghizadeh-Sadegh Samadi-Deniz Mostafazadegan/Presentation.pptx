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6B500F-C2B1-4A5F-8758-DF237776561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E2C3183-C473-4B31-BC6E-775DAA4B6A2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BC3DAA7-3DD1-4B69-B1C5-0379B1AE704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E1EBA0-2F5C-40AD-B3BF-0B413CCDC56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A6047D-7E5D-4D4B-A42E-2FB7D5CB2E37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31274AE-733E-4B80-A8F7-6D49459C4E6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3B5940D-6638-4CBD-B0AF-E097AA345B97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BA71A9-FA44-4C52-8CD4-EC64C43484A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7BDCE7F-843B-43AE-9318-D746A607DDD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23909B4-AFA6-4322-8055-193EA51F95B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15994D-A9A2-4E3F-9F45-C62B4F882F2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15994D-A9A2-4E3F-9F45-C62B4F882F2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4952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359BDD-7C2B-4C60-95CB-4DFE70F9396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C4AEE2-51DE-43E5-978D-925B0609146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F4B3BC-8B72-4B53-AE93-B90ACFE42F6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CAC4C0-C4B4-449F-BEC3-E57022A520D2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CF48F8-01B1-4F74-A08C-97E2698A8F22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BA520AC-4135-4CAA-9EB1-75534468E4F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17218C-2488-4907-80B4-79ED66882F5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061DAA-43D2-4894-A383-4F3125AE313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176707-2E0B-4DE8-9A2B-0E4EBD34C977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6E4A60C-D004-4FC8-9907-FDF37F6AD10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047600" y="609480"/>
            <a:ext cx="7035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310">
                <a:solidFill>
                  <a:srgbClr val="94A3B8"/>
                </a:solidFill>
                <a:latin typeface="Courier New"/>
                <a:ea typeface="Courier New"/>
              </a:rPr>
              <a:t>STACK EXCHANGE API · SQLITE · BM25</a:t>
            </a:r>
            <a:endParaRPr lang="en-US" sz="1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5170760" y="609480"/>
            <a:ext cx="2275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310">
                <a:solidFill>
                  <a:srgbClr val="F59E0B"/>
                </a:solidFill>
                <a:latin typeface="Courier New"/>
                <a:ea typeface="Courier New"/>
              </a:rPr>
              <a:t>PHASE 1 — 3</a:t>
            </a:r>
            <a:endParaRPr lang="en-US" sz="1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47600" y="2770920"/>
            <a:ext cx="14519520" cy="28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5000" lnSpcReduction="10000"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6900" b="1" strike="noStrike" spc="-1">
                <a:solidFill>
                  <a:srgbClr val="F8FAFC"/>
                </a:solidFill>
                <a:latin typeface="Arial"/>
                <a:ea typeface="Arial"/>
              </a:rPr>
              <a:t>Semantic Similar-Question Recommender for C++ on Stack Overflow</a:t>
            </a:r>
            <a:endParaRPr lang="en-US" sz="6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47600" y="5938200"/>
            <a:ext cx="1781136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0" strike="noStrike" spc="-1" dirty="0">
                <a:solidFill>
                  <a:srgbClr val="94A3B8"/>
                </a:solidFill>
                <a:latin typeface="Arial"/>
                <a:ea typeface="Arial"/>
              </a:rPr>
              <a:t>Introduction to Data Science — Final Project, Phases 1 to 3  </a:t>
            </a:r>
            <a:endParaRPr lang="en-US" sz="3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47600" y="7941600"/>
            <a:ext cx="7281720" cy="1659240"/>
          </a:xfrm>
          <a:prstGeom prst="roundRect">
            <a:avLst>
              <a:gd name="adj" fmla="val 7420"/>
            </a:avLst>
          </a:prstGeom>
          <a:noFill/>
          <a:ln w="18197">
            <a:solidFill>
              <a:srgbClr val="475569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370880" y="8166960"/>
            <a:ext cx="680832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team members: Sajjad </a:t>
            </a:r>
            <a:r>
              <a:rPr lang="en-US" sz="1800" b="0" strike="noStrike" spc="-1" dirty="0" err="1">
                <a:solidFill>
                  <a:srgbClr val="94A3B8"/>
                </a:solidFill>
                <a:latin typeface="Courier New"/>
                <a:ea typeface="Courier New"/>
              </a:rPr>
              <a:t>Taghizadeh</a:t>
            </a: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- Sadegh </a:t>
            </a:r>
            <a:r>
              <a:rPr lang="en-US" sz="1800" b="0" strike="noStrike" spc="-1" dirty="0" err="1">
                <a:solidFill>
                  <a:srgbClr val="94A3B8"/>
                </a:solidFill>
                <a:latin typeface="Courier New"/>
                <a:ea typeface="Courier New"/>
              </a:rPr>
              <a:t>Samadi</a:t>
            </a: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- Deniz </a:t>
            </a:r>
            <a:r>
              <a:rPr lang="en-US" sz="1800" b="0" strike="noStrike" spc="-1" dirty="0" err="1">
                <a:solidFill>
                  <a:srgbClr val="94A3B8"/>
                </a:solidFill>
                <a:latin typeface="Courier New"/>
                <a:ea typeface="Courier New"/>
              </a:rPr>
              <a:t>Mostafazadegan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370880" y="8949960"/>
            <a:ext cx="671256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475569"/>
                </a:solidFill>
                <a:latin typeface="Courier New"/>
                <a:ea typeface="Courier New"/>
              </a:rPr>
              <a:t>Instructor: Prof </a:t>
            </a:r>
            <a:r>
              <a:rPr lang="en-US" sz="1800" b="0" strike="noStrike" spc="-1" dirty="0" err="1">
                <a:solidFill>
                  <a:srgbClr val="475569"/>
                </a:solidFill>
                <a:latin typeface="Courier New"/>
                <a:ea typeface="Courier New"/>
              </a:rPr>
              <a:t>Razavi</a:t>
            </a:r>
            <a:r>
              <a:rPr lang="en-US" sz="1800" b="0" strike="noStrike" spc="-1" dirty="0">
                <a:solidFill>
                  <a:srgbClr val="475569"/>
                </a:solidFill>
                <a:latin typeface="Courier New"/>
                <a:ea typeface="Courier New"/>
              </a:rPr>
              <a:t> &amp; </a:t>
            </a:r>
            <a:r>
              <a:rPr lang="en-US" sz="1800" b="0" strike="noStrike" spc="-1" dirty="0" err="1">
                <a:solidFill>
                  <a:srgbClr val="475569"/>
                </a:solidFill>
                <a:latin typeface="Courier New"/>
                <a:ea typeface="Courier New"/>
              </a:rPr>
              <a:t>Yagoobzadeh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2785040" y="9273600"/>
            <a:ext cx="4900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Stack Overflow C++ Recommender</a:t>
            </a:r>
            <a:endParaRPr lang="en-US" sz="1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1047600" y="533520"/>
            <a:ext cx="484128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Problem and Motivation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15525000" y="538920"/>
            <a:ext cx="171504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5724440" y="624240"/>
            <a:ext cx="139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475569"/>
                </a:solidFill>
                <a:latin typeface="Courier New"/>
                <a:ea typeface="Courier New"/>
              </a:rPr>
              <a:t>OVERVIEW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047600" y="1833840"/>
            <a:ext cx="14715720" cy="122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0F172A"/>
                </a:solidFill>
                <a:latin typeface="Arial"/>
                <a:ea typeface="Arial"/>
              </a:rPr>
              <a:t>Thousands of C++ questions on Stack Overflow are duplicates or near-duplicates of questions already answered.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047600" y="3517560"/>
            <a:ext cx="146682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475569"/>
                </a:solidFill>
                <a:latin typeface="Arial"/>
                <a:ea typeface="Arial"/>
              </a:rPr>
              <a:t>Given any C++ question, return a ranked list of the closest earlier questions.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1047600" y="4431600"/>
            <a:ext cx="5143320" cy="2403000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1380600" y="4783680"/>
            <a:ext cx="263880" cy="263880"/>
          </a:xfrm>
          <a:prstGeom prst="roundRect">
            <a:avLst>
              <a:gd name="adj" fmla="val 14424"/>
            </a:avLst>
          </a:prstGeom>
          <a:noFill/>
          <a:ln w="27296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380600" y="5219280"/>
            <a:ext cx="49251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F172A"/>
                </a:solidFill>
                <a:latin typeface="Arial"/>
                <a:ea typeface="Arial"/>
              </a:rPr>
              <a:t>Duplicate detection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380600" y="5736240"/>
            <a:ext cx="461160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Flag new questions that repeat an existing thread.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572160" y="4431600"/>
            <a:ext cx="5143320" cy="2403000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6905160" y="4783680"/>
            <a:ext cx="263880" cy="263880"/>
          </a:xfrm>
          <a:prstGeom prst="ellipse">
            <a:avLst/>
          </a:prstGeom>
          <a:noFill/>
          <a:ln w="27296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905160" y="5219280"/>
            <a:ext cx="49251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F172A"/>
                </a:solidFill>
                <a:latin typeface="Arial"/>
                <a:ea typeface="Arial"/>
              </a:rPr>
              <a:t>Related-questions widget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6905160" y="5736240"/>
            <a:ext cx="461160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Surface neighbours next to any question page.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12096720" y="4431600"/>
            <a:ext cx="5143320" cy="2403000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 rot="2700000">
            <a:off x="12428640" y="4782240"/>
            <a:ext cx="266400" cy="266400"/>
          </a:xfrm>
          <a:prstGeom prst="rect">
            <a:avLst/>
          </a:prstGeom>
          <a:noFill/>
          <a:ln w="27296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12429720" y="5219280"/>
            <a:ext cx="49251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F172A"/>
                </a:solidFill>
                <a:latin typeface="Arial"/>
                <a:ea typeface="Arial"/>
              </a:rPr>
              <a:t>Route to an answer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12429720" y="5736240"/>
            <a:ext cx="4611600" cy="7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Send the asker to an existing solution first.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1047600" y="533520"/>
            <a:ext cx="407304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Dataset at a Glance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15525000" y="538920"/>
            <a:ext cx="171504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15724440" y="624240"/>
            <a:ext cx="139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475569"/>
                </a:solidFill>
                <a:latin typeface="Courier New"/>
                <a:ea typeface="Courier New"/>
              </a:rPr>
              <a:t>OVERVIEW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1047600" y="2062440"/>
            <a:ext cx="5545800" cy="116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5000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885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26,162</a:t>
            </a:r>
            <a:endParaRPr lang="en-US" sz="8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047600" y="3319920"/>
            <a:ext cx="55458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475569"/>
                </a:solidFill>
                <a:latin typeface="Arial"/>
                <a:ea typeface="Arial"/>
              </a:rPr>
              <a:t>C++ questions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6622920" y="2062440"/>
            <a:ext cx="5545800" cy="116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5000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8850" b="1" strike="noStrike" spc="-1">
                <a:solidFill>
                  <a:srgbClr val="0F172A"/>
                </a:solidFill>
                <a:latin typeface="Courier New"/>
                <a:ea typeface="Courier New"/>
              </a:rPr>
              <a:t>5,572</a:t>
            </a:r>
            <a:endParaRPr lang="en-US" sz="8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6622920" y="3319920"/>
            <a:ext cx="55458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475569"/>
                </a:solidFill>
                <a:latin typeface="Arial"/>
                <a:ea typeface="Arial"/>
              </a:rPr>
              <a:t>unique tags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2198240" y="2062440"/>
            <a:ext cx="5545800" cy="116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5000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8850" b="1" strike="noStrike" spc="-1">
                <a:solidFill>
                  <a:srgbClr val="0F172A"/>
                </a:solidFill>
                <a:latin typeface="Courier New"/>
                <a:ea typeface="Courier New"/>
              </a:rPr>
              <a:t>2008–26</a:t>
            </a:r>
            <a:endParaRPr lang="en-US" sz="8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12198240" y="3319920"/>
            <a:ext cx="554580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475569"/>
                </a:solidFill>
                <a:latin typeface="Arial"/>
                <a:ea typeface="Arial"/>
              </a:rPr>
              <a:t>years covered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1047600" y="4424040"/>
            <a:ext cx="16192080" cy="964080"/>
          </a:xfrm>
          <a:prstGeom prst="roundRect">
            <a:avLst>
              <a:gd name="adj" fmla="val 11851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1428840" y="4728960"/>
            <a:ext cx="6157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F8FAFC"/>
                </a:solidFill>
                <a:latin typeface="Courier New"/>
                <a:ea typeface="Courier New"/>
              </a:rPr>
              <a:t>Source: official Stack Exchange API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7560000" y="4728960"/>
            <a:ext cx="52776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Collected with our own crawler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1047600" y="6074280"/>
            <a:ext cx="1571580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475569"/>
                </a:solidFill>
                <a:latin typeface="Arial"/>
                <a:ea typeface="Arial"/>
              </a:rPr>
              <a:t>Each record stores the title, HTML body, tags, view / answer / vote counts, and creation date.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1047600" y="533520"/>
            <a:ext cx="356040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Project Roadmap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15525000" y="538920"/>
            <a:ext cx="171504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5724440" y="624240"/>
            <a:ext cx="139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475569"/>
                </a:solidFill>
                <a:latin typeface="Courier New"/>
                <a:ea typeface="Courier New"/>
              </a:rPr>
              <a:t>OVERVIEW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1047600" y="2348280"/>
            <a:ext cx="4635360" cy="709560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1047600" y="9435240"/>
            <a:ext cx="46353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1047600" y="2348280"/>
            <a:ext cx="4635360" cy="543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104760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567432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1437840" y="2822040"/>
            <a:ext cx="424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194">
                <a:solidFill>
                  <a:srgbClr val="2563EB"/>
                </a:solidFill>
                <a:latin typeface="Courier New"/>
                <a:ea typeface="Courier New"/>
              </a:rPr>
              <a:t>PHASE 1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437840" y="3359160"/>
            <a:ext cx="424044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Arial"/>
                <a:ea typeface="Arial"/>
              </a:rPr>
              <a:t>Data collection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437840" y="4005360"/>
            <a:ext cx="3970800" cy="12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/>
          </a:bodyPr>
          <a:lstStyle/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Resumable crawler over the c++ tag on the Stack Exchange API.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988240" y="5550480"/>
            <a:ext cx="60912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6826320" y="2348280"/>
            <a:ext cx="4635360" cy="709560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6826320" y="9435240"/>
            <a:ext cx="46353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6826320" y="2348280"/>
            <a:ext cx="4635360" cy="543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682632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1145268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7216200" y="2822040"/>
            <a:ext cx="4240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194">
                <a:solidFill>
                  <a:srgbClr val="2563EB"/>
                </a:solidFill>
                <a:latin typeface="Courier New"/>
                <a:ea typeface="Courier New"/>
              </a:rPr>
              <a:t>PHASE 2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7216200" y="3359160"/>
            <a:ext cx="424080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Arial"/>
                <a:ea typeface="Arial"/>
              </a:rPr>
              <a:t>Database and pipeline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7216200" y="4005360"/>
            <a:ext cx="3970800" cy="12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Normalised SQLite schema, EDA, reproducible pipeline with CI.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11766600" y="5550480"/>
            <a:ext cx="60912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2"/>
          <p:cNvSpPr/>
          <p:nvPr/>
        </p:nvSpPr>
        <p:spPr>
          <a:xfrm>
            <a:off x="12604680" y="2348280"/>
            <a:ext cx="4635360" cy="709560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12604680" y="9435240"/>
            <a:ext cx="46353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12604680" y="2348280"/>
            <a:ext cx="463536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5"/>
          <p:cNvSpPr/>
          <p:nvPr/>
        </p:nvSpPr>
        <p:spPr>
          <a:xfrm>
            <a:off x="1260468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6"/>
          <p:cNvSpPr/>
          <p:nvPr/>
        </p:nvSpPr>
        <p:spPr>
          <a:xfrm>
            <a:off x="17231040" y="2348280"/>
            <a:ext cx="9000" cy="709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12994920" y="2822040"/>
            <a:ext cx="424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19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12994920" y="3359160"/>
            <a:ext cx="424044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0F172A"/>
                </a:solidFill>
                <a:latin typeface="Arial"/>
                <a:ea typeface="Arial"/>
              </a:rPr>
              <a:t>Model and deployment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12994920" y="4005360"/>
            <a:ext cx="3970800" cy="12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6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Seven candidate models, tuned BM25, predictions written back to the database.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0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04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1047600" y="3911400"/>
            <a:ext cx="17811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403">
                <a:solidFill>
                  <a:srgbClr val="F59E0B"/>
                </a:solidFill>
                <a:latin typeface="Courier New"/>
                <a:ea typeface="Courier New"/>
              </a:rPr>
              <a:t>PHASE 1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047600" y="4551120"/>
            <a:ext cx="17811360" cy="10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8FAFC"/>
                </a:solidFill>
                <a:latin typeface="Arial"/>
                <a:ea typeface="Arial"/>
              </a:rPr>
              <a:t>Data Collection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1047600" y="5902200"/>
            <a:ext cx="178113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0" strike="noStrike" spc="-1">
                <a:solidFill>
                  <a:srgbClr val="94A3B8"/>
                </a:solidFill>
                <a:latin typeface="Arial"/>
                <a:ea typeface="Arial"/>
              </a:rPr>
              <a:t>From 2,500 seed questions to 26,162</a:t>
            </a:r>
            <a:endParaRPr lang="en-US" sz="2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1047600" y="533520"/>
            <a:ext cx="250956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The Crawler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2563EB"/>
                </a:solidFill>
                <a:latin typeface="Courier New"/>
                <a:ea typeface="Courier New"/>
              </a:rPr>
              <a:t>PHASE 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1047600" y="1833840"/>
            <a:ext cx="4150800" cy="639360"/>
          </a:xfrm>
          <a:prstGeom prst="roundRect">
            <a:avLst>
              <a:gd name="adj" fmla="val 1191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1238400" y="1967400"/>
            <a:ext cx="3894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crawl_stackoverflow.py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047600" y="285192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480320" y="2797560"/>
            <a:ext cx="6481800" cy="5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Paginates the official API by the </a:t>
            </a:r>
            <a:r>
              <a:rPr lang="en-US" sz="25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c++ </a:t>
            </a: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tag.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1047600" y="364536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1480320" y="3591000"/>
            <a:ext cx="7560720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Resumable: skips already-seen IDs and saves incrementally.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1047600" y="490860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1480320" y="4853880"/>
            <a:ext cx="7560720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No API key required — about 30,000 questions per day.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1047600" y="6269400"/>
            <a:ext cx="2414160" cy="72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26,162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3471480" y="6478560"/>
            <a:ext cx="4923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questions collected, up from 2,500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9430560" y="1833840"/>
            <a:ext cx="7809120" cy="7610040"/>
          </a:xfrm>
          <a:prstGeom prst="roundRect">
            <a:avLst>
              <a:gd name="adj" fmla="val 1502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13041360" y="493560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10784520" y="5599800"/>
            <a:ext cx="510120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terminal output of crawl_stackoverflow.py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06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01012-2B96-D377-F836-0997D1E2C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560" y="1601146"/>
            <a:ext cx="7809120" cy="7842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1047600" y="3911400"/>
            <a:ext cx="17811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403">
                <a:solidFill>
                  <a:srgbClr val="F59E0B"/>
                </a:solidFill>
                <a:latin typeface="Courier New"/>
                <a:ea typeface="Courier New"/>
              </a:rPr>
              <a:t>PHASE 2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1047600" y="4551120"/>
            <a:ext cx="17811360" cy="10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8FAFC"/>
                </a:solidFill>
                <a:latin typeface="Arial"/>
                <a:ea typeface="Arial"/>
              </a:rPr>
              <a:t>Database and Pipeline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1047600" y="5902200"/>
            <a:ext cx="178113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0" strike="noStrike" spc="-1">
                <a:solidFill>
                  <a:srgbClr val="94A3B8"/>
                </a:solidFill>
                <a:latin typeface="Arial"/>
                <a:ea typeface="Arial"/>
              </a:rPr>
              <a:t>Normalised storage, technical-text cleaning, reproducible runs</a:t>
            </a:r>
            <a:endParaRPr lang="en-US" sz="2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1047600" y="533520"/>
            <a:ext cx="379116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Database Schema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2563EB"/>
                </a:solidFill>
                <a:latin typeface="Courier New"/>
                <a:ea typeface="Courier New"/>
              </a:rPr>
              <a:t>PHASE 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1047600" y="1757880"/>
            <a:ext cx="8117640" cy="117720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304640" y="1976400"/>
            <a:ext cx="83646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users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304640" y="2407320"/>
            <a:ext cx="836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user_id · display_name · reputation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9336960" y="2192040"/>
            <a:ext cx="761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1 : 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1047600" y="3144960"/>
            <a:ext cx="8974440" cy="154296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8197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1313640" y="3391920"/>
            <a:ext cx="92869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questions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1313640" y="3822840"/>
            <a:ext cx="8695800" cy="65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question_id · title · body · score · views · created_at · user_id (FK)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1047600" y="5331960"/>
            <a:ext cx="761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N : 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1904400" y="4897800"/>
            <a:ext cx="8117640" cy="117720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2161440" y="5116320"/>
            <a:ext cx="83646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question_tags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2161440" y="5547600"/>
            <a:ext cx="8364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question_id (FK) · tag_id (FK)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1047600" y="6285240"/>
            <a:ext cx="8974440" cy="117720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1304640" y="6503760"/>
            <a:ext cx="9307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tags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1304640" y="6934680"/>
            <a:ext cx="9307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tag_id · tag_name (unique)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1047600" y="7748640"/>
            <a:ext cx="2005560" cy="44136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228320" y="7814880"/>
            <a:ext cx="17208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0B981"/>
                </a:solidFill>
                <a:latin typeface="Courier New"/>
                <a:ea typeface="Courier New"/>
              </a:rPr>
              <a:t>FOREIGN KEYS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3206160" y="7748640"/>
            <a:ext cx="1868760" cy="44136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3386880" y="7814880"/>
            <a:ext cx="1583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0B981"/>
                </a:solidFill>
                <a:latin typeface="Courier New"/>
                <a:ea typeface="Courier New"/>
              </a:rPr>
              <a:t>CONSTRAINTS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22"/>
          <p:cNvSpPr/>
          <p:nvPr/>
        </p:nvSpPr>
        <p:spPr>
          <a:xfrm>
            <a:off x="5227560" y="7748640"/>
            <a:ext cx="1320480" cy="44136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5408280" y="7814880"/>
            <a:ext cx="1035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0B981"/>
                </a:solidFill>
                <a:latin typeface="Courier New"/>
                <a:ea typeface="Courier New"/>
              </a:rPr>
              <a:t>INDEXES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10555920" y="1757880"/>
            <a:ext cx="6684120" cy="7686000"/>
          </a:xfrm>
          <a:prstGeom prst="roundRect">
            <a:avLst>
              <a:gd name="adj" fmla="val 1710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13604040" y="489744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11641320" y="5561640"/>
            <a:ext cx="451260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SQL query output from notebook section1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08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31"/>
          <p:cNvPicPr/>
          <p:nvPr/>
        </p:nvPicPr>
        <p:blipFill>
          <a:blip r:embed="rId3"/>
          <a:stretch/>
        </p:blipFill>
        <p:spPr>
          <a:xfrm>
            <a:off x="10607760" y="1749240"/>
            <a:ext cx="6647400" cy="7694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1047600" y="533520"/>
            <a:ext cx="489276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EDA and Preprocessing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2563EB"/>
                </a:solidFill>
                <a:latin typeface="Courier New"/>
                <a:ea typeface="Courier New"/>
              </a:rPr>
              <a:t>PHASE 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047600" y="185040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480320" y="1795680"/>
            <a:ext cx="5833080" cy="144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Technical-text cleaner removes HTML but keeps </a:t>
            </a:r>
            <a:r>
              <a:rPr lang="en-US" sz="25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std::vector </a:t>
            </a: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and code-block markers.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1047600" y="360216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1480320" y="3547440"/>
            <a:ext cx="5833080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Tag, volume and activity distributions profiled per year.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1047600" y="4884120"/>
            <a:ext cx="298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2563EB"/>
                </a:solidFill>
                <a:latin typeface="Arial"/>
                <a:ea typeface="Arial"/>
              </a:rPr>
              <a:t>—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1480320" y="4829400"/>
            <a:ext cx="5833080" cy="97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550" b="0" strike="noStrike" spc="-1">
                <a:solidFill>
                  <a:srgbClr val="0F172A"/>
                </a:solidFill>
                <a:latin typeface="Arial"/>
                <a:ea typeface="Arial"/>
              </a:rPr>
              <a:t>Temporal split so training never sees future questions.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1047600" y="6111360"/>
            <a:ext cx="6095520" cy="1287360"/>
          </a:xfrm>
          <a:prstGeom prst="roundRect">
            <a:avLst>
              <a:gd name="adj" fmla="val 7397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1333440" y="6359040"/>
            <a:ext cx="570708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F8FAFC"/>
                </a:solidFill>
                <a:latin typeface="Courier New"/>
                <a:ea typeface="Courier New"/>
              </a:rPr>
              <a:t>train 18,313 · validation 3,000 · test 3,000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12202920" y="491652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9946080" y="5580720"/>
            <a:ext cx="510120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EDA charts from notebook section2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09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B471C-515E-27FF-E8F1-E1E3ED526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366" y="1435898"/>
            <a:ext cx="9470634" cy="4191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06BCF9-2C39-0C67-F293-066CC94D4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366" y="5701098"/>
            <a:ext cx="9578766" cy="3612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1047600" y="533520"/>
            <a:ext cx="566064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Pipeline, CI/CD and MLOps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2563EB"/>
                </a:solidFill>
                <a:latin typeface="Courier New"/>
                <a:ea typeface="Courier New"/>
              </a:rPr>
              <a:t>PHASE 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1047600" y="1795680"/>
            <a:ext cx="5168520" cy="2860920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361520" y="2128680"/>
            <a:ext cx="263880" cy="263880"/>
          </a:xfrm>
          <a:prstGeom prst="roundRect">
            <a:avLst>
              <a:gd name="adj" fmla="val 14424"/>
            </a:avLst>
          </a:prstGeom>
          <a:noFill/>
          <a:ln w="27296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61520" y="2545200"/>
            <a:ext cx="49946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0F172A"/>
                </a:solidFill>
                <a:latin typeface="Arial"/>
                <a:ea typeface="Arial"/>
              </a:rPr>
              <a:t>Pipeline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61520" y="3070800"/>
            <a:ext cx="4994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pipeline.py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1361520" y="3550680"/>
            <a:ext cx="4676760" cy="81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One command reproduces ingest, clean and split.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6559560" y="1795680"/>
            <a:ext cx="5168520" cy="2860920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6873480" y="2128680"/>
            <a:ext cx="263880" cy="263880"/>
          </a:xfrm>
          <a:prstGeom prst="ellipse">
            <a:avLst/>
          </a:prstGeom>
          <a:noFill/>
          <a:ln w="27296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6873480" y="2545200"/>
            <a:ext cx="49950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0F172A"/>
                </a:solidFill>
                <a:latin typeface="Arial"/>
                <a:ea typeface="Arial"/>
              </a:rPr>
              <a:t>Continuous integration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6873480" y="3070800"/>
            <a:ext cx="499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GitHub Actions · ruff · pytest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6873480" y="3550680"/>
            <a:ext cx="4995000" cy="4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Lint and 30 unit tests on every push.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12071160" y="1795680"/>
            <a:ext cx="5168520" cy="2860920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5"/>
          <p:cNvSpPr/>
          <p:nvPr/>
        </p:nvSpPr>
        <p:spPr>
          <a:xfrm rot="2700000">
            <a:off x="12384000" y="2127240"/>
            <a:ext cx="266400" cy="266400"/>
          </a:xfrm>
          <a:prstGeom prst="rect">
            <a:avLst/>
          </a:prstGeom>
          <a:noFill/>
          <a:ln w="27296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12385080" y="2545200"/>
            <a:ext cx="49950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0F172A"/>
                </a:solidFill>
                <a:latin typeface="Arial"/>
                <a:ea typeface="Arial"/>
              </a:rPr>
              <a:t>Containers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12385080" y="3070800"/>
            <a:ext cx="4995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Dockerfile · Minikube Job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12385080" y="3550680"/>
            <a:ext cx="4995000" cy="4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Same run locally and on Kubernetes.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10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864E8A-D4E2-BFD9-D104-E370216D1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28" y="4921441"/>
            <a:ext cx="8317347" cy="34958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C74A1-F3DC-8166-D288-B967EF63B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40" y="4921441"/>
            <a:ext cx="8317347" cy="3495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1047600" y="533520"/>
            <a:ext cx="566064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Pipeline, CI/CD and MLOps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2563EB"/>
                </a:solidFill>
                <a:latin typeface="Courier New"/>
                <a:ea typeface="Courier New"/>
              </a:rPr>
              <a:t>PHASE 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11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4FF54B-10B8-F1B9-9229-DB3DF6E95C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405" y="1435157"/>
            <a:ext cx="7762965" cy="8842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CBAB4-6C60-90ED-5F10-3A7F8A4B5A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31" y="5856578"/>
            <a:ext cx="7291020" cy="4399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BEFD06-9987-EA34-6A82-9D772F9B2B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" y="1435157"/>
            <a:ext cx="8714209" cy="43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6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1047600" y="3911400"/>
            <a:ext cx="178113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403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1047600" y="4551120"/>
            <a:ext cx="17811360" cy="10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8FAFC"/>
                </a:solidFill>
                <a:latin typeface="Arial"/>
                <a:ea typeface="Arial"/>
              </a:rPr>
              <a:t>Model Development and Evaluation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1047600" y="5902200"/>
            <a:ext cx="1781136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0" strike="noStrike" spc="-1">
                <a:solidFill>
                  <a:srgbClr val="94A3B8"/>
                </a:solidFill>
                <a:latin typeface="Arial"/>
                <a:ea typeface="Arial"/>
              </a:rPr>
              <a:t>Seven candidates, cross-validated selection, one test run</a:t>
            </a:r>
            <a:endParaRPr lang="en-US" sz="2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1047600" y="533520"/>
            <a:ext cx="830052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Candidate Models and Selection Method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1047600" y="175788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1285560" y="195732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title_word_tfidf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5392800" y="175788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5630400" y="195732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document_word_tfidf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1047600" y="268416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285560" y="288360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char_wb_tfidf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5392800" y="268416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5630400" y="288360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lsa_document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1047600" y="361044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1285560" y="380988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bm25_document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5392800" y="3610440"/>
            <a:ext cx="4154400" cy="735480"/>
          </a:xfrm>
          <a:prstGeom prst="roundRect">
            <a:avLst>
              <a:gd name="adj" fmla="val 12944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5630400" y="3809880"/>
            <a:ext cx="3803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document_prf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1047600" y="4536720"/>
            <a:ext cx="8499240" cy="717120"/>
          </a:xfrm>
          <a:prstGeom prst="roundRect">
            <a:avLst>
              <a:gd name="adj" fmla="val 13273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1276200" y="4727160"/>
            <a:ext cx="82972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F59E0B"/>
                </a:solidFill>
                <a:latin typeface="Courier New"/>
                <a:ea typeface="Courier New"/>
              </a:rPr>
              <a:t>hybrid — weighted combination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1047600" y="5501880"/>
            <a:ext cx="8754480" cy="8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BM25 implemented from scratch; document_prf adds Rocchio query expansion.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10157040" y="1757880"/>
            <a:ext cx="7791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Temporal split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10157040" y="2199600"/>
            <a:ext cx="7791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18,313 / 3,000 / 3,000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10157040" y="2820960"/>
            <a:ext cx="7791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Selection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10157040" y="3263040"/>
            <a:ext cx="7791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5-fold CV on nDCG@10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10157040" y="3884400"/>
            <a:ext cx="70830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10157040" y="4141080"/>
            <a:ext cx="7791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Leakage controls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5"/>
          <p:cNvSpPr/>
          <p:nvPr/>
        </p:nvSpPr>
        <p:spPr>
          <a:xfrm>
            <a:off x="10157040" y="4640400"/>
            <a:ext cx="7295400" cy="8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Arial"/>
                <a:ea typeface="Arial"/>
              </a:rPr>
              <a:t>Time-ordered split · vectorisers fit on train only · model chosen on CV · test set evaluated exactly once.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13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1047600" y="533520"/>
            <a:ext cx="494352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Model Selection Results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1047600" y="1681560"/>
            <a:ext cx="1781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CV nDCG@10 on validation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666720" y="229788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hybrid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5124600" y="225684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5124600" y="2256840"/>
            <a:ext cx="10170360" cy="41868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16097400" y="228420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F59E0B"/>
                </a:solidFill>
                <a:latin typeface="Courier New"/>
                <a:ea typeface="Courier New"/>
              </a:rPr>
              <a:t>0.759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666720" y="290772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char_wb_tfidf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5124600" y="286632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5124600" y="2866320"/>
            <a:ext cx="9849240" cy="41868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16097400" y="289404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0.739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666720" y="351720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bm25_document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5124600" y="347580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5"/>
          <p:cNvSpPr/>
          <p:nvPr/>
        </p:nvSpPr>
        <p:spPr>
          <a:xfrm>
            <a:off x="5124600" y="3475800"/>
            <a:ext cx="9742320" cy="41868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16097400" y="350352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0.726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666720" y="412668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lsa_document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5124600" y="408564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9"/>
          <p:cNvSpPr/>
          <p:nvPr/>
        </p:nvSpPr>
        <p:spPr>
          <a:xfrm>
            <a:off x="5124600" y="4085640"/>
            <a:ext cx="9420840" cy="41868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16097400" y="411300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0.705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1"/>
          <p:cNvSpPr/>
          <p:nvPr/>
        </p:nvSpPr>
        <p:spPr>
          <a:xfrm>
            <a:off x="666720" y="473652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document_prf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2"/>
          <p:cNvSpPr/>
          <p:nvPr/>
        </p:nvSpPr>
        <p:spPr>
          <a:xfrm>
            <a:off x="5124600" y="469512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3"/>
          <p:cNvSpPr/>
          <p:nvPr/>
        </p:nvSpPr>
        <p:spPr>
          <a:xfrm>
            <a:off x="5124600" y="4695120"/>
            <a:ext cx="9099720" cy="418680"/>
          </a:xfrm>
          <a:prstGeom prst="roundRect">
            <a:avLst>
              <a:gd name="adj" fmla="val 9091"/>
            </a:avLst>
          </a:prstGeom>
          <a:solidFill>
            <a:srgbClr val="94A3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4"/>
          <p:cNvSpPr/>
          <p:nvPr/>
        </p:nvSpPr>
        <p:spPr>
          <a:xfrm>
            <a:off x="16097400" y="472284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0.681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5"/>
          <p:cNvSpPr/>
          <p:nvPr/>
        </p:nvSpPr>
        <p:spPr>
          <a:xfrm>
            <a:off x="666720" y="534600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document_word_tfidf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6"/>
          <p:cNvSpPr/>
          <p:nvPr/>
        </p:nvSpPr>
        <p:spPr>
          <a:xfrm>
            <a:off x="5124600" y="530460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7"/>
          <p:cNvSpPr/>
          <p:nvPr/>
        </p:nvSpPr>
        <p:spPr>
          <a:xfrm>
            <a:off x="5124600" y="5304600"/>
            <a:ext cx="9099720" cy="418680"/>
          </a:xfrm>
          <a:prstGeom prst="roundRect">
            <a:avLst>
              <a:gd name="adj" fmla="val 9091"/>
            </a:avLst>
          </a:prstGeom>
          <a:solidFill>
            <a:srgbClr val="94A3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8"/>
          <p:cNvSpPr/>
          <p:nvPr/>
        </p:nvSpPr>
        <p:spPr>
          <a:xfrm>
            <a:off x="16097400" y="533232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0.676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9"/>
          <p:cNvSpPr/>
          <p:nvPr/>
        </p:nvSpPr>
        <p:spPr>
          <a:xfrm>
            <a:off x="666720" y="5955480"/>
            <a:ext cx="4190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title_word_tfidf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0"/>
          <p:cNvSpPr/>
          <p:nvPr/>
        </p:nvSpPr>
        <p:spPr>
          <a:xfrm>
            <a:off x="5124600" y="5914440"/>
            <a:ext cx="10705680" cy="41868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31"/>
          <p:cNvSpPr/>
          <p:nvPr/>
        </p:nvSpPr>
        <p:spPr>
          <a:xfrm>
            <a:off x="5124600" y="5914440"/>
            <a:ext cx="5031360" cy="418680"/>
          </a:xfrm>
          <a:prstGeom prst="roundRect">
            <a:avLst>
              <a:gd name="adj" fmla="val 9091"/>
            </a:avLst>
          </a:prstGeom>
          <a:solidFill>
            <a:srgbClr val="94A3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2"/>
          <p:cNvSpPr/>
          <p:nvPr/>
        </p:nvSpPr>
        <p:spPr>
          <a:xfrm>
            <a:off x="16097400" y="5941800"/>
            <a:ext cx="121896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0.376</a:t>
            </a:r>
            <a:endParaRPr lang="en-US" sz="21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3"/>
          <p:cNvSpPr/>
          <p:nvPr/>
        </p:nvSpPr>
        <p:spPr>
          <a:xfrm>
            <a:off x="1047600" y="6638040"/>
            <a:ext cx="1781136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BM25 tuned to </a:t>
            </a: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k1 = 2.0, b = 0.9</a:t>
            </a: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; the char n-gram model contributes most to the hybrid.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4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35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14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1047600" y="533520"/>
            <a:ext cx="791496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Test Results and Baseline Comparison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1047600" y="1795680"/>
            <a:ext cx="8528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Hit@10 vs. baselines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1676520" y="2447280"/>
            <a:ext cx="10472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0.893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1047600" y="2972520"/>
            <a:ext cx="2228400" cy="2795040"/>
          </a:xfrm>
          <a:custGeom>
            <a:avLst/>
            <a:gdLst>
              <a:gd name="textAreaLeft" fmla="*/ 0 w 2228400"/>
              <a:gd name="textAreaRight" fmla="*/ 2228760 w 2228400"/>
              <a:gd name="textAreaTop" fmla="*/ 0 h 2795040"/>
              <a:gd name="textAreaBottom" fmla="*/ 2795400 h 2795040"/>
            </a:gdLst>
            <a:ahLst/>
            <a:cxnLst/>
            <a:rect l="textAreaLeft" t="textAreaTop" r="textAreaRight" b="textAreaBottom"/>
            <a:pathLst>
              <a:path w="2228850" h="2795516">
                <a:moveTo>
                  <a:pt x="38100" y="0"/>
                </a:moveTo>
                <a:lnTo>
                  <a:pt x="2190750" y="0"/>
                </a:lnTo>
                <a:arcTo wR="38100" hR="38100" stAng="16200000" swAng="5400000"/>
                <a:lnTo>
                  <a:pt x="2228850" y="2795516"/>
                </a:lnTo>
                <a:lnTo>
                  <a:pt x="0" y="2795516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1778760" y="5920560"/>
            <a:ext cx="842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Arial"/>
                <a:ea typeface="Arial"/>
              </a:rPr>
              <a:t>Hybrid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4467240" y="4015440"/>
            <a:ext cx="99036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0.376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3809880" y="4568040"/>
            <a:ext cx="2228400" cy="1199880"/>
          </a:xfrm>
          <a:custGeom>
            <a:avLst/>
            <a:gdLst>
              <a:gd name="textAreaLeft" fmla="*/ 0 w 2228400"/>
              <a:gd name="textAreaRight" fmla="*/ 2228760 w 2228400"/>
              <a:gd name="textAreaTop" fmla="*/ 0 h 1199880"/>
              <a:gd name="textAreaBottom" fmla="*/ 1200240 h 1199880"/>
            </a:gdLst>
            <a:ahLst/>
            <a:cxnLst/>
            <a:rect l="textAreaLeft" t="textAreaTop" r="textAreaRight" b="textAreaBottom"/>
            <a:pathLst>
              <a:path w="2228850" h="1200150">
                <a:moveTo>
                  <a:pt x="38100" y="0"/>
                </a:moveTo>
                <a:lnTo>
                  <a:pt x="2190750" y="0"/>
                </a:lnTo>
                <a:arcTo wR="38100" hR="38100" stAng="16200000" swAng="5400000"/>
                <a:lnTo>
                  <a:pt x="2228850" y="1200150"/>
                </a:lnTo>
                <a:lnTo>
                  <a:pt x="0" y="1200150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4443120" y="5920560"/>
            <a:ext cx="10386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Arial"/>
                <a:ea typeface="Arial"/>
              </a:rPr>
              <a:t>Random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7229520" y="4881960"/>
            <a:ext cx="99036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0.105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6572160" y="5434920"/>
            <a:ext cx="2228400" cy="333000"/>
          </a:xfrm>
          <a:custGeom>
            <a:avLst/>
            <a:gdLst>
              <a:gd name="textAreaLeft" fmla="*/ 0 w 2228400"/>
              <a:gd name="textAreaRight" fmla="*/ 2228760 w 2228400"/>
              <a:gd name="textAreaTop" fmla="*/ 0 h 333000"/>
              <a:gd name="textAreaBottom" fmla="*/ 333360 h 333000"/>
            </a:gdLst>
            <a:ahLst/>
            <a:cxnLst/>
            <a:rect l="textAreaLeft" t="textAreaTop" r="textAreaRight" b="textAreaBottom"/>
            <a:pathLst>
              <a:path w="2228850" h="333375">
                <a:moveTo>
                  <a:pt x="38100" y="0"/>
                </a:moveTo>
                <a:lnTo>
                  <a:pt x="2190750" y="0"/>
                </a:lnTo>
                <a:arcTo wR="38100" hR="38100" stAng="16200000" swAng="5400000"/>
                <a:lnTo>
                  <a:pt x="2228850" y="333375"/>
                </a:lnTo>
                <a:lnTo>
                  <a:pt x="0" y="333375"/>
                </a:lnTo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7099560" y="5920560"/>
            <a:ext cx="12499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475569"/>
                </a:solidFill>
                <a:latin typeface="Arial"/>
                <a:ea typeface="Arial"/>
              </a:rPr>
              <a:t>Popularity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4"/>
          <p:cNvSpPr/>
          <p:nvPr/>
        </p:nvSpPr>
        <p:spPr>
          <a:xfrm>
            <a:off x="9487080" y="1795680"/>
            <a:ext cx="4149000" cy="12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99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0.893</a:t>
            </a:r>
            <a:endParaRPr lang="en-US" sz="9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5"/>
          <p:cNvSpPr/>
          <p:nvPr/>
        </p:nvSpPr>
        <p:spPr>
          <a:xfrm>
            <a:off x="13487760" y="2450880"/>
            <a:ext cx="3864960" cy="8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475569"/>
                </a:solidFill>
                <a:latin typeface="Arial"/>
                <a:ea typeface="Arial"/>
              </a:rPr>
              <a:t>Hit@10 on unseen test data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9487080" y="34999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7"/>
          <p:cNvSpPr/>
          <p:nvPr/>
        </p:nvSpPr>
        <p:spPr>
          <a:xfrm>
            <a:off x="9487080" y="42631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8"/>
          <p:cNvSpPr/>
          <p:nvPr/>
        </p:nvSpPr>
        <p:spPr>
          <a:xfrm>
            <a:off x="9487080" y="369972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Hit@5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9"/>
          <p:cNvSpPr/>
          <p:nvPr/>
        </p:nvSpPr>
        <p:spPr>
          <a:xfrm>
            <a:off x="16383240" y="369972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0.836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0"/>
          <p:cNvSpPr/>
          <p:nvPr/>
        </p:nvSpPr>
        <p:spPr>
          <a:xfrm>
            <a:off x="9487080" y="50263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1"/>
          <p:cNvSpPr/>
          <p:nvPr/>
        </p:nvSpPr>
        <p:spPr>
          <a:xfrm>
            <a:off x="9487080" y="4462920"/>
            <a:ext cx="1104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Hit@20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2"/>
          <p:cNvSpPr/>
          <p:nvPr/>
        </p:nvSpPr>
        <p:spPr>
          <a:xfrm>
            <a:off x="16383240" y="446292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0.931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3"/>
          <p:cNvSpPr/>
          <p:nvPr/>
        </p:nvSpPr>
        <p:spPr>
          <a:xfrm>
            <a:off x="9487080" y="57895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4"/>
          <p:cNvSpPr/>
          <p:nvPr/>
        </p:nvSpPr>
        <p:spPr>
          <a:xfrm>
            <a:off x="9487080" y="5226120"/>
            <a:ext cx="1104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MRR@10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5"/>
          <p:cNvSpPr/>
          <p:nvPr/>
        </p:nvSpPr>
        <p:spPr>
          <a:xfrm>
            <a:off x="16383240" y="522612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0.710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9487080" y="65527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7"/>
          <p:cNvSpPr/>
          <p:nvPr/>
        </p:nvSpPr>
        <p:spPr>
          <a:xfrm>
            <a:off x="9487080" y="5988960"/>
            <a:ext cx="13190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nDCG@10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8"/>
          <p:cNvSpPr/>
          <p:nvPr/>
        </p:nvSpPr>
        <p:spPr>
          <a:xfrm>
            <a:off x="16383240" y="598896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0.559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9"/>
          <p:cNvSpPr/>
          <p:nvPr/>
        </p:nvSpPr>
        <p:spPr>
          <a:xfrm>
            <a:off x="9487080" y="7315920"/>
            <a:ext cx="7752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9487080" y="6752160"/>
            <a:ext cx="1507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Coverage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1"/>
          <p:cNvSpPr/>
          <p:nvPr/>
        </p:nvSpPr>
        <p:spPr>
          <a:xfrm>
            <a:off x="16383240" y="6752160"/>
            <a:ext cx="9327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10B981"/>
                </a:solidFill>
                <a:latin typeface="Courier New"/>
                <a:ea typeface="Courier New"/>
              </a:rPr>
              <a:t>95.5%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2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33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15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1047600" y="533520"/>
            <a:ext cx="519948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Two-Pipeline Architecture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1047600" y="1757880"/>
            <a:ext cx="101703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train_pipeline.py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1047600" y="2283840"/>
            <a:ext cx="189684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1190160" y="2483640"/>
            <a:ext cx="16120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load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3078360" y="246528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3497400" y="2283840"/>
            <a:ext cx="189684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3639600" y="2483640"/>
            <a:ext cx="16120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preprocess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5527800" y="246528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5946840" y="2283840"/>
            <a:ext cx="189684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6089400" y="2483640"/>
            <a:ext cx="16120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fit models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7977600" y="246528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8396640" y="2283840"/>
            <a:ext cx="189684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8538840" y="2483640"/>
            <a:ext cx="16120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2563EB"/>
                </a:solidFill>
                <a:latin typeface="Arial"/>
                <a:ea typeface="Arial"/>
              </a:rPr>
              <a:t>save model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1047600" y="3362760"/>
            <a:ext cx="101703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predict_pipeline.py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7"/>
          <p:cNvSpPr/>
          <p:nvPr/>
        </p:nvSpPr>
        <p:spPr>
          <a:xfrm>
            <a:off x="1047600" y="4057200"/>
            <a:ext cx="190152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1190160" y="4257000"/>
            <a:ext cx="16164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load model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3082680" y="423864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3501720" y="4057200"/>
            <a:ext cx="1901520" cy="735480"/>
          </a:xfrm>
          <a:prstGeom prst="roundRect">
            <a:avLst>
              <a:gd name="adj" fmla="val 1035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3644280" y="4257000"/>
            <a:ext cx="1616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preprocess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22"/>
          <p:cNvSpPr/>
          <p:nvPr/>
        </p:nvSpPr>
        <p:spPr>
          <a:xfrm>
            <a:off x="5537160" y="423864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>
            <a:off x="5955840" y="3889080"/>
            <a:ext cx="1901520" cy="1072080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4"/>
          <p:cNvSpPr/>
          <p:nvPr/>
        </p:nvSpPr>
        <p:spPr>
          <a:xfrm>
            <a:off x="6098400" y="4088520"/>
            <a:ext cx="16167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0F172A"/>
                </a:solidFill>
                <a:latin typeface="Arial"/>
                <a:ea typeface="Arial"/>
              </a:rPr>
              <a:t>retrieve top-K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7991280" y="4238640"/>
            <a:ext cx="361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→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8410320" y="4066560"/>
            <a:ext cx="1883160" cy="717120"/>
          </a:xfrm>
          <a:prstGeom prst="roundRect">
            <a:avLst>
              <a:gd name="adj" fmla="val 10618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7"/>
          <p:cNvSpPr/>
          <p:nvPr/>
        </p:nvSpPr>
        <p:spPr>
          <a:xfrm>
            <a:off x="8543520" y="4257000"/>
            <a:ext cx="1616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F8FAFC"/>
                </a:solidFill>
                <a:latin typeface="Arial"/>
                <a:ea typeface="Arial"/>
              </a:rPr>
              <a:t>write to DB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>
            <a:off x="1047600" y="5304600"/>
            <a:ext cx="92458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9"/>
          <p:cNvSpPr/>
          <p:nvPr/>
        </p:nvSpPr>
        <p:spPr>
          <a:xfrm>
            <a:off x="1047600" y="5599440"/>
            <a:ext cx="2715480" cy="82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30,000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30"/>
          <p:cNvSpPr/>
          <p:nvPr/>
        </p:nvSpPr>
        <p:spPr>
          <a:xfrm>
            <a:off x="3745080" y="5881320"/>
            <a:ext cx="712440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recommendations in the </a:t>
            </a: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recommendations </a:t>
            </a: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table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1047600" y="6724800"/>
            <a:ext cx="101703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run_pipeline.py runs both stages end to end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2"/>
          <p:cNvSpPr/>
          <p:nvPr/>
        </p:nvSpPr>
        <p:spPr>
          <a:xfrm>
            <a:off x="10827360" y="1757880"/>
            <a:ext cx="6412680" cy="7686000"/>
          </a:xfrm>
          <a:prstGeom prst="roundRect">
            <a:avLst>
              <a:gd name="adj" fmla="val 1782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3"/>
          <p:cNvSpPr/>
          <p:nvPr/>
        </p:nvSpPr>
        <p:spPr>
          <a:xfrm>
            <a:off x="13739760" y="471168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34"/>
          <p:cNvSpPr/>
          <p:nvPr/>
        </p:nvSpPr>
        <p:spPr>
          <a:xfrm>
            <a:off x="11875320" y="5375880"/>
            <a:ext cx="4316400" cy="11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recommendations table in the database (sqlite3 output)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5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6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16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8C181-2319-5AD8-C469-8DE747447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680" y="1757880"/>
            <a:ext cx="6426360" cy="76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1047600" y="533520"/>
            <a:ext cx="814500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Improvements and Experiment Tracking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4"/>
          <p:cNvSpPr/>
          <p:nvPr/>
        </p:nvSpPr>
        <p:spPr>
          <a:xfrm>
            <a:off x="1047600" y="175788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1304640" y="1995480"/>
            <a:ext cx="4176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BM25 tuning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1304640" y="2418120"/>
            <a:ext cx="417600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k1 = 2.0, b = 0.9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5567400" y="175788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5824440" y="1995480"/>
            <a:ext cx="4176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Pseudo-relevance feedback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5824440" y="2418120"/>
            <a:ext cx="417636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Rocchio expansion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1047600" y="318384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1304640" y="3421440"/>
            <a:ext cx="4176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Graded metric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2"/>
          <p:cNvSpPr/>
          <p:nvPr/>
        </p:nvSpPr>
        <p:spPr>
          <a:xfrm>
            <a:off x="1304640" y="3844440"/>
            <a:ext cx="417600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gnDCG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3"/>
          <p:cNvSpPr/>
          <p:nvPr/>
        </p:nvSpPr>
        <p:spPr>
          <a:xfrm>
            <a:off x="5567400" y="318384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14"/>
          <p:cNvSpPr/>
          <p:nvPr/>
        </p:nvSpPr>
        <p:spPr>
          <a:xfrm>
            <a:off x="5824440" y="3421440"/>
            <a:ext cx="4176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Diversity re-ranking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5"/>
          <p:cNvSpPr/>
          <p:nvPr/>
        </p:nvSpPr>
        <p:spPr>
          <a:xfrm>
            <a:off x="5824440" y="3844440"/>
            <a:ext cx="417636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MMR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6"/>
          <p:cNvSpPr/>
          <p:nvPr/>
        </p:nvSpPr>
        <p:spPr>
          <a:xfrm>
            <a:off x="1047600" y="461016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1304640" y="4847760"/>
            <a:ext cx="4176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Ablation study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1304640" y="5270760"/>
            <a:ext cx="417600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char n-gram dominates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>
            <a:off x="5567400" y="4610160"/>
            <a:ext cx="4309920" cy="1216440"/>
          </a:xfrm>
          <a:prstGeom prst="roundRect">
            <a:avLst>
              <a:gd name="adj" fmla="val 7829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0"/>
          <p:cNvSpPr/>
          <p:nvPr/>
        </p:nvSpPr>
        <p:spPr>
          <a:xfrm>
            <a:off x="5824440" y="4847760"/>
            <a:ext cx="4176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0F172A"/>
                </a:solidFill>
                <a:latin typeface="Arial"/>
                <a:ea typeface="Arial"/>
              </a:rPr>
              <a:t>Error analysis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5824440" y="5270760"/>
            <a:ext cx="417636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+ interactive CLI</a:t>
            </a:r>
            <a:endParaRPr lang="en-US" sz="18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22"/>
          <p:cNvSpPr/>
          <p:nvPr/>
        </p:nvSpPr>
        <p:spPr>
          <a:xfrm>
            <a:off x="1047600" y="6036120"/>
            <a:ext cx="8829720" cy="793440"/>
          </a:xfrm>
          <a:prstGeom prst="roundRect">
            <a:avLst>
              <a:gd name="adj" fmla="val 11999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3"/>
          <p:cNvSpPr/>
          <p:nvPr/>
        </p:nvSpPr>
        <p:spPr>
          <a:xfrm>
            <a:off x="1314360" y="6264720"/>
            <a:ext cx="10011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F8FAFC"/>
                </a:solidFill>
                <a:latin typeface="Courier New"/>
                <a:ea typeface="Courier New"/>
              </a:rPr>
              <a:t>MLflow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4"/>
          <p:cNvSpPr/>
          <p:nvPr/>
        </p:nvSpPr>
        <p:spPr>
          <a:xfrm>
            <a:off x="2468520" y="6264720"/>
            <a:ext cx="50011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Arial"/>
                <a:ea typeface="Arial"/>
              </a:rPr>
              <a:t>every run, parameter and metric logged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25"/>
          <p:cNvSpPr/>
          <p:nvPr/>
        </p:nvSpPr>
        <p:spPr>
          <a:xfrm>
            <a:off x="10411560" y="1757880"/>
            <a:ext cx="6828480" cy="7686000"/>
          </a:xfrm>
          <a:prstGeom prst="roundRect">
            <a:avLst>
              <a:gd name="adj" fmla="val 1674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26"/>
          <p:cNvSpPr/>
          <p:nvPr/>
        </p:nvSpPr>
        <p:spPr>
          <a:xfrm>
            <a:off x="13531680" y="489744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7"/>
          <p:cNvSpPr/>
          <p:nvPr/>
        </p:nvSpPr>
        <p:spPr>
          <a:xfrm>
            <a:off x="11667240" y="5561640"/>
            <a:ext cx="431640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MLflow UI (Metrics / Artifacts tab)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8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29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17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Picture 32"/>
          <p:cNvPicPr/>
          <p:nvPr/>
        </p:nvPicPr>
        <p:blipFill>
          <a:blip r:embed="rId3"/>
          <a:stretch/>
        </p:blipFill>
        <p:spPr>
          <a:xfrm>
            <a:off x="10390680" y="1757880"/>
            <a:ext cx="6828480" cy="768600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E3271E-FDF4-5605-3310-254C6C5520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357" y="6880926"/>
            <a:ext cx="5123003" cy="25629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1047600" y="533520"/>
            <a:ext cx="220248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Live Demo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F59E0B"/>
                </a:solidFill>
                <a:latin typeface="Courier New"/>
                <a:ea typeface="Courier New"/>
              </a:rPr>
              <a:t>PHASE 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4"/>
          <p:cNvSpPr/>
          <p:nvPr/>
        </p:nvSpPr>
        <p:spPr>
          <a:xfrm>
            <a:off x="1047600" y="1795680"/>
            <a:ext cx="8695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recommend_cli.py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5"/>
          <p:cNvSpPr/>
          <p:nvPr/>
        </p:nvSpPr>
        <p:spPr>
          <a:xfrm>
            <a:off x="1047600" y="2341080"/>
            <a:ext cx="7905240" cy="7102800"/>
          </a:xfrm>
          <a:prstGeom prst="roundRect">
            <a:avLst>
              <a:gd name="adj" fmla="val 1609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4706640" y="518904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7"/>
          <p:cNvSpPr/>
          <p:nvPr/>
        </p:nvSpPr>
        <p:spPr>
          <a:xfrm>
            <a:off x="2744280" y="5853240"/>
            <a:ext cx="4512600" cy="7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recommendation demo output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8"/>
          <p:cNvSpPr/>
          <p:nvPr/>
        </p:nvSpPr>
        <p:spPr>
          <a:xfrm>
            <a:off x="9334440" y="1795680"/>
            <a:ext cx="8695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2563EB"/>
                </a:solidFill>
                <a:latin typeface="Courier New"/>
                <a:ea typeface="Courier New"/>
              </a:rPr>
              <a:t>run_pipeline.py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9"/>
          <p:cNvSpPr/>
          <p:nvPr/>
        </p:nvSpPr>
        <p:spPr>
          <a:xfrm>
            <a:off x="9334440" y="2341080"/>
            <a:ext cx="7905240" cy="7102800"/>
          </a:xfrm>
          <a:prstGeom prst="roundRect">
            <a:avLst>
              <a:gd name="adj" fmla="val 1609"/>
            </a:avLst>
          </a:prstGeom>
          <a:solidFill>
            <a:srgbClr val="F1F5F9"/>
          </a:solidFill>
          <a:ln w="18197">
            <a:solidFill>
              <a:srgbClr val="94A3B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0"/>
          <p:cNvSpPr/>
          <p:nvPr/>
        </p:nvSpPr>
        <p:spPr>
          <a:xfrm>
            <a:off x="12993480" y="5003280"/>
            <a:ext cx="587520" cy="473400"/>
          </a:xfrm>
          <a:prstGeom prst="roundRect">
            <a:avLst>
              <a:gd name="adj" fmla="val 12065"/>
            </a:avLst>
          </a:prstGeom>
          <a:noFill/>
          <a:ln w="27296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11030760" y="5667480"/>
            <a:ext cx="4512600" cy="115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7499" lnSpcReduction="10000"/>
          </a:bodyPr>
          <a:lstStyle/>
          <a:p>
            <a:pPr algn="ctr"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950" b="0" strike="noStrike" spc="-1">
                <a:solidFill>
                  <a:srgbClr val="475569"/>
                </a:solidFill>
                <a:latin typeface="Courier New"/>
                <a:ea typeface="Courier New"/>
              </a:rPr>
              <a:t>screenshot: terminal run through Hit@10 = 0.893 and 30000 recommendations</a:t>
            </a: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2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18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3F6E4-336B-9BBC-60B7-C026B81BA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101" y="2340721"/>
            <a:ext cx="7905240" cy="7103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10637F-C5B9-AA32-ED24-49C383D99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00" y="2347140"/>
            <a:ext cx="7905240" cy="7103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1047600" y="533520"/>
            <a:ext cx="838404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Business Value, Limitations, Future Work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475569"/>
                </a:solidFill>
                <a:latin typeface="Courier New"/>
                <a:ea typeface="Courier New"/>
              </a:rPr>
              <a:t>WRAP-UP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1047600" y="1910160"/>
            <a:ext cx="560160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strike="noStrike" spc="-1">
                <a:solidFill>
                  <a:srgbClr val="10B981"/>
                </a:solidFill>
                <a:latin typeface="Arial"/>
                <a:ea typeface="Arial"/>
              </a:rPr>
              <a:t>Business value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1047600" y="254916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Fewer duplicate threads reaching moderators.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1047600" y="365400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8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A related-questions widget on every page.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1047600" y="4758840"/>
            <a:ext cx="560160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Askers routed to an existing answer.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6597720" y="1910160"/>
            <a:ext cx="560160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strike="noStrike" spc="-1">
                <a:solidFill>
                  <a:srgbClr val="F59E0B"/>
                </a:solidFill>
                <a:latin typeface="Arial"/>
                <a:ea typeface="Arial"/>
              </a:rPr>
              <a:t>Limitations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6597720" y="254916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Relevance labels are weak — derived from shared tags.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10"/>
          <p:cNvSpPr/>
          <p:nvPr/>
        </p:nvSpPr>
        <p:spPr>
          <a:xfrm>
            <a:off x="6597720" y="3654000"/>
            <a:ext cx="5245200" cy="90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Lexical models misread polysemous terms such as </a:t>
            </a: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queue</a:t>
            </a: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1"/>
          <p:cNvSpPr/>
          <p:nvPr/>
        </p:nvSpPr>
        <p:spPr>
          <a:xfrm>
            <a:off x="6597720" y="476784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No neural embeddings in the current system.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12147480" y="1910160"/>
            <a:ext cx="560160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strike="noStrike" spc="-1">
                <a:solidFill>
                  <a:srgbClr val="2563EB"/>
                </a:solidFill>
                <a:latin typeface="Arial"/>
                <a:ea typeface="Arial"/>
              </a:rPr>
              <a:t>Future work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3"/>
          <p:cNvSpPr/>
          <p:nvPr/>
        </p:nvSpPr>
        <p:spPr>
          <a:xfrm>
            <a:off x="12147480" y="254916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Add a neural embedding model to the hybrid.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4"/>
          <p:cNvSpPr/>
          <p:nvPr/>
        </p:nvSpPr>
        <p:spPr>
          <a:xfrm>
            <a:off x="12147480" y="3654000"/>
            <a:ext cx="5245200" cy="89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Scale the dataset and collect real user feedback.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5"/>
          <p:cNvSpPr/>
          <p:nvPr/>
        </p:nvSpPr>
        <p:spPr>
          <a:xfrm>
            <a:off x="12147480" y="4758840"/>
            <a:ext cx="560160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Serve the recommender behind an API.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16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7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19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0" y="1291320"/>
            <a:ext cx="182876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1047600" y="533520"/>
            <a:ext cx="924732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6666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strike="noStrike" spc="-1">
                <a:solidFill>
                  <a:srgbClr val="0F172A"/>
                </a:solidFill>
                <a:latin typeface="Arial"/>
                <a:ea typeface="Arial"/>
              </a:rPr>
              <a:t>Engineering Quality and Repository Structure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"/>
          <p:cNvSpPr/>
          <p:nvPr/>
        </p:nvSpPr>
        <p:spPr>
          <a:xfrm>
            <a:off x="15689520" y="538920"/>
            <a:ext cx="1550520" cy="479520"/>
          </a:xfrm>
          <a:prstGeom prst="roundRect">
            <a:avLst>
              <a:gd name="adj" fmla="val 50000"/>
            </a:avLst>
          </a:prstGeom>
          <a:noFill/>
          <a:ln w="9099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15888960" y="624240"/>
            <a:ext cx="1227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214">
                <a:solidFill>
                  <a:srgbClr val="475569"/>
                </a:solidFill>
                <a:latin typeface="Courier New"/>
                <a:ea typeface="Courier New"/>
              </a:rPr>
              <a:t>WRAP-UP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1047600" y="1833840"/>
            <a:ext cx="9684720" cy="7610040"/>
          </a:xfrm>
          <a:prstGeom prst="roundRect">
            <a:avLst>
              <a:gd name="adj" fmla="val 1502"/>
            </a:avLst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1467000" y="2215080"/>
            <a:ext cx="911196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F8FAFC"/>
                </a:solidFill>
                <a:latin typeface="Courier New"/>
                <a:ea typeface="Courier New"/>
              </a:rPr>
              <a:t>Final_Project/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1467000" y="2664720"/>
            <a:ext cx="911196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├── Phase1_Data_Collection/ crawl_stackoverflow.py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7"/>
          <p:cNvSpPr/>
          <p:nvPr/>
        </p:nvSpPr>
        <p:spPr>
          <a:xfrm>
            <a:off x="1467000" y="3114720"/>
            <a:ext cx="9111960" cy="93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├── Phase2_Database_Pipeline/ schema.sql · pipeline.py · notebooks/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8"/>
          <p:cNvSpPr/>
          <p:nvPr/>
        </p:nvSpPr>
        <p:spPr>
          <a:xfrm>
            <a:off x="1467000" y="4014720"/>
            <a:ext cx="9111960" cy="93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├── Phase3_Model/ train_pipeline.py · predict_pipeline.py · run_pipeline.py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9"/>
          <p:cNvSpPr/>
          <p:nvPr/>
        </p:nvSpPr>
        <p:spPr>
          <a:xfrm>
            <a:off x="1467000" y="4914720"/>
            <a:ext cx="911196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├── tests/ 30 unit tests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1467000" y="5364720"/>
            <a:ext cx="911196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├── Dockerfile · k8s/job.yaml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1"/>
          <p:cNvSpPr/>
          <p:nvPr/>
        </p:nvSpPr>
        <p:spPr>
          <a:xfrm>
            <a:off x="1467000" y="5814360"/>
            <a:ext cx="9111960" cy="48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/>
          </a:bodyPr>
          <a:lstStyle/>
          <a:p>
            <a:pPr defTabSz="914400">
              <a:lnSpc>
                <a:spcPct val="154000"/>
              </a:lnSpc>
              <a:tabLst>
                <a:tab pos="0" algn="l"/>
              </a:tabLst>
            </a:pPr>
            <a:r>
              <a:rPr lang="en-US" sz="202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└── .github/workflows/ci.yml</a:t>
            </a:r>
            <a:endParaRPr lang="en-US" sz="20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2"/>
          <p:cNvSpPr/>
          <p:nvPr/>
        </p:nvSpPr>
        <p:spPr>
          <a:xfrm>
            <a:off x="11342520" y="1833840"/>
            <a:ext cx="5897520" cy="904320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3"/>
          <p:cNvSpPr/>
          <p:nvPr/>
        </p:nvSpPr>
        <p:spPr>
          <a:xfrm>
            <a:off x="11637360" y="2090520"/>
            <a:ext cx="13496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Unit tests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4"/>
          <p:cNvSpPr/>
          <p:nvPr/>
        </p:nvSpPr>
        <p:spPr>
          <a:xfrm>
            <a:off x="16556760" y="2108880"/>
            <a:ext cx="464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3333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0F172A"/>
                </a:solidFill>
                <a:latin typeface="Courier New"/>
                <a:ea typeface="Courier New"/>
              </a:rPr>
              <a:t>30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5"/>
          <p:cNvSpPr/>
          <p:nvPr/>
        </p:nvSpPr>
        <p:spPr>
          <a:xfrm>
            <a:off x="11342520" y="2967120"/>
            <a:ext cx="5897520" cy="895320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6"/>
          <p:cNvSpPr/>
          <p:nvPr/>
        </p:nvSpPr>
        <p:spPr>
          <a:xfrm>
            <a:off x="11637360" y="3224160"/>
            <a:ext cx="9374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Linting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17"/>
          <p:cNvSpPr/>
          <p:nvPr/>
        </p:nvSpPr>
        <p:spPr>
          <a:xfrm>
            <a:off x="16259760" y="3233160"/>
            <a:ext cx="761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ruff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8"/>
          <p:cNvSpPr/>
          <p:nvPr/>
        </p:nvSpPr>
        <p:spPr>
          <a:xfrm>
            <a:off x="11342520" y="4091400"/>
            <a:ext cx="5897520" cy="895320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9"/>
          <p:cNvSpPr/>
          <p:nvPr/>
        </p:nvSpPr>
        <p:spPr>
          <a:xfrm>
            <a:off x="11637360" y="4348080"/>
            <a:ext cx="12265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CI status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15745680" y="4357440"/>
            <a:ext cx="131904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10B981"/>
                </a:solidFill>
                <a:latin typeface="Courier New"/>
                <a:ea typeface="Courier New"/>
              </a:rPr>
              <a:t>passing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21"/>
          <p:cNvSpPr/>
          <p:nvPr/>
        </p:nvSpPr>
        <p:spPr>
          <a:xfrm>
            <a:off x="11342520" y="5215680"/>
            <a:ext cx="5897520" cy="895320"/>
          </a:xfrm>
          <a:prstGeom prst="roundRect">
            <a:avLst>
              <a:gd name="adj" fmla="val 10635"/>
            </a:avLst>
          </a:prstGeom>
          <a:solidFill>
            <a:srgbClr val="FFFFFF"/>
          </a:solidFill>
          <a:ln w="9099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22"/>
          <p:cNvSpPr/>
          <p:nvPr/>
        </p:nvSpPr>
        <p:spPr>
          <a:xfrm>
            <a:off x="11637360" y="5472360"/>
            <a:ext cx="7102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475569"/>
                </a:solidFill>
                <a:latin typeface="Arial"/>
                <a:ea typeface="Arial"/>
              </a:rPr>
              <a:t>Docs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23"/>
          <p:cNvSpPr/>
          <p:nvPr/>
        </p:nvSpPr>
        <p:spPr>
          <a:xfrm>
            <a:off x="14203440" y="5481720"/>
            <a:ext cx="30157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0F172A"/>
                </a:solidFill>
                <a:latin typeface="Courier New"/>
                <a:ea typeface="Courier New"/>
              </a:rPr>
              <a:t>per-phase README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4"/>
          <p:cNvSpPr/>
          <p:nvPr/>
        </p:nvSpPr>
        <p:spPr>
          <a:xfrm>
            <a:off x="1047600" y="9444240"/>
            <a:ext cx="4523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94A3B8"/>
                </a:solidFill>
                <a:latin typeface="Courier New"/>
                <a:ea typeface="Courier New"/>
              </a:rPr>
              <a:t>Stack Overflow C++ Recommender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5"/>
          <p:cNvSpPr/>
          <p:nvPr/>
        </p:nvSpPr>
        <p:spPr>
          <a:xfrm>
            <a:off x="16966080" y="944424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94A3B8"/>
                </a:solidFill>
                <a:latin typeface="Courier New"/>
                <a:ea typeface="Courier New"/>
              </a:rPr>
              <a:t>20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/>
          <p:nvPr/>
        </p:nvSpPr>
        <p:spPr>
          <a:xfrm>
            <a:off x="1047600" y="914400"/>
            <a:ext cx="1448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strike="noStrike" spc="310">
                <a:solidFill>
                  <a:srgbClr val="94A3B8"/>
                </a:solidFill>
                <a:latin typeface="Courier New"/>
                <a:ea typeface="Courier New"/>
              </a:rPr>
              <a:t>SUMMARY</a:t>
            </a:r>
            <a:endParaRPr lang="en-US" sz="1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1047600" y="1584720"/>
            <a:ext cx="14911920" cy="21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F8FAFC"/>
                </a:solidFill>
                <a:latin typeface="Arial"/>
                <a:ea typeface="Arial"/>
              </a:rPr>
              <a:t>An end-to-end recommender: our own crawler, a normalised database, and a tuned hybrid retrieval model serving predictions from the database.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1047600" y="5695560"/>
            <a:ext cx="554580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26,162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1047600" y="6724440"/>
            <a:ext cx="5545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questions collected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6622920" y="5695560"/>
            <a:ext cx="554580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0.893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6622920" y="6724440"/>
            <a:ext cx="5545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Hit@10 on unseen test data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6"/>
          <p:cNvSpPr/>
          <p:nvPr/>
        </p:nvSpPr>
        <p:spPr>
          <a:xfrm>
            <a:off x="12198240" y="5695560"/>
            <a:ext cx="554580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 fontScale="94444"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7200" b="1" strike="noStrike" spc="-1">
                <a:solidFill>
                  <a:srgbClr val="F59E0B"/>
                </a:solidFill>
                <a:latin typeface="Courier New"/>
                <a:ea typeface="Courier New"/>
              </a:rPr>
              <a:t>30,000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7"/>
          <p:cNvSpPr/>
          <p:nvPr/>
        </p:nvSpPr>
        <p:spPr>
          <a:xfrm>
            <a:off x="12198240" y="6724440"/>
            <a:ext cx="5545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strike="noStrike" spc="-1">
                <a:solidFill>
                  <a:srgbClr val="94A3B8"/>
                </a:solidFill>
                <a:latin typeface="Arial"/>
                <a:ea typeface="Arial"/>
              </a:rPr>
              <a:t>recommendations stored</a:t>
            </a:r>
            <a:endParaRPr lang="en-US" sz="2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8"/>
          <p:cNvSpPr/>
          <p:nvPr/>
        </p:nvSpPr>
        <p:spPr>
          <a:xfrm>
            <a:off x="1047600" y="9128160"/>
            <a:ext cx="513864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0" strike="noStrike" spc="-1">
                <a:solidFill>
                  <a:srgbClr val="F8FAFC"/>
                </a:solidFill>
                <a:latin typeface="Arial"/>
                <a:ea typeface="Arial"/>
              </a:rPr>
              <a:t>Thank you for your attention.</a:t>
            </a:r>
            <a:endParaRPr lang="en-US" sz="2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9"/>
          <p:cNvSpPr/>
          <p:nvPr/>
        </p:nvSpPr>
        <p:spPr>
          <a:xfrm>
            <a:off x="16966080" y="9291960"/>
            <a:ext cx="349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60" tIns="25560" rIns="25560" bIns="255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475569"/>
                </a:solidFill>
                <a:latin typeface="Courier New"/>
                <a:ea typeface="Courier New"/>
              </a:rPr>
              <a:t>21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1206</Words>
  <Application>Microsoft Office PowerPoint</Application>
  <PresentationFormat>Custom</PresentationFormat>
  <Paragraphs>295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sajjad tagizade</cp:lastModifiedBy>
  <cp:revision>5</cp:revision>
  <dcterms:created xsi:type="dcterms:W3CDTF">2026-07-26T15:55:58Z</dcterms:created>
  <dcterms:modified xsi:type="dcterms:W3CDTF">2026-07-26T15:26:50Z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Custom</vt:lpwstr>
  </property>
  <property fmtid="{D5CDD505-2E9C-101B-9397-08002B2CF9AE}" pid="4" name="Slides">
    <vt:i4>20</vt:i4>
  </property>
</Properties>
</file>