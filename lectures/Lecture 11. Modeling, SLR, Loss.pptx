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367" r:id="rId2"/>
    <p:sldId id="404" r:id="rId3"/>
    <p:sldId id="257" r:id="rId4"/>
    <p:sldId id="261" r:id="rId5"/>
    <p:sldId id="262" r:id="rId6"/>
    <p:sldId id="263" r:id="rId7"/>
    <p:sldId id="264" r:id="rId8"/>
    <p:sldId id="265" r:id="rId9"/>
    <p:sldId id="266" r:id="rId10"/>
    <p:sldId id="274" r:id="rId11"/>
    <p:sldId id="275" r:id="rId12"/>
    <p:sldId id="276" r:id="rId13"/>
    <p:sldId id="277" r:id="rId14"/>
    <p:sldId id="414" r:id="rId15"/>
    <p:sldId id="279" r:id="rId16"/>
    <p:sldId id="406" r:id="rId17"/>
    <p:sldId id="283" r:id="rId18"/>
    <p:sldId id="285" r:id="rId19"/>
    <p:sldId id="286" r:id="rId20"/>
    <p:sldId id="288" r:id="rId21"/>
    <p:sldId id="289" r:id="rId22"/>
    <p:sldId id="291" r:id="rId23"/>
    <p:sldId id="292" r:id="rId24"/>
    <p:sldId id="407" r:id="rId25"/>
    <p:sldId id="296" r:id="rId26"/>
    <p:sldId id="298" r:id="rId27"/>
    <p:sldId id="305" r:id="rId28"/>
    <p:sldId id="408" r:id="rId29"/>
    <p:sldId id="409" r:id="rId30"/>
    <p:sldId id="410" r:id="rId31"/>
    <p:sldId id="411" r:id="rId32"/>
    <p:sldId id="412" r:id="rId33"/>
    <p:sldId id="413" r:id="rId3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22" autoAdjust="0"/>
    <p:restoredTop sz="71314" autoAdjust="0"/>
  </p:normalViewPr>
  <p:slideViewPr>
    <p:cSldViewPr snapToGrid="0">
      <p:cViewPr varScale="1">
        <p:scale>
          <a:sx n="78" d="100"/>
          <a:sy n="78" d="100"/>
        </p:scale>
        <p:origin x="15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dollah Yaghoobzadeh" userId="6e47bfdd41a25f50" providerId="LiveId" clId="{0837A333-183C-4A33-A066-8E0DA754EB13}"/>
    <pc:docChg chg="modSld modMainMaster">
      <pc:chgData name="Yadollah Yaghoobzadeh" userId="6e47bfdd41a25f50" providerId="LiveId" clId="{0837A333-183C-4A33-A066-8E0DA754EB13}" dt="2026-04-27T13:01:58.384" v="13" actId="1038"/>
      <pc:docMkLst>
        <pc:docMk/>
      </pc:docMkLst>
      <pc:sldChg chg="modSp mod">
        <pc:chgData name="Yadollah Yaghoobzadeh" userId="6e47bfdd41a25f50" providerId="LiveId" clId="{0837A333-183C-4A33-A066-8E0DA754EB13}" dt="2026-04-27T13:00:19.928" v="2" actId="20577"/>
        <pc:sldMkLst>
          <pc:docMk/>
          <pc:sldMk cId="0" sldId="264"/>
        </pc:sldMkLst>
        <pc:spChg chg="mod">
          <ac:chgData name="Yadollah Yaghoobzadeh" userId="6e47bfdd41a25f50" providerId="LiveId" clId="{0837A333-183C-4A33-A066-8E0DA754EB13}" dt="2026-04-27T13:00:19.928" v="2" actId="20577"/>
          <ac:spMkLst>
            <pc:docMk/>
            <pc:sldMk cId="0" sldId="264"/>
            <ac:spMk id="293" creationId="{00000000-0000-0000-0000-000000000000}"/>
          </ac:spMkLst>
        </pc:spChg>
      </pc:sldChg>
      <pc:sldChg chg="modSp mod">
        <pc:chgData name="Yadollah Yaghoobzadeh" userId="6e47bfdd41a25f50" providerId="LiveId" clId="{0837A333-183C-4A33-A066-8E0DA754EB13}" dt="2026-04-27T13:01:58.384" v="13" actId="1038"/>
        <pc:sldMkLst>
          <pc:docMk/>
          <pc:sldMk cId="0" sldId="275"/>
        </pc:sldMkLst>
        <pc:picChg chg="mod">
          <ac:chgData name="Yadollah Yaghoobzadeh" userId="6e47bfdd41a25f50" providerId="LiveId" clId="{0837A333-183C-4A33-A066-8E0DA754EB13}" dt="2026-04-27T13:01:58.384" v="13" actId="1038"/>
          <ac:picMkLst>
            <pc:docMk/>
            <pc:sldMk cId="0" sldId="275"/>
            <ac:picMk id="537" creationId="{00000000-0000-0000-0000-000000000000}"/>
          </ac:picMkLst>
        </pc:picChg>
      </pc:sldChg>
      <pc:sldMasterChg chg="modSldLayout">
        <pc:chgData name="Yadollah Yaghoobzadeh" userId="6e47bfdd41a25f50" providerId="LiveId" clId="{0837A333-183C-4A33-A066-8E0DA754EB13}" dt="2026-04-27T12:58:51.196" v="1" actId="20577"/>
        <pc:sldMasterMkLst>
          <pc:docMk/>
          <pc:sldMasterMk cId="592030485" sldId="2147483660"/>
        </pc:sldMasterMkLst>
        <pc:sldLayoutChg chg="modSp mod">
          <pc:chgData name="Yadollah Yaghoobzadeh" userId="6e47bfdd41a25f50" providerId="LiveId" clId="{0837A333-183C-4A33-A066-8E0DA754EB13}" dt="2026-04-27T12:58:51.196" v="1" actId="20577"/>
          <pc:sldLayoutMkLst>
            <pc:docMk/>
            <pc:sldMasterMk cId="592030485" sldId="2147483660"/>
            <pc:sldLayoutMk cId="108745479" sldId="2147483661"/>
          </pc:sldLayoutMkLst>
          <pc:spChg chg="mod">
            <ac:chgData name="Yadollah Yaghoobzadeh" userId="6e47bfdd41a25f50" providerId="LiveId" clId="{0837A333-183C-4A33-A066-8E0DA754EB13}" dt="2026-04-27T12:58:51.196" v="1" actId="20577"/>
            <ac:spMkLst>
              <pc:docMk/>
              <pc:sldMasterMk cId="592030485" sldId="2147483660"/>
              <pc:sldLayoutMk cId="108745479" sldId="2147483661"/>
              <ac:spMk id="3" creationId="{589C87D7-4FFF-3090-7978-ACE9D0723D25}"/>
            </ac:spMkLst>
          </pc:spChg>
        </pc:sldLayoutChg>
      </pc:sldMasterChg>
    </pc:docChg>
  </pc:docChgLst>
  <pc:docChgLst>
    <pc:chgData name="Yadollah Yaghoobzadeh" userId="6e47bfdd41a25f50" providerId="LiveId" clId="{9A054F92-999B-4A95-BCDE-591B014299D4}"/>
    <pc:docChg chg="custSel modSld modMainMaster">
      <pc:chgData name="Yadollah Yaghoobzadeh" userId="6e47bfdd41a25f50" providerId="LiveId" clId="{9A054F92-999B-4A95-BCDE-591B014299D4}" dt="2025-04-22T08:46:43.812" v="166" actId="20577"/>
      <pc:docMkLst>
        <pc:docMk/>
      </pc:docMkLst>
      <pc:sldChg chg="addSp delSp modSp mod chgLayout">
        <pc:chgData name="Yadollah Yaghoobzadeh" userId="6e47bfdd41a25f50" providerId="LiveId" clId="{9A054F92-999B-4A95-BCDE-591B014299D4}" dt="2025-04-20T09:18:34.866" v="39" actId="6264"/>
        <pc:sldMkLst>
          <pc:docMk/>
          <pc:sldMk cId="0" sldId="257"/>
        </pc:sldMkLst>
        <pc:spChg chg="mod ord">
          <ac:chgData name="Yadollah Yaghoobzadeh" userId="6e47bfdd41a25f50" providerId="LiveId" clId="{9A054F92-999B-4A95-BCDE-591B014299D4}" dt="2025-04-20T09:18:34.866" v="39" actId="6264"/>
          <ac:spMkLst>
            <pc:docMk/>
            <pc:sldMk cId="0" sldId="257"/>
            <ac:spMk id="193" creationId="{00000000-0000-0000-0000-000000000000}"/>
          </ac:spMkLst>
        </pc:spChg>
        <pc:spChg chg="mod ord">
          <ac:chgData name="Yadollah Yaghoobzadeh" userId="6e47bfdd41a25f50" providerId="LiveId" clId="{9A054F92-999B-4A95-BCDE-591B014299D4}" dt="2025-04-20T09:18:34.866" v="39" actId="6264"/>
          <ac:spMkLst>
            <pc:docMk/>
            <pc:sldMk cId="0" sldId="257"/>
            <ac:spMk id="194" creationId="{00000000-0000-0000-0000-000000000000}"/>
          </ac:spMkLst>
        </pc:spChg>
        <pc:spChg chg="mod ord">
          <ac:chgData name="Yadollah Yaghoobzadeh" userId="6e47bfdd41a25f50" providerId="LiveId" clId="{9A054F92-999B-4A95-BCDE-591B014299D4}" dt="2025-04-20T09:18:34.866" v="39" actId="6264"/>
          <ac:spMkLst>
            <pc:docMk/>
            <pc:sldMk cId="0" sldId="257"/>
            <ac:spMk id="197" creationId="{00000000-0000-0000-0000-000000000000}"/>
          </ac:spMkLst>
        </pc:spChg>
      </pc:sldChg>
      <pc:sldChg chg="modSp mod">
        <pc:chgData name="Yadollah Yaghoobzadeh" userId="6e47bfdd41a25f50" providerId="LiveId" clId="{9A054F92-999B-4A95-BCDE-591B014299D4}" dt="2025-04-20T07:59:56.032" v="0" actId="207"/>
        <pc:sldMkLst>
          <pc:docMk/>
          <pc:sldMk cId="0" sldId="261"/>
        </pc:sldMkLst>
        <pc:spChg chg="mod">
          <ac:chgData name="Yadollah Yaghoobzadeh" userId="6e47bfdd41a25f50" providerId="LiveId" clId="{9A054F92-999B-4A95-BCDE-591B014299D4}" dt="2025-04-20T07:59:56.032" v="0" actId="207"/>
          <ac:spMkLst>
            <pc:docMk/>
            <pc:sldMk cId="0" sldId="261"/>
            <ac:spMk id="256" creationId="{00000000-0000-0000-0000-000000000000}"/>
          </ac:spMkLst>
        </pc:spChg>
      </pc:sldChg>
      <pc:sldChg chg="modSp">
        <pc:chgData name="Yadollah Yaghoobzadeh" userId="6e47bfdd41a25f50" providerId="LiveId" clId="{9A054F92-999B-4A95-BCDE-591B014299D4}" dt="2025-04-20T09:12:16.950" v="3" actId="207"/>
        <pc:sldMkLst>
          <pc:docMk/>
          <pc:sldMk cId="0" sldId="262"/>
        </pc:sldMkLst>
        <pc:spChg chg="mod">
          <ac:chgData name="Yadollah Yaghoobzadeh" userId="6e47bfdd41a25f50" providerId="LiveId" clId="{9A054F92-999B-4A95-BCDE-591B014299D4}" dt="2025-04-20T09:12:14.225" v="2" actId="207"/>
          <ac:spMkLst>
            <pc:docMk/>
            <pc:sldMk cId="0" sldId="262"/>
            <ac:spMk id="268" creationId="{00000000-0000-0000-0000-000000000000}"/>
          </ac:spMkLst>
        </pc:spChg>
        <pc:spChg chg="mod">
          <ac:chgData name="Yadollah Yaghoobzadeh" userId="6e47bfdd41a25f50" providerId="LiveId" clId="{9A054F92-999B-4A95-BCDE-591B014299D4}" dt="2025-04-20T09:12:11.548" v="1" actId="207"/>
          <ac:spMkLst>
            <pc:docMk/>
            <pc:sldMk cId="0" sldId="262"/>
            <ac:spMk id="270" creationId="{00000000-0000-0000-0000-000000000000}"/>
          </ac:spMkLst>
        </pc:spChg>
        <pc:spChg chg="mod">
          <ac:chgData name="Yadollah Yaghoobzadeh" userId="6e47bfdd41a25f50" providerId="LiveId" clId="{9A054F92-999B-4A95-BCDE-591B014299D4}" dt="2025-04-20T09:12:16.950" v="3" actId="207"/>
          <ac:spMkLst>
            <pc:docMk/>
            <pc:sldMk cId="0" sldId="262"/>
            <ac:spMk id="272" creationId="{00000000-0000-0000-0000-000000000000}"/>
          </ac:spMkLst>
        </pc:spChg>
      </pc:sldChg>
      <pc:sldChg chg="modSp mod modShow">
        <pc:chgData name="Yadollah Yaghoobzadeh" userId="6e47bfdd41a25f50" providerId="LiveId" clId="{9A054F92-999B-4A95-BCDE-591B014299D4}" dt="2025-04-20T11:23:46.835" v="103" actId="729"/>
        <pc:sldMkLst>
          <pc:docMk/>
          <pc:sldMk cId="0" sldId="263"/>
        </pc:sldMkLst>
        <pc:spChg chg="mod">
          <ac:chgData name="Yadollah Yaghoobzadeh" userId="6e47bfdd41a25f50" providerId="LiveId" clId="{9A054F92-999B-4A95-BCDE-591B014299D4}" dt="2025-04-20T09:12:29.217" v="4" actId="207"/>
          <ac:spMkLst>
            <pc:docMk/>
            <pc:sldMk cId="0" sldId="263"/>
            <ac:spMk id="3" creationId="{7B86822C-0D8B-DFF8-0826-3ADEE1A73189}"/>
          </ac:spMkLst>
        </pc:spChg>
      </pc:sldChg>
      <pc:sldChg chg="delSp modSp mod modShow">
        <pc:chgData name="Yadollah Yaghoobzadeh" userId="6e47bfdd41a25f50" providerId="LiveId" clId="{9A054F92-999B-4A95-BCDE-591B014299D4}" dt="2025-04-20T11:32:09.663" v="164" actId="20577"/>
        <pc:sldMkLst>
          <pc:docMk/>
          <pc:sldMk cId="0" sldId="264"/>
        </pc:sldMkLst>
        <pc:spChg chg="mod">
          <ac:chgData name="Yadollah Yaghoobzadeh" userId="6e47bfdd41a25f50" providerId="LiveId" clId="{9A054F92-999B-4A95-BCDE-591B014299D4}" dt="2025-04-20T11:32:09.663" v="164" actId="20577"/>
          <ac:spMkLst>
            <pc:docMk/>
            <pc:sldMk cId="0" sldId="264"/>
            <ac:spMk id="293" creationId="{00000000-0000-0000-0000-000000000000}"/>
          </ac:spMkLst>
        </pc:spChg>
      </pc:sldChg>
      <pc:sldChg chg="modSp mod">
        <pc:chgData name="Yadollah Yaghoobzadeh" userId="6e47bfdd41a25f50" providerId="LiveId" clId="{9A054F92-999B-4A95-BCDE-591B014299D4}" dt="2025-04-20T09:12:52.367" v="6" actId="207"/>
        <pc:sldMkLst>
          <pc:docMk/>
          <pc:sldMk cId="0" sldId="266"/>
        </pc:sldMkLst>
        <pc:spChg chg="mod">
          <ac:chgData name="Yadollah Yaghoobzadeh" userId="6e47bfdd41a25f50" providerId="LiveId" clId="{9A054F92-999B-4A95-BCDE-591B014299D4}" dt="2025-04-20T09:12:52.367" v="6" actId="207"/>
          <ac:spMkLst>
            <pc:docMk/>
            <pc:sldMk cId="0" sldId="266"/>
            <ac:spMk id="313" creationId="{00000000-0000-0000-0000-000000000000}"/>
          </ac:spMkLst>
        </pc:spChg>
      </pc:sldChg>
      <pc:sldChg chg="modSp mod">
        <pc:chgData name="Yadollah Yaghoobzadeh" userId="6e47bfdd41a25f50" providerId="LiveId" clId="{9A054F92-999B-4A95-BCDE-591B014299D4}" dt="2025-04-20T10:41:31.687" v="52" actId="1035"/>
        <pc:sldMkLst>
          <pc:docMk/>
          <pc:sldMk cId="0" sldId="274"/>
        </pc:sldMkLst>
        <pc:picChg chg="mod">
          <ac:chgData name="Yadollah Yaghoobzadeh" userId="6e47bfdd41a25f50" providerId="LiveId" clId="{9A054F92-999B-4A95-BCDE-591B014299D4}" dt="2025-04-20T10:41:31.687" v="52" actId="1035"/>
          <ac:picMkLst>
            <pc:docMk/>
            <pc:sldMk cId="0" sldId="274"/>
            <ac:picMk id="506" creationId="{00000000-0000-0000-0000-000000000000}"/>
          </ac:picMkLst>
        </pc:picChg>
        <pc:picChg chg="mod">
          <ac:chgData name="Yadollah Yaghoobzadeh" userId="6e47bfdd41a25f50" providerId="LiveId" clId="{9A054F92-999B-4A95-BCDE-591B014299D4}" dt="2025-04-20T10:41:31.687" v="52" actId="1035"/>
          <ac:picMkLst>
            <pc:docMk/>
            <pc:sldMk cId="0" sldId="274"/>
            <ac:picMk id="507" creationId="{00000000-0000-0000-0000-000000000000}"/>
          </ac:picMkLst>
        </pc:picChg>
      </pc:sldChg>
      <pc:sldChg chg="modSp mod">
        <pc:chgData name="Yadollah Yaghoobzadeh" userId="6e47bfdd41a25f50" providerId="LiveId" clId="{9A054F92-999B-4A95-BCDE-591B014299D4}" dt="2025-04-20T10:42:31.444" v="82" actId="1037"/>
        <pc:sldMkLst>
          <pc:docMk/>
          <pc:sldMk cId="0" sldId="275"/>
        </pc:sldMkLst>
        <pc:spChg chg="mod">
          <ac:chgData name="Yadollah Yaghoobzadeh" userId="6e47bfdd41a25f50" providerId="LiveId" clId="{9A054F92-999B-4A95-BCDE-591B014299D4}" dt="2025-04-20T09:13:13.050" v="11" actId="207"/>
          <ac:spMkLst>
            <pc:docMk/>
            <pc:sldMk cId="0" sldId="275"/>
            <ac:spMk id="534" creationId="{00000000-0000-0000-0000-000000000000}"/>
          </ac:spMkLst>
        </pc:spChg>
        <pc:picChg chg="mod">
          <ac:chgData name="Yadollah Yaghoobzadeh" userId="6e47bfdd41a25f50" providerId="LiveId" clId="{9A054F92-999B-4A95-BCDE-591B014299D4}" dt="2025-04-20T10:42:31.444" v="82" actId="1037"/>
          <ac:picMkLst>
            <pc:docMk/>
            <pc:sldMk cId="0" sldId="275"/>
            <ac:picMk id="536" creationId="{00000000-0000-0000-0000-000000000000}"/>
          </ac:picMkLst>
        </pc:picChg>
      </pc:sldChg>
      <pc:sldChg chg="modSp mod">
        <pc:chgData name="Yadollah Yaghoobzadeh" userId="6e47bfdd41a25f50" providerId="LiveId" clId="{9A054F92-999B-4A95-BCDE-591B014299D4}" dt="2025-04-20T10:45:29.862" v="84" actId="20577"/>
        <pc:sldMkLst>
          <pc:docMk/>
          <pc:sldMk cId="0" sldId="276"/>
        </pc:sldMkLst>
        <pc:spChg chg="mod">
          <ac:chgData name="Yadollah Yaghoobzadeh" userId="6e47bfdd41a25f50" providerId="LiveId" clId="{9A054F92-999B-4A95-BCDE-591B014299D4}" dt="2025-04-20T09:13:35.162" v="15" actId="207"/>
          <ac:spMkLst>
            <pc:docMk/>
            <pc:sldMk cId="0" sldId="276"/>
            <ac:spMk id="560" creationId="{00000000-0000-0000-0000-000000000000}"/>
          </ac:spMkLst>
        </pc:spChg>
        <pc:spChg chg="mod">
          <ac:chgData name="Yadollah Yaghoobzadeh" userId="6e47bfdd41a25f50" providerId="LiveId" clId="{9A054F92-999B-4A95-BCDE-591B014299D4}" dt="2025-04-20T10:45:29.862" v="84" actId="20577"/>
          <ac:spMkLst>
            <pc:docMk/>
            <pc:sldMk cId="0" sldId="276"/>
            <ac:spMk id="566" creationId="{00000000-0000-0000-0000-000000000000}"/>
          </ac:spMkLst>
        </pc:spChg>
      </pc:sldChg>
      <pc:sldChg chg="modSp mod">
        <pc:chgData name="Yadollah Yaghoobzadeh" userId="6e47bfdd41a25f50" providerId="LiveId" clId="{9A054F92-999B-4A95-BCDE-591B014299D4}" dt="2025-04-20T09:14:12.579" v="19" actId="207"/>
        <pc:sldMkLst>
          <pc:docMk/>
          <pc:sldMk cId="0" sldId="279"/>
        </pc:sldMkLst>
        <pc:spChg chg="mod">
          <ac:chgData name="Yadollah Yaghoobzadeh" userId="6e47bfdd41a25f50" providerId="LiveId" clId="{9A054F92-999B-4A95-BCDE-591B014299D4}" dt="2025-04-20T09:14:00.220" v="18" actId="207"/>
          <ac:spMkLst>
            <pc:docMk/>
            <pc:sldMk cId="0" sldId="279"/>
            <ac:spMk id="594" creationId="{00000000-0000-0000-0000-000000000000}"/>
          </ac:spMkLst>
        </pc:spChg>
        <pc:spChg chg="mod">
          <ac:chgData name="Yadollah Yaghoobzadeh" userId="6e47bfdd41a25f50" providerId="LiveId" clId="{9A054F92-999B-4A95-BCDE-591B014299D4}" dt="2025-04-20T09:14:12.579" v="19" actId="207"/>
          <ac:spMkLst>
            <pc:docMk/>
            <pc:sldMk cId="0" sldId="279"/>
            <ac:spMk id="598" creationId="{00000000-0000-0000-0000-000000000000}"/>
          </ac:spMkLst>
        </pc:spChg>
      </pc:sldChg>
      <pc:sldChg chg="modSp mod">
        <pc:chgData name="Yadollah Yaghoobzadeh" userId="6e47bfdd41a25f50" providerId="LiveId" clId="{9A054F92-999B-4A95-BCDE-591B014299D4}" dt="2025-04-20T09:14:29.773" v="22" actId="207"/>
        <pc:sldMkLst>
          <pc:docMk/>
          <pc:sldMk cId="0" sldId="285"/>
        </pc:sldMkLst>
        <pc:spChg chg="mod">
          <ac:chgData name="Yadollah Yaghoobzadeh" userId="6e47bfdd41a25f50" providerId="LiveId" clId="{9A054F92-999B-4A95-BCDE-591B014299D4}" dt="2025-04-20T09:14:29.773" v="22" actId="207"/>
          <ac:spMkLst>
            <pc:docMk/>
            <pc:sldMk cId="0" sldId="285"/>
            <ac:spMk id="700" creationId="{00000000-0000-0000-0000-000000000000}"/>
          </ac:spMkLst>
        </pc:spChg>
      </pc:sldChg>
      <pc:sldChg chg="modSp mod">
        <pc:chgData name="Yadollah Yaghoobzadeh" userId="6e47bfdd41a25f50" providerId="LiveId" clId="{9A054F92-999B-4A95-BCDE-591B014299D4}" dt="2025-04-20T10:53:30.499" v="92" actId="1036"/>
        <pc:sldMkLst>
          <pc:docMk/>
          <pc:sldMk cId="0" sldId="286"/>
        </pc:sldMkLst>
        <pc:spChg chg="mod">
          <ac:chgData name="Yadollah Yaghoobzadeh" userId="6e47bfdd41a25f50" providerId="LiveId" clId="{9A054F92-999B-4A95-BCDE-591B014299D4}" dt="2025-04-20T09:16:09.323" v="25" actId="207"/>
          <ac:spMkLst>
            <pc:docMk/>
            <pc:sldMk cId="0" sldId="286"/>
            <ac:spMk id="712" creationId="{00000000-0000-0000-0000-000000000000}"/>
          </ac:spMkLst>
        </pc:spChg>
        <pc:spChg chg="mod">
          <ac:chgData name="Yadollah Yaghoobzadeh" userId="6e47bfdd41a25f50" providerId="LiveId" clId="{9A054F92-999B-4A95-BCDE-591B014299D4}" dt="2025-04-20T09:16:12.824" v="26" actId="207"/>
          <ac:spMkLst>
            <pc:docMk/>
            <pc:sldMk cId="0" sldId="286"/>
            <ac:spMk id="713" creationId="{00000000-0000-0000-0000-000000000000}"/>
          </ac:spMkLst>
        </pc:spChg>
        <pc:picChg chg="mod">
          <ac:chgData name="Yadollah Yaghoobzadeh" userId="6e47bfdd41a25f50" providerId="LiveId" clId="{9A054F92-999B-4A95-BCDE-591B014299D4}" dt="2025-04-20T10:53:15.399" v="87" actId="1036"/>
          <ac:picMkLst>
            <pc:docMk/>
            <pc:sldMk cId="0" sldId="286"/>
            <ac:picMk id="721" creationId="{00000000-0000-0000-0000-000000000000}"/>
          </ac:picMkLst>
        </pc:picChg>
        <pc:picChg chg="mod">
          <ac:chgData name="Yadollah Yaghoobzadeh" userId="6e47bfdd41a25f50" providerId="LiveId" clId="{9A054F92-999B-4A95-BCDE-591B014299D4}" dt="2025-04-20T10:53:26.939" v="89" actId="1076"/>
          <ac:picMkLst>
            <pc:docMk/>
            <pc:sldMk cId="0" sldId="286"/>
            <ac:picMk id="724" creationId="{00000000-0000-0000-0000-000000000000}"/>
          </ac:picMkLst>
        </pc:picChg>
        <pc:picChg chg="mod">
          <ac:chgData name="Yadollah Yaghoobzadeh" userId="6e47bfdd41a25f50" providerId="LiveId" clId="{9A054F92-999B-4A95-BCDE-591B014299D4}" dt="2025-04-20T10:53:30.499" v="92" actId="1036"/>
          <ac:picMkLst>
            <pc:docMk/>
            <pc:sldMk cId="0" sldId="286"/>
            <ac:picMk id="725" creationId="{00000000-0000-0000-0000-000000000000}"/>
          </ac:picMkLst>
        </pc:picChg>
      </pc:sldChg>
      <pc:sldChg chg="modSp mod">
        <pc:chgData name="Yadollah Yaghoobzadeh" userId="6e47bfdd41a25f50" providerId="LiveId" clId="{9A054F92-999B-4A95-BCDE-591B014299D4}" dt="2025-04-20T09:16:30.669" v="28" actId="207"/>
        <pc:sldMkLst>
          <pc:docMk/>
          <pc:sldMk cId="0" sldId="291"/>
        </pc:sldMkLst>
        <pc:spChg chg="mod">
          <ac:chgData name="Yadollah Yaghoobzadeh" userId="6e47bfdd41a25f50" providerId="LiveId" clId="{9A054F92-999B-4A95-BCDE-591B014299D4}" dt="2025-04-20T09:16:30.669" v="28" actId="207"/>
          <ac:spMkLst>
            <pc:docMk/>
            <pc:sldMk cId="0" sldId="291"/>
            <ac:spMk id="789" creationId="{00000000-0000-0000-0000-000000000000}"/>
          </ac:spMkLst>
        </pc:spChg>
      </pc:sldChg>
      <pc:sldChg chg="modSp mod">
        <pc:chgData name="Yadollah Yaghoobzadeh" userId="6e47bfdd41a25f50" providerId="LiveId" clId="{9A054F92-999B-4A95-BCDE-591B014299D4}" dt="2025-04-20T09:16:43.042" v="30" actId="207"/>
        <pc:sldMkLst>
          <pc:docMk/>
          <pc:sldMk cId="0" sldId="292"/>
        </pc:sldMkLst>
        <pc:spChg chg="mod">
          <ac:chgData name="Yadollah Yaghoobzadeh" userId="6e47bfdd41a25f50" providerId="LiveId" clId="{9A054F92-999B-4A95-BCDE-591B014299D4}" dt="2025-04-20T09:16:43.042" v="30" actId="207"/>
          <ac:spMkLst>
            <pc:docMk/>
            <pc:sldMk cId="0" sldId="292"/>
            <ac:spMk id="804" creationId="{00000000-0000-0000-0000-000000000000}"/>
          </ac:spMkLst>
        </pc:spChg>
      </pc:sldChg>
      <pc:sldChg chg="addSp delSp modSp mod chgLayout">
        <pc:chgData name="Yadollah Yaghoobzadeh" userId="6e47bfdd41a25f50" providerId="LiveId" clId="{9A054F92-999B-4A95-BCDE-591B014299D4}" dt="2025-04-20T10:56:24.273" v="98" actId="1036"/>
        <pc:sldMkLst>
          <pc:docMk/>
          <pc:sldMk cId="0" sldId="296"/>
        </pc:sldMkLst>
        <pc:spChg chg="mod ord">
          <ac:chgData name="Yadollah Yaghoobzadeh" userId="6e47bfdd41a25f50" providerId="LiveId" clId="{9A054F92-999B-4A95-BCDE-591B014299D4}" dt="2025-04-20T10:56:11.496" v="93" actId="6264"/>
          <ac:spMkLst>
            <pc:docMk/>
            <pc:sldMk cId="0" sldId="296"/>
            <ac:spMk id="876" creationId="{00000000-0000-0000-0000-000000000000}"/>
          </ac:spMkLst>
        </pc:spChg>
        <pc:spChg chg="mod ord">
          <ac:chgData name="Yadollah Yaghoobzadeh" userId="6e47bfdd41a25f50" providerId="LiveId" clId="{9A054F92-999B-4A95-BCDE-591B014299D4}" dt="2025-04-20T10:56:11.496" v="93" actId="6264"/>
          <ac:spMkLst>
            <pc:docMk/>
            <pc:sldMk cId="0" sldId="296"/>
            <ac:spMk id="877" creationId="{00000000-0000-0000-0000-000000000000}"/>
          </ac:spMkLst>
        </pc:spChg>
        <pc:spChg chg="mod ord">
          <ac:chgData name="Yadollah Yaghoobzadeh" userId="6e47bfdd41a25f50" providerId="LiveId" clId="{9A054F92-999B-4A95-BCDE-591B014299D4}" dt="2025-04-20T10:56:11.496" v="93" actId="6264"/>
          <ac:spMkLst>
            <pc:docMk/>
            <pc:sldMk cId="0" sldId="296"/>
            <ac:spMk id="878" creationId="{00000000-0000-0000-0000-000000000000}"/>
          </ac:spMkLst>
        </pc:spChg>
        <pc:picChg chg="mod">
          <ac:chgData name="Yadollah Yaghoobzadeh" userId="6e47bfdd41a25f50" providerId="LiveId" clId="{9A054F92-999B-4A95-BCDE-591B014299D4}" dt="2025-04-20T10:56:24.273" v="98" actId="1036"/>
          <ac:picMkLst>
            <pc:docMk/>
            <pc:sldMk cId="0" sldId="296"/>
            <ac:picMk id="881" creationId="{00000000-0000-0000-0000-000000000000}"/>
          </ac:picMkLst>
        </pc:picChg>
      </pc:sldChg>
      <pc:sldChg chg="modSp mod">
        <pc:chgData name="Yadollah Yaghoobzadeh" userId="6e47bfdd41a25f50" providerId="LiveId" clId="{9A054F92-999B-4A95-BCDE-591B014299D4}" dt="2025-04-20T11:00:07.085" v="102" actId="20577"/>
        <pc:sldMkLst>
          <pc:docMk/>
          <pc:sldMk cId="0" sldId="410"/>
        </pc:sldMkLst>
        <pc:spChg chg="mod">
          <ac:chgData name="Yadollah Yaghoobzadeh" userId="6e47bfdd41a25f50" providerId="LiveId" clId="{9A054F92-999B-4A95-BCDE-591B014299D4}" dt="2025-04-20T11:00:07.085" v="102" actId="20577"/>
          <ac:spMkLst>
            <pc:docMk/>
            <pc:sldMk cId="0" sldId="410"/>
            <ac:spMk id="9" creationId="{D15E11F1-48BC-9C7C-335C-048CD5A47708}"/>
          </ac:spMkLst>
        </pc:spChg>
      </pc:sldChg>
      <pc:sldChg chg="modSp mod">
        <pc:chgData name="Yadollah Yaghoobzadeh" userId="6e47bfdd41a25f50" providerId="LiveId" clId="{9A054F92-999B-4A95-BCDE-591B014299D4}" dt="2025-04-20T09:17:32.976" v="36" actId="14100"/>
        <pc:sldMkLst>
          <pc:docMk/>
          <pc:sldMk cId="2493573434" sldId="411"/>
        </pc:sldMkLst>
        <pc:spChg chg="mod">
          <ac:chgData name="Yadollah Yaghoobzadeh" userId="6e47bfdd41a25f50" providerId="LiveId" clId="{9A054F92-999B-4A95-BCDE-591B014299D4}" dt="2025-04-20T09:17:32.976" v="36" actId="14100"/>
          <ac:spMkLst>
            <pc:docMk/>
            <pc:sldMk cId="2493573434" sldId="411"/>
            <ac:spMk id="6" creationId="{C6B10F44-4E2A-409C-DC3B-AF2361B804C2}"/>
          </ac:spMkLst>
        </pc:spChg>
        <pc:picChg chg="mod">
          <ac:chgData name="Yadollah Yaghoobzadeh" userId="6e47bfdd41a25f50" providerId="LiveId" clId="{9A054F92-999B-4A95-BCDE-591B014299D4}" dt="2025-04-20T09:17:30.516" v="35" actId="14100"/>
          <ac:picMkLst>
            <pc:docMk/>
            <pc:sldMk cId="2493573434" sldId="411"/>
            <ac:picMk id="5" creationId="{14FF3118-6C93-F1A5-40BA-A80EDA6BC59A}"/>
          </ac:picMkLst>
        </pc:picChg>
      </pc:sldChg>
      <pc:sldChg chg="modSp mod">
        <pc:chgData name="Yadollah Yaghoobzadeh" userId="6e47bfdd41a25f50" providerId="LiveId" clId="{9A054F92-999B-4A95-BCDE-591B014299D4}" dt="2025-04-20T09:17:39.059" v="38" actId="1076"/>
        <pc:sldMkLst>
          <pc:docMk/>
          <pc:sldMk cId="1303204821" sldId="412"/>
        </pc:sldMkLst>
        <pc:grpChg chg="mod">
          <ac:chgData name="Yadollah Yaghoobzadeh" userId="6e47bfdd41a25f50" providerId="LiveId" clId="{9A054F92-999B-4A95-BCDE-591B014299D4}" dt="2025-04-20T09:17:39.059" v="38" actId="1076"/>
          <ac:grpSpMkLst>
            <pc:docMk/>
            <pc:sldMk cId="1303204821" sldId="412"/>
            <ac:grpSpMk id="12" creationId="{2BE4FA04-8D3C-004D-18C4-7C49F8075CAC}"/>
          </ac:grpSpMkLst>
        </pc:grpChg>
      </pc:sldChg>
      <pc:sldMasterChg chg="modSldLayout">
        <pc:chgData name="Yadollah Yaghoobzadeh" userId="6e47bfdd41a25f50" providerId="LiveId" clId="{9A054F92-999B-4A95-BCDE-591B014299D4}" dt="2025-04-22T08:46:43.812" v="166" actId="20577"/>
        <pc:sldMasterMkLst>
          <pc:docMk/>
          <pc:sldMasterMk cId="592030485" sldId="2147483660"/>
        </pc:sldMasterMkLst>
        <pc:sldLayoutChg chg="modSp mod">
          <pc:chgData name="Yadollah Yaghoobzadeh" userId="6e47bfdd41a25f50" providerId="LiveId" clId="{9A054F92-999B-4A95-BCDE-591B014299D4}" dt="2025-04-22T08:46:43.812" v="166" actId="20577"/>
          <pc:sldLayoutMkLst>
            <pc:docMk/>
            <pc:sldMasterMk cId="592030485" sldId="2147483660"/>
            <pc:sldLayoutMk cId="108745479" sldId="2147483661"/>
          </pc:sldLayoutMkLst>
          <pc:spChg chg="mod">
            <ac:chgData name="Yadollah Yaghoobzadeh" userId="6e47bfdd41a25f50" providerId="LiveId" clId="{9A054F92-999B-4A95-BCDE-591B014299D4}" dt="2025-04-22T08:46:43.812" v="166" actId="20577"/>
            <ac:spMkLst>
              <pc:docMk/>
              <pc:sldMasterMk cId="592030485" sldId="2147483660"/>
              <pc:sldLayoutMk cId="108745479" sldId="2147483661"/>
              <ac:spMk id="3" creationId="{589C87D7-4FFF-3090-7978-ACE9D0723D25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eorge_E._P._Box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hyperphysics.phy-astr.gsu.edu/hbase/Newt.html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2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1197671c7e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1197671c7e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0ed28599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0ed28599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150ea2fb2b_0_2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150ea2fb2b_0_2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dirty="0">
                <a:solidFill>
                  <a:schemeClr val="dk1"/>
                </a:solidFill>
              </a:rPr>
              <a:t>Since all models gloss over some details (i.e. make some simplifying assumptions), they’re all wrong.</a:t>
            </a: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dirty="0">
                <a:solidFill>
                  <a:schemeClr val="dk1"/>
                </a:solidFill>
              </a:rPr>
              <a:t>But if the assumptions aren’t too egregious, these models can still be useful.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George Box: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https://en.wikipedia.org/wiki/George_E._P._Box</a:t>
            </a:r>
            <a:r>
              <a:rPr lang="en" dirty="0">
                <a:solidFill>
                  <a:schemeClr val="dk1"/>
                </a:solidFill>
              </a:rPr>
              <a:t>  "one of the great statistical minds of the 20th century" 1919-2013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150ea2fb2b_0_2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150ea2fb2b_0_2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150ea2fb2b_0_2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150ea2fb2b_0_2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models, such as the aforementioned model of the acceleration due to gravity on Earth, are laws that govern how the world works. We call these physical models.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On the right, we Newton’s second law of motion, that models the relationship between the mass of an object and the force required to accelerate it.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On the left, we have the results of a study involving one of Einstein’s equations(?) that model the behavior of gravitational waves. The top row shows empirically collected data, and the middle row shows Einstein’s model. Pretty good!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http://hyperphysics.phy-astr.gsu.edu/hbase/Newt.html</a:t>
            </a:r>
            <a:r>
              <a:rPr lang="en"/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57c66916f5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57c66916f5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en" dirty="0"/>
            </a:br>
            <a:r>
              <a:rPr lang="en-US" dirty="0"/>
              <a:t>A </a:t>
            </a:r>
            <a:r>
              <a:rPr lang="en-US" b="1" dirty="0"/>
              <a:t>probabilistic model</a:t>
            </a:r>
            <a:r>
              <a:rPr lang="en-US" dirty="0"/>
              <a:t> is a model that explicitly represents </a:t>
            </a:r>
            <a:r>
              <a:rPr lang="en-US" b="1" dirty="0"/>
              <a:t>uncertainty</a:t>
            </a:r>
            <a:r>
              <a:rPr lang="en-US" dirty="0"/>
              <a:t>.</a:t>
            </a:r>
          </a:p>
          <a:p>
            <a:r>
              <a:rPr lang="en-US" dirty="0"/>
              <a:t>Instead of giving one fixed outcome, it describes </a:t>
            </a:r>
            <a:r>
              <a:rPr lang="en-US" b="1" dirty="0"/>
              <a:t>how likely different outcomes are</a:t>
            </a:r>
            <a:r>
              <a:rPr lang="en-US" dirty="0"/>
              <a:t>.</a:t>
            </a:r>
          </a:p>
          <a:p>
            <a:r>
              <a:rPr lang="en-US" dirty="0"/>
              <a:t>You can say something like:</a:t>
            </a:r>
          </a:p>
          <a:p>
            <a:r>
              <a:rPr lang="en-US" dirty="0"/>
              <a:t>“Most real‑world systems are noisy and unpredictable. Probabilistic models don’t try to eliminate the randomness — they </a:t>
            </a:r>
            <a:r>
              <a:rPr lang="en-US" i="1" dirty="0"/>
              <a:t>model</a:t>
            </a:r>
            <a:r>
              <a:rPr lang="en-US" dirty="0"/>
              <a:t> it. They describe how a random process behaves and evolves over time.”</a:t>
            </a:r>
          </a:p>
          <a:p>
            <a:endParaRPr lang="en-US" dirty="0"/>
          </a:p>
          <a:p>
            <a:r>
              <a:rPr lang="en-US" dirty="0"/>
              <a:t>Weather: We can’t say it </a:t>
            </a:r>
            <a:r>
              <a:rPr lang="en-US" i="1" dirty="0"/>
              <a:t>will</a:t>
            </a:r>
            <a:r>
              <a:rPr lang="en-US" dirty="0"/>
              <a:t> rain, but we can predict a </a:t>
            </a:r>
            <a:r>
              <a:rPr lang="en-US" b="1" dirty="0"/>
              <a:t>probability</a:t>
            </a:r>
            <a:r>
              <a:rPr lang="en-US" dirty="0"/>
              <a:t> of rain. 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Bayesian Networks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Graphs showing how variables influence each other probabilistically.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Nodes =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Edges = cause/effect or dependency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when you want to understand the structure of uncertainty (e.g., medical diagnosis).</a:t>
            </a:r>
          </a:p>
          <a:p>
            <a:r>
              <a:rPr lang="en-US" b="1" dirty="0"/>
              <a:t>Markov Models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Models where the next state depends only on the current state, not the full history (“memoryless”).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sequences and processes evolving over time (e.g., speech recognition, stock movement, weather states).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89920a0b0e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89920a0b0e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08c9a1170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08c9a1170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578fac7626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578fac7626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150ea2fb2b_0_2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150ea2fb2b_0_2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578fac7626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578fac7626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150ea2fb2b_0_30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150ea2fb2b_0_30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150ea2fb2b_0_30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150ea2fb2b_0_30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30846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08c9a1170a_0_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08c9a1170a_0_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150ea2fb2b_0_30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150ea2fb2b_0_30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3680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830a08d6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2830a08d6d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1150ea2fb2b_0_30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1150ea2fb2b_0_30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1150ea2fb2b_0_3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1150ea2fb2b_0_3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SLIDES_API185877329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SLIDES_API185877329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08c9a1170a_0_1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08c9a1170a_0_1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1150ea2fb2b_0_3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1150ea2fb2b_0_3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our model has a low average loss across our dataset, that means it is good at making predictions.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1150ea2fb2b_0_3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1150ea2fb2b_0_3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our model has a low average loss across our dataset, that means it is good at making predictions.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150ea2fb2b_0_30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150ea2fb2b_0_30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79791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08c9a1170a_0_8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08c9a1170a_0_8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1e81cf0599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1e81cf05998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\frac{\partial}{\partial \theta_0}\frac{1}{n}\sum_{i=1}^{n}(y_i - \theta_0-\theta_1x_i)^2 = \frac{1}{n}\sum_{i = 1}^{n} \frac{\partial}{\partial \theta_0}(y_i - \theta_0-\theta_1x_i)^2 = \frac{1}{n}\sum_{i=1}^{n}2(y_i- \theta_0- \theta_1x_i)(-1) = -\frac{2}{n}\sum_{i=1}^{n}(y_i-\theta_0-\theta_1x_i)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189920a0b0e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189920a0b0e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150ea2fb2b_0_30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150ea2fb2b_0_30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84385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150ea2fb2b_0_30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150ea2fb2b_0_30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10109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57c9a72060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57c9a72060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150ea2fb2b_0_30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150ea2fb2b_0_30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7932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a data science course logo with a computer on a white background. Image 1 of 4">
            <a:extLst>
              <a:ext uri="{FF2B5EF4-FFF2-40B4-BE49-F238E27FC236}">
                <a16:creationId xmlns:a16="http://schemas.microsoft.com/office/drawing/2014/main" id="{ED991132-C7D0-F6BF-E60C-F201A774E2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912"/>
            <a:ext cx="6791088" cy="679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088" y="1916581"/>
            <a:ext cx="5315567" cy="2048257"/>
          </a:xfrm>
          <a:noFill/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78637" y="5943600"/>
            <a:ext cx="26597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b="0" dirty="0">
                <a:latin typeface="+mj-lt"/>
              </a:rPr>
              <a:t>Yadollah Yaghoobzadeh</a:t>
            </a:r>
          </a:p>
        </p:txBody>
      </p:sp>
      <p:pic>
        <p:nvPicPr>
          <p:cNvPr id="10" name="Picture 2" descr="Image result for دانشگاه تهران">
            <a:extLst>
              <a:ext uri="{FF2B5EF4-FFF2-40B4-BE49-F238E27FC236}">
                <a16:creationId xmlns:a16="http://schemas.microsoft.com/office/drawing/2014/main" id="{9E7CB819-1140-D440-A5AE-83AC42085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86" y="135728"/>
            <a:ext cx="1188720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 result for دانشکده فنی لوگو">
            <a:extLst>
              <a:ext uri="{FF2B5EF4-FFF2-40B4-BE49-F238E27FC236}">
                <a16:creationId xmlns:a16="http://schemas.microsoft.com/office/drawing/2014/main" id="{820363BF-D45A-BC4C-8A96-854FBD06A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60" y="135728"/>
            <a:ext cx="1587962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9C87D7-4FFF-3090-7978-ACE9D0723D25}"/>
              </a:ext>
            </a:extLst>
          </p:cNvPr>
          <p:cNvSpPr/>
          <p:nvPr userDrawn="1"/>
        </p:nvSpPr>
        <p:spPr>
          <a:xfrm>
            <a:off x="7555965" y="4828847"/>
            <a:ext cx="405271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Introduction to Data Science</a:t>
            </a:r>
            <a:br>
              <a:rPr lang="en-US" sz="2400" b="0" dirty="0">
                <a:latin typeface="+mj-lt"/>
              </a:rPr>
            </a:br>
            <a:r>
              <a:rPr lang="en-US" sz="2400" b="0" dirty="0">
                <a:latin typeface="+mj-lt"/>
              </a:rPr>
              <a:t>Spring 1405</a:t>
            </a:r>
          </a:p>
        </p:txBody>
      </p:sp>
    </p:spTree>
    <p:extLst>
      <p:ext uri="{BB962C8B-B14F-4D97-AF65-F5344CB8AC3E}">
        <p14:creationId xmlns:p14="http://schemas.microsoft.com/office/powerpoint/2010/main" val="108745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1"/>
            <a:ext cx="11658601" cy="5553073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94319" y="6600825"/>
            <a:ext cx="497680" cy="257176"/>
          </a:xfrm>
        </p:spPr>
        <p:txBody>
          <a:bodyPr/>
          <a:lstStyle>
            <a:lvl1pPr algn="ctr">
              <a:defRPr sz="11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1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94319" y="6600825"/>
            <a:ext cx="497680" cy="257176"/>
          </a:xfrm>
        </p:spPr>
        <p:txBody>
          <a:bodyPr/>
          <a:lstStyle>
            <a:lvl1pPr algn="ctr">
              <a:defRPr sz="11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830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A9015F-2C1C-0901-4D5C-553042AB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7868"/>
            <a:ext cx="11620501" cy="646295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BE57EE-75D5-2866-0019-1BBEFF4DB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4319" y="6600825"/>
            <a:ext cx="497680" cy="257176"/>
          </a:xfrm>
        </p:spPr>
        <p:txBody>
          <a:bodyPr/>
          <a:lstStyle>
            <a:lvl1pPr algn="ctr">
              <a:defRPr sz="11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945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52400"/>
            <a:ext cx="5600698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EFB003-44D6-451B-86D6-5FF16B9CEB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31618"/>
            <a:ext cx="5600699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F7D44E6-A90F-113B-3256-810C6209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4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99C0-AAD6-484A-918C-5F008DDED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55191-551E-47CF-86AA-7B88D665A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E13E2-409F-499F-A296-4F76746CA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D3438-B4B3-4297-BE45-25935018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7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Wide Puzz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0" y="-167"/>
            <a:ext cx="3702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ubTitle" idx="1"/>
          </p:nvPr>
        </p:nvSpPr>
        <p:spPr>
          <a:xfrm>
            <a:off x="300600" y="5257867"/>
            <a:ext cx="3267200" cy="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2"/>
          </p:nvPr>
        </p:nvSpPr>
        <p:spPr>
          <a:xfrm>
            <a:off x="3916467" y="536267"/>
            <a:ext cx="80432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Wingdings" panose="05000000000000000000" pitchFamily="2" charset="2"/>
              <a:buChar char="q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3702000" y="0"/>
            <a:ext cx="849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9" name="Google Shape;59;p8"/>
          <p:cNvCxnSpPr/>
          <p:nvPr/>
        </p:nvCxnSpPr>
        <p:spPr>
          <a:xfrm>
            <a:off x="3916467" y="536267"/>
            <a:ext cx="810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8"/>
          <p:cNvSpPr txBox="1"/>
          <p:nvPr/>
        </p:nvSpPr>
        <p:spPr>
          <a:xfrm>
            <a:off x="277920" y="4560101"/>
            <a:ext cx="54956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16B4B9-74E7-9AD0-6B74-C5AB64666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118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Roadmap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6416500" y="536264"/>
            <a:ext cx="5333200" cy="5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31" name="Google Shape;3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37233" y="2671067"/>
            <a:ext cx="5384000" cy="271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cxnSp>
        <p:nvCxnSpPr>
          <p:cNvPr id="33" name="Google Shape;33;p5"/>
          <p:cNvCxnSpPr/>
          <p:nvPr/>
        </p:nvCxnSpPr>
        <p:spPr>
          <a:xfrm>
            <a:off x="355967" y="5398900"/>
            <a:ext cx="5384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Google Shape;34;p5"/>
          <p:cNvSpPr txBox="1"/>
          <p:nvPr/>
        </p:nvSpPr>
        <p:spPr>
          <a:xfrm>
            <a:off x="237233" y="5424000"/>
            <a:ext cx="55440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33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Lecture </a:t>
            </a: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21</a:t>
            </a:r>
            <a:r>
              <a:rPr lang="en" sz="2133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, Data 100 </a:t>
            </a: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Fall 2023</a:t>
            </a:r>
            <a:endParaRPr sz="2133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757918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 1">
  <p:cSld name="Wide Puzzle Solution 1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/>
          <p:nvPr/>
        </p:nvSpPr>
        <p:spPr>
          <a:xfrm>
            <a:off x="0" y="-167"/>
            <a:ext cx="370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4"/>
          <p:cNvSpPr txBox="1"/>
          <p:nvPr/>
        </p:nvSpPr>
        <p:spPr>
          <a:xfrm>
            <a:off x="277927" y="4560101"/>
            <a:ext cx="2498400" cy="1271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Summary So Far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4"/>
          <p:cNvSpPr txBox="1">
            <a:spLocks noGrp="1"/>
          </p:cNvSpPr>
          <p:nvPr>
            <p:ph type="body" idx="1"/>
          </p:nvPr>
        </p:nvSpPr>
        <p:spPr>
          <a:xfrm>
            <a:off x="3916467" y="536267"/>
            <a:ext cx="80432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60" name="Google Shape;160;p24"/>
          <p:cNvSpPr txBox="1">
            <a:spLocks noGrp="1"/>
          </p:cNvSpPr>
          <p:nvPr>
            <p:ph type="title"/>
          </p:nvPr>
        </p:nvSpPr>
        <p:spPr>
          <a:xfrm>
            <a:off x="3702000" y="0"/>
            <a:ext cx="849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61" name="Google Shape;161;p24"/>
          <p:cNvCxnSpPr/>
          <p:nvPr/>
        </p:nvCxnSpPr>
        <p:spPr>
          <a:xfrm>
            <a:off x="3916467" y="536267"/>
            <a:ext cx="810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4" name="Google Shape;164;p24"/>
          <p:cNvSpPr txBox="1"/>
          <p:nvPr/>
        </p:nvSpPr>
        <p:spPr>
          <a:xfrm>
            <a:off x="11448800" y="763601"/>
            <a:ext cx="7316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latin typeface="Roboto Light"/>
                <a:ea typeface="Roboto Light"/>
                <a:cs typeface="Roboto Light"/>
                <a:sym typeface="Roboto Light"/>
              </a:rPr>
              <a:t>6212506</a:t>
            </a:r>
            <a:endParaRPr sz="13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 rotWithShape="1">
          <a:blip r:embed="rId3">
            <a:alphaModFix/>
          </a:blip>
          <a:srcRect b="4278"/>
          <a:stretch/>
        </p:blipFill>
        <p:spPr>
          <a:xfrm>
            <a:off x="11371418" y="1"/>
            <a:ext cx="808967" cy="7743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8163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 3">
  <p:cSld name="Wide Puzzle Solution 3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0" y="-167"/>
            <a:ext cx="370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6"/>
          <p:cNvSpPr txBox="1"/>
          <p:nvPr/>
        </p:nvSpPr>
        <p:spPr>
          <a:xfrm>
            <a:off x="277927" y="4560101"/>
            <a:ext cx="2498400" cy="1271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Summary So Far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6"/>
          <p:cNvSpPr txBox="1">
            <a:spLocks noGrp="1"/>
          </p:cNvSpPr>
          <p:nvPr>
            <p:ph type="body" idx="1"/>
          </p:nvPr>
        </p:nvSpPr>
        <p:spPr>
          <a:xfrm>
            <a:off x="3916467" y="536267"/>
            <a:ext cx="80432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title"/>
          </p:nvPr>
        </p:nvSpPr>
        <p:spPr>
          <a:xfrm>
            <a:off x="3702000" y="0"/>
            <a:ext cx="849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81" name="Google Shape;181;p26"/>
          <p:cNvCxnSpPr/>
          <p:nvPr/>
        </p:nvCxnSpPr>
        <p:spPr>
          <a:xfrm>
            <a:off x="3916467" y="536267"/>
            <a:ext cx="810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2" name="Google Shape;182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84" name="Google Shape;184;p26"/>
          <p:cNvSpPr txBox="1"/>
          <p:nvPr/>
        </p:nvSpPr>
        <p:spPr>
          <a:xfrm>
            <a:off x="11448800" y="763601"/>
            <a:ext cx="7316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latin typeface="Roboto Light"/>
                <a:ea typeface="Roboto Light"/>
                <a:cs typeface="Roboto Light"/>
                <a:sym typeface="Roboto Light"/>
              </a:rPr>
              <a:t>6212506</a:t>
            </a:r>
            <a:endParaRPr sz="13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5" name="Google Shape;185;p26"/>
          <p:cNvPicPr preferRelativeResize="0"/>
          <p:nvPr/>
        </p:nvPicPr>
        <p:blipFill rotWithShape="1">
          <a:blip r:embed="rId3">
            <a:alphaModFix/>
          </a:blip>
          <a:srcRect b="4278"/>
          <a:stretch/>
        </p:blipFill>
        <p:spPr>
          <a:xfrm>
            <a:off x="11371418" y="1"/>
            <a:ext cx="808967" cy="7743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6490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03171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Interlu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21" name="Google Shape;121;p18"/>
          <p:cNvSpPr txBox="1">
            <a:spLocks noGrp="1"/>
          </p:cNvSpPr>
          <p:nvPr>
            <p:ph type="body" idx="1"/>
          </p:nvPr>
        </p:nvSpPr>
        <p:spPr>
          <a:xfrm>
            <a:off x="6416500" y="536264"/>
            <a:ext cx="5333200" cy="5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 txBox="1">
            <a:spLocks noGrp="1"/>
          </p:cNvSpPr>
          <p:nvPr>
            <p:ph type="title"/>
          </p:nvPr>
        </p:nvSpPr>
        <p:spPr>
          <a:xfrm>
            <a:off x="237233" y="2671067"/>
            <a:ext cx="5384000" cy="271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24" name="Google Shape;124;p18"/>
          <p:cNvCxnSpPr/>
          <p:nvPr/>
        </p:nvCxnSpPr>
        <p:spPr>
          <a:xfrm>
            <a:off x="355967" y="5398900"/>
            <a:ext cx="5384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" name="Google Shape;125;p18"/>
          <p:cNvSpPr txBox="1">
            <a:spLocks noGrp="1"/>
          </p:cNvSpPr>
          <p:nvPr>
            <p:ph type="subTitle" idx="2"/>
          </p:nvPr>
        </p:nvSpPr>
        <p:spPr>
          <a:xfrm>
            <a:off x="237233" y="5424000"/>
            <a:ext cx="5544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7457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Demo slide lef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ubTitle" idx="1"/>
          </p:nvPr>
        </p:nvSpPr>
        <p:spPr>
          <a:xfrm>
            <a:off x="300600" y="5257867"/>
            <a:ext cx="5393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277920" y="4560101"/>
            <a:ext cx="54956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6223233" y="536267"/>
            <a:ext cx="57364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6096000" y="0"/>
            <a:ext cx="6096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9" name="Google Shape;49;p7"/>
          <p:cNvCxnSpPr/>
          <p:nvPr/>
        </p:nvCxnSpPr>
        <p:spPr>
          <a:xfrm>
            <a:off x="6223241" y="536280"/>
            <a:ext cx="58028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0" name="Google Shape;5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2" name="Google Shape;52;p7"/>
          <p:cNvSpPr txBox="1"/>
          <p:nvPr/>
        </p:nvSpPr>
        <p:spPr>
          <a:xfrm>
            <a:off x="11448800" y="763601"/>
            <a:ext cx="7316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latin typeface="Roboto Light"/>
                <a:ea typeface="Roboto Light"/>
                <a:cs typeface="Roboto Light"/>
                <a:sym typeface="Roboto Light"/>
              </a:rPr>
              <a:t>6212506</a:t>
            </a:r>
            <a:endParaRPr sz="13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3">
            <a:alphaModFix/>
          </a:blip>
          <a:srcRect b="4278"/>
          <a:stretch/>
        </p:blipFill>
        <p:spPr>
          <a:xfrm>
            <a:off x="11371418" y="1"/>
            <a:ext cx="808967" cy="7743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1043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12972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354330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1_Roadmap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6416500" y="536264"/>
            <a:ext cx="5333200" cy="5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30" name="Google Shape;3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237233" y="2671067"/>
            <a:ext cx="5384000" cy="271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cxnSp>
        <p:nvCxnSpPr>
          <p:cNvPr id="32" name="Google Shape;32;p5"/>
          <p:cNvCxnSpPr/>
          <p:nvPr/>
        </p:nvCxnSpPr>
        <p:spPr>
          <a:xfrm>
            <a:off x="355967" y="5398900"/>
            <a:ext cx="5384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Google Shape;33;p5"/>
          <p:cNvSpPr txBox="1">
            <a:spLocks noGrp="1"/>
          </p:cNvSpPr>
          <p:nvPr>
            <p:ph type="subTitle" idx="2"/>
          </p:nvPr>
        </p:nvSpPr>
        <p:spPr>
          <a:xfrm>
            <a:off x="237233" y="5424000"/>
            <a:ext cx="5544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8563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1_Title and two column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>
            <a:spLocks noGrp="1"/>
          </p:cNvSpPr>
          <p:nvPr>
            <p:ph type="body" idx="1"/>
          </p:nvPr>
        </p:nvSpPr>
        <p:spPr>
          <a:xfrm>
            <a:off x="6430796" y="714871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6" name="Google Shape;76;p10"/>
          <p:cNvSpPr txBox="1">
            <a:spLocks noGrp="1"/>
          </p:cNvSpPr>
          <p:nvPr>
            <p:ph type="body" idx="2"/>
          </p:nvPr>
        </p:nvSpPr>
        <p:spPr>
          <a:xfrm>
            <a:off x="127241" y="714871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E5EE38B-329B-AC81-7863-0E59A619CBD7}"/>
              </a:ext>
            </a:extLst>
          </p:cNvPr>
          <p:cNvCxnSpPr>
            <a:cxnSpLocks/>
          </p:cNvCxnSpPr>
          <p:nvPr userDrawn="1"/>
        </p:nvCxnSpPr>
        <p:spPr>
          <a:xfrm>
            <a:off x="127241" y="640556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4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5" r:id="rId3"/>
    <p:sldLayoutId id="2147483664" r:id="rId4"/>
    <p:sldLayoutId id="2147483665" r:id="rId5"/>
    <p:sldLayoutId id="2147483672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4" r:id="rId14"/>
    <p:sldLayoutId id="2147483686" r:id="rId15"/>
    <p:sldLayoutId id="2147483688" r:id="rId16"/>
    <p:sldLayoutId id="2147483689" r:id="rId17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Newton%27s_laws_of_motion" TargetMode="External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Kepler%27s_laws_of_planetary_motion#Third_law" TargetMode="External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gif"/><Relationship Id="rId4" Type="http://schemas.openxmlformats.org/officeDocument/2006/relationships/image" Target="../media/image19.gi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gif"/><Relationship Id="rId3" Type="http://schemas.openxmlformats.org/officeDocument/2006/relationships/image" Target="../media/image31.gif"/><Relationship Id="rId7" Type="http://schemas.openxmlformats.org/officeDocument/2006/relationships/image" Target="../media/image35.gif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gif"/><Relationship Id="rId11" Type="http://schemas.openxmlformats.org/officeDocument/2006/relationships/image" Target="../media/image39.png"/><Relationship Id="rId5" Type="http://schemas.openxmlformats.org/officeDocument/2006/relationships/image" Target="../media/image33.gif"/><Relationship Id="rId10" Type="http://schemas.openxmlformats.org/officeDocument/2006/relationships/image" Target="../media/image38.png"/><Relationship Id="rId4" Type="http://schemas.openxmlformats.org/officeDocument/2006/relationships/image" Target="../media/image32.gif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gif"/><Relationship Id="rId3" Type="http://schemas.openxmlformats.org/officeDocument/2006/relationships/image" Target="../media/image31.gif"/><Relationship Id="rId7" Type="http://schemas.openxmlformats.org/officeDocument/2006/relationships/image" Target="../media/image35.gif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gif"/><Relationship Id="rId11" Type="http://schemas.openxmlformats.org/officeDocument/2006/relationships/image" Target="../media/image38.png"/><Relationship Id="rId5" Type="http://schemas.openxmlformats.org/officeDocument/2006/relationships/image" Target="../media/image33.gif"/><Relationship Id="rId10" Type="http://schemas.openxmlformats.org/officeDocument/2006/relationships/image" Target="../media/image37.png"/><Relationship Id="rId4" Type="http://schemas.openxmlformats.org/officeDocument/2006/relationships/image" Target="../media/image32.gif"/><Relationship Id="rId9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gif"/><Relationship Id="rId3" Type="http://schemas.openxmlformats.org/officeDocument/2006/relationships/image" Target="../media/image20.gif"/><Relationship Id="rId7" Type="http://schemas.openxmlformats.org/officeDocument/2006/relationships/image" Target="../media/image42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gif"/><Relationship Id="rId5" Type="http://schemas.openxmlformats.org/officeDocument/2006/relationships/image" Target="../media/image41.gif"/><Relationship Id="rId4" Type="http://schemas.openxmlformats.org/officeDocument/2006/relationships/image" Target="../media/image19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gif"/><Relationship Id="rId3" Type="http://schemas.openxmlformats.org/officeDocument/2006/relationships/image" Target="../media/image32.gif"/><Relationship Id="rId7" Type="http://schemas.openxmlformats.org/officeDocument/2006/relationships/image" Target="../media/image33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20.gif"/><Relationship Id="rId4" Type="http://schemas.openxmlformats.org/officeDocument/2006/relationships/image" Target="../media/image19.gif"/><Relationship Id="rId9" Type="http://schemas.openxmlformats.org/officeDocument/2006/relationships/image" Target="../media/image42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gif"/><Relationship Id="rId4" Type="http://schemas.openxmlformats.org/officeDocument/2006/relationships/image" Target="../media/image20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7" Type="http://schemas.openxmlformats.org/officeDocument/2006/relationships/image" Target="../media/image48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1.gif"/><Relationship Id="rId5" Type="http://schemas.openxmlformats.org/officeDocument/2006/relationships/image" Target="../media/image20.gif"/><Relationship Id="rId4" Type="http://schemas.openxmlformats.org/officeDocument/2006/relationships/image" Target="../media/image47.gi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32.gif"/><Relationship Id="rId4" Type="http://schemas.openxmlformats.org/officeDocument/2006/relationships/image" Target="../media/image20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3.gif"/><Relationship Id="rId4" Type="http://schemas.openxmlformats.org/officeDocument/2006/relationships/image" Target="../media/image52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gif"/><Relationship Id="rId5" Type="http://schemas.openxmlformats.org/officeDocument/2006/relationships/image" Target="../media/image54.gif"/><Relationship Id="rId4" Type="http://schemas.openxmlformats.org/officeDocument/2006/relationships/image" Target="../media/image46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gif"/><Relationship Id="rId7" Type="http://schemas.openxmlformats.org/officeDocument/2006/relationships/image" Target="../media/image59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gif"/><Relationship Id="rId5" Type="http://schemas.openxmlformats.org/officeDocument/2006/relationships/image" Target="../media/image34.gif"/><Relationship Id="rId4" Type="http://schemas.openxmlformats.org/officeDocument/2006/relationships/image" Target="../media/image57.gi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gif"/><Relationship Id="rId13" Type="http://schemas.openxmlformats.org/officeDocument/2006/relationships/image" Target="../media/image68.png"/><Relationship Id="rId3" Type="http://schemas.openxmlformats.org/officeDocument/2006/relationships/image" Target="../media/image58.gif"/><Relationship Id="rId7" Type="http://schemas.openxmlformats.org/officeDocument/2006/relationships/image" Target="../media/image63.gif"/><Relationship Id="rId12" Type="http://schemas.openxmlformats.org/officeDocument/2006/relationships/image" Target="../media/image67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2.gif"/><Relationship Id="rId11" Type="http://schemas.openxmlformats.org/officeDocument/2006/relationships/image" Target="../media/image66.gif"/><Relationship Id="rId5" Type="http://schemas.openxmlformats.org/officeDocument/2006/relationships/image" Target="../media/image61.gif"/><Relationship Id="rId10" Type="http://schemas.openxmlformats.org/officeDocument/2006/relationships/image" Target="../media/image65.gif"/><Relationship Id="rId4" Type="http://schemas.openxmlformats.org/officeDocument/2006/relationships/image" Target="../media/image60.gif"/><Relationship Id="rId9" Type="http://schemas.openxmlformats.org/officeDocument/2006/relationships/image" Target="../media/image64.gi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gif"/><Relationship Id="rId3" Type="http://schemas.openxmlformats.org/officeDocument/2006/relationships/image" Target="../media/image33.gif"/><Relationship Id="rId7" Type="http://schemas.openxmlformats.org/officeDocument/2006/relationships/image" Target="../media/image76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gif"/><Relationship Id="rId5" Type="http://schemas.openxmlformats.org/officeDocument/2006/relationships/image" Target="../media/image54.gif"/><Relationship Id="rId4" Type="http://schemas.openxmlformats.org/officeDocument/2006/relationships/image" Target="../media/image46.gif"/><Relationship Id="rId9" Type="http://schemas.openxmlformats.org/officeDocument/2006/relationships/image" Target="../media/image78.gi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gif"/><Relationship Id="rId3" Type="http://schemas.openxmlformats.org/officeDocument/2006/relationships/image" Target="../media/image33.gif"/><Relationship Id="rId7" Type="http://schemas.openxmlformats.org/officeDocument/2006/relationships/image" Target="../media/image76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gif"/><Relationship Id="rId5" Type="http://schemas.openxmlformats.org/officeDocument/2006/relationships/image" Target="../media/image54.gif"/><Relationship Id="rId4" Type="http://schemas.openxmlformats.org/officeDocument/2006/relationships/image" Target="../media/image46.gif"/><Relationship Id="rId9" Type="http://schemas.openxmlformats.org/officeDocument/2006/relationships/image" Target="../media/image78.g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gif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gif"/><Relationship Id="rId3" Type="http://schemas.openxmlformats.org/officeDocument/2006/relationships/image" Target="../media/image33.gif"/><Relationship Id="rId7" Type="http://schemas.openxmlformats.org/officeDocument/2006/relationships/image" Target="../media/image76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gif"/><Relationship Id="rId5" Type="http://schemas.openxmlformats.org/officeDocument/2006/relationships/image" Target="../media/image54.gif"/><Relationship Id="rId4" Type="http://schemas.openxmlformats.org/officeDocument/2006/relationships/image" Target="../media/image46.gif"/><Relationship Id="rId9" Type="http://schemas.openxmlformats.org/officeDocument/2006/relationships/image" Target="../media/image7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CCB048-B67C-E79B-1CAC-1D9CA1807D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Modeling </a:t>
            </a:r>
            <a:br>
              <a:rPr lang="en-US" dirty="0"/>
            </a:br>
            <a:r>
              <a:rPr lang="en-US" dirty="0"/>
              <a:t>and Simple Linear Regression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AD516-9370-3827-DF97-F8B64741380B}"/>
              </a:ext>
            </a:extLst>
          </p:cNvPr>
          <p:cNvSpPr txBox="1"/>
          <p:nvPr/>
        </p:nvSpPr>
        <p:spPr>
          <a:xfrm>
            <a:off x="76993" y="6200775"/>
            <a:ext cx="54017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100" dirty="0">
                <a:latin typeface="+mn-lt"/>
                <a:ea typeface="Roboto Medium"/>
                <a:cs typeface="Roboto Medium"/>
                <a:sym typeface="Roboto Medium"/>
              </a:rPr>
              <a:t>From: </a:t>
            </a:r>
          </a:p>
          <a:p>
            <a:r>
              <a:rPr lang="nn-NO" sz="1100" dirty="0">
                <a:latin typeface="+mn-lt"/>
                <a:ea typeface="Roboto Medium"/>
                <a:cs typeface="Roboto Medium"/>
                <a:sym typeface="Roboto Medium"/>
              </a:rPr>
              <a:t>DS100 UC Berkeley</a:t>
            </a:r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/>
        </p:nvSpPr>
        <p:spPr>
          <a:xfrm>
            <a:off x="1816400" y="1056467"/>
            <a:ext cx="2549600" cy="5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Ask a question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3" name="Google Shape;203;p35"/>
          <p:cNvSpPr/>
          <p:nvPr/>
        </p:nvSpPr>
        <p:spPr>
          <a:xfrm>
            <a:off x="4434875" y="1163180"/>
            <a:ext cx="469600" cy="511600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204" name="Google Shape;204;p35"/>
          <p:cNvCxnSpPr>
            <a:endCxn id="203" idx="0"/>
          </p:cNvCxnSpPr>
          <p:nvPr/>
        </p:nvCxnSpPr>
        <p:spPr>
          <a:xfrm>
            <a:off x="4669675" y="785180"/>
            <a:ext cx="0" cy="3780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5" name="Google Shape;205;p35"/>
          <p:cNvCxnSpPr>
            <a:endCxn id="206" idx="0"/>
          </p:cNvCxnSpPr>
          <p:nvPr/>
        </p:nvCxnSpPr>
        <p:spPr>
          <a:xfrm>
            <a:off x="6710468" y="785125"/>
            <a:ext cx="0" cy="3780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6" name="Google Shape;206;p35"/>
          <p:cNvSpPr/>
          <p:nvPr/>
        </p:nvSpPr>
        <p:spPr>
          <a:xfrm>
            <a:off x="6475668" y="1163125"/>
            <a:ext cx="469600" cy="511600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7" name="Google Shape;207;p35"/>
          <p:cNvSpPr txBox="1"/>
          <p:nvPr/>
        </p:nvSpPr>
        <p:spPr>
          <a:xfrm>
            <a:off x="7089792" y="1056467"/>
            <a:ext cx="1866000" cy="5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Obtain data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208" name="Google Shape;208;p35"/>
          <p:cNvCxnSpPr>
            <a:stCxn id="203" idx="6"/>
            <a:endCxn id="206" idx="2"/>
          </p:cNvCxnSpPr>
          <p:nvPr/>
        </p:nvCxnSpPr>
        <p:spPr>
          <a:xfrm>
            <a:off x="4904475" y="1418980"/>
            <a:ext cx="1571200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9" name="Google Shape;209;p35"/>
          <p:cNvSpPr/>
          <p:nvPr/>
        </p:nvSpPr>
        <p:spPr>
          <a:xfrm>
            <a:off x="6475668" y="2879224"/>
            <a:ext cx="469600" cy="511600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0" name="Google Shape;210;p35"/>
          <p:cNvSpPr txBox="1"/>
          <p:nvPr/>
        </p:nvSpPr>
        <p:spPr>
          <a:xfrm>
            <a:off x="6989864" y="2772533"/>
            <a:ext cx="2039600" cy="5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 dirty="0">
                <a:latin typeface="Roboto"/>
                <a:ea typeface="Roboto"/>
                <a:cs typeface="Roboto"/>
                <a:sym typeface="Roboto"/>
              </a:rPr>
              <a:t>Understand the data</a:t>
            </a:r>
            <a:endParaRPr sz="2133" b="1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" name="Google Shape;211;p35"/>
          <p:cNvCxnSpPr>
            <a:stCxn id="206" idx="4"/>
            <a:endCxn id="209" idx="0"/>
          </p:cNvCxnSpPr>
          <p:nvPr/>
        </p:nvCxnSpPr>
        <p:spPr>
          <a:xfrm>
            <a:off x="6710468" y="1674725"/>
            <a:ext cx="0" cy="12044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2" name="Google Shape;212;p35"/>
          <p:cNvCxnSpPr>
            <a:stCxn id="209" idx="1"/>
            <a:endCxn id="203" idx="5"/>
          </p:cNvCxnSpPr>
          <p:nvPr/>
        </p:nvCxnSpPr>
        <p:spPr>
          <a:xfrm rot="10800000">
            <a:off x="4835640" y="1599747"/>
            <a:ext cx="1708800" cy="13544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3" name="Google Shape;213;p35"/>
          <p:cNvSpPr/>
          <p:nvPr/>
        </p:nvSpPr>
        <p:spPr>
          <a:xfrm>
            <a:off x="4434939" y="2879224"/>
            <a:ext cx="469600" cy="511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4" name="Google Shape;214;p35"/>
          <p:cNvSpPr txBox="1"/>
          <p:nvPr/>
        </p:nvSpPr>
        <p:spPr>
          <a:xfrm>
            <a:off x="2220571" y="2772533"/>
            <a:ext cx="2145200" cy="5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sz="2133" b="1" dirty="0">
                <a:latin typeface="Roboto"/>
                <a:ea typeface="Roboto"/>
                <a:cs typeface="Roboto"/>
                <a:sym typeface="Roboto"/>
              </a:rPr>
              <a:t>Understand the world</a:t>
            </a:r>
            <a:endParaRPr sz="2133" b="1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5" name="Google Shape;215;p35"/>
          <p:cNvCxnSpPr>
            <a:stCxn id="209" idx="2"/>
            <a:endCxn id="213" idx="6"/>
          </p:cNvCxnSpPr>
          <p:nvPr/>
        </p:nvCxnSpPr>
        <p:spPr>
          <a:xfrm rot="10800000">
            <a:off x="4904468" y="3135024"/>
            <a:ext cx="1571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35"/>
          <p:cNvCxnSpPr>
            <a:stCxn id="213" idx="0"/>
            <a:endCxn id="203" idx="4"/>
          </p:cNvCxnSpPr>
          <p:nvPr/>
        </p:nvCxnSpPr>
        <p:spPr>
          <a:xfrm rot="10800000">
            <a:off x="4669739" y="1674824"/>
            <a:ext cx="0" cy="12044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" name="Google Shape;217;p35"/>
          <p:cNvSpPr txBox="1"/>
          <p:nvPr/>
        </p:nvSpPr>
        <p:spPr>
          <a:xfrm>
            <a:off x="5130384" y="3693333"/>
            <a:ext cx="2752800" cy="5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Reports, Decisions, and Solutions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218" name="Google Shape;218;p35"/>
          <p:cNvCxnSpPr>
            <a:stCxn id="213" idx="4"/>
            <a:endCxn id="217" idx="1"/>
          </p:cNvCxnSpPr>
          <p:nvPr/>
        </p:nvCxnSpPr>
        <p:spPr>
          <a:xfrm rot="-5400000" flipH="1">
            <a:off x="4600939" y="3459624"/>
            <a:ext cx="598400" cy="460800"/>
          </a:xfrm>
          <a:prstGeom prst="bentConnector2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9" name="Google Shape;219;p35"/>
          <p:cNvSpPr txBox="1"/>
          <p:nvPr/>
        </p:nvSpPr>
        <p:spPr>
          <a:xfrm>
            <a:off x="6667492" y="2870565"/>
            <a:ext cx="230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0" name="Google Shape;220;p35"/>
          <p:cNvSpPr txBox="1"/>
          <p:nvPr/>
        </p:nvSpPr>
        <p:spPr>
          <a:xfrm>
            <a:off x="6774769" y="1459203"/>
            <a:ext cx="1292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221" name="Google Shape;221;p35"/>
          <p:cNvCxnSpPr>
            <a:stCxn id="219" idx="3"/>
            <a:endCxn id="220" idx="3"/>
          </p:cNvCxnSpPr>
          <p:nvPr/>
        </p:nvCxnSpPr>
        <p:spPr>
          <a:xfrm rot="10800000" flipH="1">
            <a:off x="6898292" y="1582365"/>
            <a:ext cx="5600" cy="1408800"/>
          </a:xfrm>
          <a:prstGeom prst="curvedConnector3">
            <a:avLst>
              <a:gd name="adj1" fmla="val 5771023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1E7FAFD-7981-7188-E597-905BB7D37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plan</a:t>
            </a:r>
          </a:p>
        </p:txBody>
      </p:sp>
      <p:sp>
        <p:nvSpPr>
          <p:cNvPr id="222" name="Google Shape;222;p3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  <p:pic>
        <p:nvPicPr>
          <p:cNvPr id="224" name="Google Shape;22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55796" y="634149"/>
            <a:ext cx="1198400" cy="132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55786" y="2870562"/>
            <a:ext cx="1629957" cy="112512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5"/>
          <p:cNvSpPr txBox="1"/>
          <p:nvPr/>
        </p:nvSpPr>
        <p:spPr>
          <a:xfrm>
            <a:off x="1759758" y="666182"/>
            <a:ext cx="390345" cy="135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9600" dirty="0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?</a:t>
            </a:r>
            <a:endParaRPr sz="1467" dirty="0">
              <a:solidFill>
                <a:schemeClr val="dk2"/>
              </a:solidFill>
            </a:endParaRPr>
          </a:p>
        </p:txBody>
      </p:sp>
      <p:pic>
        <p:nvPicPr>
          <p:cNvPr id="227" name="Google Shape;227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6595" y="2627005"/>
            <a:ext cx="1192923" cy="117897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5"/>
          <p:cNvSpPr/>
          <p:nvPr/>
        </p:nvSpPr>
        <p:spPr>
          <a:xfrm>
            <a:off x="4669675" y="5383141"/>
            <a:ext cx="2836800" cy="11252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Modeling I:</a:t>
            </a:r>
            <a:br>
              <a:rPr lang="en" dirty="0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Intro to Modeling, Simple Linear Regression, Loss functions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31" name="Google Shape;231;p35"/>
          <p:cNvSpPr/>
          <p:nvPr/>
        </p:nvSpPr>
        <p:spPr>
          <a:xfrm>
            <a:off x="4065117" y="5341233"/>
            <a:ext cx="388400" cy="91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2" name="Google Shape;232;p35"/>
          <p:cNvSpPr txBox="1"/>
          <p:nvPr/>
        </p:nvSpPr>
        <p:spPr>
          <a:xfrm>
            <a:off x="5144769" y="4721261"/>
            <a:ext cx="163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(today)</a:t>
            </a:r>
            <a:endParaRPr b="1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35"/>
          <p:cNvSpPr/>
          <p:nvPr/>
        </p:nvSpPr>
        <p:spPr>
          <a:xfrm>
            <a:off x="7350967" y="5341233"/>
            <a:ext cx="388400" cy="91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4" name="Google Shape;234;p35"/>
          <p:cNvSpPr/>
          <p:nvPr/>
        </p:nvSpPr>
        <p:spPr>
          <a:xfrm>
            <a:off x="6475672" y="2879224"/>
            <a:ext cx="469600" cy="511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</p:spPr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n-US" dirty="0"/>
              <a:t>Introduction to Modeling</a:t>
            </a:r>
          </a:p>
        </p:txBody>
      </p:sp>
      <p:sp>
        <p:nvSpPr>
          <p:cNvPr id="194" name="Google Shape;194;p3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2048400"/>
          </a:xfr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dirty="0"/>
              <a:t>Understanding the usefulness of models</a:t>
            </a:r>
          </a:p>
        </p:txBody>
      </p:sp>
      <p:sp>
        <p:nvSpPr>
          <p:cNvPr id="197" name="Google Shape;197;p3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 lang="en"/>
          </a:p>
        </p:txBody>
      </p:sp>
      <p:sp>
        <p:nvSpPr>
          <p:cNvPr id="196" name="Google Shape;196;p34"/>
          <p:cNvSpPr txBox="1"/>
          <p:nvPr/>
        </p:nvSpPr>
        <p:spPr>
          <a:xfrm>
            <a:off x="461033" y="2434533"/>
            <a:ext cx="1533600" cy="3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sz="1600" dirty="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>
            <a:spLocks noGrp="1"/>
          </p:cNvSpPr>
          <p:nvPr>
            <p:ph idx="1"/>
          </p:nvPr>
        </p:nvSpPr>
        <p:spPr>
          <a:xfrm>
            <a:off x="266701" y="990601"/>
            <a:ext cx="7284244" cy="5553073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dirty="0"/>
              <a:t>A model is an </a:t>
            </a:r>
            <a:r>
              <a:rPr lang="en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idealized representation</a:t>
            </a:r>
            <a:r>
              <a:rPr lang="en" dirty="0">
                <a:solidFill>
                  <a:srgbClr val="0070C0"/>
                </a:solidFill>
              </a:rPr>
              <a:t> </a:t>
            </a:r>
            <a:r>
              <a:rPr lang="en" dirty="0"/>
              <a:t>of a system.</a:t>
            </a:r>
            <a:endParaRPr dirty="0"/>
          </a:p>
          <a:p>
            <a:pPr marL="0" indent="0">
              <a:buNone/>
            </a:pPr>
            <a:endParaRPr lang="en" dirty="0"/>
          </a:p>
          <a:p>
            <a:pPr marL="0" indent="0">
              <a:buNone/>
            </a:pPr>
            <a:r>
              <a:rPr lang="en" sz="2400" u="sng" dirty="0"/>
              <a:t>Example</a:t>
            </a:r>
            <a:r>
              <a:rPr lang="en" sz="2400" dirty="0"/>
              <a:t>:</a:t>
            </a:r>
            <a:br>
              <a:rPr lang="en" sz="2400" dirty="0"/>
            </a:br>
            <a:r>
              <a:rPr lang="en" sz="2400" dirty="0"/>
              <a:t>We model the fall of an object on Earth as subject to a constant acceleration of 9.81 m/s² due to gravity.</a:t>
            </a:r>
            <a:endParaRPr sz="2400" dirty="0"/>
          </a:p>
          <a:p>
            <a:r>
              <a:rPr lang="en" sz="2400" dirty="0"/>
              <a:t>While this describes the behavior of our system, it is merely an approximation.</a:t>
            </a:r>
            <a:endParaRPr sz="2400" dirty="0"/>
          </a:p>
          <a:p>
            <a:pPr>
              <a:spcBef>
                <a:spcPts val="0"/>
              </a:spcBef>
            </a:pPr>
            <a:r>
              <a:rPr lang="en" sz="2400" dirty="0"/>
              <a:t>It doesn’t account for the effects of air resistance, local variations in gravity, etc.</a:t>
            </a:r>
            <a:endParaRPr sz="2400" dirty="0"/>
          </a:p>
          <a:p>
            <a:pPr>
              <a:spcBef>
                <a:spcPts val="0"/>
              </a:spcBef>
            </a:pPr>
            <a:r>
              <a:rPr lang="en" sz="2400" dirty="0"/>
              <a:t>But in practice, it’s accurate enough to be useful!</a:t>
            </a:r>
            <a:endParaRPr sz="2400" dirty="0"/>
          </a:p>
        </p:txBody>
      </p:sp>
      <p:sp>
        <p:nvSpPr>
          <p:cNvPr id="255" name="Google Shape;255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 dirty="0"/>
              <a:t>What is a Model?</a:t>
            </a:r>
            <a:endParaRPr dirty="0"/>
          </a:p>
        </p:txBody>
      </p:sp>
      <p:sp>
        <p:nvSpPr>
          <p:cNvPr id="257" name="Google Shape;257;p3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/>
          </a:p>
        </p:txBody>
      </p:sp>
      <p:grpSp>
        <p:nvGrpSpPr>
          <p:cNvPr id="258" name="Google Shape;258;p38"/>
          <p:cNvGrpSpPr/>
          <p:nvPr/>
        </p:nvGrpSpPr>
        <p:grpSpPr>
          <a:xfrm>
            <a:off x="8207400" y="313618"/>
            <a:ext cx="3717898" cy="6389483"/>
            <a:chOff x="6155550" y="235213"/>
            <a:chExt cx="2788424" cy="4792112"/>
          </a:xfrm>
        </p:grpSpPr>
        <p:pic>
          <p:nvPicPr>
            <p:cNvPr id="259" name="Google Shape;259;p38"/>
            <p:cNvPicPr preferRelativeResize="0"/>
            <p:nvPr/>
          </p:nvPicPr>
          <p:blipFill rotWithShape="1">
            <a:blip r:embed="rId3">
              <a:alphaModFix/>
            </a:blip>
            <a:srcRect b="21537"/>
            <a:stretch/>
          </p:blipFill>
          <p:spPr>
            <a:xfrm>
              <a:off x="6316875" y="974725"/>
              <a:ext cx="2273350" cy="25061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38"/>
            <p:cNvSpPr txBox="1"/>
            <p:nvPr/>
          </p:nvSpPr>
          <p:spPr>
            <a:xfrm>
              <a:off x="6278300" y="3404700"/>
              <a:ext cx="2350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>
                  <a:latin typeface="Roboto Light"/>
                  <a:ea typeface="Roboto Light"/>
                  <a:cs typeface="Roboto Light"/>
                  <a:sym typeface="Roboto Light"/>
                </a:rPr>
                <a:t>George Box, Statistician (1919-2013)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261" name="Google Shape;261;p38"/>
            <p:cNvPicPr preferRelativeResize="0"/>
            <p:nvPr/>
          </p:nvPicPr>
          <p:blipFill rotWithShape="1">
            <a:blip r:embed="rId4">
              <a:alphaModFix/>
            </a:blip>
            <a:srcRect b="53814"/>
            <a:stretch/>
          </p:blipFill>
          <p:spPr>
            <a:xfrm>
              <a:off x="6155550" y="3945850"/>
              <a:ext cx="2473249" cy="1081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Google Shape;262;p38"/>
            <p:cNvSpPr/>
            <p:nvPr/>
          </p:nvSpPr>
          <p:spPr>
            <a:xfrm>
              <a:off x="6233174" y="235213"/>
              <a:ext cx="2710800" cy="892800"/>
            </a:xfrm>
            <a:prstGeom prst="wedgeEllipseCallout">
              <a:avLst>
                <a:gd name="adj1" fmla="val 10952"/>
                <a:gd name="adj2" fmla="val 6641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</a:pPr>
              <a:r>
                <a:rPr lang="en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Essentially, all models are wrong, but some are useful.</a:t>
              </a:r>
              <a:endParaRPr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9"/>
          <p:cNvSpPr txBox="1">
            <a:spLocks noGrp="1"/>
          </p:cNvSpPr>
          <p:nvPr>
            <p:ph type="title" idx="4294967295"/>
          </p:nvPr>
        </p:nvSpPr>
        <p:spPr>
          <a:xfrm>
            <a:off x="0" y="-198438"/>
            <a:ext cx="11360150" cy="884238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" sz="4000" dirty="0"/>
              <a:t>Three Reasons for Building Models</a:t>
            </a:r>
            <a:endParaRPr sz="4000" dirty="0"/>
          </a:p>
        </p:txBody>
      </p:sp>
      <p:sp>
        <p:nvSpPr>
          <p:cNvPr id="270" name="Google Shape;270;p39"/>
          <p:cNvSpPr txBox="1">
            <a:spLocks noGrp="1"/>
          </p:cNvSpPr>
          <p:nvPr>
            <p:ph type="body" idx="2"/>
          </p:nvPr>
        </p:nvSpPr>
        <p:spPr>
          <a:xfrm>
            <a:off x="127232" y="536267"/>
            <a:ext cx="3834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Reason 1:</a:t>
            </a:r>
            <a:endParaRPr b="1" dirty="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1867" dirty="0"/>
              <a:t>To explain </a:t>
            </a:r>
            <a:r>
              <a:rPr lang="en" sz="1867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complex phenomena</a:t>
            </a:r>
            <a:r>
              <a:rPr lang="en" sz="1867" dirty="0"/>
              <a:t> occurring in the world we live in.</a:t>
            </a:r>
            <a:endParaRPr sz="1867" dirty="0"/>
          </a:p>
          <a:p>
            <a:pPr indent="-423323">
              <a:spcBef>
                <a:spcPts val="0"/>
              </a:spcBef>
              <a:buSzPts val="1400"/>
              <a:buFont typeface="Roboto Light"/>
              <a:buChar char="●"/>
            </a:pPr>
            <a:r>
              <a:rPr lang="en" sz="1867" dirty="0"/>
              <a:t>How are the parents' average heights related to the children's average heights?</a:t>
            </a:r>
            <a:endParaRPr sz="1867" dirty="0"/>
          </a:p>
          <a:p>
            <a:pPr indent="-423323">
              <a:spcBef>
                <a:spcPts val="0"/>
              </a:spcBef>
              <a:buSzPts val="1400"/>
              <a:buFont typeface="Roboto Light"/>
              <a:buChar char="●"/>
            </a:pPr>
            <a:r>
              <a:rPr lang="en" sz="1867" dirty="0"/>
              <a:t>How do an object’s velocity and acceleration impact how far it travels? </a:t>
            </a:r>
            <a:endParaRPr sz="1867" b="1" dirty="0"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100"/>
              <a:buNone/>
            </a:pPr>
            <a:endParaRPr sz="1867" dirty="0"/>
          </a:p>
          <a:p>
            <a:pPr marL="0" indent="0">
              <a:spcBef>
                <a:spcPts val="0"/>
              </a:spcBef>
              <a:buNone/>
            </a:pPr>
            <a:r>
              <a:rPr lang="en" sz="1867" dirty="0"/>
              <a:t>Often times, we care about creating models that are </a:t>
            </a:r>
            <a:r>
              <a:rPr lang="en" sz="1867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simple and interpretable</a:t>
            </a:r>
            <a:r>
              <a:rPr lang="en" sz="1867" dirty="0"/>
              <a:t>, allowing us to understand what the relationships between our variables are.</a:t>
            </a:r>
            <a:endParaRPr sz="1867" dirty="0"/>
          </a:p>
        </p:txBody>
      </p:sp>
      <p:sp>
        <p:nvSpPr>
          <p:cNvPr id="269" name="Google Shape;269;p3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/>
          </a:p>
        </p:txBody>
      </p:sp>
      <p:sp>
        <p:nvSpPr>
          <p:cNvPr id="268" name="Google Shape;268;p39"/>
          <p:cNvSpPr txBox="1">
            <a:spLocks noGrp="1"/>
          </p:cNvSpPr>
          <p:nvPr>
            <p:ph type="body" idx="1"/>
          </p:nvPr>
        </p:nvSpPr>
        <p:spPr>
          <a:xfrm>
            <a:off x="4109936" y="536267"/>
            <a:ext cx="3834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Reason 2:</a:t>
            </a:r>
            <a:endParaRPr b="1" dirty="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1867" dirty="0"/>
              <a:t>To make </a:t>
            </a:r>
            <a:r>
              <a:rPr lang="en" sz="1867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accurate predictions</a:t>
            </a:r>
            <a:br>
              <a:rPr lang="en" sz="1867" dirty="0"/>
            </a:br>
            <a:r>
              <a:rPr lang="en" sz="1867" dirty="0"/>
              <a:t>about unseen data.</a:t>
            </a:r>
            <a:endParaRPr sz="1867" dirty="0"/>
          </a:p>
          <a:p>
            <a:pPr indent="-423323">
              <a:spcBef>
                <a:spcPts val="0"/>
              </a:spcBef>
              <a:buSzPts val="1400"/>
              <a:buFont typeface="Roboto Light"/>
              <a:buChar char="●"/>
            </a:pPr>
            <a:r>
              <a:rPr lang="en" sz="1867" dirty="0"/>
              <a:t>Can we predict if an email is spam or not?</a:t>
            </a:r>
            <a:endParaRPr sz="1867" dirty="0"/>
          </a:p>
          <a:p>
            <a:pPr indent="-423323">
              <a:spcBef>
                <a:spcPts val="0"/>
              </a:spcBef>
              <a:buSzPts val="1400"/>
              <a:buFont typeface="Roboto Light"/>
              <a:buChar char="●"/>
            </a:pPr>
            <a:r>
              <a:rPr lang="en" sz="1867" dirty="0"/>
              <a:t>Can we generate a one-sentence summary of this 10-page long article?  </a:t>
            </a:r>
            <a:endParaRPr sz="1867" dirty="0"/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100"/>
              <a:buNone/>
            </a:pPr>
            <a:endParaRPr sz="1867" dirty="0"/>
          </a:p>
          <a:p>
            <a:pPr marL="0" indent="0">
              <a:spcBef>
                <a:spcPts val="0"/>
              </a:spcBef>
              <a:buNone/>
            </a:pPr>
            <a:r>
              <a:rPr lang="en" sz="1867" dirty="0"/>
              <a:t>Other times, we care more about making extremely accurate predictions, at the cost of having an uninterpretable model. These are sometimes called </a:t>
            </a:r>
            <a:r>
              <a:rPr lang="en" sz="1867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black-box</a:t>
            </a:r>
            <a:r>
              <a:rPr lang="en" sz="1867" dirty="0">
                <a:solidFill>
                  <a:schemeClr val="accent4"/>
                </a:solidFill>
              </a:rPr>
              <a:t> </a:t>
            </a:r>
            <a:r>
              <a:rPr lang="en" sz="1867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  <a:r>
              <a:rPr lang="en" sz="1867" dirty="0"/>
              <a:t>, and are common in fields like deep learning.</a:t>
            </a:r>
            <a:endParaRPr sz="1867" dirty="0"/>
          </a:p>
        </p:txBody>
      </p:sp>
      <p:sp>
        <p:nvSpPr>
          <p:cNvPr id="271" name="Google Shape;271;p39"/>
          <p:cNvSpPr txBox="1"/>
          <p:nvPr/>
        </p:nvSpPr>
        <p:spPr>
          <a:xfrm>
            <a:off x="2025333" y="5913167"/>
            <a:ext cx="8301200" cy="810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Most of the time, we want to strike a balance between </a:t>
            </a:r>
            <a:r>
              <a:rPr lang="en" sz="21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interpretability</a:t>
            </a: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 and </a:t>
            </a:r>
            <a:r>
              <a:rPr lang="en" sz="21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accuracy</a:t>
            </a: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72" name="Google Shape;272;p39"/>
          <p:cNvSpPr txBox="1">
            <a:spLocks noGrp="1"/>
          </p:cNvSpPr>
          <p:nvPr>
            <p:ph type="body" idx="1"/>
          </p:nvPr>
        </p:nvSpPr>
        <p:spPr>
          <a:xfrm>
            <a:off x="8092633" y="536267"/>
            <a:ext cx="39356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Reason 3:</a:t>
            </a:r>
            <a:endParaRPr b="1" dirty="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1867" dirty="0"/>
              <a:t>To make </a:t>
            </a:r>
            <a:r>
              <a:rPr lang="en" sz="1867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causal inferences </a:t>
            </a:r>
            <a:r>
              <a:rPr lang="en" sz="1867" dirty="0"/>
              <a:t>about if one thing causes another thing.</a:t>
            </a:r>
            <a:endParaRPr sz="1867" dirty="0"/>
          </a:p>
          <a:p>
            <a:pPr indent="-423323">
              <a:spcBef>
                <a:spcPts val="0"/>
              </a:spcBef>
              <a:buSzPts val="1400"/>
              <a:buFont typeface="Roboto Light"/>
              <a:buChar char="●"/>
            </a:pPr>
            <a:r>
              <a:rPr lang="en" sz="1867" dirty="0"/>
              <a:t>Can we conclude that smoking </a:t>
            </a:r>
            <a:r>
              <a:rPr lang="en" sz="1867" i="1" dirty="0"/>
              <a:t>causes</a:t>
            </a:r>
            <a:r>
              <a:rPr lang="en" sz="1867" dirty="0"/>
              <a:t> lung cancer?</a:t>
            </a:r>
            <a:endParaRPr sz="1867" dirty="0"/>
          </a:p>
          <a:p>
            <a:pPr indent="-423323">
              <a:spcBef>
                <a:spcPts val="0"/>
              </a:spcBef>
              <a:buSzPts val="1400"/>
              <a:buFont typeface="Arial"/>
              <a:buChar char="●"/>
            </a:pPr>
            <a:r>
              <a:rPr lang="en" sz="1867" dirty="0"/>
              <a:t>Does a job training program cause increases in employment and wage?</a:t>
            </a:r>
            <a:endParaRPr sz="1867" dirty="0"/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100"/>
              <a:buNone/>
            </a:pPr>
            <a:endParaRPr sz="1867" dirty="0"/>
          </a:p>
          <a:p>
            <a:pPr marL="0" indent="0">
              <a:spcBef>
                <a:spcPts val="0"/>
              </a:spcBef>
              <a:buNone/>
            </a:pPr>
            <a:r>
              <a:rPr lang="en" sz="1867" dirty="0"/>
              <a:t>Much harder question because most statistical tools are designed to infer association not causation</a:t>
            </a:r>
            <a:endParaRPr sz="1867" dirty="0"/>
          </a:p>
          <a:p>
            <a:pPr marL="0" indent="0">
              <a:spcBef>
                <a:spcPts val="0"/>
              </a:spcBef>
              <a:buNone/>
            </a:pPr>
            <a:endParaRPr sz="1867" dirty="0"/>
          </a:p>
          <a:p>
            <a:pPr marL="0" indent="0">
              <a:spcBef>
                <a:spcPts val="0"/>
              </a:spcBef>
              <a:buNone/>
            </a:pPr>
            <a:r>
              <a:rPr lang="en" sz="1867" dirty="0"/>
              <a:t>This won’t be the focus of this class, but will be if you go on to take more advanced classes.</a:t>
            </a:r>
            <a:endParaRPr sz="1867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277" name="Google Shape;277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"/>
              <a:t>Common Types of Models</a:t>
            </a:r>
            <a:endParaRPr/>
          </a:p>
        </p:txBody>
      </p:sp>
      <p:sp>
        <p:nvSpPr>
          <p:cNvPr id="278" name="Google Shape;278;p4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/>
          </a:p>
        </p:txBody>
      </p:sp>
      <p:pic>
        <p:nvPicPr>
          <p:cNvPr id="280" name="Google Shape;28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784" y="4707166"/>
            <a:ext cx="4940435" cy="215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517" y="3142166"/>
            <a:ext cx="1013984" cy="139253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2" name="Google Shape;28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3464" y="3170448"/>
            <a:ext cx="1824155" cy="5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0"/>
          <p:cNvSpPr txBox="1"/>
          <p:nvPr/>
        </p:nvSpPr>
        <p:spPr>
          <a:xfrm>
            <a:off x="66201" y="1916199"/>
            <a:ext cx="5525600" cy="13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000" u="sng" dirty="0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6"/>
              </a:rPr>
              <a:t>Kepler's Third Law of Planetary Motion</a:t>
            </a: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 (1619)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The ratio of the square of an object's orbital period with the cube of the semi-major axis of its orbit is the same for all objects orbiting the same primary.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84" name="Google Shape;284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30667" y="2849200"/>
            <a:ext cx="1013967" cy="13926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5" name="Google Shape;285;p40"/>
          <p:cNvSpPr txBox="1"/>
          <p:nvPr/>
        </p:nvSpPr>
        <p:spPr>
          <a:xfrm>
            <a:off x="6730667" y="1219799"/>
            <a:ext cx="5525600" cy="13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000" u="sng" dirty="0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8"/>
              </a:rPr>
              <a:t>Newton's Laws: motion and gravitation</a:t>
            </a: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 (1687)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Newton’s second law of motion models the relationship between the mass of an object and the force required to accelerate it.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86" name="Google Shape;286;p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54601" y="2779867"/>
            <a:ext cx="2021796" cy="472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54601" y="3434311"/>
            <a:ext cx="3004567" cy="1061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0"/>
          <p:cNvPicPr preferRelativeResize="0"/>
          <p:nvPr/>
        </p:nvPicPr>
        <p:blipFill rotWithShape="1">
          <a:blip r:embed="rId11">
            <a:alphaModFix/>
          </a:blip>
          <a:srcRect b="32459"/>
          <a:stretch/>
        </p:blipFill>
        <p:spPr>
          <a:xfrm>
            <a:off x="7752648" y="4677335"/>
            <a:ext cx="3225721" cy="152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86822C-0D8B-DFF8-0826-3ADEE1A73189}"/>
              </a:ext>
            </a:extLst>
          </p:cNvPr>
          <p:cNvSpPr txBox="1"/>
          <p:nvPr/>
        </p:nvSpPr>
        <p:spPr>
          <a:xfrm>
            <a:off x="318833" y="1163068"/>
            <a:ext cx="60971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Deterministic physical (mechanistic) models</a:t>
            </a:r>
            <a:r>
              <a:rPr lang="en-US" sz="2000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2000" dirty="0"/>
              <a:t>Laws that govern how the world works.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Probabilistic models</a:t>
            </a:r>
            <a:endParaRPr b="1" dirty="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r>
              <a:rPr lang="en" dirty="0"/>
              <a:t>Models of how random processes evolve.</a:t>
            </a:r>
            <a:endParaRPr dirty="0"/>
          </a:p>
          <a:p>
            <a:pPr>
              <a:spcBef>
                <a:spcPts val="0"/>
              </a:spcBef>
            </a:pPr>
            <a:r>
              <a:rPr lang="en" dirty="0"/>
              <a:t>Often motivated by understanding of an unpredictable system.</a:t>
            </a:r>
          </a:p>
          <a:p>
            <a:pPr>
              <a:spcBef>
                <a:spcPts val="0"/>
              </a:spcBef>
            </a:pPr>
            <a:endParaRPr lang="en" dirty="0"/>
          </a:p>
          <a:p>
            <a:pPr>
              <a:spcBef>
                <a:spcPts val="0"/>
              </a:spcBef>
            </a:pPr>
            <a:r>
              <a:rPr lang="en" dirty="0"/>
              <a:t>Examples: Bayesian networks, Markov models</a:t>
            </a:r>
          </a:p>
        </p:txBody>
      </p:sp>
      <p:sp>
        <p:nvSpPr>
          <p:cNvPr id="294" name="Google Shape;294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Common Types of Models</a:t>
            </a:r>
            <a:endParaRPr/>
          </a:p>
        </p:txBody>
      </p:sp>
      <p:sp>
        <p:nvSpPr>
          <p:cNvPr id="295" name="Google Shape;295;p4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dirty="0">
              <a:solidFill>
                <a:schemeClr val="dk2"/>
              </a:solidFill>
            </a:endParaRPr>
          </a:p>
        </p:txBody>
      </p:sp>
      <p:sp>
        <p:nvSpPr>
          <p:cNvPr id="304" name="Google Shape;304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 dirty="0"/>
              <a:t>Review: Regression Line &amp; Correlation</a:t>
            </a:r>
            <a:endParaRPr dirty="0"/>
          </a:p>
        </p:txBody>
      </p:sp>
      <p:sp>
        <p:nvSpPr>
          <p:cNvPr id="303" name="Google Shape;303;p4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" dirty="0"/>
              <a:t>The Regression Line</a:t>
            </a:r>
            <a:endParaRPr dirty="0"/>
          </a:p>
        </p:txBody>
      </p:sp>
      <p:sp>
        <p:nvSpPr>
          <p:cNvPr id="311" name="Google Shape;311;p4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9</a:t>
            </a:fld>
            <a:endParaRPr/>
          </a:p>
        </p:txBody>
      </p:sp>
      <p:sp>
        <p:nvSpPr>
          <p:cNvPr id="313" name="Google Shape;313;p43"/>
          <p:cNvSpPr txBox="1">
            <a:spLocks noGrp="1"/>
          </p:cNvSpPr>
          <p:nvPr>
            <p:ph type="body" idx="4294967295"/>
          </p:nvPr>
        </p:nvSpPr>
        <p:spPr>
          <a:xfrm>
            <a:off x="-22049" y="1296352"/>
            <a:ext cx="6202363" cy="1971675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228594" indent="0">
              <a:buNone/>
            </a:pPr>
            <a:r>
              <a:rPr lang="en" dirty="0"/>
              <a:t>The </a:t>
            </a:r>
            <a:r>
              <a:rPr lang="en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regression line</a:t>
            </a:r>
            <a:r>
              <a:rPr lang="en" dirty="0">
                <a:solidFill>
                  <a:srgbClr val="0070C0"/>
                </a:solidFill>
              </a:rPr>
              <a:t> </a:t>
            </a:r>
            <a:r>
              <a:rPr lang="en" dirty="0"/>
              <a:t>is the unique straight line that minimizes the </a:t>
            </a: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mean squared error</a:t>
            </a:r>
            <a:r>
              <a:rPr lang="en" dirty="0"/>
              <a:t> of estimation among all straight lines.</a:t>
            </a:r>
            <a:endParaRPr dirty="0"/>
          </a:p>
        </p:txBody>
      </p:sp>
      <p:cxnSp>
        <p:nvCxnSpPr>
          <p:cNvPr id="312" name="Google Shape;312;p43"/>
          <p:cNvCxnSpPr/>
          <p:nvPr/>
        </p:nvCxnSpPr>
        <p:spPr>
          <a:xfrm>
            <a:off x="226853" y="1235944"/>
            <a:ext cx="0" cy="956800"/>
          </a:xfrm>
          <a:prstGeom prst="straightConnector1">
            <a:avLst/>
          </a:prstGeom>
          <a:noFill/>
          <a:ln w="3810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4" name="Google Shape;31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0907" y="944901"/>
            <a:ext cx="5003800" cy="4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3"/>
          <p:cNvSpPr txBox="1"/>
          <p:nvPr/>
        </p:nvSpPr>
        <p:spPr>
          <a:xfrm>
            <a:off x="6550800" y="5346800"/>
            <a:ext cx="50040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For every chapter of the novel </a:t>
            </a:r>
            <a:r>
              <a:rPr lang="en" i="1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Little Women</a:t>
            </a: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, Estimate the </a:t>
            </a: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 of characters</a:t>
            </a: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    based on the </a:t>
            </a: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periods   </a:t>
            </a: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 in that chapter.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16" name="Google Shape;316;p43"/>
          <p:cNvSpPr/>
          <p:nvPr/>
        </p:nvSpPr>
        <p:spPr>
          <a:xfrm>
            <a:off x="8105367" y="3179391"/>
            <a:ext cx="634000" cy="499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2CC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317" name="Google Shape;317;p43" title="[0,0,0,&quot;https://latex-staging.easygenerator.com/eqneditor/editor.php?latex=x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85980" y="6080907"/>
            <a:ext cx="185033" cy="170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3" title="[0,0,0,&quot;https://latex-staging.easygenerator.com/eqneditor/editor.php?latex=%5Chat%7By%7D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1951" y="5707881"/>
            <a:ext cx="185023" cy="359767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3"/>
          <p:cNvSpPr/>
          <p:nvPr/>
        </p:nvSpPr>
        <p:spPr>
          <a:xfrm rot="10800000">
            <a:off x="9585300" y="3028109"/>
            <a:ext cx="634000" cy="499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2CC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0" name="Google Shape;320;p43"/>
          <p:cNvSpPr txBox="1"/>
          <p:nvPr/>
        </p:nvSpPr>
        <p:spPr>
          <a:xfrm>
            <a:off x="378100" y="5346800"/>
            <a:ext cx="1361600" cy="553957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sz="20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4" name="Google Shape;324;p43" descr="{&quot;aid&quot;:null,&quot;type&quot;:&quot;$$&quot;,&quot;font&quot;:{&quot;family&quot;:&quot;Roboto&quot;,&quot;size&quot;:18,&quot;color&quot;:&quot;#0B5394&quot;},&quot;code&quot;:&quot;$$\\text{residual}$$&quot;,&quot;backgroundColor&quot;:&quot;#FFF2CC&quot;,&quot;id&quot;:&quot;6&quot;,&quot;ts&quot;:1688433722506,&quot;cs&quot;:&quot;z/gjH54ydRSSvgRXBya2CQ==&quot;,&quot;size&quot;:{&quot;width&quot;:81.83333333333333,&quot;height&quot;:17.333333333333332}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259" y="5501734"/>
            <a:ext cx="1039284" cy="220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3" descr="{&quot;aid&quot;:null,&quot;font&quot;:{&quot;color&quot;:&quot;#000000&quot;,&quot;family&quot;:&quot;Arial&quot;,&quot;size&quot;:16},&quot;type&quot;:&quot;align*&quot;,&quot;backgroundColor&quot;:&quot;#FFFFFF&quot;,&quot;id&quot;:&quot;7&quot;,&quot;code&quot;:&quot;\\begin{align*}\n{}&amp;={\\text{observed}\\;y}\\\\\n{\\,}&amp;\\relempty{-\\text{regression}\\;\\text{estimate}}\t\n\\end{align*}&quot;,&quot;ts&quot;:1688433813351,&quot;cs&quot;:&quot;6w2pLJmCoz/Xl0Quc6Yplw==&quot;,&quot;size&quot;:{&quot;width&quot;:250.20000000000005,&quot;height&quot;:55.19999999999999}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98334" y="5501733"/>
            <a:ext cx="3177540" cy="701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1"/>
          <p:cNvSpPr/>
          <p:nvPr/>
        </p:nvSpPr>
        <p:spPr>
          <a:xfrm>
            <a:off x="6933567" y="5044033"/>
            <a:ext cx="2319600" cy="16828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1" name="Google Shape;491;p5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dirty="0"/>
              <a:t>In DS, we’ll treat a model as some mathematical rule to describe the relationships between variables.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" dirty="0"/>
              <a:t>               </a:t>
            </a: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490" name="Google Shape;490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 dirty="0"/>
              <a:t>Models in DS</a:t>
            </a:r>
            <a:endParaRPr dirty="0"/>
          </a:p>
        </p:txBody>
      </p:sp>
      <p:sp>
        <p:nvSpPr>
          <p:cNvPr id="492" name="Google Shape;492;p5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10</a:t>
            </a:fld>
            <a:endParaRPr/>
          </a:p>
        </p:txBody>
      </p:sp>
      <p:pic>
        <p:nvPicPr>
          <p:cNvPr id="493" name="Google Shape;493;p51" descr="{&quot;font&quot;:{&quot;size&quot;:18,&quot;family&quot;:&quot;Arial&quot;,&quot;color&quot;:&quot;#000000&quot;},&quot;code&quot;:&quot;$$\\begin{array}{|c|c|}\n\\hline\n{x_{1}}&amp;{y_{1}}\\\\\n\\hline\n{x_{2}}&amp;{y_{2}}\\\\\n\\hline\n{\\vdots}&amp;{\\vdots}\\\\\n\\hline\n{x_{n}}&amp;{y_{n}}\\\\\n\\hline\n\\end{array}$$&quot;,&quot;type&quot;:&quot;$$&quot;,&quot;backgroundColor&quot;:&quot;#FFFFFF&quot;,&quot;id&quot;:&quot;21&quot;,&quot;aid&quot;:null,&quot;ts&quot;:1688670698231,&quot;cs&quot;:&quot;HHxAQnp5QS6AlMckr6b+fg==&quot;,&quot;size&quot;:{&quot;width&quot;:113.33333333333333,&quot;height&quot;:184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51" y="2971467"/>
            <a:ext cx="1439333" cy="23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1"/>
          <p:cNvSpPr/>
          <p:nvPr/>
        </p:nvSpPr>
        <p:spPr>
          <a:xfrm>
            <a:off x="448717" y="2981667"/>
            <a:ext cx="1406000" cy="524800"/>
          </a:xfrm>
          <a:prstGeom prst="rect">
            <a:avLst/>
          </a:prstGeom>
          <a:solidFill>
            <a:srgbClr val="BF9000">
              <a:alpha val="298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495" name="Google Shape;495;p51"/>
          <p:cNvCxnSpPr>
            <a:stCxn id="494" idx="3"/>
            <a:endCxn id="496" idx="1"/>
          </p:cNvCxnSpPr>
          <p:nvPr/>
        </p:nvCxnSpPr>
        <p:spPr>
          <a:xfrm rot="10800000" flipH="1">
            <a:off x="1854717" y="2676867"/>
            <a:ext cx="1613600" cy="5672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96" name="Google Shape;496;p51" descr="{&quot;backgroundColor&quot;:&quot;#FFFFFF&quot;,&quot;id&quot;:&quot;22&quot;,&quot;code&quot;:&quot;$$\\left(x_{i},y_{i}\\right)$$&quot;,&quot;type&quot;:&quot;$$&quot;,&quot;font&quot;:{&quot;color&quot;:&quot;#000000&quot;,&quot;size&quot;:24,&quot;family&quot;:&quot;Arial&quot;},&quot;aid&quot;:null,&quot;ts&quot;:1688671086944,&quot;cs&quot;:&quot;GBbIS9ey+HzIPDU0dWIoOw==&quot;,&quot;size&quot;:{&quot;width&quot;:100.83333333333333,&quot;height&quot;:37.666666666666664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8317" y="2437747"/>
            <a:ext cx="1280584" cy="478367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51"/>
          <p:cNvSpPr txBox="1"/>
          <p:nvPr/>
        </p:nvSpPr>
        <p:spPr>
          <a:xfrm>
            <a:off x="448717" y="1884600"/>
            <a:ext cx="1406000" cy="67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Dataset 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98" name="Google Shape;498;p51"/>
          <p:cNvSpPr txBox="1"/>
          <p:nvPr/>
        </p:nvSpPr>
        <p:spPr>
          <a:xfrm>
            <a:off x="3249017" y="1884600"/>
            <a:ext cx="1719200" cy="67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Observation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499" name="Google Shape;499;p51"/>
          <p:cNvCxnSpPr>
            <a:endCxn id="500" idx="0"/>
          </p:cNvCxnSpPr>
          <p:nvPr/>
        </p:nvCxnSpPr>
        <p:spPr>
          <a:xfrm flipH="1">
            <a:off x="2959451" y="3046067"/>
            <a:ext cx="669600" cy="3960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0" name="Google Shape;500;p51"/>
          <p:cNvSpPr txBox="1"/>
          <p:nvPr/>
        </p:nvSpPr>
        <p:spPr>
          <a:xfrm>
            <a:off x="1854851" y="3442067"/>
            <a:ext cx="2209200" cy="173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Independent variable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58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Feature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58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Attribute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1" name="Google Shape;501;p51"/>
          <p:cNvCxnSpPr>
            <a:endCxn id="502" idx="0"/>
          </p:cNvCxnSpPr>
          <p:nvPr/>
        </p:nvCxnSpPr>
        <p:spPr>
          <a:xfrm>
            <a:off x="4436784" y="3061667"/>
            <a:ext cx="1104800" cy="380401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2" name="Google Shape;502;p51"/>
          <p:cNvSpPr txBox="1"/>
          <p:nvPr/>
        </p:nvSpPr>
        <p:spPr>
          <a:xfrm>
            <a:off x="4436984" y="3442068"/>
            <a:ext cx="2209200" cy="173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Dependent variable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58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Outcome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58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Response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51"/>
          <p:cNvSpPr txBox="1"/>
          <p:nvPr/>
        </p:nvSpPr>
        <p:spPr>
          <a:xfrm>
            <a:off x="6933551" y="1884601"/>
            <a:ext cx="4826400" cy="143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Prediction</a:t>
            </a:r>
            <a:endParaRPr sz="21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If we use      to predict    , the predictions are denoted as </a:t>
            </a:r>
            <a:endParaRPr sz="21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04" name="Google Shape;504;p51" descr="{&quot;backgroundColor&quot;:&quot;#FFFFFF&quot;,&quot;type&quot;:&quot;$$&quot;,&quot;code&quot;:&quot;$$x$$&quot;,&quot;aid&quot;:null,&quot;id&quot;:&quot;23&quot;,&quot;font&quot;:{&quot;color&quot;:&quot;#000000&quot;,&quot;size&quot;:18,&quot;family&quot;:&quot;Arial&quot;},&quot;ts&quot;:1688671793779,&quot;cs&quot;:&quot;aA9+untC3aXJkB01CqBglg==&quot;,&quot;size&quot;:{&quot;width&quot;:13.833333333333334,&quot;height&quot;:12.833333333333334}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085" y="2639033"/>
            <a:ext cx="175684" cy="162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51" descr="{&quot;font&quot;:{&quot;size&quot;:18,&quot;color&quot;:&quot;#000000&quot;,&quot;family&quot;:&quot;Arial&quot;},&quot;id&quot;:&quot;23&quot;,&quot;backgroundColor&quot;:&quot;#FFFFFF&quot;,&quot;aid&quot;:null,&quot;type&quot;:&quot;$$&quot;,&quot;code&quot;:&quot;$$y$$&quot;,&quot;ts&quot;:1688671824497,&quot;cs&quot;:&quot;OOe5VMZlSnzhPkc2hlwXUg==&quot;,&quot;size&quot;:{&quot;width&quot;:13.333333333333334,&quot;height&quot;:18.333333333333332}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4226" y="2604118"/>
            <a:ext cx="169333" cy="23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51" descr="{&quot;font&quot;:{&quot;family&quot;:&quot;Arial&quot;,&quot;color&quot;:&quot;#000000&quot;,&quot;size&quot;:18},&quot;aid&quot;:null,&quot;code&quot;:&quot;$$x$$&quot;,&quot;type&quot;:&quot;$$&quot;,&quot;id&quot;:&quot;23&quot;,&quot;backgroundColor&quot;:&quot;#FFFFFF&quot;,&quot;ts&quot;:1688671894040,&quot;cs&quot;:&quot;5s0YghGFsStUV3Led0CKkQ==&quot;,&quot;size&quot;:{&quot;width&quot;:13.833333333333334,&quot;height&quot;:12.833333333333334}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3455" y="2644628"/>
            <a:ext cx="175684" cy="162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51" descr="{&quot;font&quot;:{&quot;size&quot;:18,&quot;color&quot;:&quot;#000000&quot;,&quot;family&quot;:&quot;Arial&quot;},&quot;id&quot;:&quot;23&quot;,&quot;backgroundColor&quot;:&quot;#FFFFFF&quot;,&quot;aid&quot;:null,&quot;type&quot;:&quot;$$&quot;,&quot;code&quot;:&quot;$$y$$&quot;,&quot;ts&quot;:1688671824497,&quot;cs&quot;:&quot;OOe5VMZlSnzhPkc2hlwXUg==&quot;,&quot;size&quot;:{&quot;width&quot;:13.333333333333334,&quot;height&quot;:18.333333333333332}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28759" y="2609686"/>
            <a:ext cx="169333" cy="23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51" descr="{&quot;backgroundColor&quot;:&quot;#FFFFFF&quot;,&quot;id&quot;:&quot;23&quot;,&quot;font&quot;:{&quot;family&quot;:&quot;Arial&quot;,&quot;size&quot;:18,&quot;color&quot;:&quot;#000000&quot;},&quot;code&quot;:&quot;$$\\hat{y}=\\left\\{\\hat{y}_{1},\\hat{y}_{2},\\dots,\\hat{y}_{n}\\right\\}$$&quot;,&quot;type&quot;:&quot;$$&quot;,&quot;aid&quot;:null,&quot;ts&quot;:1688671981064,&quot;cs&quot;:&quot;5dICS1K4Zm5ZVWM9ZB/2Yg==&quot;,&quot;size&quot;:{&quot;width&quot;:237,&quot;height&quot;:28.399999999999988}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91926" y="3218588"/>
            <a:ext cx="3009900" cy="36068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1"/>
          <p:cNvSpPr txBox="1"/>
          <p:nvPr/>
        </p:nvSpPr>
        <p:spPr>
          <a:xfrm>
            <a:off x="6872542" y="4319439"/>
            <a:ext cx="4826400" cy="67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Models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10" name="Google Shape;510;p51" descr="{&quot;code&quot;:&quot;$$\\hat{y}_{i}=\\theta_{0}+\\theta_{1}x_{i}$$&quot;,&quot;type&quot;:&quot;$$&quot;,&quot;aid&quot;:null,&quot;id&quot;:&quot;24&quot;,&quot;font&quot;:{&quot;family&quot;:&quot;Arial&quot;,&quot;size&quot;:18,&quot;color&quot;:&quot;#000000&quot;},&quot;backgroundColor&quot;:&quot;#FFFFFF&quot;,&quot;ts&quot;:1688672444703,&quot;cs&quot;:&quot;emtiOgOTHTvokzNfcDgV5A==&quot;,&quot;size&quot;:{&quot;width&quot;:166.5,&quot;height&quot;:27}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38334" y="5137434"/>
            <a:ext cx="2114551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51" descr="{&quot;id&quot;:&quot;24&quot;,&quot;aid&quot;:null,&quot;type&quot;:&quot;$$&quot;,&quot;font&quot;:{&quot;color&quot;:&quot;#000000&quot;,&quot;size&quot;:18,&quot;family&quot;:&quot;Arial&quot;},&quot;code&quot;:&quot;$$\\hat{y}_{i}=\\theta$$&quot;,&quot;backgroundColor&quot;:&quot;#FFFFFF&quot;,&quot;ts&quot;:1688672484189,&quot;cs&quot;:&quot;CPOkJhQTd09MDMdUSJvBEw==&quot;,&quot;size&quot;:{&quot;width&quot;:73.83333333333333,&quot;height&quot;:27}}"/>
          <p:cNvPicPr preferRelativeResize="0"/>
          <p:nvPr/>
        </p:nvPicPr>
        <p:blipFill rotWithShape="1">
          <a:blip r:embed="rId9">
            <a:alphaModFix/>
          </a:blip>
          <a:srcRect r="21978"/>
          <a:stretch/>
        </p:blipFill>
        <p:spPr>
          <a:xfrm>
            <a:off x="7038333" y="5722267"/>
            <a:ext cx="731600" cy="342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2" name="Google Shape;512;p51"/>
          <p:cNvCxnSpPr>
            <a:stCxn id="489" idx="3"/>
          </p:cNvCxnSpPr>
          <p:nvPr/>
        </p:nvCxnSpPr>
        <p:spPr>
          <a:xfrm rot="10800000" flipH="1">
            <a:off x="9253167" y="5879433"/>
            <a:ext cx="512800" cy="60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3" name="Google Shape;513;p51"/>
          <p:cNvSpPr txBox="1"/>
          <p:nvPr/>
        </p:nvSpPr>
        <p:spPr>
          <a:xfrm>
            <a:off x="9898100" y="5483317"/>
            <a:ext cx="1439200" cy="800179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Parametric models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14" name="Google Shape;514;p51" descr="{&quot;backgroundColor&quot;:&quot;#FFFFFF&quot;,&quot;code&quot;:&quot;$$\\hat{y}_{i}=x_{i}^{\\top}\\theta$$&quot;,&quot;font&quot;:{&quot;color&quot;:&quot;#000000&quot;,&quot;size&quot;:18,&quot;family&quot;:&quot;Arial&quot;},&quot;type&quot;:&quot;$$&quot;,&quot;id&quot;:&quot;24&quot;,&quot;aid&quot;:null,&quot;ts&quot;:1688673814862,&quot;cs&quot;:&quot;NjTvJUVBPtjgG7CpymblqA==&quot;,&quot;size&quot;:{&quot;width&quot;:106.83333333333333,&quot;height&quot;:32.166666666666664}}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38333" y="6252519"/>
            <a:ext cx="1356784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51" descr="{&quot;code&quot;:&quot;$$\\hat{y}_{i}=\\theta_{0}+\\theta_{1}x_{i}$$&quot;,&quot;type&quot;:&quot;$$&quot;,&quot;aid&quot;:null,&quot;id&quot;:&quot;24&quot;,&quot;font&quot;:{&quot;family&quot;:&quot;Arial&quot;,&quot;size&quot;:18,&quot;color&quot;:&quot;#000000&quot;},&quot;backgroundColor&quot;:&quot;#FFFFFF&quot;,&quot;ts&quot;:1688672444703,&quot;cs&quot;:&quot;emtiOgOTHTvokzNfcDgV5A==&quot;,&quot;size&quot;:{&quot;width&quot;:166.5,&quot;height&quot;:27}}"/>
          <p:cNvPicPr preferRelativeResize="0"/>
          <p:nvPr/>
        </p:nvPicPr>
        <p:blipFill rotWithShape="1">
          <a:blip r:embed="rId8">
            <a:alphaModFix/>
          </a:blip>
          <a:srcRect l="33512" r="44779"/>
          <a:stretch/>
        </p:blipFill>
        <p:spPr>
          <a:xfrm>
            <a:off x="7769930" y="5722267"/>
            <a:ext cx="459033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 dirty="0"/>
              <a:t>Models in DS: Parametric Models</a:t>
            </a:r>
            <a:endParaRPr dirty="0"/>
          </a:p>
        </p:txBody>
      </p:sp>
      <p:sp>
        <p:nvSpPr>
          <p:cNvPr id="521" name="Google Shape;521;p5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11</a:t>
            </a:fld>
            <a:endParaRPr/>
          </a:p>
        </p:txBody>
      </p:sp>
      <p:pic>
        <p:nvPicPr>
          <p:cNvPr id="522" name="Google Shape;522;p52" title="[0,0,0,&quot;https://latex-staging.easygenerator.com/eqneditor/editor.php?latex=%5Chat%7B%5Ctheta%7D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533" y="5182933"/>
            <a:ext cx="254000" cy="592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52" title="[0,0,0,&quot;https://latex-staging.easygenerator.com/eqneditor/editor.php?latex=%5Ctheta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533" y="3987867"/>
            <a:ext cx="254000" cy="423333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52"/>
          <p:cNvSpPr txBox="1"/>
          <p:nvPr/>
        </p:nvSpPr>
        <p:spPr>
          <a:xfrm>
            <a:off x="870567" y="3921851"/>
            <a:ext cx="2710400" cy="74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1333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Model parameter(s)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5" name="Google Shape;525;p52"/>
          <p:cNvSpPr txBox="1"/>
          <p:nvPr/>
        </p:nvSpPr>
        <p:spPr>
          <a:xfrm>
            <a:off x="870567" y="5182934"/>
            <a:ext cx="3962000" cy="106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1333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Estimated parameter(s),</a:t>
            </a:r>
            <a:br>
              <a:rPr lang="en" sz="2133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“best” fit to data in some sense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6" name="Google Shape;526;p52"/>
          <p:cNvSpPr/>
          <p:nvPr/>
        </p:nvSpPr>
        <p:spPr>
          <a:xfrm>
            <a:off x="4736433" y="3833167"/>
            <a:ext cx="372400" cy="1044800"/>
          </a:xfrm>
          <a:prstGeom prst="rightBrace">
            <a:avLst>
              <a:gd name="adj1" fmla="val 50000"/>
              <a:gd name="adj2" fmla="val 39705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27" name="Google Shape;527;p52"/>
          <p:cNvSpPr txBox="1"/>
          <p:nvPr/>
        </p:nvSpPr>
        <p:spPr>
          <a:xfrm>
            <a:off x="8196167" y="3721934"/>
            <a:ext cx="3747200" cy="90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Any linear model with parameters 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8" name="Google Shape;528;p52"/>
          <p:cNvSpPr txBox="1"/>
          <p:nvPr/>
        </p:nvSpPr>
        <p:spPr>
          <a:xfrm>
            <a:off x="8196000" y="5284534"/>
            <a:ext cx="3747200" cy="90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The "best" fitting linear model with parameters 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9" name="Google Shape;529;p52"/>
          <p:cNvSpPr/>
          <p:nvPr/>
        </p:nvSpPr>
        <p:spPr>
          <a:xfrm>
            <a:off x="4766600" y="5323433"/>
            <a:ext cx="372400" cy="1044800"/>
          </a:xfrm>
          <a:prstGeom prst="rightBrace">
            <a:avLst>
              <a:gd name="adj1" fmla="val 50000"/>
              <a:gd name="adj2" fmla="val 43460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530" name="Google Shape;530;p52" descr="\hat{y} = \theta_0 + \theta_1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2300" y="3934768"/>
            <a:ext cx="2710400" cy="477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52" descr="\hat{y} = \hat{\theta_0} + \hat{\theta_1}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2300" y="5400936"/>
            <a:ext cx="2710400" cy="609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2" descr="\theta = [\theta_0, \theta_1]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87868" y="4199101"/>
            <a:ext cx="1683233" cy="396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52" descr="\hat{\theta} = [\hat{\theta_0}, \hat{\theta_1}]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07171" y="5690969"/>
            <a:ext cx="1683229" cy="4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52"/>
          <p:cNvSpPr txBox="1"/>
          <p:nvPr/>
        </p:nvSpPr>
        <p:spPr>
          <a:xfrm>
            <a:off x="241256" y="489767"/>
            <a:ext cx="11360800" cy="2523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133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Parametric models</a:t>
            </a:r>
            <a:r>
              <a:rPr lang="en" sz="2133" dirty="0">
                <a:solidFill>
                  <a:srgbClr val="0070C0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are described by a few </a:t>
            </a:r>
            <a:r>
              <a:rPr lang="en" sz="2133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parameters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No one tells us the parameters: the data informs us about them.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The          values are </a:t>
            </a:r>
            <a:r>
              <a:rPr lang="en" sz="2133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not</a:t>
            </a:r>
            <a:r>
              <a:rPr lang="en" sz="2133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parameters because we directly observe them.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Sample-based </a:t>
            </a:r>
            <a:r>
              <a:rPr lang="en" sz="2133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estimate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of parameter     is written as   .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Usually, we pick the parameters that appear "</a:t>
            </a:r>
            <a:r>
              <a:rPr lang="en" sz="2133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best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" according to some criterion we choose.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35" name="Google Shape;535;p52" descr="{&quot;code&quot;:&quot;$$x,y$$&quot;,&quot;id&quot;:&quot;26&quot;,&quot;font&quot;:{&quot;family&quot;:&quot;Roboto&quot;,&quot;size&quot;:16,&quot;color&quot;:&quot;#000000&quot;},&quot;backgroundColor&quot;:&quot;#FFFFFF&quot;,&quot;aid&quot;:null,&quot;type&quot;:&quot;$$&quot;,&quot;ts&quot;:1688673078336,&quot;cs&quot;:&quot;8fwiXoOp+Z1eMo4zNbmYQA==&quot;,&quot;size&quot;:{&quot;width&quot;:32,&quot;height&quot;:14.166666666666666}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69567" y="1567300"/>
            <a:ext cx="406400" cy="179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 descr="{&quot;id&quot;:&quot;27&quot;,&quot;code&quot;:&quot;$$\\theta$$&quot;,&quot;aid&quot;:null,&quot;type&quot;:&quot;$$&quot;,&quot;backgroundColor&quot;:&quot;#FFFFFF&quot;,&quot;font&quot;:{&quot;size&quot;:16,&quot;color&quot;:&quot;#000000&quot;,&quot;family&quot;:&quot;Roboto&quot;},&quot;ts&quot;:1688673132012,&quot;cs&quot;:&quot;biOeZPUC0VgIHBXapM9mDw==&quot;,&quot;size&quot;:{&quot;width&quot;:9.333333333333334,&quot;height&quot;:15.5}}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16111" y="1847040"/>
            <a:ext cx="118533" cy="19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52" descr="{&quot;aid&quot;:null,&quot;code&quot;:&quot;$$\\hat{\\theta}$$&quot;,&quot;id&quot;:&quot;27&quot;,&quot;type&quot;:&quot;$$&quot;,&quot;backgroundColor&quot;:&quot;#FFFFFF&quot;,&quot;font&quot;:{&quot;family&quot;:&quot;Roboto&quot;,&quot;size&quot;:16,&quot;color&quot;:&quot;#000000&quot;},&quot;ts&quot;:1688673206168,&quot;cs&quot;:&quot;i1l8rdb06fOkorDzUcSA4w==&quot;,&quot;size&quot;:{&quot;width&quot;:9.5,&quot;height&quot;:20.333333333333332}}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54320" y="1816341"/>
            <a:ext cx="120651" cy="258233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52"/>
          <p:cNvSpPr txBox="1"/>
          <p:nvPr/>
        </p:nvSpPr>
        <p:spPr>
          <a:xfrm>
            <a:off x="1704033" y="5672234"/>
            <a:ext cx="8310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539" name="Google Shape;539;p52"/>
          <p:cNvGrpSpPr/>
          <p:nvPr/>
        </p:nvGrpSpPr>
        <p:grpSpPr>
          <a:xfrm>
            <a:off x="6869123" y="736952"/>
            <a:ext cx="1790092" cy="312029"/>
            <a:chOff x="5390100" y="723463"/>
            <a:chExt cx="2749475" cy="586963"/>
          </a:xfrm>
        </p:grpSpPr>
        <p:pic>
          <p:nvPicPr>
            <p:cNvPr id="540" name="Google Shape;540;p52" descr="{&quot;code&quot;:&quot;$$\\left(\\theta_{0},\\theta_{1},\\theta,\\text{etc.}\\right)$$&quot;,&quot;id&quot;:&quot;25&quot;,&quot;type&quot;:&quot;$$&quot;,&quot;font&quot;:{&quot;family&quot;:&quot;Roboto&quot;,&quot;size&quot;:16,&quot;color&quot;:&quot;#000000&quot;},&quot;aid&quot;:null,&quot;backgroundColor&quot;:&quot;#FFFFFF&quot;,&quot;ts&quot;:1688673027286,&quot;cs&quot;:&quot;QtaPvkpQNudROyAM5+NBig==&quot;,&quot;size&quot;:{&quot;width&quot;:123.33333333333333,&quot;height&quot;:21.666666666666668}}"/>
            <p:cNvPicPr preferRelativeResize="0"/>
            <p:nvPr/>
          </p:nvPicPr>
          <p:blipFill rotWithShape="1">
            <a:blip r:embed="rId12">
              <a:alphaModFix/>
            </a:blip>
            <a:srcRect r="48456"/>
            <a:stretch/>
          </p:blipFill>
          <p:spPr>
            <a:xfrm>
              <a:off x="5390100" y="723475"/>
              <a:ext cx="1722150" cy="586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1" name="Google Shape;541;p52" descr="{&quot;code&quot;:&quot;$$\\left(\\theta_{0},\\theta_{1},\\theta,\\text{etc.}\\right)$$&quot;,&quot;id&quot;:&quot;25&quot;,&quot;type&quot;:&quot;$$&quot;,&quot;font&quot;:{&quot;family&quot;:&quot;Roboto&quot;,&quot;size&quot;:16,&quot;color&quot;:&quot;#000000&quot;},&quot;aid&quot;:null,&quot;backgroundColor&quot;:&quot;#FFFFFF&quot;,&quot;ts&quot;:1688673027286,&quot;cs&quot;:&quot;QtaPvkpQNudROyAM5+NBig==&quot;,&quot;size&quot;:{&quot;width&quot;:123.33333333333333,&quot;height&quot;:21.666666666666668}}"/>
            <p:cNvPicPr preferRelativeResize="0"/>
            <p:nvPr/>
          </p:nvPicPr>
          <p:blipFill rotWithShape="1">
            <a:blip r:embed="rId12">
              <a:alphaModFix/>
            </a:blip>
            <a:srcRect l="64839"/>
            <a:stretch/>
          </p:blipFill>
          <p:spPr>
            <a:xfrm>
              <a:off x="6964825" y="723463"/>
              <a:ext cx="1174750" cy="5869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 dirty="0"/>
              <a:t>Models in DS: Parametric Models</a:t>
            </a:r>
            <a:endParaRPr dirty="0"/>
          </a:p>
        </p:txBody>
      </p:sp>
      <p:sp>
        <p:nvSpPr>
          <p:cNvPr id="547" name="Google Shape;547;p5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12</a:t>
            </a:fld>
            <a:endParaRPr/>
          </a:p>
        </p:txBody>
      </p:sp>
      <p:pic>
        <p:nvPicPr>
          <p:cNvPr id="548" name="Google Shape;548;p53" title="[0,0,0,&quot;https://latex-staging.easygenerator.com/eqneditor/editor.php?latex=%5Chat%7B%5Ctheta%7D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533" y="5182933"/>
            <a:ext cx="254000" cy="592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53" title="[0,0,0,&quot;https://latex-staging.easygenerator.com/eqneditor/editor.php?latex=%5Ctheta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533" y="3987867"/>
            <a:ext cx="254000" cy="423333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53"/>
          <p:cNvSpPr txBox="1"/>
          <p:nvPr/>
        </p:nvSpPr>
        <p:spPr>
          <a:xfrm>
            <a:off x="870567" y="3921851"/>
            <a:ext cx="2710400" cy="74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1333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Model parameter(s)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51" name="Google Shape;551;p53"/>
          <p:cNvSpPr txBox="1"/>
          <p:nvPr/>
        </p:nvSpPr>
        <p:spPr>
          <a:xfrm>
            <a:off x="870567" y="5182934"/>
            <a:ext cx="3962000" cy="106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1333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Estimated parameter(s),</a:t>
            </a:r>
            <a:br>
              <a:rPr lang="en" sz="2133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“best” fit to data in some sense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52" name="Google Shape;552;p53"/>
          <p:cNvSpPr/>
          <p:nvPr/>
        </p:nvSpPr>
        <p:spPr>
          <a:xfrm>
            <a:off x="4736433" y="3833167"/>
            <a:ext cx="372400" cy="1044800"/>
          </a:xfrm>
          <a:prstGeom prst="rightBrace">
            <a:avLst>
              <a:gd name="adj1" fmla="val 50000"/>
              <a:gd name="adj2" fmla="val 39705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8196167" y="3721934"/>
            <a:ext cx="3747200" cy="90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Any linear model with parameters 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8196000" y="5284534"/>
            <a:ext cx="3747200" cy="90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The "best" fitting linear model with parameters 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55" name="Google Shape;555;p53"/>
          <p:cNvSpPr/>
          <p:nvPr/>
        </p:nvSpPr>
        <p:spPr>
          <a:xfrm>
            <a:off x="4766600" y="5323433"/>
            <a:ext cx="372400" cy="1044800"/>
          </a:xfrm>
          <a:prstGeom prst="rightBrace">
            <a:avLst>
              <a:gd name="adj1" fmla="val 50000"/>
              <a:gd name="adj2" fmla="val 43460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556" name="Google Shape;556;p53" descr="\hat{y} = \theta_0 + \theta_1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2300" y="3934768"/>
            <a:ext cx="2710400" cy="477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53" descr="\hat{y} = \hat{\theta_0} + \hat{\theta_1}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2300" y="5400936"/>
            <a:ext cx="2710400" cy="609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53" descr="\theta = [\theta_0, \theta_1]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87868" y="4199101"/>
            <a:ext cx="1683233" cy="396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53" descr="\hat{\theta} = [\hat{\theta_0}, \hat{\theta_1}]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07171" y="5690969"/>
            <a:ext cx="1683229" cy="4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53"/>
          <p:cNvSpPr txBox="1"/>
          <p:nvPr/>
        </p:nvSpPr>
        <p:spPr>
          <a:xfrm>
            <a:off x="157067" y="584167"/>
            <a:ext cx="11360800" cy="2523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133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Parametric models</a:t>
            </a:r>
            <a:r>
              <a:rPr lang="en" sz="2133" dirty="0">
                <a:solidFill>
                  <a:srgbClr val="0070C0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are described by a few </a:t>
            </a:r>
            <a:r>
              <a:rPr lang="en" sz="2133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parameters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No one tells us the parameters: the data informs us about them.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The          values are </a:t>
            </a:r>
            <a:r>
              <a:rPr lang="en" sz="2133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not</a:t>
            </a:r>
            <a:r>
              <a:rPr lang="en" sz="2133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parameters because we directly observe them.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Sample-based </a:t>
            </a:r>
            <a:r>
              <a:rPr lang="en" sz="2133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estimate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of parameter     is written as   .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Usually, we pick the parameters that appear "</a:t>
            </a:r>
            <a:r>
              <a:rPr lang="en" sz="2133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best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" according to some criterion we choose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61" name="Google Shape;561;p53" descr="{&quot;code&quot;:&quot;$$\\left(\\theta_{0},\\theta_{1},\\theta,\\text{etc.}\\right)$$&quot;,&quot;id&quot;:&quot;25&quot;,&quot;type&quot;:&quot;$$&quot;,&quot;font&quot;:{&quot;family&quot;:&quot;Roboto&quot;,&quot;size&quot;:16,&quot;color&quot;:&quot;#000000&quot;},&quot;aid&quot;:null,&quot;backgroundColor&quot;:&quot;#FFFFFF&quot;,&quot;ts&quot;:1688673027286,&quot;cs&quot;:&quot;QtaPvkpQNudROyAM5+NBig==&quot;,&quot;size&quot;:{&quot;width&quot;:123.33333333333333,&quot;height&quot;:21.666666666666668}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09367" y="732867"/>
            <a:ext cx="1566333" cy="275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53" descr="{&quot;code&quot;:&quot;$$x,y$$&quot;,&quot;id&quot;:&quot;26&quot;,&quot;font&quot;:{&quot;family&quot;:&quot;Roboto&quot;,&quot;size&quot;:16,&quot;color&quot;:&quot;#000000&quot;},&quot;backgroundColor&quot;:&quot;#FFFFFF&quot;,&quot;aid&quot;:null,&quot;type&quot;:&quot;$$&quot;,&quot;ts&quot;:1688673078336,&quot;cs&quot;:&quot;8fwiXoOp+Z1eMo4zNbmYQA==&quot;,&quot;size&quot;:{&quot;width&quot;:32,&quot;height&quot;:14.166666666666666}}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85509" y="1665921"/>
            <a:ext cx="406400" cy="179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53" descr="{&quot;id&quot;:&quot;27&quot;,&quot;code&quot;:&quot;$$\\theta$$&quot;,&quot;aid&quot;:null,&quot;type&quot;:&quot;$$&quot;,&quot;backgroundColor&quot;:&quot;#FFFFFF&quot;,&quot;font&quot;:{&quot;size&quot;:16,&quot;color&quot;:&quot;#000000&quot;,&quot;family&quot;:&quot;Roboto&quot;},&quot;ts&quot;:1688673132012,&quot;cs&quot;:&quot;biOeZPUC0VgIHBXapM9mDw==&quot;,&quot;size&quot;:{&quot;width&quot;:9.333333333333334,&quot;height&quot;:15.5}}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06782" y="1953576"/>
            <a:ext cx="118533" cy="19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53" descr="{&quot;aid&quot;:null,&quot;code&quot;:&quot;$$\\hat{\\theta}$$&quot;,&quot;id&quot;:&quot;27&quot;,&quot;type&quot;:&quot;$$&quot;,&quot;backgroundColor&quot;:&quot;#FFFFFF&quot;,&quot;font&quot;:{&quot;family&quot;:&quot;Roboto&quot;,&quot;size&quot;:16,&quot;color&quot;:&quot;#000000&quot;},&quot;ts&quot;:1688673206168,&quot;cs&quot;:&quot;i1l8rdb06fOkorDzUcSA4w==&quot;,&quot;size&quot;:{&quot;width&quot;:9.5,&quot;height&quot;:20.333333333333332}}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186813" y="1922877"/>
            <a:ext cx="120651" cy="258233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53"/>
          <p:cNvSpPr txBox="1"/>
          <p:nvPr/>
        </p:nvSpPr>
        <p:spPr>
          <a:xfrm>
            <a:off x="1704033" y="5672234"/>
            <a:ext cx="8310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66" name="Google Shape;566;p53"/>
          <p:cNvSpPr txBox="1"/>
          <p:nvPr/>
        </p:nvSpPr>
        <p:spPr>
          <a:xfrm>
            <a:off x="2793867" y="2817733"/>
            <a:ext cx="6087200" cy="1562000"/>
          </a:xfrm>
          <a:prstGeom prst="rect">
            <a:avLst/>
          </a:prstGeom>
          <a:solidFill>
            <a:srgbClr val="FDF6E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2133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Not all statistical models have parameters! 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k-Nearest Neighbor classifiers are non-parametric models.</a:t>
            </a:r>
            <a:endParaRPr dirty="0"/>
          </a:p>
          <a:p>
            <a:pPr>
              <a:spcBef>
                <a:spcPts val="1067"/>
              </a:spcBef>
              <a:spcAft>
                <a:spcPts val="0"/>
              </a:spcAft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The Modeling Process</a:t>
            </a:r>
            <a:endParaRPr/>
          </a:p>
        </p:txBody>
      </p:sp>
      <p:sp>
        <p:nvSpPr>
          <p:cNvPr id="572" name="Google Shape;572;p5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13</a:t>
            </a:fld>
            <a:endParaRPr/>
          </a:p>
        </p:txBody>
      </p:sp>
      <p:grpSp>
        <p:nvGrpSpPr>
          <p:cNvPr id="573" name="Google Shape;573;p54"/>
          <p:cNvGrpSpPr/>
          <p:nvPr/>
        </p:nvGrpSpPr>
        <p:grpSpPr>
          <a:xfrm>
            <a:off x="767733" y="2675004"/>
            <a:ext cx="2654800" cy="4071533"/>
            <a:chOff x="141000" y="1663350"/>
            <a:chExt cx="1991100" cy="3053650"/>
          </a:xfrm>
        </p:grpSpPr>
        <p:sp>
          <p:nvSpPr>
            <p:cNvPr id="574" name="Google Shape;574;p54"/>
            <p:cNvSpPr/>
            <p:nvPr/>
          </p:nvSpPr>
          <p:spPr>
            <a:xfrm>
              <a:off x="141000" y="1663350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2. Choose a loss function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5" name="Google Shape;575;p54"/>
            <p:cNvSpPr/>
            <p:nvPr/>
          </p:nvSpPr>
          <p:spPr>
            <a:xfrm>
              <a:off x="141000" y="2778875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3. Fit the model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6" name="Google Shape;576;p54"/>
            <p:cNvSpPr/>
            <p:nvPr/>
          </p:nvSpPr>
          <p:spPr>
            <a:xfrm>
              <a:off x="141000" y="3894400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4. Evaluate model performance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80" name="Google Shape;580;p54"/>
          <p:cNvSpPr/>
          <p:nvPr/>
        </p:nvSpPr>
        <p:spPr>
          <a:xfrm>
            <a:off x="767733" y="1187637"/>
            <a:ext cx="2654800" cy="1096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Choose a model</a:t>
            </a:r>
            <a:endParaRPr sz="2133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577;p54">
            <a:extLst>
              <a:ext uri="{FF2B5EF4-FFF2-40B4-BE49-F238E27FC236}">
                <a16:creationId xmlns:a16="http://schemas.microsoft.com/office/drawing/2014/main" id="{862FC07A-2594-EF74-32F7-007A192CE7FB}"/>
              </a:ext>
            </a:extLst>
          </p:cNvPr>
          <p:cNvSpPr txBox="1">
            <a:spLocks/>
          </p:cNvSpPr>
          <p:nvPr/>
        </p:nvSpPr>
        <p:spPr bwMode="auto">
          <a:xfrm>
            <a:off x="3816998" y="2511347"/>
            <a:ext cx="3091045" cy="1096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>
                <a:latin typeface="+mn-lt"/>
              </a:rPr>
              <a:t>How do we quantify prediction error?</a:t>
            </a:r>
            <a:endParaRPr lang="en-US" sz="2000" dirty="0">
              <a:latin typeface="+mn-lt"/>
            </a:endParaRPr>
          </a:p>
        </p:txBody>
      </p:sp>
      <p:sp>
        <p:nvSpPr>
          <p:cNvPr id="3" name="Google Shape;578;p54">
            <a:extLst>
              <a:ext uri="{FF2B5EF4-FFF2-40B4-BE49-F238E27FC236}">
                <a16:creationId xmlns:a16="http://schemas.microsoft.com/office/drawing/2014/main" id="{C411CAE7-4431-362C-F3F7-60E789EB1B9B}"/>
              </a:ext>
            </a:extLst>
          </p:cNvPr>
          <p:cNvSpPr txBox="1">
            <a:spLocks/>
          </p:cNvSpPr>
          <p:nvPr/>
        </p:nvSpPr>
        <p:spPr bwMode="auto">
          <a:xfrm>
            <a:off x="3858419" y="4000422"/>
            <a:ext cx="3821112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>
                <a:latin typeface="+mn-lt"/>
              </a:rPr>
              <a:t>How do we choose the best parameters of our model given our data?</a:t>
            </a:r>
            <a:endParaRPr lang="en-US" sz="2000" dirty="0">
              <a:latin typeface="+mn-lt"/>
            </a:endParaRPr>
          </a:p>
        </p:txBody>
      </p:sp>
      <p:sp>
        <p:nvSpPr>
          <p:cNvPr id="4" name="Google Shape;579;p54">
            <a:extLst>
              <a:ext uri="{FF2B5EF4-FFF2-40B4-BE49-F238E27FC236}">
                <a16:creationId xmlns:a16="http://schemas.microsoft.com/office/drawing/2014/main" id="{EAB04B34-D461-7D5D-6B6E-5E5C1F4C6543}"/>
              </a:ext>
            </a:extLst>
          </p:cNvPr>
          <p:cNvSpPr txBox="1">
            <a:spLocks/>
          </p:cNvSpPr>
          <p:nvPr/>
        </p:nvSpPr>
        <p:spPr bwMode="auto">
          <a:xfrm>
            <a:off x="3858420" y="5495668"/>
            <a:ext cx="3630056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>
                <a:latin typeface="+mn-lt"/>
              </a:rPr>
              <a:t>How do we evaluate whether this process gave rise to a good model?</a:t>
            </a:r>
            <a:endParaRPr lang="en-US" sz="2000" dirty="0">
              <a:latin typeface="+mn-lt"/>
            </a:endParaRPr>
          </a:p>
        </p:txBody>
      </p:sp>
      <p:sp>
        <p:nvSpPr>
          <p:cNvPr id="5" name="Google Shape;581;p54">
            <a:extLst>
              <a:ext uri="{FF2B5EF4-FFF2-40B4-BE49-F238E27FC236}">
                <a16:creationId xmlns:a16="http://schemas.microsoft.com/office/drawing/2014/main" id="{8F5BDD13-07A5-0A0C-9150-6D9A7F346DD4}"/>
              </a:ext>
            </a:extLst>
          </p:cNvPr>
          <p:cNvSpPr txBox="1"/>
          <p:nvPr/>
        </p:nvSpPr>
        <p:spPr>
          <a:xfrm>
            <a:off x="3816998" y="1479637"/>
            <a:ext cx="5029200" cy="67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000" dirty="0">
                <a:solidFill>
                  <a:schemeClr val="dk1"/>
                </a:solidFill>
                <a:latin typeface="+mn-lt"/>
                <a:ea typeface="Roboto Light"/>
                <a:cs typeface="Roboto Light"/>
                <a:sym typeface="Roboto Light"/>
              </a:rPr>
              <a:t>How should we represent the world?</a:t>
            </a:r>
            <a:endParaRPr sz="1600" dirty="0">
              <a:latin typeface="+mn-l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The Modeling Process</a:t>
            </a:r>
            <a:endParaRPr/>
          </a:p>
        </p:txBody>
      </p:sp>
      <p:sp>
        <p:nvSpPr>
          <p:cNvPr id="572" name="Google Shape;572;p5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14</a:t>
            </a:fld>
            <a:endParaRPr/>
          </a:p>
        </p:txBody>
      </p:sp>
      <p:grpSp>
        <p:nvGrpSpPr>
          <p:cNvPr id="573" name="Google Shape;573;p54"/>
          <p:cNvGrpSpPr/>
          <p:nvPr/>
        </p:nvGrpSpPr>
        <p:grpSpPr>
          <a:xfrm>
            <a:off x="767733" y="2675004"/>
            <a:ext cx="2654800" cy="4071533"/>
            <a:chOff x="141000" y="1663350"/>
            <a:chExt cx="1991100" cy="3053650"/>
          </a:xfrm>
        </p:grpSpPr>
        <p:sp>
          <p:nvSpPr>
            <p:cNvPr id="574" name="Google Shape;574;p54"/>
            <p:cNvSpPr/>
            <p:nvPr/>
          </p:nvSpPr>
          <p:spPr>
            <a:xfrm>
              <a:off x="141000" y="1663350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2. Choose a loss function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5" name="Google Shape;575;p54"/>
            <p:cNvSpPr/>
            <p:nvPr/>
          </p:nvSpPr>
          <p:spPr>
            <a:xfrm>
              <a:off x="141000" y="2778875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3. Fit the model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6" name="Google Shape;576;p54"/>
            <p:cNvSpPr/>
            <p:nvPr/>
          </p:nvSpPr>
          <p:spPr>
            <a:xfrm>
              <a:off x="141000" y="3894400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4. Evaluate model performance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80" name="Google Shape;580;p54"/>
          <p:cNvSpPr/>
          <p:nvPr/>
        </p:nvSpPr>
        <p:spPr>
          <a:xfrm>
            <a:off x="767733" y="1187637"/>
            <a:ext cx="2654800" cy="1096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Choose a model</a:t>
            </a:r>
            <a:endParaRPr sz="2133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577;p54">
            <a:extLst>
              <a:ext uri="{FF2B5EF4-FFF2-40B4-BE49-F238E27FC236}">
                <a16:creationId xmlns:a16="http://schemas.microsoft.com/office/drawing/2014/main" id="{862FC07A-2594-EF74-32F7-007A192CE7FB}"/>
              </a:ext>
            </a:extLst>
          </p:cNvPr>
          <p:cNvSpPr txBox="1">
            <a:spLocks/>
          </p:cNvSpPr>
          <p:nvPr/>
        </p:nvSpPr>
        <p:spPr bwMode="auto">
          <a:xfrm>
            <a:off x="3816998" y="2511347"/>
            <a:ext cx="3091045" cy="1096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>
                <a:latin typeface="+mn-lt"/>
              </a:rPr>
              <a:t>How do we quantify prediction error?</a:t>
            </a:r>
            <a:endParaRPr lang="en-US" sz="2000" dirty="0">
              <a:latin typeface="+mn-lt"/>
            </a:endParaRPr>
          </a:p>
        </p:txBody>
      </p:sp>
      <p:sp>
        <p:nvSpPr>
          <p:cNvPr id="3" name="Google Shape;578;p54">
            <a:extLst>
              <a:ext uri="{FF2B5EF4-FFF2-40B4-BE49-F238E27FC236}">
                <a16:creationId xmlns:a16="http://schemas.microsoft.com/office/drawing/2014/main" id="{C411CAE7-4431-362C-F3F7-60E789EB1B9B}"/>
              </a:ext>
            </a:extLst>
          </p:cNvPr>
          <p:cNvSpPr txBox="1">
            <a:spLocks/>
          </p:cNvSpPr>
          <p:nvPr/>
        </p:nvSpPr>
        <p:spPr bwMode="auto">
          <a:xfrm>
            <a:off x="3858419" y="4000422"/>
            <a:ext cx="3821112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>
                <a:latin typeface="+mn-lt"/>
              </a:rPr>
              <a:t>How do we choose the best parameters of our model given our data?</a:t>
            </a:r>
            <a:endParaRPr lang="en-US" sz="2000" dirty="0">
              <a:latin typeface="+mn-lt"/>
            </a:endParaRPr>
          </a:p>
        </p:txBody>
      </p:sp>
      <p:sp>
        <p:nvSpPr>
          <p:cNvPr id="4" name="Google Shape;579;p54">
            <a:extLst>
              <a:ext uri="{FF2B5EF4-FFF2-40B4-BE49-F238E27FC236}">
                <a16:creationId xmlns:a16="http://schemas.microsoft.com/office/drawing/2014/main" id="{EAB04B34-D461-7D5D-6B6E-5E5C1F4C6543}"/>
              </a:ext>
            </a:extLst>
          </p:cNvPr>
          <p:cNvSpPr txBox="1">
            <a:spLocks/>
          </p:cNvSpPr>
          <p:nvPr/>
        </p:nvSpPr>
        <p:spPr bwMode="auto">
          <a:xfrm>
            <a:off x="3858420" y="5495668"/>
            <a:ext cx="3630056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>
                <a:latin typeface="+mn-lt"/>
              </a:rPr>
              <a:t>How do we evaluate whether this process gave rise to a good model?</a:t>
            </a:r>
            <a:endParaRPr lang="en-US" sz="2000" dirty="0">
              <a:latin typeface="+mn-lt"/>
            </a:endParaRPr>
          </a:p>
        </p:txBody>
      </p:sp>
      <p:sp>
        <p:nvSpPr>
          <p:cNvPr id="5" name="Google Shape;581;p54">
            <a:extLst>
              <a:ext uri="{FF2B5EF4-FFF2-40B4-BE49-F238E27FC236}">
                <a16:creationId xmlns:a16="http://schemas.microsoft.com/office/drawing/2014/main" id="{8F5BDD13-07A5-0A0C-9150-6D9A7F346DD4}"/>
              </a:ext>
            </a:extLst>
          </p:cNvPr>
          <p:cNvSpPr txBox="1"/>
          <p:nvPr/>
        </p:nvSpPr>
        <p:spPr>
          <a:xfrm>
            <a:off x="3816998" y="1479637"/>
            <a:ext cx="5029200" cy="67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000" b="1" dirty="0">
                <a:solidFill>
                  <a:schemeClr val="dk1"/>
                </a:solidFill>
                <a:latin typeface="+mn-lt"/>
                <a:ea typeface="Roboto Light"/>
                <a:cs typeface="Roboto Light"/>
                <a:sym typeface="Roboto Light"/>
              </a:rPr>
              <a:t>How should we represent the world?</a:t>
            </a:r>
            <a:endParaRPr sz="1600" b="1" dirty="0">
              <a:latin typeface="+mn-l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3959392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Simple Linear Regression: Our First Model</a:t>
            </a:r>
            <a:endParaRPr/>
          </a:p>
        </p:txBody>
      </p:sp>
      <p:sp>
        <p:nvSpPr>
          <p:cNvPr id="596" name="Google Shape;596;p5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15</a:t>
            </a:fld>
            <a:endParaRPr/>
          </a:p>
        </p:txBody>
      </p:sp>
      <p:sp>
        <p:nvSpPr>
          <p:cNvPr id="594" name="Google Shape;594;p56"/>
          <p:cNvSpPr txBox="1">
            <a:spLocks noGrp="1"/>
          </p:cNvSpPr>
          <p:nvPr>
            <p:ph type="body" idx="4294967295"/>
          </p:nvPr>
        </p:nvSpPr>
        <p:spPr>
          <a:xfrm>
            <a:off x="0" y="536575"/>
            <a:ext cx="11360150" cy="4554538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dirty="0">
              <a:solidFill>
                <a:schemeClr val="dk2"/>
              </a:solidFill>
            </a:endParaRPr>
          </a:p>
          <a:p>
            <a:pPr marL="0" indent="0">
              <a:buNone/>
            </a:pPr>
            <a:endParaRPr dirty="0">
              <a:solidFill>
                <a:schemeClr val="dk2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dk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Simple Linear Regression</a:t>
            </a:r>
            <a:r>
              <a:rPr lang="en-US" dirty="0"/>
              <a:t> Model (SLR)</a:t>
            </a:r>
            <a:endParaRPr dirty="0">
              <a:solidFill>
                <a:schemeClr val="dk2"/>
              </a:solidFill>
            </a:endParaRPr>
          </a:p>
          <a:p>
            <a:pPr marL="0" indent="0">
              <a:buNone/>
            </a:pPr>
            <a:r>
              <a:rPr lang="en" dirty="0"/>
              <a:t>SLR is a </a:t>
            </a:r>
            <a:r>
              <a:rPr lang="en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parametric model</a:t>
            </a:r>
            <a:r>
              <a:rPr lang="en" dirty="0"/>
              <a:t>, meaning</a:t>
            </a:r>
            <a:br>
              <a:rPr lang="en" dirty="0"/>
            </a:br>
            <a:r>
              <a:rPr lang="en" dirty="0"/>
              <a:t>we choose the “best” </a:t>
            </a:r>
            <a:r>
              <a:rPr lang="en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parameters</a:t>
            </a:r>
            <a:br>
              <a:rPr lang="en" dirty="0"/>
            </a:br>
            <a:r>
              <a:rPr lang="en" dirty="0"/>
              <a:t>for slope and intercept based on data.</a:t>
            </a:r>
            <a:endParaRPr dirty="0"/>
          </a:p>
        </p:txBody>
      </p:sp>
      <p:grpSp>
        <p:nvGrpSpPr>
          <p:cNvPr id="597" name="Google Shape;597;p56"/>
          <p:cNvGrpSpPr/>
          <p:nvPr/>
        </p:nvGrpSpPr>
        <p:grpSpPr>
          <a:xfrm>
            <a:off x="145416" y="4578202"/>
            <a:ext cx="10653200" cy="1005235"/>
            <a:chOff x="109062" y="3662250"/>
            <a:chExt cx="7989900" cy="753926"/>
          </a:xfrm>
        </p:grpSpPr>
        <p:sp>
          <p:nvSpPr>
            <p:cNvPr id="598" name="Google Shape;598;p56"/>
            <p:cNvSpPr txBox="1"/>
            <p:nvPr/>
          </p:nvSpPr>
          <p:spPr>
            <a:xfrm>
              <a:off x="109062" y="3662250"/>
              <a:ext cx="7989900" cy="7539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marL="609585" indent="-440256"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Roboto Light"/>
                <a:buChar char="●"/>
              </a:pPr>
              <a:r>
                <a:rPr lang="en" sz="2133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Note that the true relationship between     and       is usually non-linear.</a:t>
              </a:r>
              <a:br>
                <a:rPr lang="en" sz="2133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</a:br>
              <a:r>
                <a:rPr lang="en" sz="2133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This is why      (and not    ) appears in our </a:t>
              </a:r>
              <a:r>
                <a:rPr lang="en" sz="2133" b="1" dirty="0">
                  <a:solidFill>
                    <a:srgbClr val="0070C0"/>
                  </a:solidFill>
                  <a:latin typeface="Roboto"/>
                  <a:ea typeface="Roboto"/>
                  <a:cs typeface="Roboto"/>
                  <a:sym typeface="Roboto"/>
                </a:rPr>
                <a:t>estimated</a:t>
              </a:r>
              <a:r>
                <a:rPr lang="en" sz="2133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linear model</a:t>
              </a:r>
              <a:r>
                <a:rPr lang="en" sz="2133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expression. </a:t>
              </a:r>
              <a:endParaRPr dirty="0"/>
            </a:p>
          </p:txBody>
        </p:sp>
        <p:pic>
          <p:nvPicPr>
            <p:cNvPr id="599" name="Google Shape;599;p56" title="[0,0,0,&quot;https://latex-staging.easygenerator.com/eqneditor/editor.php?latex=%5Chat%7By%7D#0&quot;]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41775" y="4079584"/>
              <a:ext cx="114300" cy="222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0" name="Google Shape;600;p56" title="[0,0,0,&quot;https://latex-staging.easygenerator.com/eqneditor/editor.php?latex=x#0&quot;]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77276" y="3895902"/>
              <a:ext cx="114300" cy="1052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1" name="Google Shape;601;p56" title="[0,0,0,&quot;https://latex-staging.easygenerator.com/eqneditor/editor.php?latex=y#0&quot;]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729524" y="4110701"/>
              <a:ext cx="114300" cy="1600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2" name="Google Shape;602;p56" title="[0,0,0,&quot;https://latex-staging.easygenerator.com/eqneditor/editor.php?latex=y#0&quot;]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9887" y="3880629"/>
              <a:ext cx="114300" cy="1600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3" name="Google Shape;603;p56"/>
          <p:cNvGrpSpPr/>
          <p:nvPr/>
        </p:nvGrpSpPr>
        <p:grpSpPr>
          <a:xfrm>
            <a:off x="426045" y="3598667"/>
            <a:ext cx="11045230" cy="3223044"/>
            <a:chOff x="312875" y="2698999"/>
            <a:chExt cx="8283923" cy="2417282"/>
          </a:xfrm>
        </p:grpSpPr>
        <p:sp>
          <p:nvSpPr>
            <p:cNvPr id="604" name="Google Shape;604;p56"/>
            <p:cNvSpPr txBox="1"/>
            <p:nvPr/>
          </p:nvSpPr>
          <p:spPr>
            <a:xfrm>
              <a:off x="312875" y="4362355"/>
              <a:ext cx="5234400" cy="7539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marL="609585" indent="-440256"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Roboto Light"/>
                <a:buChar char="●"/>
              </a:pPr>
              <a:r>
                <a:rPr lang="en" sz="2133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We often express     as a single parameter vector. </a:t>
              </a:r>
              <a:endParaRPr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  <a:p>
              <a:pPr marL="609585" indent="-440256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Roboto Light"/>
                <a:buChar char="●"/>
              </a:pPr>
              <a:r>
                <a:rPr lang="en" sz="2133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   is </a:t>
              </a:r>
              <a:r>
                <a:rPr lang="en" sz="2133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not</a:t>
              </a:r>
              <a:r>
                <a:rPr lang="en" sz="2133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a parameter! It is input to our model.</a:t>
              </a:r>
              <a:endParaRPr dirty="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05" name="Google Shape;605;p56"/>
            <p:cNvSpPr/>
            <p:nvPr/>
          </p:nvSpPr>
          <p:spPr>
            <a:xfrm>
              <a:off x="5996350" y="2698999"/>
              <a:ext cx="1865400" cy="586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/>
            </a:p>
          </p:txBody>
        </p:sp>
        <p:sp>
          <p:nvSpPr>
            <p:cNvPr id="606" name="Google Shape;606;p56"/>
            <p:cNvSpPr txBox="1"/>
            <p:nvPr/>
          </p:nvSpPr>
          <p:spPr>
            <a:xfrm>
              <a:off x="5996350" y="2776549"/>
              <a:ext cx="812700" cy="430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>
                  <a:latin typeface="Roboto Light"/>
                  <a:ea typeface="Roboto Light"/>
                  <a:cs typeface="Roboto Light"/>
                  <a:sym typeface="Roboto Light"/>
                </a:rPr>
                <a:t>SLR</a:t>
              </a:r>
              <a:endParaRPr sz="2133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cxnSp>
          <p:nvCxnSpPr>
            <p:cNvPr id="607" name="Google Shape;607;p56"/>
            <p:cNvCxnSpPr>
              <a:stCxn id="608" idx="3"/>
              <a:endCxn id="606" idx="1"/>
            </p:cNvCxnSpPr>
            <p:nvPr/>
          </p:nvCxnSpPr>
          <p:spPr>
            <a:xfrm flipV="1">
              <a:off x="5540050" y="2991953"/>
              <a:ext cx="456300" cy="145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09" name="Google Shape;609;p56"/>
            <p:cNvCxnSpPr>
              <a:stCxn id="605" idx="3"/>
              <a:endCxn id="610" idx="1"/>
            </p:cNvCxnSpPr>
            <p:nvPr/>
          </p:nvCxnSpPr>
          <p:spPr>
            <a:xfrm>
              <a:off x="7861750" y="2992099"/>
              <a:ext cx="456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611" name="Google Shape;611;p56" title="[0,0,0,&quot;https://latex-staging.easygenerator.com/eqneditor/editor.php?latex=x#0&quot;]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261300" y="2898900"/>
              <a:ext cx="202425" cy="186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2" name="Google Shape;612;p56" title="[0,0,0,&quot;https://latex-staging.easygenerator.com/eqneditor/editor.php?latex=%5Chat%7By%7D#0&quot;]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394375" y="2795299"/>
              <a:ext cx="202423" cy="39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3" name="Google Shape;613;p56" title="[0,0,0,&quot;https://latex-staging.easygenerator.com/eqneditor/editor.php?latex=x#0&quot;]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87694" y="4839980"/>
              <a:ext cx="114300" cy="105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4" name="Google Shape;614;p56" title="[0,0,0,&quot;https://latex-staging.easygenerator.com/eqneditor/editor.php?latex=%5Ctheta#0&quot;]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475276" y="4552858"/>
              <a:ext cx="114300" cy="190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5" name="Google Shape;615;p56" descr="\theta = [\theta_0, \theta_1] \in \mathbb{R}^2"/>
          <p:cNvPicPr preferRelativeResize="0"/>
          <p:nvPr/>
        </p:nvPicPr>
        <p:blipFill rotWithShape="1">
          <a:blip r:embed="rId7">
            <a:alphaModFix/>
          </a:blip>
          <a:srcRect r="29473"/>
          <a:stretch/>
        </p:blipFill>
        <p:spPr>
          <a:xfrm>
            <a:off x="8780733" y="3763167"/>
            <a:ext cx="1561267" cy="40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53EA114-E52A-8B5E-2AB4-822B6F91B5FA}"/>
              </a:ext>
            </a:extLst>
          </p:cNvPr>
          <p:cNvGrpSpPr/>
          <p:nvPr/>
        </p:nvGrpSpPr>
        <p:grpSpPr>
          <a:xfrm>
            <a:off x="3522899" y="1133816"/>
            <a:ext cx="3542000" cy="1015200"/>
            <a:chOff x="2723908" y="1542189"/>
            <a:chExt cx="3542000" cy="1015200"/>
          </a:xfrm>
        </p:grpSpPr>
        <p:sp>
          <p:nvSpPr>
            <p:cNvPr id="621" name="Google Shape;621;p56"/>
            <p:cNvSpPr/>
            <p:nvPr/>
          </p:nvSpPr>
          <p:spPr>
            <a:xfrm>
              <a:off x="2723908" y="1542189"/>
              <a:ext cx="3542000" cy="10152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/>
            </a:p>
          </p:txBody>
        </p:sp>
        <p:pic>
          <p:nvPicPr>
            <p:cNvPr id="622" name="Google Shape;622;p56" descr="\hat{y} = \theta_0 + \theta_1 x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811434" y="1822318"/>
              <a:ext cx="3366948" cy="59266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The Modeling Process</a:t>
            </a:r>
            <a:endParaRPr/>
          </a:p>
        </p:txBody>
      </p:sp>
      <p:sp>
        <p:nvSpPr>
          <p:cNvPr id="572" name="Google Shape;572;p5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16</a:t>
            </a:fld>
            <a:endParaRPr/>
          </a:p>
        </p:txBody>
      </p:sp>
      <p:sp>
        <p:nvSpPr>
          <p:cNvPr id="577" name="Google Shape;577;p54"/>
          <p:cNvSpPr txBox="1">
            <a:spLocks noGrp="1"/>
          </p:cNvSpPr>
          <p:nvPr>
            <p:ph type="body" idx="4294967295"/>
          </p:nvPr>
        </p:nvSpPr>
        <p:spPr>
          <a:xfrm>
            <a:off x="3816998" y="2511347"/>
            <a:ext cx="3091045" cy="1096962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000" b="1" dirty="0">
                <a:latin typeface="+mn-lt"/>
              </a:rPr>
              <a:t>How do we quantify prediction error?</a:t>
            </a:r>
            <a:endParaRPr sz="2000" b="1" dirty="0">
              <a:latin typeface="+mn-lt"/>
            </a:endParaRPr>
          </a:p>
        </p:txBody>
      </p:sp>
      <p:sp>
        <p:nvSpPr>
          <p:cNvPr id="578" name="Google Shape;578;p54"/>
          <p:cNvSpPr txBox="1">
            <a:spLocks noGrp="1"/>
          </p:cNvSpPr>
          <p:nvPr>
            <p:ph type="body" idx="4294967295"/>
          </p:nvPr>
        </p:nvSpPr>
        <p:spPr>
          <a:xfrm>
            <a:off x="3858419" y="4000422"/>
            <a:ext cx="3821112" cy="1096963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000" dirty="0">
                <a:latin typeface="+mn-lt"/>
              </a:rPr>
              <a:t>How do we choose the best parameters of our model given our data?</a:t>
            </a:r>
            <a:endParaRPr sz="2000" dirty="0">
              <a:latin typeface="+mn-lt"/>
            </a:endParaRPr>
          </a:p>
        </p:txBody>
      </p:sp>
      <p:sp>
        <p:nvSpPr>
          <p:cNvPr id="579" name="Google Shape;579;p54"/>
          <p:cNvSpPr txBox="1">
            <a:spLocks noGrp="1"/>
          </p:cNvSpPr>
          <p:nvPr>
            <p:ph type="body" idx="4294967295"/>
          </p:nvPr>
        </p:nvSpPr>
        <p:spPr>
          <a:xfrm>
            <a:off x="3858420" y="5495668"/>
            <a:ext cx="3630056" cy="1095375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000" dirty="0">
                <a:latin typeface="+mn-lt"/>
              </a:rPr>
              <a:t>How do we evaluate whether this process gave rise to a good model?</a:t>
            </a:r>
            <a:endParaRPr sz="2000" dirty="0">
              <a:latin typeface="+mn-lt"/>
            </a:endParaRPr>
          </a:p>
        </p:txBody>
      </p:sp>
      <p:grpSp>
        <p:nvGrpSpPr>
          <p:cNvPr id="573" name="Google Shape;573;p54"/>
          <p:cNvGrpSpPr/>
          <p:nvPr/>
        </p:nvGrpSpPr>
        <p:grpSpPr>
          <a:xfrm>
            <a:off x="767733" y="2675004"/>
            <a:ext cx="2654800" cy="4071533"/>
            <a:chOff x="141000" y="1663350"/>
            <a:chExt cx="1991100" cy="3053650"/>
          </a:xfrm>
        </p:grpSpPr>
        <p:sp>
          <p:nvSpPr>
            <p:cNvPr id="574" name="Google Shape;574;p54"/>
            <p:cNvSpPr/>
            <p:nvPr/>
          </p:nvSpPr>
          <p:spPr>
            <a:xfrm>
              <a:off x="141000" y="1663350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2. Choose a loss function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5" name="Google Shape;575;p54"/>
            <p:cNvSpPr/>
            <p:nvPr/>
          </p:nvSpPr>
          <p:spPr>
            <a:xfrm>
              <a:off x="141000" y="2778875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3. Fit the model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6" name="Google Shape;576;p54"/>
            <p:cNvSpPr/>
            <p:nvPr/>
          </p:nvSpPr>
          <p:spPr>
            <a:xfrm>
              <a:off x="141000" y="3894400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4. Evaluate model performance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80" name="Google Shape;580;p54"/>
          <p:cNvSpPr/>
          <p:nvPr/>
        </p:nvSpPr>
        <p:spPr>
          <a:xfrm>
            <a:off x="767733" y="1187637"/>
            <a:ext cx="2654800" cy="1096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Choose a model</a:t>
            </a:r>
            <a:endParaRPr sz="2133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54"/>
          <p:cNvSpPr txBox="1"/>
          <p:nvPr/>
        </p:nvSpPr>
        <p:spPr>
          <a:xfrm>
            <a:off x="3816998" y="1479637"/>
            <a:ext cx="5029200" cy="67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000" dirty="0">
                <a:solidFill>
                  <a:schemeClr val="dk1"/>
                </a:solidFill>
                <a:latin typeface="+mn-lt"/>
                <a:ea typeface="Roboto Light"/>
                <a:cs typeface="Roboto Light"/>
                <a:sym typeface="Roboto Light"/>
              </a:rPr>
              <a:t>How should we represent the world?</a:t>
            </a:r>
            <a:endParaRPr sz="1600" dirty="0">
              <a:latin typeface="+mn-lt"/>
              <a:ea typeface="Roboto Light"/>
              <a:cs typeface="Roboto Light"/>
              <a:sym typeface="Roboto Light"/>
            </a:endParaRPr>
          </a:p>
        </p:txBody>
      </p:sp>
      <p:sp>
        <p:nvSpPr>
          <p:cNvPr id="2" name="Google Shape;636;p57">
            <a:extLst>
              <a:ext uri="{FF2B5EF4-FFF2-40B4-BE49-F238E27FC236}">
                <a16:creationId xmlns:a16="http://schemas.microsoft.com/office/drawing/2014/main" id="{3C76D58A-81DC-182B-7E6C-E176FDFF48E7}"/>
              </a:ext>
            </a:extLst>
          </p:cNvPr>
          <p:cNvSpPr txBox="1"/>
          <p:nvPr/>
        </p:nvSpPr>
        <p:spPr>
          <a:xfrm>
            <a:off x="12196518" y="805137"/>
            <a:ext cx="17496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000">
                <a:latin typeface="Roboto Light"/>
                <a:ea typeface="Roboto Light"/>
                <a:cs typeface="Roboto Light"/>
                <a:sym typeface="Roboto Light"/>
              </a:rPr>
              <a:t>SLR model</a:t>
            </a:r>
            <a:endParaRPr sz="20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" name="Google Shape;639;p57" descr="\hat{y} = \theta_0 + \theta_1 x">
            <a:extLst>
              <a:ext uri="{FF2B5EF4-FFF2-40B4-BE49-F238E27FC236}">
                <a16:creationId xmlns:a16="http://schemas.microsoft.com/office/drawing/2014/main" id="{FF6B00A7-B247-C1C8-1C68-ADF957719F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9764" y="1479637"/>
            <a:ext cx="3366948" cy="592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3173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 dirty="0"/>
              <a:t>Which     is best?</a:t>
            </a:r>
            <a:endParaRPr dirty="0"/>
          </a:p>
        </p:txBody>
      </p:sp>
      <p:sp>
        <p:nvSpPr>
          <p:cNvPr id="674" name="Google Shape;674;p6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17</a:t>
            </a:fld>
            <a:endParaRPr/>
          </a:p>
        </p:txBody>
      </p:sp>
      <p:pic>
        <p:nvPicPr>
          <p:cNvPr id="675" name="Google Shape;675;p60" title="[0,0,0,&quot;https://latex-staging.easygenerator.com/eqneditor/editor.php?latex=%5Ctheta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4187" y="321469"/>
            <a:ext cx="280401" cy="336127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60"/>
          <p:cNvSpPr txBox="1"/>
          <p:nvPr/>
        </p:nvSpPr>
        <p:spPr>
          <a:xfrm>
            <a:off x="6599100" y="5109234"/>
            <a:ext cx="50040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For every chapter of the novel </a:t>
            </a:r>
            <a:r>
              <a:rPr lang="en" i="1">
                <a:latin typeface="Roboto Light"/>
                <a:ea typeface="Roboto Light"/>
                <a:cs typeface="Roboto Light"/>
                <a:sym typeface="Roboto Light"/>
              </a:rPr>
              <a:t>Little Women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, Estimate the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# of characters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      based on the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# of periods   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   in that chapter.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77" name="Google Shape;677;p60" title="[0,0,0,&quot;https://latex-staging.easygenerator.com/eqneditor/editor.php?latex=x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4110" y="5881807"/>
            <a:ext cx="185033" cy="170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60" title="[0,0,0,&quot;https://latex-staging.easygenerator.com/eqneditor/editor.php?latex=%5Chat%7By%7D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71535" y="5483538"/>
            <a:ext cx="185023" cy="359767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60"/>
          <p:cNvSpPr txBox="1"/>
          <p:nvPr/>
        </p:nvSpPr>
        <p:spPr>
          <a:xfrm>
            <a:off x="10781933" y="5804668"/>
            <a:ext cx="1276400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6400">
                <a:latin typeface="Roboto Light"/>
                <a:ea typeface="Roboto Light"/>
                <a:cs typeface="Roboto Light"/>
                <a:sym typeface="Roboto Light"/>
              </a:rPr>
              <a:t>🤔</a:t>
            </a:r>
            <a:endParaRPr sz="64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80" name="Google Shape;680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80529" y="554033"/>
            <a:ext cx="4555200" cy="45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60"/>
          <p:cNvSpPr/>
          <p:nvPr/>
        </p:nvSpPr>
        <p:spPr>
          <a:xfrm>
            <a:off x="142733" y="861833"/>
            <a:ext cx="6350400" cy="2567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/>
              <a:t>Based on your interpretation of the data, which are the "optimal parameters" for this linear model?</a:t>
            </a:r>
            <a:endParaRPr sz="2133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133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133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133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133"/>
          </a:p>
        </p:txBody>
      </p:sp>
      <p:sp>
        <p:nvSpPr>
          <p:cNvPr id="682" name="Google Shape;682;p60"/>
          <p:cNvSpPr/>
          <p:nvPr/>
        </p:nvSpPr>
        <p:spPr>
          <a:xfrm>
            <a:off x="268567" y="5208467"/>
            <a:ext cx="6131200" cy="101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We only had 3 values to choose from to find the optimal parameter. In practice, our parameter domain is all reals, i.e., 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83" name="Google Shape;683;p60" descr="\hat{y} = \theta_0 + \theta_1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64133" y="2029768"/>
            <a:ext cx="2710400" cy="477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60" descr="\hat{\theta}_0 =? \ \ \hat{\theta}_1 = ?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69134" y="2735200"/>
            <a:ext cx="2300401" cy="5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60" descr="\theta = [\theta_0, \theta_1] \in \mathbb{R}^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17333" y="5881801"/>
            <a:ext cx="1983008" cy="359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2"/>
          <p:cNvSpPr txBox="1">
            <a:spLocks noGrp="1"/>
          </p:cNvSpPr>
          <p:nvPr>
            <p:ph idx="1"/>
          </p:nvPr>
        </p:nvSpPr>
        <p:spPr>
          <a:xfrm>
            <a:off x="466725" y="1503794"/>
            <a:ext cx="11658600" cy="5553075"/>
          </a:xfr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There are many definitions of loss functions!</a:t>
            </a:r>
          </a:p>
          <a:p>
            <a:r>
              <a:rPr lang="en-US" sz="2400" dirty="0"/>
              <a:t>The choice of loss function:</a:t>
            </a:r>
          </a:p>
          <a:p>
            <a:pPr lvl="1"/>
            <a:r>
              <a:rPr lang="en-US" sz="2000" dirty="0"/>
              <a:t>Affects the accuracy and computational cost of estimation.</a:t>
            </a:r>
          </a:p>
          <a:p>
            <a:pPr lvl="1"/>
            <a:r>
              <a:rPr lang="en-US" sz="2000" dirty="0"/>
              <a:t>Depends on the estimation task:</a:t>
            </a:r>
          </a:p>
          <a:p>
            <a:pPr lvl="2"/>
            <a:r>
              <a:rPr lang="en-US" sz="1600" dirty="0"/>
              <a:t>Are outputs quantitative or qualitative?</a:t>
            </a:r>
          </a:p>
          <a:p>
            <a:pPr lvl="2"/>
            <a:r>
              <a:rPr lang="en-US" sz="1600" dirty="0"/>
              <a:t>Do we care about outliers?</a:t>
            </a:r>
          </a:p>
          <a:p>
            <a:pPr lvl="2"/>
            <a:r>
              <a:rPr lang="en-US" sz="1600" dirty="0"/>
              <a:t>Are all errors equally costly? (e.g., false negative on cancer test)</a:t>
            </a:r>
          </a:p>
          <a:p>
            <a:endParaRPr lang="en-US" sz="2400" dirty="0"/>
          </a:p>
        </p:txBody>
      </p:sp>
      <p:sp>
        <p:nvSpPr>
          <p:cNvPr id="701" name="Google Shape;701;p6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/>
              <a:t>Loss Functions</a:t>
            </a:r>
          </a:p>
        </p:txBody>
      </p:sp>
      <p:sp>
        <p:nvSpPr>
          <p:cNvPr id="702" name="Google Shape;702;p62"/>
          <p:cNvSpPr txBox="1">
            <a:spLocks noGrp="1"/>
          </p:cNvSpPr>
          <p:nvPr>
            <p:ph type="sldNum" sz="quarter" idx="12"/>
          </p:nvPr>
        </p:nvSpPr>
        <p:spPr>
          <a:xfrm>
            <a:off x="11694319" y="6600825"/>
            <a:ext cx="497680" cy="257176"/>
          </a:xfr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18</a:t>
            </a:fld>
            <a:endParaRPr lang="en"/>
          </a:p>
        </p:txBody>
      </p:sp>
      <p:sp>
        <p:nvSpPr>
          <p:cNvPr id="700" name="Google Shape;700;p62"/>
          <p:cNvSpPr txBox="1">
            <a:spLocks noGrp="1"/>
          </p:cNvSpPr>
          <p:nvPr>
            <p:ph type="body" idx="4294967295"/>
          </p:nvPr>
        </p:nvSpPr>
        <p:spPr>
          <a:xfrm>
            <a:off x="0" y="533832"/>
            <a:ext cx="11360150" cy="2995613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sz="2800" dirty="0"/>
              <a:t>We need some metric of how "good" or "bad" our predictions are.</a:t>
            </a:r>
          </a:p>
          <a:p>
            <a:pPr marL="0" indent="0">
              <a:buNone/>
            </a:pPr>
            <a:r>
              <a:rPr lang="en-US" sz="2800" dirty="0"/>
              <a:t>A </a:t>
            </a:r>
            <a:r>
              <a:rPr lang="en-US" sz="2800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loss function</a:t>
            </a:r>
            <a:r>
              <a:rPr lang="en-US" sz="2800" dirty="0"/>
              <a:t> characterizes the </a:t>
            </a:r>
            <a:r>
              <a:rPr lang="en-US" sz="2800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cost</a:t>
            </a:r>
            <a:r>
              <a:rPr lang="en-US" sz="2800" dirty="0"/>
              <a:t>, error, or fit resulting from a particular choice of model or model parameters.</a:t>
            </a:r>
          </a:p>
          <a:p>
            <a:r>
              <a:rPr lang="en-US" sz="2800" dirty="0"/>
              <a:t>Loss quantifies how </a:t>
            </a:r>
            <a:r>
              <a:rPr lang="en-US" sz="2800" b="1" dirty="0">
                <a:latin typeface="Roboto"/>
                <a:ea typeface="Roboto"/>
                <a:cs typeface="Roboto"/>
                <a:sym typeface="Roboto"/>
              </a:rPr>
              <a:t>bad</a:t>
            </a:r>
            <a:r>
              <a:rPr lang="en-US" sz="2800" dirty="0"/>
              <a:t> a prediction is for a </a:t>
            </a:r>
            <a:r>
              <a:rPr lang="en-US" sz="2800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single</a:t>
            </a:r>
            <a:r>
              <a:rPr lang="en-US" sz="2800" dirty="0"/>
              <a:t> observation.</a:t>
            </a:r>
          </a:p>
          <a:p>
            <a:pPr>
              <a:spcBef>
                <a:spcPts val="0"/>
              </a:spcBef>
            </a:pPr>
            <a:r>
              <a:rPr lang="en-US" sz="2800" dirty="0"/>
              <a:t>If our prediction     is </a:t>
            </a:r>
            <a:r>
              <a:rPr lang="en-US" sz="2800" b="1" dirty="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close</a:t>
            </a:r>
            <a:r>
              <a:rPr lang="en-US" sz="2800" dirty="0"/>
              <a:t> to the actual value    , we want </a:t>
            </a:r>
            <a:r>
              <a:rPr lang="en-US" sz="2800" b="1" dirty="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low loss</a:t>
            </a:r>
            <a:r>
              <a:rPr lang="en-US" sz="2800" dirty="0"/>
              <a:t>.</a:t>
            </a:r>
          </a:p>
          <a:p>
            <a:pPr>
              <a:spcBef>
                <a:spcPts val="0"/>
              </a:spcBef>
            </a:pPr>
            <a:r>
              <a:rPr lang="en-US" sz="2800" dirty="0"/>
              <a:t>If our prediction     is </a:t>
            </a:r>
            <a:r>
              <a:rPr lang="en-US" sz="2800" b="1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far</a:t>
            </a:r>
            <a:r>
              <a:rPr lang="en-US" sz="2800" dirty="0"/>
              <a:t> from the actual value    , we want </a:t>
            </a:r>
            <a:r>
              <a:rPr lang="en-US" sz="2800" b="1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high loss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Clr>
                <a:schemeClr val="dk1"/>
              </a:buClr>
              <a:buSzPts val="1100"/>
              <a:buNone/>
            </a:pPr>
            <a:endParaRPr lang="en-US" sz="2800" dirty="0"/>
          </a:p>
        </p:txBody>
      </p:sp>
      <p:pic>
        <p:nvPicPr>
          <p:cNvPr id="703" name="Google Shape;703;p62" title="[0,0,0,&quot;https://latex-staging.easygenerator.com/eqneditor/editor.php?latex=L(y%2C%20%5Chat%7By%7D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8208" y="2179786"/>
            <a:ext cx="1469440" cy="5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62" title="[0,0,0,&quot;https://latex-staging.easygenerator.com/eqneditor/editor.php?latex=%5Chat%7By%7D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5469" y="2686789"/>
            <a:ext cx="152400" cy="296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62" title="[0,0,0,&quot;https://latex-staging.easygenerator.com/eqneditor/editor.php?latex=y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1355" y="3230316"/>
            <a:ext cx="152400" cy="213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62" title="[0,0,0,&quot;https://latex-staging.easygenerator.com/eqneditor/editor.php?latex=%5Chat%7By%7D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5469" y="3132667"/>
            <a:ext cx="152400" cy="296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62" title="[0,0,0,&quot;https://latex-staging.easygenerator.com/eqneditor/editor.php?latex=y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1217" y="2769762"/>
            <a:ext cx="152400" cy="21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3"/>
          <p:cNvSpPr txBox="1">
            <a:spLocks noGrp="1"/>
          </p:cNvSpPr>
          <p:nvPr>
            <p:ph type="body" idx="2"/>
          </p:nvPr>
        </p:nvSpPr>
        <p:spPr>
          <a:xfrm>
            <a:off x="127241" y="536275"/>
            <a:ext cx="53332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Squared Loss</a:t>
            </a:r>
            <a:endParaRPr b="1" dirty="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 b="1" dirty="0"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 b="1" dirty="0">
              <a:latin typeface="Roboto"/>
              <a:ea typeface="Roboto"/>
              <a:cs typeface="Roboto"/>
              <a:sym typeface="Roboto"/>
            </a:endParaRPr>
          </a:p>
          <a:p>
            <a:pPr>
              <a:buChar char="●"/>
            </a:pPr>
            <a:r>
              <a:rPr lang="en" dirty="0"/>
              <a:t>Widely used.</a:t>
            </a:r>
            <a:endParaRPr dirty="0"/>
          </a:p>
          <a:p>
            <a:pPr>
              <a:spcBef>
                <a:spcPts val="0"/>
              </a:spcBef>
              <a:buChar char="●"/>
            </a:pPr>
            <a:r>
              <a:rPr lang="en" dirty="0"/>
              <a:t>Also called "</a:t>
            </a:r>
            <a:r>
              <a:rPr lang="en" dirty="0">
                <a:solidFill>
                  <a:srgbClr val="0070C0"/>
                </a:solidFill>
              </a:rPr>
              <a:t>L2 loss</a:t>
            </a:r>
            <a:r>
              <a:rPr lang="en" dirty="0"/>
              <a:t>".</a:t>
            </a:r>
            <a:endParaRPr dirty="0"/>
          </a:p>
          <a:p>
            <a:pPr>
              <a:spcBef>
                <a:spcPts val="0"/>
              </a:spcBef>
              <a:buChar char="●"/>
            </a:pPr>
            <a:r>
              <a:rPr lang="en" dirty="0"/>
              <a:t>Reasonable:</a:t>
            </a:r>
            <a:endParaRPr dirty="0"/>
          </a:p>
          <a:p>
            <a:pPr lvl="1">
              <a:spcBef>
                <a:spcPts val="0"/>
              </a:spcBef>
              <a:buChar char="○"/>
            </a:pPr>
            <a:r>
              <a:rPr lang="en" dirty="0"/>
              <a:t>             → good prediction</a:t>
            </a:r>
            <a:br>
              <a:rPr lang="en" dirty="0"/>
            </a:br>
            <a:r>
              <a:rPr lang="en" dirty="0"/>
              <a:t>	→ good fit → no loss</a:t>
            </a:r>
            <a:endParaRPr dirty="0"/>
          </a:p>
          <a:p>
            <a:pPr lvl="1">
              <a:spcBef>
                <a:spcPts val="0"/>
              </a:spcBef>
              <a:buChar char="○"/>
            </a:pPr>
            <a:r>
              <a:rPr lang="en" dirty="0"/>
              <a:t>    far from     → bad prediction → bad fit → </a:t>
            </a:r>
            <a:r>
              <a:rPr lang="en" i="1" dirty="0"/>
              <a:t>lots of loss</a:t>
            </a:r>
            <a:endParaRPr i="1" dirty="0"/>
          </a:p>
        </p:txBody>
      </p:sp>
      <p:sp>
        <p:nvSpPr>
          <p:cNvPr id="713" name="Google Shape;713;p63"/>
          <p:cNvSpPr txBox="1">
            <a:spLocks noGrp="1"/>
          </p:cNvSpPr>
          <p:nvPr>
            <p:ph type="body" idx="1"/>
          </p:nvPr>
        </p:nvSpPr>
        <p:spPr>
          <a:xfrm>
            <a:off x="6416508" y="536275"/>
            <a:ext cx="53332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Absolute Loss</a:t>
            </a:r>
            <a:endParaRPr b="1" dirty="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 b="1" dirty="0"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buClr>
                <a:schemeClr val="dk1"/>
              </a:buClr>
              <a:buSzPts val="1100"/>
              <a:buNone/>
            </a:pPr>
            <a:endParaRPr b="1" dirty="0">
              <a:latin typeface="Roboto"/>
              <a:ea typeface="Roboto"/>
              <a:cs typeface="Roboto"/>
              <a:sym typeface="Roboto"/>
            </a:endParaRPr>
          </a:p>
          <a:p>
            <a:pPr>
              <a:spcBef>
                <a:spcPts val="0"/>
              </a:spcBef>
              <a:buChar char="●"/>
            </a:pPr>
            <a:r>
              <a:rPr lang="en" dirty="0"/>
              <a:t>Also called "</a:t>
            </a:r>
            <a:r>
              <a:rPr lang="en" dirty="0">
                <a:solidFill>
                  <a:srgbClr val="0070C0"/>
                </a:solidFill>
              </a:rPr>
              <a:t>L1 loss</a:t>
            </a:r>
            <a:r>
              <a:rPr lang="en" dirty="0"/>
              <a:t>".</a:t>
            </a:r>
            <a:endParaRPr dirty="0"/>
          </a:p>
          <a:p>
            <a:pPr>
              <a:spcBef>
                <a:spcPts val="0"/>
              </a:spcBef>
              <a:buChar char="●"/>
            </a:pPr>
            <a:r>
              <a:rPr lang="en" dirty="0"/>
              <a:t>Reasonable:</a:t>
            </a:r>
            <a:endParaRPr dirty="0"/>
          </a:p>
          <a:p>
            <a:pPr lvl="1">
              <a:spcBef>
                <a:spcPts val="0"/>
              </a:spcBef>
              <a:buChar char="○"/>
            </a:pPr>
            <a:r>
              <a:rPr lang="en" dirty="0"/>
              <a:t>             → good prediction → good fit → no loss</a:t>
            </a:r>
            <a:endParaRPr dirty="0"/>
          </a:p>
          <a:p>
            <a:pPr lvl="1">
              <a:spcBef>
                <a:spcPts val="0"/>
              </a:spcBef>
              <a:buChar char="○"/>
            </a:pPr>
            <a:r>
              <a:rPr lang="en" dirty="0"/>
              <a:t>    far from     → bad prediction → bad fit → </a:t>
            </a:r>
            <a:r>
              <a:rPr lang="en" i="1" dirty="0"/>
              <a:t>some loss</a:t>
            </a:r>
            <a:br>
              <a:rPr lang="en" i="1" dirty="0"/>
            </a:br>
            <a:endParaRPr i="1" dirty="0"/>
          </a:p>
          <a:p>
            <a:pPr marL="0" indent="0">
              <a:buNone/>
            </a:pPr>
            <a:endParaRPr dirty="0"/>
          </a:p>
        </p:txBody>
      </p:sp>
      <p:sp>
        <p:nvSpPr>
          <p:cNvPr id="714" name="Google Shape;714;p63"/>
          <p:cNvSpPr/>
          <p:nvPr/>
        </p:nvSpPr>
        <p:spPr>
          <a:xfrm>
            <a:off x="837633" y="1243309"/>
            <a:ext cx="3912400" cy="66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15" name="Google Shape;715;p63"/>
          <p:cNvSpPr txBox="1">
            <a:spLocks noGrp="1"/>
          </p:cNvSpPr>
          <p:nvPr>
            <p:ph type="title" idx="4294967295"/>
          </p:nvPr>
        </p:nvSpPr>
        <p:spPr>
          <a:xfrm>
            <a:off x="0" y="-202822"/>
            <a:ext cx="113608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" dirty="0"/>
              <a:t>L2 and L1 Loss</a:t>
            </a:r>
            <a:endParaRPr dirty="0"/>
          </a:p>
        </p:txBody>
      </p:sp>
      <p:sp>
        <p:nvSpPr>
          <p:cNvPr id="716" name="Google Shape;716;p6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19</a:t>
            </a:fld>
            <a:endParaRPr/>
          </a:p>
        </p:txBody>
      </p:sp>
      <p:pic>
        <p:nvPicPr>
          <p:cNvPr id="717" name="Google Shape;717;p63" title="[0,0,0,&quot;https://latex-staging.easygenerator.com/eqneditor/editor.php?latex=L(y%2C%20%5Chat%7By%7D)%20%3D%20(y%20-%20%5Chat%7By%7D)%5E2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4534" y="1311500"/>
            <a:ext cx="3658604" cy="5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63" title="[0,0,0,&quot;https://latex-staging.easygenerator.com/eqneditor/editor.php?latex=%20%5Chat%7By%7D%20%3D%20y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1385" y="4054078"/>
            <a:ext cx="767068" cy="29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63" title="[0,0,0,&quot;https://latex-staging.easygenerator.com/eqneditor/editor.php?latex=%5Chat%7By%7D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1120" y="5795354"/>
            <a:ext cx="152400" cy="296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63" title="[0,0,0,&quot;https://latex-staging.easygenerator.com/eqneditor/editor.php?latex=y#0&quot;]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2045" y="5846219"/>
            <a:ext cx="152400" cy="213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63" title="[0,0,0,&quot;https://latex-staging.easygenerator.com/eqneditor/editor.php?latex=%20%5Chat%7By%7D%20%3D%20y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70" y="3448878"/>
            <a:ext cx="767068" cy="29830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63"/>
          <p:cNvSpPr/>
          <p:nvPr/>
        </p:nvSpPr>
        <p:spPr>
          <a:xfrm>
            <a:off x="7126885" y="1243309"/>
            <a:ext cx="3912400" cy="66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723" name="Google Shape;723;p63" title="[0,0,0,&quot;https://latex-staging.easygenerator.com/eqneditor/editor.php?latex=L(y%2C%20%5Chat%7By%7D)%20%3D%20%7Cy%20-%20%5Chat%7By%7D%7C#0&quot;]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61270" y="1311515"/>
            <a:ext cx="3643633" cy="5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63" title="[0,0,0,&quot;https://latex-staging.easygenerator.com/eqneditor/editor.php?latex=%5Chat%7By%7D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0710" y="4785756"/>
            <a:ext cx="152400" cy="296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63" title="[0,0,0,&quot;https://latex-staging.easygenerator.com/eqneditor/editor.php?latex=y#0&quot;]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69712" y="4835349"/>
            <a:ext cx="152400" cy="2133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6" name="Google Shape;726;p63"/>
          <p:cNvCxnSpPr/>
          <p:nvPr/>
        </p:nvCxnSpPr>
        <p:spPr>
          <a:xfrm>
            <a:off x="5895800" y="771667"/>
            <a:ext cx="0" cy="3568000"/>
          </a:xfrm>
          <a:prstGeom prst="straightConnector1">
            <a:avLst/>
          </a:prstGeom>
          <a:noFill/>
          <a:ln w="2857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5" descr="title-id"/>
          <p:cNvSpPr txBox="1"/>
          <p:nvPr/>
        </p:nvSpPr>
        <p:spPr>
          <a:xfrm>
            <a:off x="1948330" y="2652434"/>
            <a:ext cx="8060400" cy="17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3600" b="1" dirty="0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rPr>
              <a:t>Why don't we use residual error directly and instead we use absolute loss or squared loss?</a:t>
            </a:r>
            <a:endParaRPr sz="3600" b="1" dirty="0">
              <a:solidFill>
                <a:srgbClr val="5B5B5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>
            <a:spLocks noGrp="1"/>
          </p:cNvSpPr>
          <p:nvPr>
            <p:ph idx="1"/>
          </p:nvPr>
        </p:nvSpPr>
        <p:spPr>
          <a:xfrm>
            <a:off x="266700" y="990601"/>
            <a:ext cx="11658601" cy="5553073"/>
          </a:xfr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/>
              <a:t>Why don't we directly use residual error as the loss function?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Doesn't work: big negative residuals shouldn't cancel out big positive residuals!</a:t>
            </a:r>
          </a:p>
          <a:p>
            <a:pPr lvl="1"/>
            <a:r>
              <a:rPr lang="en-US"/>
              <a:t>Our predictions can be very off, but we can still get a zero residual.</a:t>
            </a:r>
          </a:p>
          <a:p>
            <a:endParaRPr lang="en-US"/>
          </a:p>
        </p:txBody>
      </p:sp>
      <p:sp>
        <p:nvSpPr>
          <p:cNvPr id="768" name="Google Shape;768;p66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/>
              <a:t>Residuals as loss function?</a:t>
            </a:r>
          </a:p>
        </p:txBody>
      </p:sp>
      <p:sp>
        <p:nvSpPr>
          <p:cNvPr id="769" name="Google Shape;769;p66"/>
          <p:cNvSpPr txBox="1">
            <a:spLocks noGrp="1"/>
          </p:cNvSpPr>
          <p:nvPr>
            <p:ph type="sldNum" sz="quarter" idx="12"/>
          </p:nvPr>
        </p:nvSpPr>
        <p:spPr>
          <a:xfrm>
            <a:off x="11694319" y="6600825"/>
            <a:ext cx="497680" cy="257176"/>
          </a:xfr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21</a:t>
            </a:fld>
            <a:endParaRPr lang="en"/>
          </a:p>
        </p:txBody>
      </p:sp>
      <p:pic>
        <p:nvPicPr>
          <p:cNvPr id="771" name="Google Shape;771;p66" title="[0,0,0,&quot;https://latex-staging.easygenerator.com/eqneditor/editor.php?latex=e%20%3D%20(y%20-%20%5Chat%7By%7D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0057" y="1958383"/>
            <a:ext cx="1757467" cy="375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8"/>
          <p:cNvSpPr txBox="1"/>
          <p:nvPr/>
        </p:nvSpPr>
        <p:spPr>
          <a:xfrm>
            <a:off x="142733" y="4781248"/>
            <a:ext cx="11651600" cy="1538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133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average loss on the sample tells us how well the model fits the data</a:t>
            </a:r>
            <a:r>
              <a:rPr lang="en" sz="2133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 (not the population)</a:t>
            </a:r>
            <a:r>
              <a:rPr lang="en" sz="2133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133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spcBef>
                <a:spcPts val="800"/>
              </a:spcBef>
              <a:spcAft>
                <a:spcPts val="0"/>
              </a:spcAft>
            </a:pPr>
            <a:endParaRPr sz="2133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But hopefully these are close.</a:t>
            </a:r>
            <a:endParaRPr sz="21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6" name="Google Shape;786;p68"/>
          <p:cNvSpPr/>
          <p:nvPr/>
        </p:nvSpPr>
        <p:spPr>
          <a:xfrm>
            <a:off x="3747200" y="2424100"/>
            <a:ext cx="4697600" cy="137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89" name="Google Shape;789;p6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dirty="0"/>
              <a:t>We care about how bad our model’s predictions are for our entire data set, not just for one point. </a:t>
            </a:r>
            <a:endParaRPr dirty="0"/>
          </a:p>
          <a:p>
            <a:pPr marL="0" indent="0">
              <a:buNone/>
            </a:pPr>
            <a:r>
              <a:rPr lang="en" dirty="0"/>
              <a:t>A natural measure, then, is of the </a:t>
            </a:r>
            <a:r>
              <a:rPr lang="en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average loss</a:t>
            </a:r>
            <a:r>
              <a:rPr lang="en" dirty="0">
                <a:solidFill>
                  <a:srgbClr val="0070C0"/>
                </a:solidFill>
              </a:rPr>
              <a:t> </a:t>
            </a:r>
            <a:r>
              <a:rPr lang="en" dirty="0"/>
              <a:t>(aka </a:t>
            </a:r>
            <a:r>
              <a:rPr lang="en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empirical risk</a:t>
            </a:r>
            <a:r>
              <a:rPr lang="en" dirty="0"/>
              <a:t>) across all points</a:t>
            </a:r>
            <a:r>
              <a:rPr lang="en" b="1" dirty="0"/>
              <a:t>.</a:t>
            </a:r>
            <a:endParaRPr dirty="0"/>
          </a:p>
          <a:p>
            <a:pPr marL="0" indent="0">
              <a:buNone/>
            </a:pPr>
            <a:r>
              <a:rPr lang="en" dirty="0"/>
              <a:t>Given data							      : </a:t>
            </a:r>
            <a:endParaRPr dirty="0"/>
          </a:p>
        </p:txBody>
      </p:sp>
      <p:sp>
        <p:nvSpPr>
          <p:cNvPr id="787" name="Google Shape;787;p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Empirical Risk is Average Loss over Data</a:t>
            </a:r>
            <a:endParaRPr/>
          </a:p>
        </p:txBody>
      </p:sp>
      <p:sp>
        <p:nvSpPr>
          <p:cNvPr id="788" name="Google Shape;788;p6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22</a:t>
            </a:fld>
            <a:endParaRPr/>
          </a:p>
        </p:txBody>
      </p:sp>
      <p:pic>
        <p:nvPicPr>
          <p:cNvPr id="790" name="Google Shape;790;p68" title="[0,0,0,&quot;https://latex-staging.easygenerator.com/eqneditor/editor.php?latex=%5Cmathcal%7BD%7D%20%3D%20%5C%7B%20(x_1%2C%20y_1)%2C%20(x_2%2C%20y_2)%2C%20%5Cdots%2C%20(x_n%2C%20y_n)%20%5C%7D#0&quot;]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1315" y="1810458"/>
            <a:ext cx="4489367" cy="3051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1" name="Google Shape;791;p68"/>
          <p:cNvGrpSpPr/>
          <p:nvPr/>
        </p:nvGrpSpPr>
        <p:grpSpPr>
          <a:xfrm>
            <a:off x="189733" y="3880469"/>
            <a:ext cx="11557600" cy="677004"/>
            <a:chOff x="107050" y="2846800"/>
            <a:chExt cx="8668200" cy="507753"/>
          </a:xfrm>
        </p:grpSpPr>
        <p:sp>
          <p:nvSpPr>
            <p:cNvPr id="792" name="Google Shape;792;p68"/>
            <p:cNvSpPr txBox="1"/>
            <p:nvPr/>
          </p:nvSpPr>
          <p:spPr>
            <a:xfrm>
              <a:off x="107050" y="2846800"/>
              <a:ext cx="8668200" cy="5077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800"/>
                </a:spcBef>
                <a:spcAft>
                  <a:spcPts val="0"/>
                </a:spcAft>
              </a:pPr>
              <a:r>
                <a:rPr lang="en" sz="2133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Function of the parameter     (holding the data fixed) because     determines     .</a:t>
              </a:r>
              <a:endParaRPr dirty="0"/>
            </a:p>
          </p:txBody>
        </p:sp>
        <p:pic>
          <p:nvPicPr>
            <p:cNvPr id="793" name="Google Shape;793;p68" title="[0,0,0,&quot;https://latex-staging.easygenerator.com/eqneditor/editor.php?latex=%5Chat%7By%7D#0&quot;]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16839" y="2993789"/>
              <a:ext cx="114300" cy="222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4" name="Google Shape;794;p68" title="[0,0,0,&quot;https://latex-staging.easygenerator.com/eqneditor/editor.php?latex=%5Ctheta#0&quot;]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673687" y="3023055"/>
              <a:ext cx="114250" cy="19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5" name="Google Shape;795;p68" title="[0,0,0,&quot;https://latex-staging.easygenerator.com/eqneditor/editor.php?latex=%5Ctheta#0&quot;]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98888" y="3036357"/>
              <a:ext cx="114250" cy="190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96" name="Google Shape;796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75378" y="2524084"/>
            <a:ext cx="4241252" cy="1171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69"/>
          <p:cNvSpPr/>
          <p:nvPr/>
        </p:nvSpPr>
        <p:spPr>
          <a:xfrm>
            <a:off x="3747200" y="2343067"/>
            <a:ext cx="4697600" cy="1135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04" name="Google Shape;804;p6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chemeClr val="dk2"/>
                </a:solidFill>
              </a:rPr>
              <a:t>We care about how bad our model’s predictions are for our entire data set, not just for one point. </a:t>
            </a:r>
            <a:endParaRPr dirty="0">
              <a:solidFill>
                <a:schemeClr val="dk2"/>
              </a:solidFill>
            </a:endParaRPr>
          </a:p>
          <a:p>
            <a:pPr marL="0" indent="0">
              <a:buNone/>
            </a:pPr>
            <a:r>
              <a:rPr lang="en" dirty="0"/>
              <a:t>A natural measure, then, is of the </a:t>
            </a:r>
            <a:r>
              <a:rPr lang="en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average loss</a:t>
            </a:r>
            <a:r>
              <a:rPr lang="en" dirty="0">
                <a:solidFill>
                  <a:srgbClr val="0070C0"/>
                </a:solidFill>
              </a:rPr>
              <a:t> </a:t>
            </a:r>
            <a:r>
              <a:rPr lang="en" dirty="0"/>
              <a:t>(aka </a:t>
            </a:r>
            <a:r>
              <a:rPr lang="en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empirical risk</a:t>
            </a:r>
            <a:r>
              <a:rPr lang="en" dirty="0"/>
              <a:t>) across all points</a:t>
            </a:r>
            <a:r>
              <a:rPr lang="en" b="1" dirty="0"/>
              <a:t>.</a:t>
            </a:r>
            <a:endParaRPr dirty="0">
              <a:solidFill>
                <a:schemeClr val="dk2"/>
              </a:solidFill>
            </a:endParaRPr>
          </a:p>
          <a:p>
            <a:pPr marL="0" indent="0">
              <a:buNone/>
            </a:pPr>
            <a:r>
              <a:rPr lang="en" dirty="0"/>
              <a:t>Given data							      : </a:t>
            </a:r>
            <a:endParaRPr dirty="0"/>
          </a:p>
        </p:txBody>
      </p:sp>
      <p:sp>
        <p:nvSpPr>
          <p:cNvPr id="802" name="Google Shape;802;p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Empirical Risk is Average Loss over Data</a:t>
            </a:r>
            <a:endParaRPr/>
          </a:p>
        </p:txBody>
      </p:sp>
      <p:sp>
        <p:nvSpPr>
          <p:cNvPr id="803" name="Google Shape;803;p6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23</a:t>
            </a:fld>
            <a:endParaRPr/>
          </a:p>
        </p:txBody>
      </p:sp>
      <p:pic>
        <p:nvPicPr>
          <p:cNvPr id="805" name="Google Shape;805;p69" title="[0,0,0,&quot;https://latex-staging.easygenerator.com/eqneditor/editor.php?latex=%5Cmathcal%7BD%7D%20%3D%20%5C%7B%20(x_1%2C%20y_1)%2C%20(x_2%2C%20y_2)%2C%20%5Cdots%2C%20(x_n%2C%20y_n)%20%5C%7D#0&quot;]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1955" y="1738091"/>
            <a:ext cx="4489367" cy="305133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69"/>
          <p:cNvSpPr txBox="1"/>
          <p:nvPr/>
        </p:nvSpPr>
        <p:spPr>
          <a:xfrm>
            <a:off x="2435633" y="4582134"/>
            <a:ext cx="3295200" cy="1661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The colloquial term for average loss depends on which loss function we choose.</a:t>
            </a:r>
            <a:endParaRPr sz="21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807" name="Google Shape;807;p69"/>
          <p:cNvGrpSpPr/>
          <p:nvPr/>
        </p:nvGrpSpPr>
        <p:grpSpPr>
          <a:xfrm>
            <a:off x="6095999" y="3478667"/>
            <a:ext cx="5607514" cy="2987644"/>
            <a:chOff x="4571998" y="2609000"/>
            <a:chExt cx="4205635" cy="2240733"/>
          </a:xfrm>
        </p:grpSpPr>
        <p:cxnSp>
          <p:nvCxnSpPr>
            <p:cNvPr id="808" name="Google Shape;808;p69"/>
            <p:cNvCxnSpPr>
              <a:stCxn id="801" idx="2"/>
              <a:endCxn id="809" idx="1"/>
            </p:cNvCxnSpPr>
            <p:nvPr/>
          </p:nvCxnSpPr>
          <p:spPr>
            <a:xfrm rot="16200000" flipH="1">
              <a:off x="4334753" y="2846245"/>
              <a:ext cx="1836792" cy="1362301"/>
            </a:xfrm>
            <a:prstGeom prst="bentConnector2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10" name="Google Shape;810;p69"/>
            <p:cNvSpPr txBox="1"/>
            <p:nvPr/>
          </p:nvSpPr>
          <p:spPr>
            <a:xfrm>
              <a:off x="4893421" y="4164325"/>
              <a:ext cx="791700" cy="3693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L1 loss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09" name="Google Shape;809;p69"/>
            <p:cNvSpPr txBox="1"/>
            <p:nvPr/>
          </p:nvSpPr>
          <p:spPr>
            <a:xfrm>
              <a:off x="5934300" y="4041850"/>
              <a:ext cx="1208100" cy="807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b="1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Mean Absolute Error (MAE)</a:t>
              </a:r>
              <a:endParaRPr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11" name="Google Shape;811;p69" title="[0,0,0,&quot;https://latex-staging.easygenerator.com/eqneditor/editor.php?latex=%5Cfrac%7B1%7D%7Bn%7D%20%5Csum%5Climits_%7Bi%3D1%7D%5En%20%7Cy_i%20-%20%5Chat%7By_i%7D%7C#0&quot;]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36923" y="4147608"/>
              <a:ext cx="1540710" cy="6197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2" name="Google Shape;812;p69"/>
          <p:cNvSpPr txBox="1"/>
          <p:nvPr/>
        </p:nvSpPr>
        <p:spPr>
          <a:xfrm>
            <a:off x="6524551" y="4256917"/>
            <a:ext cx="1055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L2 loss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13" name="Google Shape;813;p69" title="[0,0,0,&quot;https://latex-staging.easygenerator.com/eqneditor/editor.php?latex=%5Cfrac%7B1%7D%7Bn%7D%20%5Csum%5Climits_%7Bi%3D1%7D%5En%20(y_i%20-%20%5Chat%7By_i%7D)%5E2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40000" y="4332717"/>
            <a:ext cx="2266701" cy="826367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69"/>
          <p:cNvSpPr txBox="1"/>
          <p:nvPr/>
        </p:nvSpPr>
        <p:spPr>
          <a:xfrm>
            <a:off x="7912400" y="4153434"/>
            <a:ext cx="15244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Mean Squared Error (MSE)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5" name="Google Shape;815;p69"/>
          <p:cNvCxnSpPr>
            <a:endCxn id="814" idx="1"/>
          </p:cNvCxnSpPr>
          <p:nvPr/>
        </p:nvCxnSpPr>
        <p:spPr>
          <a:xfrm>
            <a:off x="6546400" y="3486433"/>
            <a:ext cx="1366000" cy="120559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816" name="Google Shape;816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75373" y="2615027"/>
            <a:ext cx="4241252" cy="1171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The Modeling Process</a:t>
            </a:r>
            <a:endParaRPr/>
          </a:p>
        </p:txBody>
      </p:sp>
      <p:sp>
        <p:nvSpPr>
          <p:cNvPr id="572" name="Google Shape;572;p5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24</a:t>
            </a:fld>
            <a:endParaRPr/>
          </a:p>
        </p:txBody>
      </p:sp>
      <p:sp>
        <p:nvSpPr>
          <p:cNvPr id="577" name="Google Shape;577;p54"/>
          <p:cNvSpPr txBox="1">
            <a:spLocks noGrp="1"/>
          </p:cNvSpPr>
          <p:nvPr>
            <p:ph type="body" idx="4294967295"/>
          </p:nvPr>
        </p:nvSpPr>
        <p:spPr>
          <a:xfrm>
            <a:off x="3816998" y="2511347"/>
            <a:ext cx="3091045" cy="1096962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000" dirty="0">
                <a:latin typeface="+mn-lt"/>
              </a:rPr>
              <a:t>How do we quantify prediction error?</a:t>
            </a:r>
            <a:endParaRPr sz="2000" dirty="0">
              <a:latin typeface="+mn-lt"/>
            </a:endParaRPr>
          </a:p>
        </p:txBody>
      </p:sp>
      <p:sp>
        <p:nvSpPr>
          <p:cNvPr id="578" name="Google Shape;578;p54"/>
          <p:cNvSpPr txBox="1">
            <a:spLocks noGrp="1"/>
          </p:cNvSpPr>
          <p:nvPr>
            <p:ph type="body" idx="4294967295"/>
          </p:nvPr>
        </p:nvSpPr>
        <p:spPr>
          <a:xfrm>
            <a:off x="3858419" y="4000422"/>
            <a:ext cx="3821112" cy="1096963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000" b="1" dirty="0">
                <a:latin typeface="+mn-lt"/>
              </a:rPr>
              <a:t>How do we choose the best parameters of our model given our data?</a:t>
            </a:r>
            <a:endParaRPr sz="2000" b="1" dirty="0">
              <a:latin typeface="+mn-lt"/>
            </a:endParaRPr>
          </a:p>
        </p:txBody>
      </p:sp>
      <p:sp>
        <p:nvSpPr>
          <p:cNvPr id="579" name="Google Shape;579;p54"/>
          <p:cNvSpPr txBox="1">
            <a:spLocks noGrp="1"/>
          </p:cNvSpPr>
          <p:nvPr>
            <p:ph type="body" idx="4294967295"/>
          </p:nvPr>
        </p:nvSpPr>
        <p:spPr>
          <a:xfrm>
            <a:off x="3858420" y="5495668"/>
            <a:ext cx="3630056" cy="1095375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000" dirty="0">
                <a:latin typeface="+mn-lt"/>
              </a:rPr>
              <a:t>How do we evaluate whether this process gave rise to a good model?</a:t>
            </a:r>
            <a:endParaRPr sz="2000" dirty="0">
              <a:latin typeface="+mn-lt"/>
            </a:endParaRPr>
          </a:p>
        </p:txBody>
      </p:sp>
      <p:grpSp>
        <p:nvGrpSpPr>
          <p:cNvPr id="573" name="Google Shape;573;p54"/>
          <p:cNvGrpSpPr/>
          <p:nvPr/>
        </p:nvGrpSpPr>
        <p:grpSpPr>
          <a:xfrm>
            <a:off x="767733" y="2675004"/>
            <a:ext cx="2654800" cy="4071533"/>
            <a:chOff x="141000" y="1663350"/>
            <a:chExt cx="1991100" cy="3053650"/>
          </a:xfrm>
        </p:grpSpPr>
        <p:sp>
          <p:nvSpPr>
            <p:cNvPr id="574" name="Google Shape;574;p54"/>
            <p:cNvSpPr/>
            <p:nvPr/>
          </p:nvSpPr>
          <p:spPr>
            <a:xfrm>
              <a:off x="141000" y="1663350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2. Choose a loss function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5" name="Google Shape;575;p54"/>
            <p:cNvSpPr/>
            <p:nvPr/>
          </p:nvSpPr>
          <p:spPr>
            <a:xfrm>
              <a:off x="141000" y="2778875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3. Fit the model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6" name="Google Shape;576;p54"/>
            <p:cNvSpPr/>
            <p:nvPr/>
          </p:nvSpPr>
          <p:spPr>
            <a:xfrm>
              <a:off x="141000" y="3894400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4. Evaluate model performance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80" name="Google Shape;580;p54"/>
          <p:cNvSpPr/>
          <p:nvPr/>
        </p:nvSpPr>
        <p:spPr>
          <a:xfrm>
            <a:off x="767733" y="1187637"/>
            <a:ext cx="2654800" cy="1096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Choose a model</a:t>
            </a:r>
            <a:endParaRPr sz="2133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54"/>
          <p:cNvSpPr txBox="1"/>
          <p:nvPr/>
        </p:nvSpPr>
        <p:spPr>
          <a:xfrm>
            <a:off x="3816998" y="1479637"/>
            <a:ext cx="5029200" cy="67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000" dirty="0">
                <a:solidFill>
                  <a:schemeClr val="dk1"/>
                </a:solidFill>
                <a:latin typeface="+mn-lt"/>
                <a:ea typeface="Roboto Light"/>
                <a:cs typeface="Roboto Light"/>
                <a:sym typeface="Roboto Light"/>
              </a:rPr>
              <a:t>How should we represent the world?</a:t>
            </a:r>
            <a:endParaRPr sz="1600" dirty="0">
              <a:latin typeface="+mn-l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" name="Google Shape;639;p57" descr="\hat{y} = \theta_0 + \theta_1 x">
            <a:extLst>
              <a:ext uri="{FF2B5EF4-FFF2-40B4-BE49-F238E27FC236}">
                <a16:creationId xmlns:a16="http://schemas.microsoft.com/office/drawing/2014/main" id="{FF6B00A7-B247-C1C8-1C68-ADF957719F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3375" y="1587095"/>
            <a:ext cx="2634270" cy="44898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56;p71">
            <a:extLst>
              <a:ext uri="{FF2B5EF4-FFF2-40B4-BE49-F238E27FC236}">
                <a16:creationId xmlns:a16="http://schemas.microsoft.com/office/drawing/2014/main" id="{01303252-20B9-312D-E38A-12D82CED1682}"/>
              </a:ext>
            </a:extLst>
          </p:cNvPr>
          <p:cNvSpPr/>
          <p:nvPr/>
        </p:nvSpPr>
        <p:spPr>
          <a:xfrm>
            <a:off x="6347210" y="4938447"/>
            <a:ext cx="5463200" cy="65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We want to find           that minimize</a:t>
            </a: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this </a:t>
            </a: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objective function</a:t>
            </a:r>
            <a:r>
              <a:rPr lang="en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" name="Google Shape;858;p71">
            <a:extLst>
              <a:ext uri="{FF2B5EF4-FFF2-40B4-BE49-F238E27FC236}">
                <a16:creationId xmlns:a16="http://schemas.microsoft.com/office/drawing/2014/main" id="{8E28FEF1-05ED-5AC5-4FEC-C938E5F7D012}"/>
              </a:ext>
            </a:extLst>
          </p:cNvPr>
          <p:cNvSpPr txBox="1"/>
          <p:nvPr/>
        </p:nvSpPr>
        <p:spPr>
          <a:xfrm>
            <a:off x="10394010" y="2359014"/>
            <a:ext cx="19136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Squared loss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" name="Google Shape;861;p71" title="[0,0,0,&quot;https://latex-staging.easygenerator.com/eqneditor/editor.php?latex=L(y%2C%20%5Chat%7By%7D)%20%3D%20(y%20-%20%5Chat%7By%7D)%5E2#0&quot;]">
            <a:extLst>
              <a:ext uri="{FF2B5EF4-FFF2-40B4-BE49-F238E27FC236}">
                <a16:creationId xmlns:a16="http://schemas.microsoft.com/office/drawing/2014/main" id="{5219C489-DA7B-CEFA-A315-B7D55477668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9063" y="2485464"/>
            <a:ext cx="2634270" cy="40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62;p71" descr="\hat{R}(\theta) = \frac{1}{n}\sum_{i = 1}^{n}(y_i - (\theta_0 + \theta_1x))^2">
            <a:extLst>
              <a:ext uri="{FF2B5EF4-FFF2-40B4-BE49-F238E27FC236}">
                <a16:creationId xmlns:a16="http://schemas.microsoft.com/office/drawing/2014/main" id="{2505F646-E3B0-E044-7193-C13E43840CA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8476" y="3383200"/>
            <a:ext cx="4049169" cy="819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59;p71" descr="\hat{\theta}_0, \hat{\theta}_1">
            <a:extLst>
              <a:ext uri="{FF2B5EF4-FFF2-40B4-BE49-F238E27FC236}">
                <a16:creationId xmlns:a16="http://schemas.microsoft.com/office/drawing/2014/main" id="{E71208A6-CCF6-0A46-02F9-F4C350AC44A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73143" y="4981134"/>
            <a:ext cx="495135" cy="281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7592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3"/>
          <p:cNvSpPr txBox="1">
            <a:spLocks noGrp="1"/>
          </p:cNvSpPr>
          <p:nvPr>
            <p:ph idx="1"/>
          </p:nvPr>
        </p:nvSpPr>
        <p:spPr>
          <a:xfrm>
            <a:off x="266700" y="990601"/>
            <a:ext cx="11658601" cy="5553073"/>
          </a:xfr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dirty="0">
                <a:sym typeface="Roboto"/>
              </a:rPr>
              <a:t>Recall:</a:t>
            </a:r>
            <a:r>
              <a:rPr lang="en-US" dirty="0"/>
              <a:t> we wanted to pick the</a:t>
            </a:r>
            <a:r>
              <a:rPr lang="en-US" dirty="0">
                <a:sym typeface="Roboto"/>
              </a:rPr>
              <a:t> regression line</a:t>
            </a:r>
            <a:endParaRPr lang="en-US" dirty="0"/>
          </a:p>
          <a:p>
            <a:endParaRPr lang="en-US" dirty="0"/>
          </a:p>
          <a:p>
            <a:r>
              <a:rPr lang="en-US" dirty="0"/>
              <a:t>To minimize the (sample) </a:t>
            </a:r>
            <a:r>
              <a:rPr lang="en-US" dirty="0">
                <a:sym typeface="Roboto"/>
              </a:rPr>
              <a:t>Mean Squared Error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find the best values, we set derivatives equal to zero to</a:t>
            </a:r>
            <a:r>
              <a:rPr lang="en-US" dirty="0">
                <a:sym typeface="Roboto"/>
              </a:rPr>
              <a:t> obtain the optimality conditions:</a:t>
            </a:r>
          </a:p>
          <a:p>
            <a:endParaRPr lang="en-US" dirty="0">
              <a:sym typeface="Roboto"/>
            </a:endParaRPr>
          </a:p>
          <a:p>
            <a:endParaRPr lang="en-US" dirty="0"/>
          </a:p>
        </p:txBody>
      </p:sp>
      <p:sp>
        <p:nvSpPr>
          <p:cNvPr id="877" name="Google Shape;877;p73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/>
              <a:t>Minimizing MSE for the SLR Model</a:t>
            </a:r>
          </a:p>
        </p:txBody>
      </p:sp>
      <p:sp>
        <p:nvSpPr>
          <p:cNvPr id="878" name="Google Shape;878;p73"/>
          <p:cNvSpPr txBox="1">
            <a:spLocks noGrp="1"/>
          </p:cNvSpPr>
          <p:nvPr>
            <p:ph type="sldNum" sz="quarter" idx="12"/>
          </p:nvPr>
        </p:nvSpPr>
        <p:spPr>
          <a:xfrm>
            <a:off x="11694319" y="6600825"/>
            <a:ext cx="497680" cy="257176"/>
          </a:xfr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25</a:t>
            </a:fld>
            <a:endParaRPr lang="en"/>
          </a:p>
        </p:txBody>
      </p:sp>
      <p:pic>
        <p:nvPicPr>
          <p:cNvPr id="879" name="Google Shape;879;p73" descr="MSE(\theta_0, \theta_1) = \frac{1}{n}\sum_{i = 1}^{n}(y_i - \hat{y}_i)^2 "/>
          <p:cNvPicPr preferRelativeResize="0"/>
          <p:nvPr/>
        </p:nvPicPr>
        <p:blipFill rotWithShape="1">
          <a:blip r:embed="rId3">
            <a:alphaModFix/>
          </a:blip>
          <a:srcRect r="56468"/>
          <a:stretch/>
        </p:blipFill>
        <p:spPr>
          <a:xfrm>
            <a:off x="6311385" y="2613959"/>
            <a:ext cx="1958033" cy="102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73" descr="= \frac{1}{n}\sum_{i = 1}^{n}(y_i - (\theta_0+\theta_1x_i))^2 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3993" y="2635390"/>
            <a:ext cx="3805960" cy="1020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73" descr="\hat{y} = \hat{\theta_0} + \hat{\theta_1}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7755" y="1098937"/>
            <a:ext cx="2335417" cy="5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73" descr="0 = \frac{\partial}{\partial \theta_0} MSE = -\frac{2}{n}\sum_{i=1}^{n}y_i - \theta_0 - \theta_1 x_i "/>
          <p:cNvPicPr preferRelativeResize="0"/>
          <p:nvPr/>
        </p:nvPicPr>
        <p:blipFill rotWithShape="1">
          <a:blip r:embed="rId6">
            <a:alphaModFix/>
          </a:blip>
          <a:srcRect l="10538" r="56964"/>
          <a:stretch/>
        </p:blipFill>
        <p:spPr>
          <a:xfrm>
            <a:off x="1386229" y="4812357"/>
            <a:ext cx="1865333" cy="950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73" descr="0 = \frac{\partial}{\partial \theta_1} MSE = -\frac{2}{n}\sum_{i=1}^{n}(y_i - \theta_0 - \theta_1 x_i )x_i"/>
          <p:cNvPicPr preferRelativeResize="0"/>
          <p:nvPr/>
        </p:nvPicPr>
        <p:blipFill rotWithShape="1">
          <a:blip r:embed="rId7">
            <a:alphaModFix/>
          </a:blip>
          <a:srcRect l="9122" r="59517"/>
          <a:stretch/>
        </p:blipFill>
        <p:spPr>
          <a:xfrm>
            <a:off x="4265064" y="4763734"/>
            <a:ext cx="1958032" cy="950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73" descr="0 = \frac{\partial}{\partial \theta_0} MSE = -\frac{2}{n}\sum_{i=1}^{n}y_i - \theta_0 - \theta_1 x_i "/>
          <p:cNvPicPr preferRelativeResize="0"/>
          <p:nvPr/>
        </p:nvPicPr>
        <p:blipFill rotWithShape="1">
          <a:blip r:embed="rId6">
            <a:alphaModFix/>
          </a:blip>
          <a:srcRect r="95851"/>
          <a:stretch/>
        </p:blipFill>
        <p:spPr>
          <a:xfrm>
            <a:off x="3390329" y="4866658"/>
            <a:ext cx="238100" cy="950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73" descr="0 = \frac{\partial}{\partial \theta_1} MSE = -\frac{2}{n}\sum_{i=1}^{n}(y_i - \theta_0 - \theta_1 x_i )x_i"/>
          <p:cNvPicPr preferRelativeResize="0"/>
          <p:nvPr/>
        </p:nvPicPr>
        <p:blipFill rotWithShape="1">
          <a:blip r:embed="rId7">
            <a:alphaModFix/>
          </a:blip>
          <a:srcRect r="96186"/>
          <a:stretch/>
        </p:blipFill>
        <p:spPr>
          <a:xfrm>
            <a:off x="6236424" y="4813700"/>
            <a:ext cx="238099" cy="950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75"/>
          <p:cNvSpPr txBox="1">
            <a:spLocks noGrp="1"/>
          </p:cNvSpPr>
          <p:nvPr>
            <p:ph type="title" idx="4294967295"/>
          </p:nvPr>
        </p:nvSpPr>
        <p:spPr>
          <a:xfrm>
            <a:off x="0" y="-176505"/>
            <a:ext cx="113608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accent3"/>
                </a:solidFill>
              </a:rPr>
              <a:t>Partial Derivative of MSE with Respect to  </a:t>
            </a:r>
            <a:endParaRPr dirty="0"/>
          </a:p>
        </p:txBody>
      </p:sp>
      <p:sp>
        <p:nvSpPr>
          <p:cNvPr id="911" name="Google Shape;911;p7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26</a:t>
            </a:fld>
            <a:endParaRPr/>
          </a:p>
        </p:txBody>
      </p:sp>
      <p:pic>
        <p:nvPicPr>
          <p:cNvPr id="912" name="Google Shape;912;p75" descr="0 = \frac{\partial}{\partial \theta_0} MSE = -\frac{2}{n}\sum_{i=1}^{n}y_i - \theta_0 - \theta_1 x_i "/>
          <p:cNvPicPr preferRelativeResize="0"/>
          <p:nvPr/>
        </p:nvPicPr>
        <p:blipFill rotWithShape="1">
          <a:blip r:embed="rId3">
            <a:alphaModFix/>
          </a:blip>
          <a:srcRect l="10538" r="56964"/>
          <a:stretch/>
        </p:blipFill>
        <p:spPr>
          <a:xfrm>
            <a:off x="147334" y="795400"/>
            <a:ext cx="1865333" cy="950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75" descr="\frac{\partial}{\partial \theta_0}\frac{1}{n}\sum_{i=1}^{n}(y_i - \theta_0-\theta_1x_i)^2 = \frac{1}{n}\sum_{i = 1}^{n} \frac{\partial}{\partial \theta_0}(y_i - \theta_0-\theta_1x_i)^2 = \frac{1}{n}\sum_{i=1}^{n}2(y_i- \theta_0- \theta_1x_i)(-1) = -\frac{2}{n}\sum_{i=1}^{n}(y_i-\theta_0-\theta_1x_i)"/>
          <p:cNvPicPr preferRelativeResize="0"/>
          <p:nvPr/>
        </p:nvPicPr>
        <p:blipFill rotWithShape="1">
          <a:blip r:embed="rId4">
            <a:alphaModFix/>
          </a:blip>
          <a:srcRect r="39485" b="66854"/>
          <a:stretch/>
        </p:blipFill>
        <p:spPr>
          <a:xfrm>
            <a:off x="2012667" y="795400"/>
            <a:ext cx="3517167" cy="99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75" descr="= \frac{1}{n}\sum_{i = 1}^{n} \frac{\partial}{\partial \theta_0}(y_i - \theta_0-\theta_1x_i)^2 = \frac{1}{n}\sum_{i=1}^{n}2(y_i- \theta_0- \theta_1x_i)(-1) = -\frac{2}{n}\sum_{i=1}^{n}(y_i-\theta_0-\theta_1x_i)&#10;"/>
          <p:cNvPicPr preferRelativeResize="0"/>
          <p:nvPr/>
        </p:nvPicPr>
        <p:blipFill rotWithShape="1">
          <a:blip r:embed="rId5">
            <a:alphaModFix/>
          </a:blip>
          <a:srcRect r="32921" b="48956"/>
          <a:stretch/>
        </p:blipFill>
        <p:spPr>
          <a:xfrm>
            <a:off x="1522801" y="2095801"/>
            <a:ext cx="3863508" cy="99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75" descr="= \frac{1}{n}\sum_{i=1}^{n}2(y_i- \theta_0- \theta_1x_i)(-1) = -\frac{2}{n}\sum_{i=1}^{n}(y_i-\theta_0-\theta_1x_i)&#10;"/>
          <p:cNvPicPr preferRelativeResize="0"/>
          <p:nvPr/>
        </p:nvPicPr>
        <p:blipFill rotWithShape="1">
          <a:blip r:embed="rId6">
            <a:alphaModFix/>
          </a:blip>
          <a:srcRect r="32605" b="26798"/>
          <a:stretch/>
        </p:blipFill>
        <p:spPr>
          <a:xfrm>
            <a:off x="1361900" y="3539734"/>
            <a:ext cx="4185312" cy="99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5" descr="= -\frac{2}{n}\sum_{i=1}^{n}(y_i-\theta_0-\theta_1x_i)&#10;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2800" y="5108167"/>
            <a:ext cx="3612467" cy="997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7" name="Google Shape;917;p75"/>
          <p:cNvCxnSpPr/>
          <p:nvPr/>
        </p:nvCxnSpPr>
        <p:spPr>
          <a:xfrm flipH="1">
            <a:off x="5870200" y="771667"/>
            <a:ext cx="25600" cy="5688400"/>
          </a:xfrm>
          <a:prstGeom prst="straightConnector1">
            <a:avLst/>
          </a:prstGeom>
          <a:noFill/>
          <a:ln w="2857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8" name="Google Shape;918;p75" descr="0 = \frac{\partial}{\partial \theta_1} MSE = -\frac{2}{n}\sum_{i=1}^{n}(y_i - \theta_0 - \theta_1 x_i )x_i"/>
          <p:cNvPicPr preferRelativeResize="0"/>
          <p:nvPr/>
        </p:nvPicPr>
        <p:blipFill rotWithShape="1">
          <a:blip r:embed="rId8">
            <a:alphaModFix/>
          </a:blip>
          <a:srcRect l="9122" r="59517"/>
          <a:stretch/>
        </p:blipFill>
        <p:spPr>
          <a:xfrm>
            <a:off x="6180534" y="818900"/>
            <a:ext cx="1958103" cy="950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75" descr="\frac{\partial}{\partial \theta_1}\frac{1}{n}\sum_{i=1}^{n}(y_i - \theta_0-\theta_1x_i)^2 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15267" y="818899"/>
            <a:ext cx="3499901" cy="950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75" descr="= \frac{1}{n}\sum_{i = 1}^{n} \frac{\partial}{\partial \theta_1}(y_i - \theta_0-\theta_1x_i)^2 &#10;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744234" y="2009301"/>
            <a:ext cx="4077921" cy="99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75" descr="= \frac{1}{n}\sum_{i=1}^{n}2(y_i- \theta_0- \theta_1x_i)(-x_i) 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97451" y="3449867"/>
            <a:ext cx="4369088" cy="99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75" descr="= -\frac{2}{n}\sum_{i=1}^{n}(y_i-\theta_0-\theta_1x_i)x_i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697467" y="4953867"/>
            <a:ext cx="3917203" cy="99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75"/>
          <p:cNvSpPr txBox="1"/>
          <p:nvPr/>
        </p:nvSpPr>
        <p:spPr>
          <a:xfrm>
            <a:off x="147333" y="2163651"/>
            <a:ext cx="14752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sz="16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Derivative of sum is sum of derivatives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75"/>
          <p:cNvSpPr txBox="1"/>
          <p:nvPr/>
        </p:nvSpPr>
        <p:spPr>
          <a:xfrm>
            <a:off x="6082417" y="2077151"/>
            <a:ext cx="14752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sz="16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Derivative of sum is sum of derivatives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75"/>
          <p:cNvSpPr txBox="1"/>
          <p:nvPr/>
        </p:nvSpPr>
        <p:spPr>
          <a:xfrm>
            <a:off x="6218784" y="3764107"/>
            <a:ext cx="1288000" cy="3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sz="16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Chain rule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75"/>
          <p:cNvSpPr txBox="1"/>
          <p:nvPr/>
        </p:nvSpPr>
        <p:spPr>
          <a:xfrm>
            <a:off x="147317" y="3764107"/>
            <a:ext cx="1288000" cy="3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sz="16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Chain rule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75"/>
          <p:cNvSpPr txBox="1"/>
          <p:nvPr/>
        </p:nvSpPr>
        <p:spPr>
          <a:xfrm>
            <a:off x="6218784" y="5039243"/>
            <a:ext cx="1288000" cy="6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sz="16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Simplify constants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75"/>
          <p:cNvSpPr txBox="1"/>
          <p:nvPr/>
        </p:nvSpPr>
        <p:spPr>
          <a:xfrm>
            <a:off x="147317" y="5144927"/>
            <a:ext cx="1288000" cy="6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sz="16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Simplify constants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75"/>
          <p:cNvSpPr/>
          <p:nvPr/>
        </p:nvSpPr>
        <p:spPr>
          <a:xfrm>
            <a:off x="1798233" y="5019533"/>
            <a:ext cx="3445200" cy="11980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30" name="Google Shape;930;p75"/>
          <p:cNvSpPr/>
          <p:nvPr/>
        </p:nvSpPr>
        <p:spPr>
          <a:xfrm>
            <a:off x="8011333" y="4890433"/>
            <a:ext cx="3749200" cy="11980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931" name="Google Shape;931;p75" descr="{&quot;backgroundColor&quot;:&quot;#FFFFFF&quot;,&quot;aid&quot;:null,&quot;font&quot;:{&quot;size&quot;:20,&quot;color&quot;:&quot;#0B5394&quot;,&quot;family&quot;:&quot;Roboto&quot;},&quot;code&quot;:&quot;$$\\theta_{0},\\theta_{1}$$&quot;,&quot;type&quot;:&quot;$$&quot;,&quot;id&quot;:&quot;11&quot;,&quot;ts&quot;:1688540922480,&quot;cs&quot;:&quot;gxztNU+gJ11o5cwrLRwPdQ==&quot;,&quot;size&quot;:{&quot;width&quot;:55.666666666666664,&quot;height&quot;:24.333333333333332}}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464505" y="424713"/>
            <a:ext cx="706967" cy="309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"/>
              <a:t>From Estimating Equations to Estimators</a:t>
            </a:r>
            <a:endParaRPr/>
          </a:p>
        </p:txBody>
      </p:sp>
      <p:sp>
        <p:nvSpPr>
          <p:cNvPr id="1071" name="Google Shape;1071;p8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27</a:t>
            </a:fld>
            <a:endParaRPr/>
          </a:p>
        </p:txBody>
      </p:sp>
      <p:sp>
        <p:nvSpPr>
          <p:cNvPr id="1069" name="Google Shape;1069;p82"/>
          <p:cNvSpPr txBox="1">
            <a:spLocks noGrp="1"/>
          </p:cNvSpPr>
          <p:nvPr>
            <p:ph type="body" idx="4294967295"/>
          </p:nvPr>
        </p:nvSpPr>
        <p:spPr>
          <a:xfrm>
            <a:off x="0" y="2970213"/>
            <a:ext cx="5334000" cy="390525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Plug in definitions of correlation and SD: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/>
          </a:p>
        </p:txBody>
      </p:sp>
      <p:sp>
        <p:nvSpPr>
          <p:cNvPr id="1072" name="Google Shape;1072;p82"/>
          <p:cNvSpPr/>
          <p:nvPr/>
        </p:nvSpPr>
        <p:spPr>
          <a:xfrm>
            <a:off x="6567500" y="2406667"/>
            <a:ext cx="5228400" cy="28056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73" name="Google Shape;1073;p82"/>
          <p:cNvSpPr txBox="1"/>
          <p:nvPr/>
        </p:nvSpPr>
        <p:spPr>
          <a:xfrm>
            <a:off x="163333" y="4766067"/>
            <a:ext cx="3880800" cy="67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" sz="21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Solve for      :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074" name="Google Shape;1074;p82" descr="{&quot;id&quot;:&quot;16&quot;,&quot;code&quot;:&quot;$$\\Rightarrow\\frac{1}{n}\\sum_{i}^{}\\left[\\left(y_{i}-\\bar{y}\\right)\\left(x_{i}-\\bar{x}\\right)-\\hat{\\theta}_{1}\\left(x_{i}-\\bar{x}\\right)^{2}\\right]=0$$&quot;,&quot;type&quot;:&quot;$$&quot;,&quot;aid&quot;:null,&quot;font&quot;:{&quot;family&quot;:&quot;Arial&quot;,&quot;color&quot;:&quot;#000000&quot;,&quot;size&quot;:18},&quot;backgroundColor&quot;:&quot;#FFFFFF&quot;,&quot;ts&quot;:1688545515375,&quot;cs&quot;:&quot;f06xP3Qnb+icJtoqVKRLrA==&quot;,&quot;size&quot;:{&quot;width&quot;:547.5,&quot;height&quot;:68.5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33" y="648641"/>
            <a:ext cx="6953251" cy="86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82" descr="{&quot;font&quot;:{&quot;color&quot;:&quot;#000000&quot;,&quot;family&quot;:&quot;Arial&quot;,&quot;size&quot;:18},&quot;code&quot;:&quot;$$\\Rightarrow\\frac{1}{n}\\sum_{i}^{}\\left(y_{i}-\\bar{y}\\right)\\left(x_{i}-\\bar{x}\\right)=\\hat{\\theta}_{1}\\frac{1}{n}\\sum_{i}^{}\\left(x_{i}-\\bar{x}\\right)^{2}$$&quot;,&quot;aid&quot;:null,&quot;id&quot;:&quot;16&quot;,&quot;type&quot;:&quot;$$&quot;,&quot;backgroundColor&quot;:&quot;#FFFFFF&quot;,&quot;ts&quot;:1688545558963,&quot;cs&quot;:&quot;t0WHt2RGgBednxcMbLrbyA==&quot;,&quot;size&quot;:{&quot;width&quot;:550.5,&quot;height&quot;:68.5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185" y="1592862"/>
            <a:ext cx="6991351" cy="86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82" descr="{&quot;code&quot;:&quot;$$r=\\frac{1}{n}\\sum_{i=1}^{n}\\left(\\frac{x_{i}-\\bar{x}}{\\sigma_{x}}\\right)\\left(\\frac{y_{i}-\\bar{y}}{\\sigma_{y}}\\right)$$&quot;,&quot;backgroundColor&quot;:&quot;#FFFFFF&quot;,&quot;id&quot;:&quot;8&quot;,&quot;font&quot;:{&quot;family&quot;:&quot;Arial&quot;,&quot;size&quot;:18,&quot;color&quot;:&quot;#000000&quot;},&quot;aid&quot;:null,&quot;type&quot;:&quot;$$&quot;,&quot;ts&quot;:1688435229703,&quot;cs&quot;:&quot;YxO8LU3f9f3W4QdsUXHpTw==&quot;,&quot;size&quot;:{&quot;width&quot;:373.3333333333333,&quot;height&quot;:72.33333333333333}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1034" y="4070334"/>
            <a:ext cx="4741333" cy="918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82" descr="{&quot;font&quot;:{&quot;color&quot;:&quot;#000000&quot;,&quot;family&quot;:&quot;Arial&quot;,&quot;size&quot;:18},&quot;aid&quot;:null,&quot;type&quot;:&quot;$$&quot;,&quot;id&quot;:&quot;17&quot;,&quot;backgroundColor&quot;:&quot;#FFFFFF&quot;,&quot;code&quot;:&quot;$$\\sigma_{x}^{2}=\\frac{1}{n}\\sum_{i=1}^{n}\\left(x_{i}-\\bar{x}\\right)^{2}$$&quot;,&quot;ts&quot;:1688545681672,&quot;cs&quot;:&quot;IX9aMndUoJAVhf98CcR13g==&quot;,&quot;size&quot;:{&quot;width&quot;:250.79999999999995,&quot;height&quot;:72.19999999999999}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1033" y="2970534"/>
            <a:ext cx="3185160" cy="91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82"/>
          <p:cNvSpPr txBox="1"/>
          <p:nvPr/>
        </p:nvSpPr>
        <p:spPr>
          <a:xfrm>
            <a:off x="6699333" y="2462801"/>
            <a:ext cx="52684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Reminder</a:t>
            </a:r>
            <a:endParaRPr sz="21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9" name="Google Shape;1079;p82" descr="{&quot;code&quot;:&quot;$$r\\sigma_{y}\\sigma_{x}=\\hat{\\theta}_{1}\\sigma_{x}^{2}$$&quot;,&quot;font&quot;:{&quot;size&quot;:24,&quot;family&quot;:&quot;Arial&quot;,&quot;color&quot;:&quot;#000000&quot;},&quot;backgroundColor&quot;:&quot;#FFFFFF&quot;,&quot;type&quot;:&quot;$$&quot;,&quot;id&quot;:&quot;18&quot;,&quot;aid&quot;:null,&quot;ts&quot;:1688545764356,&quot;cs&quot;:&quot;W+AR6Ysl7P70MlJEUg6Nhw==&quot;,&quot;size&quot;:{&quot;width&quot;:213.5,&quot;height&quot;:46}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1742" y="4181867"/>
            <a:ext cx="2711451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82" descr="{&quot;aid&quot;:null,&quot;type&quot;:&quot;$$&quot;,&quot;font&quot;:{&quot;size&quot;:24,&quot;color&quot;:&quot;#000000&quot;,&quot;family&quot;:&quot;Arial&quot;},&quot;id&quot;:&quot;19&quot;,&quot;backgroundColor&quot;:&quot;#FFFFFF&quot;,&quot;code&quot;:&quot;$$\\hat{\\theta}_{1}=r\\frac{\\sigma_{y}}{\\sigma_{x}}$$&quot;,&quot;ts&quot;:1688545816315,&quot;cs&quot;:&quot;9EpZzDKHckAqa0Ya3S6fmQ==&quot;,&quot;size&quot;:{&quot;width&quot;:152.83333333333334,&quot;height&quot;:76.33333333333333}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21251" y="5513301"/>
            <a:ext cx="1940984" cy="969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82" descr="{&quot;backgroundColor&quot;:&quot;#FFFFFF&quot;,&quot;code&quot;:&quot;$$\\hat{\\theta}_{1}$$&quot;,&quot;font&quot;:{&quot;family&quot;:&quot;Roboto&quot;,&quot;size&quot;:18,&quot;color&quot;:&quot;#0B5394&quot;},&quot;aid&quot;:null,&quot;type&quot;:&quot;$$&quot;,&quot;id&quot;:&quot;20&quot;,&quot;ts&quot;:1688545853368,&quot;cs&quot;:&quot;TxY5Fg6A2TQFM28uOQII8w==&quot;,&quot;size&quot;:{&quot;width&quot;:20.5,&quot;height&quot;:26.333333333333332}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97101" y="4984444"/>
            <a:ext cx="260351" cy="334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The Modeling Process</a:t>
            </a:r>
            <a:endParaRPr/>
          </a:p>
        </p:txBody>
      </p:sp>
      <p:sp>
        <p:nvSpPr>
          <p:cNvPr id="572" name="Google Shape;572;p5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28</a:t>
            </a:fld>
            <a:endParaRPr/>
          </a:p>
        </p:txBody>
      </p:sp>
      <p:sp>
        <p:nvSpPr>
          <p:cNvPr id="577" name="Google Shape;577;p54"/>
          <p:cNvSpPr txBox="1">
            <a:spLocks noGrp="1"/>
          </p:cNvSpPr>
          <p:nvPr>
            <p:ph type="body" idx="4294967295"/>
          </p:nvPr>
        </p:nvSpPr>
        <p:spPr>
          <a:xfrm>
            <a:off x="3816998" y="2511347"/>
            <a:ext cx="3091045" cy="1096962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000" dirty="0">
                <a:latin typeface="+mn-lt"/>
              </a:rPr>
              <a:t>How do we quantify prediction error?</a:t>
            </a:r>
            <a:endParaRPr sz="2000" dirty="0">
              <a:latin typeface="+mn-lt"/>
            </a:endParaRPr>
          </a:p>
        </p:txBody>
      </p:sp>
      <p:sp>
        <p:nvSpPr>
          <p:cNvPr id="578" name="Google Shape;578;p54"/>
          <p:cNvSpPr txBox="1">
            <a:spLocks noGrp="1"/>
          </p:cNvSpPr>
          <p:nvPr>
            <p:ph type="body" idx="4294967295"/>
          </p:nvPr>
        </p:nvSpPr>
        <p:spPr>
          <a:xfrm>
            <a:off x="3858419" y="4000422"/>
            <a:ext cx="3821112" cy="1096963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000" dirty="0">
                <a:latin typeface="+mn-lt"/>
              </a:rPr>
              <a:t>How do we choose the best parameters of our model given our data?</a:t>
            </a:r>
            <a:endParaRPr sz="2000" dirty="0">
              <a:latin typeface="+mn-lt"/>
            </a:endParaRPr>
          </a:p>
        </p:txBody>
      </p:sp>
      <p:sp>
        <p:nvSpPr>
          <p:cNvPr id="579" name="Google Shape;579;p54"/>
          <p:cNvSpPr txBox="1">
            <a:spLocks noGrp="1"/>
          </p:cNvSpPr>
          <p:nvPr>
            <p:ph type="body" idx="4294967295"/>
          </p:nvPr>
        </p:nvSpPr>
        <p:spPr>
          <a:xfrm>
            <a:off x="3858420" y="5495668"/>
            <a:ext cx="3630056" cy="1095375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000" dirty="0">
                <a:latin typeface="+mn-lt"/>
              </a:rPr>
              <a:t>How do we evaluate whether this process gave rise to a good model?</a:t>
            </a:r>
            <a:endParaRPr sz="2000" dirty="0">
              <a:latin typeface="+mn-lt"/>
            </a:endParaRPr>
          </a:p>
        </p:txBody>
      </p:sp>
      <p:grpSp>
        <p:nvGrpSpPr>
          <p:cNvPr id="573" name="Google Shape;573;p54"/>
          <p:cNvGrpSpPr/>
          <p:nvPr/>
        </p:nvGrpSpPr>
        <p:grpSpPr>
          <a:xfrm>
            <a:off x="767733" y="2675004"/>
            <a:ext cx="2654800" cy="4071533"/>
            <a:chOff x="141000" y="1663350"/>
            <a:chExt cx="1991100" cy="3053650"/>
          </a:xfrm>
        </p:grpSpPr>
        <p:sp>
          <p:nvSpPr>
            <p:cNvPr id="574" name="Google Shape;574;p54"/>
            <p:cNvSpPr/>
            <p:nvPr/>
          </p:nvSpPr>
          <p:spPr>
            <a:xfrm>
              <a:off x="141000" y="1663350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2. Choose a loss function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5" name="Google Shape;575;p54"/>
            <p:cNvSpPr/>
            <p:nvPr/>
          </p:nvSpPr>
          <p:spPr>
            <a:xfrm>
              <a:off x="141000" y="2778875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3. Fit the model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6" name="Google Shape;576;p54"/>
            <p:cNvSpPr/>
            <p:nvPr/>
          </p:nvSpPr>
          <p:spPr>
            <a:xfrm>
              <a:off x="141000" y="3894400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4. Evaluate model performance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80" name="Google Shape;580;p54"/>
          <p:cNvSpPr/>
          <p:nvPr/>
        </p:nvSpPr>
        <p:spPr>
          <a:xfrm>
            <a:off x="767733" y="1187637"/>
            <a:ext cx="2654800" cy="1096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Choose a model</a:t>
            </a:r>
            <a:endParaRPr sz="2133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54"/>
          <p:cNvSpPr txBox="1"/>
          <p:nvPr/>
        </p:nvSpPr>
        <p:spPr>
          <a:xfrm>
            <a:off x="3816998" y="1479637"/>
            <a:ext cx="5029200" cy="67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000" dirty="0">
                <a:solidFill>
                  <a:schemeClr val="dk1"/>
                </a:solidFill>
                <a:latin typeface="+mn-lt"/>
                <a:ea typeface="Roboto Light"/>
                <a:cs typeface="Roboto Light"/>
                <a:sym typeface="Roboto Light"/>
              </a:rPr>
              <a:t>How should we represent the world?</a:t>
            </a:r>
            <a:endParaRPr sz="1600" dirty="0">
              <a:latin typeface="+mn-l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" name="Google Shape;639;p57" descr="\hat{y} = \theta_0 + \theta_1 x">
            <a:extLst>
              <a:ext uri="{FF2B5EF4-FFF2-40B4-BE49-F238E27FC236}">
                <a16:creationId xmlns:a16="http://schemas.microsoft.com/office/drawing/2014/main" id="{FF6B00A7-B247-C1C8-1C68-ADF957719F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3375" y="1587095"/>
            <a:ext cx="2634270" cy="44898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56;p71">
            <a:extLst>
              <a:ext uri="{FF2B5EF4-FFF2-40B4-BE49-F238E27FC236}">
                <a16:creationId xmlns:a16="http://schemas.microsoft.com/office/drawing/2014/main" id="{01303252-20B9-312D-E38A-12D82CED1682}"/>
              </a:ext>
            </a:extLst>
          </p:cNvPr>
          <p:cNvSpPr/>
          <p:nvPr/>
        </p:nvSpPr>
        <p:spPr>
          <a:xfrm>
            <a:off x="6347210" y="4938447"/>
            <a:ext cx="5463200" cy="65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We want to find           that minimize</a:t>
            </a: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this </a:t>
            </a: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objective function</a:t>
            </a:r>
            <a:r>
              <a:rPr lang="en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" name="Google Shape;858;p71">
            <a:extLst>
              <a:ext uri="{FF2B5EF4-FFF2-40B4-BE49-F238E27FC236}">
                <a16:creationId xmlns:a16="http://schemas.microsoft.com/office/drawing/2014/main" id="{8E28FEF1-05ED-5AC5-4FEC-C938E5F7D012}"/>
              </a:ext>
            </a:extLst>
          </p:cNvPr>
          <p:cNvSpPr txBox="1"/>
          <p:nvPr/>
        </p:nvSpPr>
        <p:spPr>
          <a:xfrm>
            <a:off x="10394010" y="2359014"/>
            <a:ext cx="19136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Squared loss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" name="Google Shape;861;p71" title="[0,0,0,&quot;https://latex-staging.easygenerator.com/eqneditor/editor.php?latex=L(y%2C%20%5Chat%7By%7D)%20%3D%20(y%20-%20%5Chat%7By%7D)%5E2#0&quot;]">
            <a:extLst>
              <a:ext uri="{FF2B5EF4-FFF2-40B4-BE49-F238E27FC236}">
                <a16:creationId xmlns:a16="http://schemas.microsoft.com/office/drawing/2014/main" id="{5219C489-DA7B-CEFA-A315-B7D55477668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9063" y="2485464"/>
            <a:ext cx="2634270" cy="40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62;p71" descr="\hat{R}(\theta) = \frac{1}{n}\sum_{i = 1}^{n}(y_i - (\theta_0 + \theta_1x))^2">
            <a:extLst>
              <a:ext uri="{FF2B5EF4-FFF2-40B4-BE49-F238E27FC236}">
                <a16:creationId xmlns:a16="http://schemas.microsoft.com/office/drawing/2014/main" id="{2505F646-E3B0-E044-7193-C13E43840CA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8476" y="3383200"/>
            <a:ext cx="4049169" cy="819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59;p71" descr="\hat{\theta}_0, \hat{\theta}_1">
            <a:extLst>
              <a:ext uri="{FF2B5EF4-FFF2-40B4-BE49-F238E27FC236}">
                <a16:creationId xmlns:a16="http://schemas.microsoft.com/office/drawing/2014/main" id="{E71208A6-CCF6-0A46-02F9-F4C350AC44A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73143" y="4981134"/>
            <a:ext cx="495135" cy="28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117;p84" descr="\hat{y} = \hat{\theta}_0 +\hat{\theta}_1x">
            <a:extLst>
              <a:ext uri="{FF2B5EF4-FFF2-40B4-BE49-F238E27FC236}">
                <a16:creationId xmlns:a16="http://schemas.microsoft.com/office/drawing/2014/main" id="{FD7E8E1B-0DB0-7751-2127-FE1ECF7A58DA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24511" y="5954402"/>
            <a:ext cx="1469564" cy="372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18;p84" descr="\hat{\theta}_0 = \bar{y} - \hat{\theta}_1\bar{x}">
            <a:extLst>
              <a:ext uri="{FF2B5EF4-FFF2-40B4-BE49-F238E27FC236}">
                <a16:creationId xmlns:a16="http://schemas.microsoft.com/office/drawing/2014/main" id="{E93FA221-9580-1572-765B-9EBCBF99774F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47651" y="5714607"/>
            <a:ext cx="1176707" cy="296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119;p84" descr="\hat{\theta}_1 = r\frac{\sigma_y}{\sigma_x}">
            <a:extLst>
              <a:ext uri="{FF2B5EF4-FFF2-40B4-BE49-F238E27FC236}">
                <a16:creationId xmlns:a16="http://schemas.microsoft.com/office/drawing/2014/main" id="{E2584674-9DEF-D0FC-885E-40776AB4FE13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163333" y="6326914"/>
            <a:ext cx="740079" cy="45051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20;p84">
            <a:extLst>
              <a:ext uri="{FF2B5EF4-FFF2-40B4-BE49-F238E27FC236}">
                <a16:creationId xmlns:a16="http://schemas.microsoft.com/office/drawing/2014/main" id="{A045D327-CA56-0462-764C-5BC3956E1BFE}"/>
              </a:ext>
            </a:extLst>
          </p:cNvPr>
          <p:cNvSpPr/>
          <p:nvPr/>
        </p:nvSpPr>
        <p:spPr>
          <a:xfrm>
            <a:off x="9965096" y="5850739"/>
            <a:ext cx="45719" cy="710806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90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The Modeling Process</a:t>
            </a:r>
            <a:endParaRPr/>
          </a:p>
        </p:txBody>
      </p:sp>
      <p:sp>
        <p:nvSpPr>
          <p:cNvPr id="572" name="Google Shape;572;p5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29</a:t>
            </a:fld>
            <a:endParaRPr/>
          </a:p>
        </p:txBody>
      </p:sp>
      <p:sp>
        <p:nvSpPr>
          <p:cNvPr id="577" name="Google Shape;577;p54"/>
          <p:cNvSpPr txBox="1">
            <a:spLocks noGrp="1"/>
          </p:cNvSpPr>
          <p:nvPr>
            <p:ph type="body" idx="4294967295"/>
          </p:nvPr>
        </p:nvSpPr>
        <p:spPr>
          <a:xfrm>
            <a:off x="3816998" y="2511347"/>
            <a:ext cx="3091045" cy="1096962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000" dirty="0">
                <a:latin typeface="+mn-lt"/>
              </a:rPr>
              <a:t>How do we quantify prediction error?</a:t>
            </a:r>
            <a:endParaRPr sz="2000" dirty="0">
              <a:latin typeface="+mn-lt"/>
            </a:endParaRPr>
          </a:p>
        </p:txBody>
      </p:sp>
      <p:sp>
        <p:nvSpPr>
          <p:cNvPr id="578" name="Google Shape;578;p54"/>
          <p:cNvSpPr txBox="1">
            <a:spLocks noGrp="1"/>
          </p:cNvSpPr>
          <p:nvPr>
            <p:ph type="body" idx="4294967295"/>
          </p:nvPr>
        </p:nvSpPr>
        <p:spPr>
          <a:xfrm>
            <a:off x="3858419" y="4000422"/>
            <a:ext cx="3821112" cy="1096963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000" dirty="0">
                <a:latin typeface="+mn-lt"/>
              </a:rPr>
              <a:t>How do we choose the best parameters of our model given our data?</a:t>
            </a:r>
            <a:endParaRPr sz="2000" dirty="0">
              <a:latin typeface="+mn-lt"/>
            </a:endParaRPr>
          </a:p>
        </p:txBody>
      </p:sp>
      <p:sp>
        <p:nvSpPr>
          <p:cNvPr id="579" name="Google Shape;579;p54"/>
          <p:cNvSpPr txBox="1">
            <a:spLocks noGrp="1"/>
          </p:cNvSpPr>
          <p:nvPr>
            <p:ph type="body" idx="4294967295"/>
          </p:nvPr>
        </p:nvSpPr>
        <p:spPr>
          <a:xfrm>
            <a:off x="3858420" y="5495668"/>
            <a:ext cx="3630056" cy="1095375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000" b="1" dirty="0">
                <a:latin typeface="+mn-lt"/>
              </a:rPr>
              <a:t>How do we evaluate whether this process gave rise to a good model?</a:t>
            </a:r>
            <a:endParaRPr sz="2000" b="1" dirty="0">
              <a:latin typeface="+mn-lt"/>
            </a:endParaRPr>
          </a:p>
        </p:txBody>
      </p:sp>
      <p:grpSp>
        <p:nvGrpSpPr>
          <p:cNvPr id="573" name="Google Shape;573;p54"/>
          <p:cNvGrpSpPr/>
          <p:nvPr/>
        </p:nvGrpSpPr>
        <p:grpSpPr>
          <a:xfrm>
            <a:off x="767733" y="2675004"/>
            <a:ext cx="2654800" cy="4071533"/>
            <a:chOff x="141000" y="1663350"/>
            <a:chExt cx="1991100" cy="3053650"/>
          </a:xfrm>
        </p:grpSpPr>
        <p:sp>
          <p:nvSpPr>
            <p:cNvPr id="574" name="Google Shape;574;p54"/>
            <p:cNvSpPr/>
            <p:nvPr/>
          </p:nvSpPr>
          <p:spPr>
            <a:xfrm>
              <a:off x="141000" y="1663350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2. Choose a loss function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5" name="Google Shape;575;p54"/>
            <p:cNvSpPr/>
            <p:nvPr/>
          </p:nvSpPr>
          <p:spPr>
            <a:xfrm>
              <a:off x="141000" y="2778875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3. Fit the model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6" name="Google Shape;576;p54"/>
            <p:cNvSpPr/>
            <p:nvPr/>
          </p:nvSpPr>
          <p:spPr>
            <a:xfrm>
              <a:off x="141000" y="3894400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4. Evaluate model performance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80" name="Google Shape;580;p54"/>
          <p:cNvSpPr/>
          <p:nvPr/>
        </p:nvSpPr>
        <p:spPr>
          <a:xfrm>
            <a:off x="767733" y="1187637"/>
            <a:ext cx="2654800" cy="1096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Choose a model</a:t>
            </a:r>
            <a:endParaRPr sz="2133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54"/>
          <p:cNvSpPr txBox="1"/>
          <p:nvPr/>
        </p:nvSpPr>
        <p:spPr>
          <a:xfrm>
            <a:off x="3816998" y="1479637"/>
            <a:ext cx="5029200" cy="67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000" dirty="0">
                <a:solidFill>
                  <a:schemeClr val="dk1"/>
                </a:solidFill>
                <a:latin typeface="+mn-lt"/>
                <a:ea typeface="Roboto Light"/>
                <a:cs typeface="Roboto Light"/>
                <a:sym typeface="Roboto Light"/>
              </a:rPr>
              <a:t>How should we represent the world?</a:t>
            </a:r>
            <a:endParaRPr sz="1600" dirty="0">
              <a:latin typeface="+mn-l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" name="Google Shape;639;p57" descr="\hat{y} = \theta_0 + \theta_1 x">
            <a:extLst>
              <a:ext uri="{FF2B5EF4-FFF2-40B4-BE49-F238E27FC236}">
                <a16:creationId xmlns:a16="http://schemas.microsoft.com/office/drawing/2014/main" id="{FF6B00A7-B247-C1C8-1C68-ADF957719F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3375" y="1587095"/>
            <a:ext cx="2634270" cy="44898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56;p71">
            <a:extLst>
              <a:ext uri="{FF2B5EF4-FFF2-40B4-BE49-F238E27FC236}">
                <a16:creationId xmlns:a16="http://schemas.microsoft.com/office/drawing/2014/main" id="{01303252-20B9-312D-E38A-12D82CED1682}"/>
              </a:ext>
            </a:extLst>
          </p:cNvPr>
          <p:cNvSpPr/>
          <p:nvPr/>
        </p:nvSpPr>
        <p:spPr>
          <a:xfrm>
            <a:off x="6347210" y="4938447"/>
            <a:ext cx="5463200" cy="65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We want to find           that minimize</a:t>
            </a: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this </a:t>
            </a: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objective function</a:t>
            </a:r>
            <a:r>
              <a:rPr lang="en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" name="Google Shape;858;p71">
            <a:extLst>
              <a:ext uri="{FF2B5EF4-FFF2-40B4-BE49-F238E27FC236}">
                <a16:creationId xmlns:a16="http://schemas.microsoft.com/office/drawing/2014/main" id="{8E28FEF1-05ED-5AC5-4FEC-C938E5F7D012}"/>
              </a:ext>
            </a:extLst>
          </p:cNvPr>
          <p:cNvSpPr txBox="1"/>
          <p:nvPr/>
        </p:nvSpPr>
        <p:spPr>
          <a:xfrm>
            <a:off x="10394010" y="2359014"/>
            <a:ext cx="19136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Squared loss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" name="Google Shape;861;p71" title="[0,0,0,&quot;https://latex-staging.easygenerator.com/eqneditor/editor.php?latex=L(y%2C%20%5Chat%7By%7D)%20%3D%20(y%20-%20%5Chat%7By%7D)%5E2#0&quot;]">
            <a:extLst>
              <a:ext uri="{FF2B5EF4-FFF2-40B4-BE49-F238E27FC236}">
                <a16:creationId xmlns:a16="http://schemas.microsoft.com/office/drawing/2014/main" id="{5219C489-DA7B-CEFA-A315-B7D55477668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9063" y="2485464"/>
            <a:ext cx="2634270" cy="40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62;p71" descr="\hat{R}(\theta) = \frac{1}{n}\sum_{i = 1}^{n}(y_i - (\theta_0 + \theta_1x))^2">
            <a:extLst>
              <a:ext uri="{FF2B5EF4-FFF2-40B4-BE49-F238E27FC236}">
                <a16:creationId xmlns:a16="http://schemas.microsoft.com/office/drawing/2014/main" id="{2505F646-E3B0-E044-7193-C13E43840CA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8476" y="3383200"/>
            <a:ext cx="4049169" cy="819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59;p71" descr="\hat{\theta}_0, \hat{\theta}_1">
            <a:extLst>
              <a:ext uri="{FF2B5EF4-FFF2-40B4-BE49-F238E27FC236}">
                <a16:creationId xmlns:a16="http://schemas.microsoft.com/office/drawing/2014/main" id="{E71208A6-CCF6-0A46-02F9-F4C350AC44A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73143" y="4981134"/>
            <a:ext cx="495135" cy="28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117;p84" descr="\hat{y} = \hat{\theta}_0 +\hat{\theta}_1x">
            <a:extLst>
              <a:ext uri="{FF2B5EF4-FFF2-40B4-BE49-F238E27FC236}">
                <a16:creationId xmlns:a16="http://schemas.microsoft.com/office/drawing/2014/main" id="{FD7E8E1B-0DB0-7751-2127-FE1ECF7A58DA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24511" y="5954402"/>
            <a:ext cx="1469564" cy="372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18;p84" descr="\hat{\theta}_0 = \bar{y} - \hat{\theta}_1\bar{x}">
            <a:extLst>
              <a:ext uri="{FF2B5EF4-FFF2-40B4-BE49-F238E27FC236}">
                <a16:creationId xmlns:a16="http://schemas.microsoft.com/office/drawing/2014/main" id="{E93FA221-9580-1572-765B-9EBCBF99774F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47651" y="5714607"/>
            <a:ext cx="1176707" cy="296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119;p84" descr="\hat{\theta}_1 = r\frac{\sigma_y}{\sigma_x}">
            <a:extLst>
              <a:ext uri="{FF2B5EF4-FFF2-40B4-BE49-F238E27FC236}">
                <a16:creationId xmlns:a16="http://schemas.microsoft.com/office/drawing/2014/main" id="{E2584674-9DEF-D0FC-885E-40776AB4FE13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163333" y="6326914"/>
            <a:ext cx="740079" cy="45051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20;p84">
            <a:extLst>
              <a:ext uri="{FF2B5EF4-FFF2-40B4-BE49-F238E27FC236}">
                <a16:creationId xmlns:a16="http://schemas.microsoft.com/office/drawing/2014/main" id="{A045D327-CA56-0462-764C-5BC3956E1BFE}"/>
              </a:ext>
            </a:extLst>
          </p:cNvPr>
          <p:cNvSpPr/>
          <p:nvPr/>
        </p:nvSpPr>
        <p:spPr>
          <a:xfrm>
            <a:off x="9965096" y="5850739"/>
            <a:ext cx="45719" cy="710806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576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15E11F1-48BC-9C7C-335C-048CD5A47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1"/>
            <a:ext cx="11658601" cy="5553073"/>
          </a:xfrm>
        </p:spPr>
        <p:txBody>
          <a:bodyPr/>
          <a:lstStyle/>
          <a:p>
            <a:pPr marL="0" lvl="0" indent="0">
              <a:buNone/>
            </a:pPr>
            <a:r>
              <a:rPr lang="en-US" sz="2400" dirty="0"/>
              <a:t>What are some ways to determine if our model was a good fit to our data?</a:t>
            </a:r>
          </a:p>
          <a:p>
            <a:pPr lvl="0"/>
            <a:r>
              <a:rPr lang="en-US" sz="2400" dirty="0">
                <a:solidFill>
                  <a:srgbClr val="0070C0"/>
                </a:solidFill>
                <a:sym typeface="Roboto"/>
              </a:rPr>
              <a:t>Visualize data, compute statistics:</a:t>
            </a:r>
            <a:endParaRPr lang="en-US" sz="2400" dirty="0">
              <a:solidFill>
                <a:srgbClr val="0070C0"/>
              </a:solidFill>
            </a:endParaRPr>
          </a:p>
          <a:p>
            <a:pPr lvl="1"/>
            <a:r>
              <a:rPr lang="en-US" sz="2000" dirty="0"/>
              <a:t>Plot original data.</a:t>
            </a:r>
            <a:br>
              <a:rPr lang="en-US" sz="2000" dirty="0"/>
            </a:br>
            <a:r>
              <a:rPr lang="en-US" sz="2000" dirty="0"/>
              <a:t>	Compute column means, standard deviation.</a:t>
            </a:r>
            <a:br>
              <a:rPr lang="en-US" sz="2000" dirty="0"/>
            </a:br>
            <a:r>
              <a:rPr lang="en-US" sz="2000" dirty="0"/>
              <a:t>	If we want to fit a linear model, compute correlation.</a:t>
            </a:r>
          </a:p>
          <a:p>
            <a:pPr lvl="0"/>
            <a:r>
              <a:rPr lang="en-US" sz="2400" dirty="0">
                <a:solidFill>
                  <a:srgbClr val="0070C0"/>
                </a:solidFill>
                <a:sym typeface="Roboto"/>
              </a:rPr>
              <a:t>Performance metrics:</a:t>
            </a:r>
          </a:p>
          <a:p>
            <a:pPr lvl="1"/>
            <a:r>
              <a:rPr lang="en-US" sz="2000" dirty="0">
                <a:sym typeface="Roboto"/>
              </a:rPr>
              <a:t>Root Mean Square Error</a:t>
            </a:r>
            <a:r>
              <a:rPr lang="en-US" sz="2000" dirty="0"/>
              <a:t> (RMSE)</a:t>
            </a:r>
          </a:p>
          <a:p>
            <a:pPr lvl="1"/>
            <a:r>
              <a:rPr lang="en-US" sz="2000" dirty="0"/>
              <a:t>It is the square root of MSE, which is the average loss</a:t>
            </a:r>
            <a:br>
              <a:rPr lang="en-US" sz="2000" dirty="0"/>
            </a:br>
            <a:r>
              <a:rPr lang="en-US" sz="2000" dirty="0"/>
              <a:t>that we've been minimizing to determine optimal model parameters.</a:t>
            </a:r>
          </a:p>
          <a:p>
            <a:pPr lvl="1"/>
            <a:r>
              <a:rPr lang="en-US" sz="2000" dirty="0"/>
              <a:t>RMSE is in the same units as y.</a:t>
            </a:r>
          </a:p>
          <a:p>
            <a:pPr lvl="1"/>
            <a:r>
              <a:rPr lang="en-US" sz="2000" dirty="0"/>
              <a:t>A lower RMSE indicates more "accurate" predictions (lower "average loss" across data)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dirty="0">
                <a:solidFill>
                  <a:srgbClr val="0070C0"/>
                </a:solidFill>
                <a:ea typeface="Calibri" panose="020F0502020204030204" pitchFamily="34" charset="0"/>
                <a:sym typeface="Roboto"/>
              </a:rPr>
              <a:t>Visualization: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2000" dirty="0"/>
              <a:t>Look at a residual plot of                     to visualize the difference between actual and predicted</a:t>
            </a:r>
            <a:r>
              <a:rPr lang="en-US" sz="2000" i="1" dirty="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000" dirty="0"/>
              <a:t>values.</a:t>
            </a:r>
          </a:p>
          <a:p>
            <a:endParaRPr lang="en-US" sz="2400" dirty="0"/>
          </a:p>
          <a:p>
            <a:pPr lvl="0"/>
            <a:endParaRPr lang="en-US" sz="2400" dirty="0"/>
          </a:p>
          <a:p>
            <a:endParaRPr lang="en-US" sz="2400" dirty="0"/>
          </a:p>
        </p:txBody>
      </p:sp>
      <p:sp>
        <p:nvSpPr>
          <p:cNvPr id="294" name="Google Shape;294;p39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/>
              <a:t>Evaluating Models</a:t>
            </a:r>
          </a:p>
        </p:txBody>
      </p:sp>
      <p:sp>
        <p:nvSpPr>
          <p:cNvPr id="295" name="Google Shape;295;p39"/>
          <p:cNvSpPr txBox="1">
            <a:spLocks noGrp="1"/>
          </p:cNvSpPr>
          <p:nvPr>
            <p:ph type="sldNum" sz="quarter" idx="12"/>
          </p:nvPr>
        </p:nvSpPr>
        <p:spPr>
          <a:xfrm>
            <a:off x="11694319" y="6600825"/>
            <a:ext cx="497680" cy="257176"/>
          </a:xfr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30</a:t>
            </a:fld>
            <a:endParaRPr lang="en"/>
          </a:p>
        </p:txBody>
      </p:sp>
      <p:pic>
        <p:nvPicPr>
          <p:cNvPr id="13" name="Google Shape;290;p39">
            <a:extLst>
              <a:ext uri="{FF2B5EF4-FFF2-40B4-BE49-F238E27FC236}">
                <a16:creationId xmlns:a16="http://schemas.microsoft.com/office/drawing/2014/main" id="{00752696-B70C-DF97-BFDD-E66BFE3996C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6102" y="2768283"/>
            <a:ext cx="2879324" cy="969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98;p39">
            <a:extLst>
              <a:ext uri="{FF2B5EF4-FFF2-40B4-BE49-F238E27FC236}">
                <a16:creationId xmlns:a16="http://schemas.microsoft.com/office/drawing/2014/main" id="{8BEAA5B1-0715-9B4A-9264-EE67D97BE15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5987" y="5584450"/>
            <a:ext cx="1156200" cy="28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F40F9E-0315-AF61-4BFE-4E38E596F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datasets with the same MSE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E4980-39E9-865E-78A3-7A3D58A7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5" name="Google Shape;319;p41">
            <a:extLst>
              <a:ext uri="{FF2B5EF4-FFF2-40B4-BE49-F238E27FC236}">
                <a16:creationId xmlns:a16="http://schemas.microsoft.com/office/drawing/2014/main" id="{14FF3118-6C93-F1A5-40BA-A80EDA6BC59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16332" y="1123122"/>
            <a:ext cx="6918537" cy="475195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20;p41">
            <a:extLst>
              <a:ext uri="{FF2B5EF4-FFF2-40B4-BE49-F238E27FC236}">
                <a16:creationId xmlns:a16="http://schemas.microsoft.com/office/drawing/2014/main" id="{C6B10F44-4E2A-409C-DC3B-AF2361B804C2}"/>
              </a:ext>
            </a:extLst>
          </p:cNvPr>
          <p:cNvSpPr/>
          <p:nvPr/>
        </p:nvSpPr>
        <p:spPr>
          <a:xfrm>
            <a:off x="968187" y="2425148"/>
            <a:ext cx="2957769" cy="26541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Before modeling, you should always </a:t>
            </a:r>
            <a:r>
              <a:rPr lang="en" sz="16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visualize</a:t>
            </a:r>
            <a:r>
              <a:rPr lang="en" sz="1600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your data first!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49357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20DB65-4FC2-FDA0-535C-83F65C496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6A574-F876-3E4D-7D83-F267C08C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32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E4FA04-8D3C-004D-18C4-7C49F8075CAC}"/>
              </a:ext>
            </a:extLst>
          </p:cNvPr>
          <p:cNvGrpSpPr/>
          <p:nvPr/>
        </p:nvGrpSpPr>
        <p:grpSpPr>
          <a:xfrm>
            <a:off x="1370422" y="1470991"/>
            <a:ext cx="9115360" cy="4921039"/>
            <a:chOff x="2863825" y="2240370"/>
            <a:chExt cx="6055799" cy="2767531"/>
          </a:xfrm>
        </p:grpSpPr>
        <p:pic>
          <p:nvPicPr>
            <p:cNvPr id="5" name="Google Shape;329;p42">
              <a:extLst>
                <a:ext uri="{FF2B5EF4-FFF2-40B4-BE49-F238E27FC236}">
                  <a16:creationId xmlns:a16="http://schemas.microsoft.com/office/drawing/2014/main" id="{E9D4A0B1-E9AF-F8C6-DE45-0C801453D6F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10658"/>
            <a:stretch/>
          </p:blipFill>
          <p:spPr>
            <a:xfrm>
              <a:off x="4701276" y="2240370"/>
              <a:ext cx="2065138" cy="13837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330;p42">
              <a:extLst>
                <a:ext uri="{FF2B5EF4-FFF2-40B4-BE49-F238E27FC236}">
                  <a16:creationId xmlns:a16="http://schemas.microsoft.com/office/drawing/2014/main" id="{BB74BD2C-4BAA-7003-3D78-A566C84E2DE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t="10658"/>
            <a:stretch/>
          </p:blipFill>
          <p:spPr>
            <a:xfrm>
              <a:off x="6854452" y="2240387"/>
              <a:ext cx="2065142" cy="13837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331;p42">
              <a:extLst>
                <a:ext uri="{FF2B5EF4-FFF2-40B4-BE49-F238E27FC236}">
                  <a16:creationId xmlns:a16="http://schemas.microsoft.com/office/drawing/2014/main" id="{5AE5AB87-17C6-89A9-B03E-3B947E95990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10658"/>
            <a:stretch/>
          </p:blipFill>
          <p:spPr>
            <a:xfrm>
              <a:off x="4745288" y="3624126"/>
              <a:ext cx="2065150" cy="1383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332;p42">
              <a:extLst>
                <a:ext uri="{FF2B5EF4-FFF2-40B4-BE49-F238E27FC236}">
                  <a16:creationId xmlns:a16="http://schemas.microsoft.com/office/drawing/2014/main" id="{BF23B4B8-3E46-FD16-A8B6-12DC90F4BA1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t="10658"/>
            <a:stretch/>
          </p:blipFill>
          <p:spPr>
            <a:xfrm>
              <a:off x="6854474" y="3624149"/>
              <a:ext cx="2065150" cy="13837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333;p42" title="[0,0,0,&quot;https://latex-staging.easygenerator.com/eqneditor/editor.php?latex=e%20%3D%20y%20-%20%5Chat%7By%7D#0&quot;]">
              <a:extLst>
                <a:ext uri="{FF2B5EF4-FFF2-40B4-BE49-F238E27FC236}">
                  <a16:creationId xmlns:a16="http://schemas.microsoft.com/office/drawing/2014/main" id="{1E7E87D9-B098-04E3-76C3-0091D4E2530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36932" t="-6360"/>
            <a:stretch/>
          </p:blipFill>
          <p:spPr>
            <a:xfrm rot="16200000">
              <a:off x="4288963" y="2734713"/>
              <a:ext cx="767250" cy="292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36;p42" title="[0,0,0,&quot;https://latex-staging.easygenerator.com/eqneditor/editor.php?latex=e%20%3D%20y%20-%20%5Chat%7By%7D#0&quot;]">
              <a:extLst>
                <a:ext uri="{FF2B5EF4-FFF2-40B4-BE49-F238E27FC236}">
                  <a16:creationId xmlns:a16="http://schemas.microsoft.com/office/drawing/2014/main" id="{53381D65-F485-BC45-0E13-D18BE138B584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36932" t="-6360"/>
            <a:stretch/>
          </p:blipFill>
          <p:spPr>
            <a:xfrm rot="16200000">
              <a:off x="4288963" y="4114988"/>
              <a:ext cx="767250" cy="292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337;p42">
              <a:extLst>
                <a:ext uri="{FF2B5EF4-FFF2-40B4-BE49-F238E27FC236}">
                  <a16:creationId xmlns:a16="http://schemas.microsoft.com/office/drawing/2014/main" id="{79758937-AB4F-B7BF-00B2-A9AAC4968228}"/>
                </a:ext>
              </a:extLst>
            </p:cNvPr>
            <p:cNvSpPr/>
            <p:nvPr/>
          </p:nvSpPr>
          <p:spPr>
            <a:xfrm>
              <a:off x="2863825" y="2899225"/>
              <a:ext cx="1480200" cy="180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The residual plot of a good regression</a:t>
              </a:r>
              <a:br>
                <a:rPr lang="en" sz="1600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</a:br>
              <a:r>
                <a:rPr lang="en" sz="1600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shows </a:t>
              </a:r>
              <a:r>
                <a:rPr lang="en" sz="16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no pattern</a:t>
              </a:r>
              <a:r>
                <a:rPr lang="en" sz="1600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.</a:t>
              </a:r>
              <a:endParaRPr sz="1600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32048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The Modeling Process</a:t>
            </a:r>
            <a:endParaRPr/>
          </a:p>
        </p:txBody>
      </p:sp>
      <p:sp>
        <p:nvSpPr>
          <p:cNvPr id="572" name="Google Shape;572;p5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33</a:t>
            </a:fld>
            <a:endParaRPr/>
          </a:p>
        </p:txBody>
      </p:sp>
      <p:sp>
        <p:nvSpPr>
          <p:cNvPr id="577" name="Google Shape;577;p54"/>
          <p:cNvSpPr txBox="1">
            <a:spLocks noGrp="1"/>
          </p:cNvSpPr>
          <p:nvPr>
            <p:ph type="body" idx="4294967295"/>
          </p:nvPr>
        </p:nvSpPr>
        <p:spPr>
          <a:xfrm>
            <a:off x="3816998" y="2511347"/>
            <a:ext cx="3091045" cy="1096962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Roboto Light"/>
                <a:ea typeface="Roboto Light"/>
                <a:cs typeface="Roboto Light"/>
                <a:sym typeface="Roboto Light"/>
              </a:rPr>
              <a:t>L2 Loss</a:t>
            </a: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000" dirty="0">
                <a:latin typeface="Roboto Light"/>
                <a:ea typeface="Roboto Light"/>
                <a:cs typeface="Roboto Light"/>
                <a:sym typeface="Roboto Light"/>
              </a:rPr>
              <a:t>Mean Squared Error (MSE)</a:t>
            </a:r>
          </a:p>
        </p:txBody>
      </p:sp>
      <p:sp>
        <p:nvSpPr>
          <p:cNvPr id="578" name="Google Shape;578;p54"/>
          <p:cNvSpPr txBox="1">
            <a:spLocks noGrp="1"/>
          </p:cNvSpPr>
          <p:nvPr>
            <p:ph type="body" idx="4294967295"/>
          </p:nvPr>
        </p:nvSpPr>
        <p:spPr>
          <a:xfrm>
            <a:off x="3858419" y="4000422"/>
            <a:ext cx="3821112" cy="1096963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Roboto Light"/>
                <a:ea typeface="Roboto Light"/>
                <a:cs typeface="Roboto Light"/>
                <a:sym typeface="Roboto Light"/>
              </a:rPr>
              <a:t>Minimize average loss with calculus</a:t>
            </a:r>
          </a:p>
        </p:txBody>
      </p:sp>
      <p:sp>
        <p:nvSpPr>
          <p:cNvPr id="579" name="Google Shape;579;p54"/>
          <p:cNvSpPr txBox="1">
            <a:spLocks noGrp="1"/>
          </p:cNvSpPr>
          <p:nvPr>
            <p:ph type="body" idx="4294967295"/>
          </p:nvPr>
        </p:nvSpPr>
        <p:spPr>
          <a:xfrm>
            <a:off x="3858420" y="5495668"/>
            <a:ext cx="3630056" cy="1095375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Roboto Light"/>
                <a:ea typeface="Roboto Light"/>
                <a:cs typeface="Roboto Light"/>
                <a:sym typeface="Roboto Light"/>
              </a:rPr>
              <a:t>Visualize, Root MSE</a:t>
            </a:r>
          </a:p>
        </p:txBody>
      </p:sp>
      <p:grpSp>
        <p:nvGrpSpPr>
          <p:cNvPr id="573" name="Google Shape;573;p54"/>
          <p:cNvGrpSpPr/>
          <p:nvPr/>
        </p:nvGrpSpPr>
        <p:grpSpPr>
          <a:xfrm>
            <a:off x="767733" y="2675004"/>
            <a:ext cx="2654800" cy="4071533"/>
            <a:chOff x="141000" y="1663350"/>
            <a:chExt cx="1991100" cy="3053650"/>
          </a:xfrm>
        </p:grpSpPr>
        <p:sp>
          <p:nvSpPr>
            <p:cNvPr id="574" name="Google Shape;574;p54"/>
            <p:cNvSpPr/>
            <p:nvPr/>
          </p:nvSpPr>
          <p:spPr>
            <a:xfrm>
              <a:off x="141000" y="1663350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2. Choose a loss function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5" name="Google Shape;575;p54"/>
            <p:cNvSpPr/>
            <p:nvPr/>
          </p:nvSpPr>
          <p:spPr>
            <a:xfrm>
              <a:off x="141000" y="2778875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3. Fit the model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6" name="Google Shape;576;p54"/>
            <p:cNvSpPr/>
            <p:nvPr/>
          </p:nvSpPr>
          <p:spPr>
            <a:xfrm>
              <a:off x="141000" y="3894400"/>
              <a:ext cx="1991100" cy="8226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>
                  <a:latin typeface="Roboto"/>
                  <a:ea typeface="Roboto"/>
                  <a:cs typeface="Roboto"/>
                  <a:sym typeface="Roboto"/>
                </a:rPr>
                <a:t>4. Evaluate model performance</a:t>
              </a:r>
              <a:endParaRPr sz="2133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80" name="Google Shape;580;p54"/>
          <p:cNvSpPr/>
          <p:nvPr/>
        </p:nvSpPr>
        <p:spPr>
          <a:xfrm>
            <a:off x="767733" y="1187637"/>
            <a:ext cx="2654800" cy="1096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Choose a model</a:t>
            </a:r>
            <a:endParaRPr sz="2133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54"/>
          <p:cNvSpPr txBox="1"/>
          <p:nvPr/>
        </p:nvSpPr>
        <p:spPr>
          <a:xfrm>
            <a:off x="3816998" y="1541160"/>
            <a:ext cx="502920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Roboto Light"/>
                <a:ea typeface="Roboto Light"/>
                <a:cs typeface="Roboto Light"/>
                <a:sym typeface="Roboto Light"/>
              </a:rPr>
              <a:t>SLR model</a:t>
            </a:r>
          </a:p>
        </p:txBody>
      </p:sp>
      <p:pic>
        <p:nvPicPr>
          <p:cNvPr id="3" name="Google Shape;639;p57" descr="\hat{y} = \theta_0 + \theta_1 x">
            <a:extLst>
              <a:ext uri="{FF2B5EF4-FFF2-40B4-BE49-F238E27FC236}">
                <a16:creationId xmlns:a16="http://schemas.microsoft.com/office/drawing/2014/main" id="{FF6B00A7-B247-C1C8-1C68-ADF957719F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6545" y="1646129"/>
            <a:ext cx="2634270" cy="44898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56;p71">
            <a:extLst>
              <a:ext uri="{FF2B5EF4-FFF2-40B4-BE49-F238E27FC236}">
                <a16:creationId xmlns:a16="http://schemas.microsoft.com/office/drawing/2014/main" id="{01303252-20B9-312D-E38A-12D82CED1682}"/>
              </a:ext>
            </a:extLst>
          </p:cNvPr>
          <p:cNvSpPr/>
          <p:nvPr/>
        </p:nvSpPr>
        <p:spPr>
          <a:xfrm>
            <a:off x="6347210" y="4938447"/>
            <a:ext cx="5463200" cy="65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We want to find           that minimize</a:t>
            </a: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this </a:t>
            </a: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objective function</a:t>
            </a:r>
            <a:r>
              <a:rPr lang="en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" name="Google Shape;858;p71">
            <a:extLst>
              <a:ext uri="{FF2B5EF4-FFF2-40B4-BE49-F238E27FC236}">
                <a16:creationId xmlns:a16="http://schemas.microsoft.com/office/drawing/2014/main" id="{8E28FEF1-05ED-5AC5-4FEC-C938E5F7D012}"/>
              </a:ext>
            </a:extLst>
          </p:cNvPr>
          <p:cNvSpPr txBox="1"/>
          <p:nvPr/>
        </p:nvSpPr>
        <p:spPr>
          <a:xfrm>
            <a:off x="10394010" y="2359014"/>
            <a:ext cx="19136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Squared loss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" name="Google Shape;861;p71" title="[0,0,0,&quot;https://latex-staging.easygenerator.com/eqneditor/editor.php?latex=L(y%2C%20%5Chat%7By%7D)%20%3D%20(y%20-%20%5Chat%7By%7D)%5E2#0&quot;]">
            <a:extLst>
              <a:ext uri="{FF2B5EF4-FFF2-40B4-BE49-F238E27FC236}">
                <a16:creationId xmlns:a16="http://schemas.microsoft.com/office/drawing/2014/main" id="{5219C489-DA7B-CEFA-A315-B7D55477668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9063" y="2485464"/>
            <a:ext cx="2634270" cy="40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62;p71" descr="\hat{R}(\theta) = \frac{1}{n}\sum_{i = 1}^{n}(y_i - (\theta_0 + \theta_1x))^2">
            <a:extLst>
              <a:ext uri="{FF2B5EF4-FFF2-40B4-BE49-F238E27FC236}">
                <a16:creationId xmlns:a16="http://schemas.microsoft.com/office/drawing/2014/main" id="{2505F646-E3B0-E044-7193-C13E43840CA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8476" y="3383200"/>
            <a:ext cx="4049169" cy="819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59;p71" descr="\hat{\theta}_0, \hat{\theta}_1">
            <a:extLst>
              <a:ext uri="{FF2B5EF4-FFF2-40B4-BE49-F238E27FC236}">
                <a16:creationId xmlns:a16="http://schemas.microsoft.com/office/drawing/2014/main" id="{E71208A6-CCF6-0A46-02F9-F4C350AC44A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73143" y="4981134"/>
            <a:ext cx="495135" cy="28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117;p84" descr="\hat{y} = \hat{\theta}_0 +\hat{\theta}_1x">
            <a:extLst>
              <a:ext uri="{FF2B5EF4-FFF2-40B4-BE49-F238E27FC236}">
                <a16:creationId xmlns:a16="http://schemas.microsoft.com/office/drawing/2014/main" id="{FD7E8E1B-0DB0-7751-2127-FE1ECF7A58DA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24511" y="5954402"/>
            <a:ext cx="1469564" cy="372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18;p84" descr="\hat{\theta}_0 = \bar{y} - \hat{\theta}_1\bar{x}">
            <a:extLst>
              <a:ext uri="{FF2B5EF4-FFF2-40B4-BE49-F238E27FC236}">
                <a16:creationId xmlns:a16="http://schemas.microsoft.com/office/drawing/2014/main" id="{E93FA221-9580-1572-765B-9EBCBF99774F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47651" y="5714607"/>
            <a:ext cx="1176707" cy="296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119;p84" descr="\hat{\theta}_1 = r\frac{\sigma_y}{\sigma_x}">
            <a:extLst>
              <a:ext uri="{FF2B5EF4-FFF2-40B4-BE49-F238E27FC236}">
                <a16:creationId xmlns:a16="http://schemas.microsoft.com/office/drawing/2014/main" id="{E2584674-9DEF-D0FC-885E-40776AB4FE13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163333" y="6326914"/>
            <a:ext cx="740079" cy="45051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20;p84">
            <a:extLst>
              <a:ext uri="{FF2B5EF4-FFF2-40B4-BE49-F238E27FC236}">
                <a16:creationId xmlns:a16="http://schemas.microsoft.com/office/drawing/2014/main" id="{A045D327-CA56-0462-764C-5BC3956E1BFE}"/>
              </a:ext>
            </a:extLst>
          </p:cNvPr>
          <p:cNvSpPr/>
          <p:nvPr/>
        </p:nvSpPr>
        <p:spPr>
          <a:xfrm>
            <a:off x="9965096" y="5850739"/>
            <a:ext cx="45719" cy="710806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088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data template.pptx" id="{20A2C686-B26B-470E-A460-CDE7F6DF3BDB}" vid="{FEDE971F-BDA7-4940-B809-146585AB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data template</Template>
  <TotalTime>15382</TotalTime>
  <Words>2812</Words>
  <Application>Microsoft Office PowerPoint</Application>
  <PresentationFormat>Widescreen</PresentationFormat>
  <Paragraphs>354</Paragraphs>
  <Slides>33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Arial</vt:lpstr>
      <vt:lpstr>Calibri</vt:lpstr>
      <vt:lpstr>Cambria</vt:lpstr>
      <vt:lpstr>Courier New</vt:lpstr>
      <vt:lpstr>Roboto</vt:lpstr>
      <vt:lpstr>Roboto Light</vt:lpstr>
      <vt:lpstr>Roboto Medium</vt:lpstr>
      <vt:lpstr>Times</vt:lpstr>
      <vt:lpstr>Times New Roman</vt:lpstr>
      <vt:lpstr>Wingdings</vt:lpstr>
      <vt:lpstr>Main</vt:lpstr>
      <vt:lpstr>Modeling  and Simple Linear Regression</vt:lpstr>
      <vt:lpstr>Our plan</vt:lpstr>
      <vt:lpstr>Introduction to Modeling</vt:lpstr>
      <vt:lpstr>What is a Model?</vt:lpstr>
      <vt:lpstr>Three Reasons for Building Models</vt:lpstr>
      <vt:lpstr>Common Types of Models</vt:lpstr>
      <vt:lpstr>Common Types of Models</vt:lpstr>
      <vt:lpstr>Review: Regression Line &amp; Correlation</vt:lpstr>
      <vt:lpstr>The Regression Line</vt:lpstr>
      <vt:lpstr>Models in DS</vt:lpstr>
      <vt:lpstr>Models in DS: Parametric Models</vt:lpstr>
      <vt:lpstr>Models in DS: Parametric Models</vt:lpstr>
      <vt:lpstr>The Modeling Process</vt:lpstr>
      <vt:lpstr>The Modeling Process</vt:lpstr>
      <vt:lpstr>Simple Linear Regression: Our First Model</vt:lpstr>
      <vt:lpstr>The Modeling Process</vt:lpstr>
      <vt:lpstr>Which     is best?</vt:lpstr>
      <vt:lpstr>Loss Functions</vt:lpstr>
      <vt:lpstr>L2 and L1 Loss</vt:lpstr>
      <vt:lpstr>PowerPoint Presentation</vt:lpstr>
      <vt:lpstr>Residuals as loss function?</vt:lpstr>
      <vt:lpstr>Empirical Risk is Average Loss over Data</vt:lpstr>
      <vt:lpstr>Empirical Risk is Average Loss over Data</vt:lpstr>
      <vt:lpstr>The Modeling Process</vt:lpstr>
      <vt:lpstr>Minimizing MSE for the SLR Model</vt:lpstr>
      <vt:lpstr>Partial Derivative of MSE with Respect to  </vt:lpstr>
      <vt:lpstr>From Estimating Equations to Estimators</vt:lpstr>
      <vt:lpstr>The Modeling Process</vt:lpstr>
      <vt:lpstr>The Modeling Process</vt:lpstr>
      <vt:lpstr>Evaluating Models</vt:lpstr>
      <vt:lpstr>Four datasets with the same MSE</vt:lpstr>
      <vt:lpstr>PowerPoint Presentation</vt:lpstr>
      <vt:lpstr>The Modeling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Yadollah Yaghoobzadeh</cp:lastModifiedBy>
  <cp:revision>246</cp:revision>
  <dcterms:created xsi:type="dcterms:W3CDTF">2021-09-22T08:38:12Z</dcterms:created>
  <dcterms:modified xsi:type="dcterms:W3CDTF">2026-05-03T04:47:29Z</dcterms:modified>
</cp:coreProperties>
</file>