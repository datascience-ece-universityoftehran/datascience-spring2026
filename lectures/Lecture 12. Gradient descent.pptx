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sldIdLst>
    <p:sldId id="367" r:id="rId2"/>
    <p:sldId id="368" r:id="rId3"/>
    <p:sldId id="369" r:id="rId4"/>
    <p:sldId id="370" r:id="rId5"/>
    <p:sldId id="371" r:id="rId6"/>
    <p:sldId id="262" r:id="rId7"/>
    <p:sldId id="263" r:id="rId8"/>
    <p:sldId id="372" r:id="rId9"/>
    <p:sldId id="373" r:id="rId10"/>
    <p:sldId id="266" r:id="rId11"/>
    <p:sldId id="267" r:id="rId12"/>
    <p:sldId id="269" r:id="rId13"/>
    <p:sldId id="270" r:id="rId14"/>
    <p:sldId id="271" r:id="rId15"/>
    <p:sldId id="272" r:id="rId16"/>
    <p:sldId id="273" r:id="rId17"/>
    <p:sldId id="274" r:id="rId18"/>
    <p:sldId id="374" r:id="rId19"/>
    <p:sldId id="276" r:id="rId20"/>
    <p:sldId id="279" r:id="rId21"/>
    <p:sldId id="280" r:id="rId22"/>
    <p:sldId id="281" r:id="rId23"/>
    <p:sldId id="282" r:id="rId24"/>
    <p:sldId id="283" r:id="rId25"/>
    <p:sldId id="284" r:id="rId26"/>
    <p:sldId id="285" r:id="rId27"/>
    <p:sldId id="286" r:id="rId28"/>
    <p:sldId id="289" r:id="rId29"/>
    <p:sldId id="290" r:id="rId30"/>
    <p:sldId id="291" r:id="rId31"/>
    <p:sldId id="292" r:id="rId32"/>
    <p:sldId id="375" r:id="rId33"/>
    <p:sldId id="294" r:id="rId34"/>
    <p:sldId id="295" r:id="rId35"/>
    <p:sldId id="296" r:id="rId36"/>
    <p:sldId id="297" r:id="rId37"/>
    <p:sldId id="298" r:id="rId38"/>
    <p:sldId id="299" r:id="rId39"/>
    <p:sldId id="300" r:id="rId40"/>
    <p:sldId id="301" r:id="rId41"/>
    <p:sldId id="302" r:id="rId42"/>
    <p:sldId id="376" r:id="rId43"/>
    <p:sldId id="305" r:id="rId44"/>
    <p:sldId id="320" r:id="rId45"/>
    <p:sldId id="377" r:id="rId46"/>
    <p:sldId id="380" r:id="rId47"/>
    <p:sldId id="261" r:id="rId48"/>
    <p:sldId id="381" r:id="rId49"/>
    <p:sldId id="382" r:id="rId50"/>
    <p:sldId id="383" r:id="rId51"/>
    <p:sldId id="384" r:id="rId52"/>
    <p:sldId id="275" r:id="rId53"/>
    <p:sldId id="278" r:id="rId54"/>
    <p:sldId id="287" r:id="rId55"/>
    <p:sldId id="385" r:id="rId56"/>
    <p:sldId id="306" r:id="rId57"/>
    <p:sldId id="307" r:id="rId58"/>
    <p:sldId id="308" r:id="rId59"/>
    <p:sldId id="309" r:id="rId60"/>
    <p:sldId id="310" r:id="rId61"/>
    <p:sldId id="311" r:id="rId62"/>
    <p:sldId id="386" r:id="rId63"/>
    <p:sldId id="313" r:id="rId64"/>
    <p:sldId id="314" r:id="rId65"/>
    <p:sldId id="315" r:id="rId66"/>
    <p:sldId id="316" r:id="rId67"/>
    <p:sldId id="318" r:id="rId6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26222" autoAdjust="0"/>
    <p:restoredTop sz="94057" autoAdjust="0"/>
  </p:normalViewPr>
  <p:slideViewPr>
    <p:cSldViewPr snapToGrid="0">
      <p:cViewPr varScale="1">
        <p:scale>
          <a:sx n="80" d="100"/>
          <a:sy n="80" d="100"/>
        </p:scale>
        <p:origin x="69" y="7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dollah Yaghoobzadeh" userId="6e47bfdd41a25f50" providerId="LiveId" clId="{D63CC322-9653-481A-8C61-546CE1BF0D9D}"/>
    <pc:docChg chg="delSld modSld modMainMaster">
      <pc:chgData name="Yadollah Yaghoobzadeh" userId="6e47bfdd41a25f50" providerId="LiveId" clId="{D63CC322-9653-481A-8C61-546CE1BF0D9D}" dt="2025-04-22T11:32:21.194" v="5" actId="20577"/>
      <pc:docMkLst>
        <pc:docMk/>
      </pc:docMkLst>
      <pc:sldChg chg="modSp mod modShow">
        <pc:chgData name="Yadollah Yaghoobzadeh" userId="6e47bfdd41a25f50" providerId="LiveId" clId="{D63CC322-9653-481A-8C61-546CE1BF0D9D}" dt="2025-04-22T06:24:18.385" v="2" actId="729"/>
        <pc:sldMkLst>
          <pc:docMk/>
          <pc:sldMk cId="0" sldId="280"/>
        </pc:sldMkLst>
        <pc:picChg chg="mod">
          <ac:chgData name="Yadollah Yaghoobzadeh" userId="6e47bfdd41a25f50" providerId="LiveId" clId="{D63CC322-9653-481A-8C61-546CE1BF0D9D}" dt="2025-04-22T06:23:57.014" v="1" actId="1036"/>
          <ac:picMkLst>
            <pc:docMk/>
            <pc:sldMk cId="0" sldId="280"/>
            <ac:picMk id="474" creationId="{00000000-0000-0000-0000-000000000000}"/>
          </ac:picMkLst>
        </pc:picChg>
      </pc:sldChg>
      <pc:sldChg chg="mod modShow">
        <pc:chgData name="Yadollah Yaghoobzadeh" userId="6e47bfdd41a25f50" providerId="LiveId" clId="{D63CC322-9653-481A-8C61-546CE1BF0D9D}" dt="2025-04-22T06:24:18.385" v="2" actId="729"/>
        <pc:sldMkLst>
          <pc:docMk/>
          <pc:sldMk cId="0" sldId="281"/>
        </pc:sldMkLst>
      </pc:sldChg>
      <pc:sldChg chg="mod modShow">
        <pc:chgData name="Yadollah Yaghoobzadeh" userId="6e47bfdd41a25f50" providerId="LiveId" clId="{D63CC322-9653-481A-8C61-546CE1BF0D9D}" dt="2025-04-22T06:24:18.385" v="2" actId="729"/>
        <pc:sldMkLst>
          <pc:docMk/>
          <pc:sldMk cId="0" sldId="282"/>
        </pc:sldMkLst>
      </pc:sldChg>
      <pc:sldChg chg="mod modShow">
        <pc:chgData name="Yadollah Yaghoobzadeh" userId="6e47bfdd41a25f50" providerId="LiveId" clId="{D63CC322-9653-481A-8C61-546CE1BF0D9D}" dt="2025-04-22T06:24:18.385" v="2" actId="729"/>
        <pc:sldMkLst>
          <pc:docMk/>
          <pc:sldMk cId="0" sldId="283"/>
        </pc:sldMkLst>
      </pc:sldChg>
      <pc:sldChg chg="mod modShow">
        <pc:chgData name="Yadollah Yaghoobzadeh" userId="6e47bfdd41a25f50" providerId="LiveId" clId="{D63CC322-9653-481A-8C61-546CE1BF0D9D}" dt="2025-04-22T06:24:18.385" v="2" actId="729"/>
        <pc:sldMkLst>
          <pc:docMk/>
          <pc:sldMk cId="0" sldId="284"/>
        </pc:sldMkLst>
      </pc:sldChg>
      <pc:sldChg chg="del">
        <pc:chgData name="Yadollah Yaghoobzadeh" userId="6e47bfdd41a25f50" providerId="LiveId" clId="{D63CC322-9653-481A-8C61-546CE1BF0D9D}" dt="2025-04-22T07:34:03.512" v="3" actId="47"/>
        <pc:sldMkLst>
          <pc:docMk/>
          <pc:sldMk cId="4128429387" sldId="378"/>
        </pc:sldMkLst>
      </pc:sldChg>
      <pc:sldMasterChg chg="modSldLayout">
        <pc:chgData name="Yadollah Yaghoobzadeh" userId="6e47bfdd41a25f50" providerId="LiveId" clId="{D63CC322-9653-481A-8C61-546CE1BF0D9D}" dt="2025-04-22T11:32:21.194" v="5" actId="20577"/>
        <pc:sldMasterMkLst>
          <pc:docMk/>
          <pc:sldMasterMk cId="592030485" sldId="2147483660"/>
        </pc:sldMasterMkLst>
        <pc:sldLayoutChg chg="modSp mod">
          <pc:chgData name="Yadollah Yaghoobzadeh" userId="6e47bfdd41a25f50" providerId="LiveId" clId="{D63CC322-9653-481A-8C61-546CE1BF0D9D}" dt="2025-04-22T11:32:21.194" v="5" actId="20577"/>
          <pc:sldLayoutMkLst>
            <pc:docMk/>
            <pc:sldMasterMk cId="592030485" sldId="2147483660"/>
            <pc:sldLayoutMk cId="108745479" sldId="2147483661"/>
          </pc:sldLayoutMkLst>
          <pc:spChg chg="mod">
            <ac:chgData name="Yadollah Yaghoobzadeh" userId="6e47bfdd41a25f50" providerId="LiveId" clId="{D63CC322-9653-481A-8C61-546CE1BF0D9D}" dt="2025-04-22T11:32:21.194" v="5" actId="20577"/>
            <ac:spMkLst>
              <pc:docMk/>
              <pc:sldMasterMk cId="592030485" sldId="2147483660"/>
              <pc:sldLayoutMk cId="108745479" sldId="2147483661"/>
              <ac:spMk id="3" creationId="{589C87D7-4FFF-3090-7978-ACE9D0723D2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64490D-F570-4B09-B1F1-76C91DD2C33E}"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B59005-A619-4B65-B892-C09CB53A2022}" type="slidenum">
              <a:rPr lang="en-US" smtClean="0"/>
              <a:t>‹#›</a:t>
            </a:fld>
            <a:endParaRPr lang="en-US"/>
          </a:p>
        </p:txBody>
      </p:sp>
    </p:spTree>
    <p:extLst>
      <p:ext uri="{BB962C8B-B14F-4D97-AF65-F5344CB8AC3E}">
        <p14:creationId xmlns:p14="http://schemas.microsoft.com/office/powerpoint/2010/main" val="2905393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B59005-A619-4B65-B892-C09CB53A2022}" type="slidenum">
              <a:rPr lang="en-US" smtClean="0"/>
              <a:t>1</a:t>
            </a:fld>
            <a:endParaRPr lang="en-US"/>
          </a:p>
        </p:txBody>
      </p:sp>
    </p:spTree>
    <p:extLst>
      <p:ext uri="{BB962C8B-B14F-4D97-AF65-F5344CB8AC3E}">
        <p14:creationId xmlns:p14="http://schemas.microsoft.com/office/powerpoint/2010/main" val="93392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2eef84227d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2eef84227d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2eef84227d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2eef84227d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2eef84227d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2eef84227d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2eef84227d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2eef84227d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2eef84227d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2eef84227d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2eef84227d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2eef84227d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58dae6dc37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58dae6dc3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258dae6dc3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258dae6dc3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2eef84227d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22eef84227d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2eef84227d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22eef84227d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2eef84227d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22eef84227d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1815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2eef84227d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2eef84227d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580856e50e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2580856e50e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22eef84227d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22eef84227d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2eef84227d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2eef84227d_0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2eef84227d_0_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2eef84227d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2eef84227d_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2eef84227d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22eef84227d_0_4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22eef84227d_0_4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2eef84227d_0_4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22eef84227d_0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2eef84227d_0_6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2eef84227d_0_6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22eef84227d_0_8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22eef84227d_0_8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22eef84227d_0_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22eef84227d_0_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58dae6dc37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258dae6dc37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2eef84227d_0_8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22eef84227d_0_8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2312fcda16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2312fcda16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2eef84227d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2eef84227d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2eef84227d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2eef84227d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22eef84227d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22eef84227d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2eef84227d_0_7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2eef84227d_0_7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258dae6dc37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258dae6dc3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2eef84227d_0_7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22eef84227d_0_7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2eef84227d_0_6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22eef84227d_0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2eef84227d_0_8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22eef84227d_0_8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22eef84227d_0_8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22eef84227d_0_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g11465b1d5c1_0_2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2" name="Google Shape;1232;g11465b1d5c1_0_2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g11465b1d5c1_0_2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2" name="Google Shape;1232;g11465b1d5c1_0_2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895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2f001ce50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2f001ce50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311b8f33d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311b8f33d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2311b8f33d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2311b8f33d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22f0a068c0e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22f0a068c0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113dfce000f_0_19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113dfce000f_0_19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113dfce000f_0_1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13dfce000f_0_1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113dfce000f_0_2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113dfce000f_0_2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113dfce000f_0_2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113dfce000f_0_2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2eef84227d_0_8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22eef84227d_0_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22eef84227d_0_8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22eef84227d_0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2eef84227d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2eef84227d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2eef84227d_0_8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g22eef84227d_0_8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580856e5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2580856e5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2eef84227d_0_8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 name="Google Shape;827;g22eef84227d_0_8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580856e50e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2580856e50e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580856e50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 name="Google Shape;858;g2580856e50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580856e50e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2580856e50e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580856e50e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2580856e50e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580856e50e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2580856e50e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1030" name="Picture 6" descr="a data science course logo with a computer on a white background. Image 1 of 4">
            <a:extLst>
              <a:ext uri="{FF2B5EF4-FFF2-40B4-BE49-F238E27FC236}">
                <a16:creationId xmlns:a16="http://schemas.microsoft.com/office/drawing/2014/main" id="{ED991132-C7D0-F6BF-E60C-F201A774E2E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6912"/>
            <a:ext cx="6791088" cy="6791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791088" y="1916581"/>
            <a:ext cx="5315567" cy="2048257"/>
          </a:xfrm>
          <a:noFill/>
        </p:spPr>
        <p:txBody>
          <a:bodyPr/>
          <a:lstStyle>
            <a:lvl1pPr>
              <a:defRPr sz="3200" baseline="0">
                <a:solidFill>
                  <a:schemeClr val="tx1"/>
                </a:solidFill>
              </a:defRPr>
            </a:lvl1pPr>
          </a:lstStyle>
          <a:p>
            <a:r>
              <a:rPr lang="en-US" dirty="0"/>
              <a:t>Click to edit Master title style</a:t>
            </a:r>
          </a:p>
        </p:txBody>
      </p:sp>
      <p:sp>
        <p:nvSpPr>
          <p:cNvPr id="8" name="Rectangle 7"/>
          <p:cNvSpPr/>
          <p:nvPr/>
        </p:nvSpPr>
        <p:spPr>
          <a:xfrm>
            <a:off x="8378637" y="5943600"/>
            <a:ext cx="2659766" cy="369332"/>
          </a:xfrm>
          <a:prstGeom prst="rect">
            <a:avLst/>
          </a:prstGeom>
        </p:spPr>
        <p:txBody>
          <a:bodyPr wrap="none">
            <a:spAutoFit/>
          </a:bodyPr>
          <a:lstStyle/>
          <a:p>
            <a:pPr algn="ctr"/>
            <a:r>
              <a:rPr lang="en-US" sz="1800" b="0" dirty="0">
                <a:latin typeface="+mj-lt"/>
              </a:rPr>
              <a:t>Yadollah Yaghoobzadeh</a:t>
            </a:r>
          </a:p>
        </p:txBody>
      </p:sp>
      <p:pic>
        <p:nvPicPr>
          <p:cNvPr id="10" name="Picture 2" descr="Image result for دانشگاه تهران">
            <a:extLst>
              <a:ext uri="{FF2B5EF4-FFF2-40B4-BE49-F238E27FC236}">
                <a16:creationId xmlns:a16="http://schemas.microsoft.com/office/drawing/2014/main" id="{9E7CB819-1140-D440-A5AE-83AC420853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786" y="135728"/>
            <a:ext cx="1188720" cy="11887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result for دانشکده فنی لوگو">
            <a:extLst>
              <a:ext uri="{FF2B5EF4-FFF2-40B4-BE49-F238E27FC236}">
                <a16:creationId xmlns:a16="http://schemas.microsoft.com/office/drawing/2014/main" id="{820363BF-D45A-BC4C-8A96-854FBD06A7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06060" y="135728"/>
            <a:ext cx="1587962" cy="118872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89C87D7-4FFF-3090-7978-ACE9D0723D25}"/>
              </a:ext>
            </a:extLst>
          </p:cNvPr>
          <p:cNvSpPr/>
          <p:nvPr userDrawn="1"/>
        </p:nvSpPr>
        <p:spPr>
          <a:xfrm>
            <a:off x="7555965" y="4828847"/>
            <a:ext cx="4052713" cy="830997"/>
          </a:xfrm>
          <a:prstGeom prst="rect">
            <a:avLst/>
          </a:prstGeom>
        </p:spPr>
        <p:txBody>
          <a:bodyPr wrap="none">
            <a:spAutoFit/>
          </a:bodyPr>
          <a:lstStyle/>
          <a:p>
            <a:pPr algn="ctr"/>
            <a:r>
              <a:rPr lang="en-US" sz="2400" b="0" dirty="0">
                <a:latin typeface="+mj-lt"/>
              </a:rPr>
              <a:t>Introduction to Data Science</a:t>
            </a:r>
            <a:br>
              <a:rPr lang="en-US" sz="2400" b="0" dirty="0">
                <a:latin typeface="+mj-lt"/>
              </a:rPr>
            </a:br>
            <a:r>
              <a:rPr lang="en-US" sz="2400" b="0">
                <a:latin typeface="+mj-lt"/>
              </a:rPr>
              <a:t>Spring 1405</a:t>
            </a:r>
            <a:endParaRPr lang="en-US" sz="2400" b="0" dirty="0">
              <a:latin typeface="+mj-lt"/>
            </a:endParaRPr>
          </a:p>
        </p:txBody>
      </p:sp>
    </p:spTree>
    <p:extLst>
      <p:ext uri="{BB962C8B-B14F-4D97-AF65-F5344CB8AC3E}">
        <p14:creationId xmlns:p14="http://schemas.microsoft.com/office/powerpoint/2010/main" val="10874547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0" y="990601"/>
            <a:ext cx="11658601" cy="5553073"/>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b="0"/>
            </a:lvl2pPr>
            <a:lvl3pPr marL="1143000" indent="-228600">
              <a:buFont typeface="Courier New" panose="02070309020205020404" pitchFamily="49" charset="0"/>
              <a:buChar char="o"/>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266699" y="20819"/>
            <a:ext cx="11658601" cy="969781"/>
          </a:xfrm>
        </p:spPr>
        <p:txBody>
          <a:bodyPr/>
          <a:lstStyle>
            <a:lvl1pPr marL="182880" algn="l">
              <a:defRPr sz="4000" baseline="0">
                <a:solidFill>
                  <a:schemeClr val="tx1"/>
                </a:solidFill>
              </a:defRPr>
            </a:lvl1pPr>
          </a:lstStyle>
          <a:p>
            <a:r>
              <a:rPr lang="en-US" dirty="0"/>
              <a:t>Click to edit Master title style</a:t>
            </a:r>
          </a:p>
        </p:txBody>
      </p:sp>
      <p:sp>
        <p:nvSpPr>
          <p:cNvPr id="10" name="Slide Number Placeholder 5"/>
          <p:cNvSpPr>
            <a:spLocks noGrp="1"/>
          </p:cNvSpPr>
          <p:nvPr>
            <p:ph type="sldNum" sz="quarter" idx="12"/>
          </p:nvPr>
        </p:nvSpPr>
        <p:spPr>
          <a:xfrm>
            <a:off x="11694319" y="6600825"/>
            <a:ext cx="497680" cy="257176"/>
          </a:xfrm>
        </p:spPr>
        <p:txBody>
          <a:bodyPr/>
          <a:lstStyle>
            <a:lvl1pPr algn="ctr">
              <a:defRPr sz="1100" b="0" baseline="0" smtClean="0">
                <a:solidFill>
                  <a:schemeClr val="tx1"/>
                </a:solidFill>
                <a:latin typeface="Arial" panose="020B0604020202020204" pitchFamily="34" charset="0"/>
                <a:cs typeface="Arial" panose="020B0604020202020204" pitchFamily="34" charset="0"/>
              </a:defRPr>
            </a:lvl1pPr>
          </a:lstStyle>
          <a:p>
            <a:fld id="{89D00882-420D-446F-B065-6675A463A27F}" type="slidenum">
              <a:rPr lang="en-US" smtClean="0"/>
              <a:pPr/>
              <a:t>‹#›</a:t>
            </a:fld>
            <a:endParaRPr lang="en-US"/>
          </a:p>
        </p:txBody>
      </p:sp>
      <p:cxnSp>
        <p:nvCxnSpPr>
          <p:cNvPr id="5" name="Straight Connector 4">
            <a:extLst>
              <a:ext uri="{FF2B5EF4-FFF2-40B4-BE49-F238E27FC236}">
                <a16:creationId xmlns:a16="http://schemas.microsoft.com/office/drawing/2014/main" id="{83E6AB8B-6628-4778-8FCB-1FBFFE37E74E}"/>
              </a:ext>
            </a:extLst>
          </p:cNvPr>
          <p:cNvCxnSpPr>
            <a:cxnSpLocks/>
          </p:cNvCxnSpPr>
          <p:nvPr userDrawn="1"/>
        </p:nvCxnSpPr>
        <p:spPr>
          <a:xfrm>
            <a:off x="266699" y="990600"/>
            <a:ext cx="9836089" cy="0"/>
          </a:xfrm>
          <a:prstGeom prst="line">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987618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266699" y="20819"/>
            <a:ext cx="11658601" cy="969781"/>
          </a:xfrm>
        </p:spPr>
        <p:txBody>
          <a:bodyPr/>
          <a:lstStyle>
            <a:lvl1pPr marL="182880" algn="l">
              <a:defRPr sz="4000" baseline="0">
                <a:solidFill>
                  <a:schemeClr val="tx1"/>
                </a:solidFill>
              </a:defRPr>
            </a:lvl1pPr>
          </a:lstStyle>
          <a:p>
            <a:r>
              <a:rPr lang="en-US" dirty="0"/>
              <a:t>Click to edit Master title style</a:t>
            </a:r>
          </a:p>
        </p:txBody>
      </p:sp>
      <p:sp>
        <p:nvSpPr>
          <p:cNvPr id="10" name="Slide Number Placeholder 5"/>
          <p:cNvSpPr>
            <a:spLocks noGrp="1"/>
          </p:cNvSpPr>
          <p:nvPr>
            <p:ph type="sldNum" sz="quarter" idx="12"/>
          </p:nvPr>
        </p:nvSpPr>
        <p:spPr>
          <a:xfrm>
            <a:off x="11694319" y="6600825"/>
            <a:ext cx="497680" cy="257176"/>
          </a:xfrm>
        </p:spPr>
        <p:txBody>
          <a:bodyPr/>
          <a:lstStyle>
            <a:lvl1pPr algn="ctr">
              <a:defRPr sz="1100" b="0" baseline="0" smtClean="0">
                <a:solidFill>
                  <a:schemeClr val="tx1"/>
                </a:solidFill>
                <a:latin typeface="Arial" panose="020B0604020202020204" pitchFamily="34" charset="0"/>
                <a:cs typeface="Arial" panose="020B0604020202020204" pitchFamily="34" charset="0"/>
              </a:defRPr>
            </a:lvl1pPr>
          </a:lstStyle>
          <a:p>
            <a:fld id="{89D00882-420D-446F-B065-6675A463A27F}" type="slidenum">
              <a:rPr lang="en-US" smtClean="0"/>
              <a:pPr/>
              <a:t>‹#›</a:t>
            </a:fld>
            <a:endParaRPr lang="en-US"/>
          </a:p>
        </p:txBody>
      </p:sp>
      <p:cxnSp>
        <p:nvCxnSpPr>
          <p:cNvPr id="5" name="Straight Connector 4">
            <a:extLst>
              <a:ext uri="{FF2B5EF4-FFF2-40B4-BE49-F238E27FC236}">
                <a16:creationId xmlns:a16="http://schemas.microsoft.com/office/drawing/2014/main" id="{83E6AB8B-6628-4778-8FCB-1FBFFE37E74E}"/>
              </a:ext>
            </a:extLst>
          </p:cNvPr>
          <p:cNvCxnSpPr>
            <a:cxnSpLocks/>
          </p:cNvCxnSpPr>
          <p:nvPr userDrawn="1"/>
        </p:nvCxnSpPr>
        <p:spPr>
          <a:xfrm>
            <a:off x="266699" y="990600"/>
            <a:ext cx="9836089" cy="0"/>
          </a:xfrm>
          <a:prstGeom prst="line">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566830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266699" y="20819"/>
            <a:ext cx="11658601" cy="604823"/>
          </a:xfrm>
        </p:spPr>
        <p:txBody>
          <a:bodyPr/>
          <a:lstStyle>
            <a:lvl1pPr marL="182880" algn="l">
              <a:defRPr sz="4000" baseline="0">
                <a:solidFill>
                  <a:schemeClr val="tx1"/>
                </a:solidFill>
              </a:defRPr>
            </a:lvl1pPr>
          </a:lstStyle>
          <a:p>
            <a:r>
              <a:rPr lang="en-US" dirty="0"/>
              <a:t>Click to edit Master title style</a:t>
            </a:r>
          </a:p>
        </p:txBody>
      </p:sp>
      <p:sp>
        <p:nvSpPr>
          <p:cNvPr id="10" name="Slide Number Placeholder 5"/>
          <p:cNvSpPr>
            <a:spLocks noGrp="1"/>
          </p:cNvSpPr>
          <p:nvPr>
            <p:ph type="sldNum" sz="quarter" idx="12"/>
          </p:nvPr>
        </p:nvSpPr>
        <p:spPr>
          <a:xfrm>
            <a:off x="11694319" y="6600825"/>
            <a:ext cx="497680" cy="257176"/>
          </a:xfrm>
        </p:spPr>
        <p:txBody>
          <a:bodyPr/>
          <a:lstStyle>
            <a:lvl1pPr algn="ctr">
              <a:defRPr sz="1100" b="0" baseline="0" smtClean="0">
                <a:solidFill>
                  <a:schemeClr val="tx1"/>
                </a:solidFill>
                <a:latin typeface="Arial" panose="020B0604020202020204" pitchFamily="34" charset="0"/>
                <a:cs typeface="Arial" panose="020B0604020202020204" pitchFamily="34" charset="0"/>
              </a:defRPr>
            </a:lvl1pPr>
          </a:lstStyle>
          <a:p>
            <a:fld id="{89D00882-420D-446F-B065-6675A463A27F}" type="slidenum">
              <a:rPr lang="en-US" smtClean="0"/>
              <a:pPr/>
              <a:t>‹#›</a:t>
            </a:fld>
            <a:endParaRPr lang="en-US"/>
          </a:p>
        </p:txBody>
      </p:sp>
      <p:cxnSp>
        <p:nvCxnSpPr>
          <p:cNvPr id="5" name="Straight Connector 4">
            <a:extLst>
              <a:ext uri="{FF2B5EF4-FFF2-40B4-BE49-F238E27FC236}">
                <a16:creationId xmlns:a16="http://schemas.microsoft.com/office/drawing/2014/main" id="{83E6AB8B-6628-4778-8FCB-1FBFFE37E74E}"/>
              </a:ext>
            </a:extLst>
          </p:cNvPr>
          <p:cNvCxnSpPr>
            <a:cxnSpLocks/>
          </p:cNvCxnSpPr>
          <p:nvPr userDrawn="1"/>
        </p:nvCxnSpPr>
        <p:spPr>
          <a:xfrm>
            <a:off x="266699" y="653718"/>
            <a:ext cx="9836089" cy="0"/>
          </a:xfrm>
          <a:prstGeom prst="line">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059480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Only">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1A9015F-2C1C-0901-4D5C-553042AB3430}"/>
              </a:ext>
            </a:extLst>
          </p:cNvPr>
          <p:cNvSpPr>
            <a:spLocks noGrp="1"/>
          </p:cNvSpPr>
          <p:nvPr>
            <p:ph idx="1"/>
          </p:nvPr>
        </p:nvSpPr>
        <p:spPr>
          <a:xfrm>
            <a:off x="304800" y="87868"/>
            <a:ext cx="11620501" cy="6462951"/>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b="0"/>
            </a:lvl2pPr>
            <a:lvl3pPr marL="1143000" indent="-228600">
              <a:buFont typeface="Courier New" panose="02070309020205020404" pitchFamily="49" charset="0"/>
              <a:buChar char="o"/>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63BE57EE-75D5-2866-0019-1BBEFF4DBED4}"/>
              </a:ext>
            </a:extLst>
          </p:cNvPr>
          <p:cNvSpPr>
            <a:spLocks noGrp="1"/>
          </p:cNvSpPr>
          <p:nvPr>
            <p:ph type="sldNum" sz="quarter" idx="12"/>
          </p:nvPr>
        </p:nvSpPr>
        <p:spPr>
          <a:xfrm>
            <a:off x="11694319" y="6600825"/>
            <a:ext cx="497680" cy="257176"/>
          </a:xfrm>
        </p:spPr>
        <p:txBody>
          <a:bodyPr/>
          <a:lstStyle>
            <a:lvl1pPr algn="ctr">
              <a:defRPr sz="1100" b="0" baseline="0" smtClean="0">
                <a:solidFill>
                  <a:schemeClr val="tx1"/>
                </a:solidFill>
                <a:latin typeface="Arial" panose="020B0604020202020204" pitchFamily="34" charset="0"/>
                <a:cs typeface="Arial" panose="020B0604020202020204" pitchFamily="34" charset="0"/>
              </a:defRPr>
            </a:lvl1pPr>
          </a:lstStyle>
          <a:p>
            <a:fld id="{89D00882-420D-446F-B065-6675A463A27F}" type="slidenum">
              <a:rPr lang="en-US" smtClean="0"/>
              <a:pPr/>
              <a:t>‹#›</a:t>
            </a:fld>
            <a:endParaRPr lang="en-US" dirty="0"/>
          </a:p>
        </p:txBody>
      </p:sp>
    </p:spTree>
    <p:extLst>
      <p:ext uri="{BB962C8B-B14F-4D97-AF65-F5344CB8AC3E}">
        <p14:creationId xmlns:p14="http://schemas.microsoft.com/office/powerpoint/2010/main" val="3813945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1" y="152400"/>
            <a:ext cx="5600698" cy="6172201"/>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a:lvl2pPr>
            <a:lvl3pPr marL="1143000" indent="-228600">
              <a:buFont typeface="Courier New" panose="02070309020205020404" pitchFamily="49" charset="0"/>
              <a:buChar char="o"/>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CFEFB003-44D6-451B-86D6-5FF16B9CEB5F}"/>
              </a:ext>
            </a:extLst>
          </p:cNvPr>
          <p:cNvSpPr>
            <a:spLocks noGrp="1"/>
          </p:cNvSpPr>
          <p:nvPr>
            <p:ph idx="13"/>
          </p:nvPr>
        </p:nvSpPr>
        <p:spPr>
          <a:xfrm>
            <a:off x="6324600" y="131618"/>
            <a:ext cx="5600699" cy="6172201"/>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a:lvl2pPr>
            <a:lvl3pPr marL="1143000" indent="-228600">
              <a:buFont typeface="Courier New" panose="02070309020205020404" pitchFamily="49" charset="0"/>
              <a:buChar char="o"/>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5">
            <a:extLst>
              <a:ext uri="{FF2B5EF4-FFF2-40B4-BE49-F238E27FC236}">
                <a16:creationId xmlns:a16="http://schemas.microsoft.com/office/drawing/2014/main" id="{4F7D44E6-A90F-113B-3256-810C6209B879}"/>
              </a:ext>
            </a:extLst>
          </p:cNvPr>
          <p:cNvSpPr>
            <a:spLocks noGrp="1"/>
          </p:cNvSpPr>
          <p:nvPr>
            <p:ph type="sldNum" sz="quarter" idx="12"/>
          </p:nvPr>
        </p:nvSpPr>
        <p:spPr>
          <a:xfrm>
            <a:off x="11515410" y="6492876"/>
            <a:ext cx="676589" cy="365125"/>
          </a:xfrm>
        </p:spPr>
        <p:txBody>
          <a:bodyPr/>
          <a:lstStyle>
            <a:lvl1pPr algn="ctr">
              <a:defRPr sz="1200" b="0" baseline="0" smtClean="0">
                <a:solidFill>
                  <a:schemeClr val="tx1"/>
                </a:solidFill>
                <a:latin typeface="Arial" panose="020B0604020202020204" pitchFamily="34" charset="0"/>
                <a:cs typeface="Arial" panose="020B0604020202020204" pitchFamily="34" charset="0"/>
              </a:defRPr>
            </a:lvl1pPr>
          </a:lstStyle>
          <a:p>
            <a:fld id="{89D00882-420D-446F-B065-6675A463A27F}" type="slidenum">
              <a:rPr lang="en-US" smtClean="0"/>
              <a:pPr/>
              <a:t>‹#›</a:t>
            </a:fld>
            <a:endParaRPr lang="en-US" dirty="0"/>
          </a:p>
        </p:txBody>
      </p:sp>
    </p:spTree>
    <p:extLst>
      <p:ext uri="{BB962C8B-B14F-4D97-AF65-F5344CB8AC3E}">
        <p14:creationId xmlns:p14="http://schemas.microsoft.com/office/powerpoint/2010/main" val="3337406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99C0-AAD6-484A-918C-5F008DDED5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655191-551E-47CF-86AA-7B88D665A3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DC5E13E2-409F-499F-A296-4F76746CA7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D3438-B4B3-4297-BE45-259350188480}"/>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10083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p:cSld name="Wide Puzzle">
    <p:spTree>
      <p:nvGrpSpPr>
        <p:cNvPr id="1" name="Shape 54"/>
        <p:cNvGrpSpPr/>
        <p:nvPr/>
      </p:nvGrpSpPr>
      <p:grpSpPr>
        <a:xfrm>
          <a:off x="0" y="0"/>
          <a:ext cx="0" cy="0"/>
          <a:chOff x="0" y="0"/>
          <a:chExt cx="0" cy="0"/>
        </a:xfrm>
      </p:grpSpPr>
      <p:sp>
        <p:nvSpPr>
          <p:cNvPr id="55" name="Google Shape;55;p8"/>
          <p:cNvSpPr/>
          <p:nvPr/>
        </p:nvSpPr>
        <p:spPr>
          <a:xfrm>
            <a:off x="0" y="-167"/>
            <a:ext cx="3702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6" name="Google Shape;56;p8"/>
          <p:cNvSpPr txBox="1">
            <a:spLocks noGrp="1"/>
          </p:cNvSpPr>
          <p:nvPr>
            <p:ph type="subTitle" idx="1"/>
          </p:nvPr>
        </p:nvSpPr>
        <p:spPr>
          <a:xfrm>
            <a:off x="300600" y="5257867"/>
            <a:ext cx="3267200" cy="9596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6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57" name="Google Shape;57;p8"/>
          <p:cNvSpPr txBox="1">
            <a:spLocks noGrp="1"/>
          </p:cNvSpPr>
          <p:nvPr>
            <p:ph type="body" idx="2"/>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40256" rtl="0">
              <a:spcBef>
                <a:spcPts val="800"/>
              </a:spcBef>
              <a:spcAft>
                <a:spcPts val="0"/>
              </a:spcAft>
              <a:buSzPts val="1600"/>
              <a:buFont typeface="Wingdings" panose="05000000000000000000" pitchFamily="2" charset="2"/>
              <a:buChar char="q"/>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dirty="0"/>
          </a:p>
        </p:txBody>
      </p:sp>
      <p:sp>
        <p:nvSpPr>
          <p:cNvPr id="58" name="Google Shape;58;p8"/>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9" name="Google Shape;59;p8"/>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sp>
        <p:nvSpPr>
          <p:cNvPr id="62" name="Google Shape;62;p8"/>
          <p:cNvSpPr txBox="1"/>
          <p:nvPr/>
        </p:nvSpPr>
        <p:spPr>
          <a:xfrm>
            <a:off x="277920" y="4560101"/>
            <a:ext cx="54956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Demo</a:t>
            </a:r>
            <a:endParaRPr sz="3333" b="1">
              <a:solidFill>
                <a:schemeClr val="accent3"/>
              </a:solidFill>
              <a:latin typeface="Roboto"/>
              <a:ea typeface="Roboto"/>
              <a:cs typeface="Roboto"/>
              <a:sym typeface="Roboto"/>
            </a:endParaRPr>
          </a:p>
        </p:txBody>
      </p:sp>
      <p:sp>
        <p:nvSpPr>
          <p:cNvPr id="2" name="Slide Number Placeholder 5">
            <a:extLst>
              <a:ext uri="{FF2B5EF4-FFF2-40B4-BE49-F238E27FC236}">
                <a16:creationId xmlns:a16="http://schemas.microsoft.com/office/drawing/2014/main" id="{F716B4B9-74E7-9AD0-6B74-C5AB64666CCA}"/>
              </a:ext>
            </a:extLst>
          </p:cNvPr>
          <p:cNvSpPr>
            <a:spLocks noGrp="1"/>
          </p:cNvSpPr>
          <p:nvPr>
            <p:ph type="sldNum" sz="quarter" idx="12"/>
          </p:nvPr>
        </p:nvSpPr>
        <p:spPr>
          <a:xfrm>
            <a:off x="11515410" y="6492876"/>
            <a:ext cx="676589" cy="365125"/>
          </a:xfrm>
        </p:spPr>
        <p:txBody>
          <a:bodyPr/>
          <a:lstStyle>
            <a:lvl1pPr algn="ctr">
              <a:defRPr sz="1200" b="0" baseline="0" smtClean="0">
                <a:solidFill>
                  <a:schemeClr val="tx1"/>
                </a:solidFill>
                <a:latin typeface="Arial" panose="020B0604020202020204" pitchFamily="34" charset="0"/>
                <a:cs typeface="Arial" panose="020B0604020202020204" pitchFamily="34" charset="0"/>
              </a:defRPr>
            </a:lvl1pPr>
          </a:lstStyle>
          <a:p>
            <a:fld id="{89D00882-420D-446F-B065-6675A463A27F}" type="slidenum">
              <a:rPr lang="en-US" smtClean="0"/>
              <a:pPr/>
              <a:t>‹#›</a:t>
            </a:fld>
            <a:endParaRPr lang="en-US" dirty="0"/>
          </a:p>
        </p:txBody>
      </p:sp>
    </p:spTree>
    <p:extLst>
      <p:ext uri="{BB962C8B-B14F-4D97-AF65-F5344CB8AC3E}">
        <p14:creationId xmlns:p14="http://schemas.microsoft.com/office/powerpoint/2010/main" val="2515118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Roadmap">
  <p:cSld name="Roadmap">
    <p:spTree>
      <p:nvGrpSpPr>
        <p:cNvPr id="1" name="Shape 27"/>
        <p:cNvGrpSpPr/>
        <p:nvPr/>
      </p:nvGrpSpPr>
      <p:grpSpPr>
        <a:xfrm>
          <a:off x="0" y="0"/>
          <a:ext cx="0" cy="0"/>
          <a:chOff x="0" y="0"/>
          <a:chExt cx="0" cy="0"/>
        </a:xfrm>
      </p:grpSpPr>
      <p:sp>
        <p:nvSpPr>
          <p:cNvPr id="28" name="Google Shape;28;p5"/>
          <p:cNvSpPr/>
          <p:nvPr/>
        </p:nvSpPr>
        <p:spPr>
          <a:xfrm>
            <a:off x="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30" name="Google Shape;30;p5"/>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31" name="Google Shape;31;p5"/>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32" name="Google Shape;32;p5"/>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cxnSp>
        <p:nvCxnSpPr>
          <p:cNvPr id="33" name="Google Shape;33;p5"/>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34" name="Google Shape;34;p5"/>
          <p:cNvSpPr txBox="1"/>
          <p:nvPr/>
        </p:nvSpPr>
        <p:spPr>
          <a:xfrm>
            <a:off x="237233" y="5424000"/>
            <a:ext cx="5544000" cy="524800"/>
          </a:xfrm>
          <a:prstGeom prst="rect">
            <a:avLst/>
          </a:prstGeom>
          <a:noFill/>
          <a:ln>
            <a:noFill/>
          </a:ln>
        </p:spPr>
        <p:txBody>
          <a:bodyPr spcFirstLastPara="1" wrap="square" lIns="121900" tIns="121900" rIns="121900" bIns="121900" anchor="ctr" anchorCtr="0">
            <a:noAutofit/>
          </a:bodyPr>
          <a:lstStyle/>
          <a:p>
            <a:pPr marL="0" lvl="0" indent="0" algn="l" rtl="0">
              <a:spcBef>
                <a:spcPts val="800"/>
              </a:spcBef>
              <a:spcAft>
                <a:spcPts val="0"/>
              </a:spcAft>
              <a:buNone/>
            </a:pPr>
            <a:r>
              <a:rPr lang="en" sz="2133">
                <a:solidFill>
                  <a:srgbClr val="000000"/>
                </a:solidFill>
                <a:latin typeface="Roboto Light"/>
                <a:ea typeface="Roboto Light"/>
                <a:cs typeface="Roboto Light"/>
                <a:sym typeface="Roboto Light"/>
              </a:rPr>
              <a:t>Lecture </a:t>
            </a:r>
            <a:r>
              <a:rPr lang="en" sz="2133">
                <a:latin typeface="Roboto Light"/>
                <a:ea typeface="Roboto Light"/>
                <a:cs typeface="Roboto Light"/>
                <a:sym typeface="Roboto Light"/>
              </a:rPr>
              <a:t>21</a:t>
            </a:r>
            <a:r>
              <a:rPr lang="en" sz="2133">
                <a:solidFill>
                  <a:srgbClr val="000000"/>
                </a:solidFill>
                <a:latin typeface="Roboto Light"/>
                <a:ea typeface="Roboto Light"/>
                <a:cs typeface="Roboto Light"/>
                <a:sym typeface="Roboto Light"/>
              </a:rPr>
              <a:t>, Data 100 </a:t>
            </a:r>
            <a:r>
              <a:rPr lang="en" sz="2133">
                <a:latin typeface="Roboto Light"/>
                <a:ea typeface="Roboto Light"/>
                <a:cs typeface="Roboto Light"/>
                <a:sym typeface="Roboto Light"/>
              </a:rPr>
              <a:t>Fall 2023</a:t>
            </a:r>
            <a:endParaRPr sz="2133">
              <a:solidFill>
                <a:srgbClr val="000000"/>
              </a:solidFill>
              <a:latin typeface="Roboto Light"/>
              <a:ea typeface="Roboto Light"/>
              <a:cs typeface="Roboto Light"/>
              <a:sym typeface="Roboto Light"/>
            </a:endParaRPr>
          </a:p>
        </p:txBody>
      </p:sp>
    </p:spTree>
    <p:extLst>
      <p:ext uri="{BB962C8B-B14F-4D97-AF65-F5344CB8AC3E}">
        <p14:creationId xmlns:p14="http://schemas.microsoft.com/office/powerpoint/2010/main" val="2757918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Wide Puzzle Solution 1">
  <p:cSld name="Wide Puzzle Solution 1">
    <p:spTree>
      <p:nvGrpSpPr>
        <p:cNvPr id="1" name="Shape 156"/>
        <p:cNvGrpSpPr/>
        <p:nvPr/>
      </p:nvGrpSpPr>
      <p:grpSpPr>
        <a:xfrm>
          <a:off x="0" y="0"/>
          <a:ext cx="0" cy="0"/>
          <a:chOff x="0" y="0"/>
          <a:chExt cx="0" cy="0"/>
        </a:xfrm>
      </p:grpSpPr>
      <p:sp>
        <p:nvSpPr>
          <p:cNvPr id="157" name="Google Shape;157;p24"/>
          <p:cNvSpPr/>
          <p:nvPr/>
        </p:nvSpPr>
        <p:spPr>
          <a:xfrm>
            <a:off x="0" y="-167"/>
            <a:ext cx="3702000" cy="6858000"/>
          </a:xfrm>
          <a:prstGeom prst="rect">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8" name="Google Shape;158;p24"/>
          <p:cNvSpPr txBox="1"/>
          <p:nvPr/>
        </p:nvSpPr>
        <p:spPr>
          <a:xfrm>
            <a:off x="277927" y="4560101"/>
            <a:ext cx="2498400" cy="1271974"/>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Summary So Far</a:t>
            </a:r>
            <a:endParaRPr sz="3333" b="1">
              <a:solidFill>
                <a:schemeClr val="accent3"/>
              </a:solidFill>
              <a:latin typeface="Roboto"/>
              <a:ea typeface="Roboto"/>
              <a:cs typeface="Roboto"/>
              <a:sym typeface="Roboto"/>
            </a:endParaRPr>
          </a:p>
        </p:txBody>
      </p:sp>
      <p:sp>
        <p:nvSpPr>
          <p:cNvPr id="159" name="Google Shape;159;p24"/>
          <p:cNvSpPr txBox="1">
            <a:spLocks noGrp="1"/>
          </p:cNvSpPr>
          <p:nvPr>
            <p:ph type="body" idx="1"/>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160" name="Google Shape;160;p24"/>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61" name="Google Shape;161;p24"/>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162" name="Google Shape;162;p24"/>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163" name="Google Shape;163;p2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64" name="Google Shape;164;p24"/>
          <p:cNvSpPr txBox="1"/>
          <p:nvPr/>
        </p:nvSpPr>
        <p:spPr>
          <a:xfrm>
            <a:off x="11448800" y="763601"/>
            <a:ext cx="731600" cy="2051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333">
                <a:latin typeface="Roboto Light"/>
                <a:ea typeface="Roboto Light"/>
                <a:cs typeface="Roboto Light"/>
                <a:sym typeface="Roboto Light"/>
              </a:rPr>
              <a:t>6212506</a:t>
            </a:r>
            <a:endParaRPr sz="1333">
              <a:latin typeface="Roboto Light"/>
              <a:ea typeface="Roboto Light"/>
              <a:cs typeface="Roboto Light"/>
              <a:sym typeface="Roboto Light"/>
            </a:endParaRPr>
          </a:p>
        </p:txBody>
      </p:sp>
      <p:pic>
        <p:nvPicPr>
          <p:cNvPr id="165" name="Google Shape;165;p24"/>
          <p:cNvPicPr preferRelativeResize="0"/>
          <p:nvPr/>
        </p:nvPicPr>
        <p:blipFill rotWithShape="1">
          <a:blip r:embed="rId3">
            <a:alphaModFix/>
          </a:blip>
          <a:srcRect b="4278"/>
          <a:stretch/>
        </p:blipFill>
        <p:spPr>
          <a:xfrm>
            <a:off x="11371418" y="1"/>
            <a:ext cx="808967" cy="774356"/>
          </a:xfrm>
          <a:prstGeom prst="rect">
            <a:avLst/>
          </a:prstGeom>
          <a:noFill/>
          <a:ln>
            <a:noFill/>
          </a:ln>
        </p:spPr>
      </p:pic>
    </p:spTree>
    <p:extLst>
      <p:ext uri="{BB962C8B-B14F-4D97-AF65-F5344CB8AC3E}">
        <p14:creationId xmlns:p14="http://schemas.microsoft.com/office/powerpoint/2010/main" val="1168163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ide Puzzle Solution 3">
  <p:cSld name="Wide Puzzle Solution 3">
    <p:spTree>
      <p:nvGrpSpPr>
        <p:cNvPr id="1" name="Shape 176"/>
        <p:cNvGrpSpPr/>
        <p:nvPr/>
      </p:nvGrpSpPr>
      <p:grpSpPr>
        <a:xfrm>
          <a:off x="0" y="0"/>
          <a:ext cx="0" cy="0"/>
          <a:chOff x="0" y="0"/>
          <a:chExt cx="0" cy="0"/>
        </a:xfrm>
      </p:grpSpPr>
      <p:sp>
        <p:nvSpPr>
          <p:cNvPr id="177" name="Google Shape;177;p26"/>
          <p:cNvSpPr/>
          <p:nvPr/>
        </p:nvSpPr>
        <p:spPr>
          <a:xfrm>
            <a:off x="0" y="-167"/>
            <a:ext cx="3702000" cy="6858000"/>
          </a:xfrm>
          <a:prstGeom prst="rect">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8" name="Google Shape;178;p26"/>
          <p:cNvSpPr txBox="1"/>
          <p:nvPr/>
        </p:nvSpPr>
        <p:spPr>
          <a:xfrm>
            <a:off x="277927" y="4560101"/>
            <a:ext cx="2498400" cy="1271974"/>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Summary So Far</a:t>
            </a:r>
            <a:endParaRPr sz="3333" b="1">
              <a:solidFill>
                <a:schemeClr val="accent3"/>
              </a:solidFill>
              <a:latin typeface="Roboto"/>
              <a:ea typeface="Roboto"/>
              <a:cs typeface="Roboto"/>
              <a:sym typeface="Roboto"/>
            </a:endParaRPr>
          </a:p>
        </p:txBody>
      </p:sp>
      <p:sp>
        <p:nvSpPr>
          <p:cNvPr id="179" name="Google Shape;179;p26"/>
          <p:cNvSpPr txBox="1">
            <a:spLocks noGrp="1"/>
          </p:cNvSpPr>
          <p:nvPr>
            <p:ph type="body" idx="1"/>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180" name="Google Shape;180;p26"/>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81" name="Google Shape;181;p26"/>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182" name="Google Shape;182;p26"/>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183" name="Google Shape;183;p2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84" name="Google Shape;184;p26"/>
          <p:cNvSpPr txBox="1"/>
          <p:nvPr/>
        </p:nvSpPr>
        <p:spPr>
          <a:xfrm>
            <a:off x="11448800" y="763601"/>
            <a:ext cx="731600" cy="2051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333">
                <a:latin typeface="Roboto Light"/>
                <a:ea typeface="Roboto Light"/>
                <a:cs typeface="Roboto Light"/>
                <a:sym typeface="Roboto Light"/>
              </a:rPr>
              <a:t>6212506</a:t>
            </a:r>
            <a:endParaRPr sz="1333">
              <a:latin typeface="Roboto Light"/>
              <a:ea typeface="Roboto Light"/>
              <a:cs typeface="Roboto Light"/>
              <a:sym typeface="Roboto Light"/>
            </a:endParaRPr>
          </a:p>
        </p:txBody>
      </p:sp>
      <p:pic>
        <p:nvPicPr>
          <p:cNvPr id="185" name="Google Shape;185;p26"/>
          <p:cNvPicPr preferRelativeResize="0"/>
          <p:nvPr/>
        </p:nvPicPr>
        <p:blipFill rotWithShape="1">
          <a:blip r:embed="rId3">
            <a:alphaModFix/>
          </a:blip>
          <a:srcRect b="4278"/>
          <a:stretch/>
        </p:blipFill>
        <p:spPr>
          <a:xfrm>
            <a:off x="11371418" y="1"/>
            <a:ext cx="808967" cy="774356"/>
          </a:xfrm>
          <a:prstGeom prst="rect">
            <a:avLst/>
          </a:prstGeom>
          <a:noFill/>
          <a:ln>
            <a:noFill/>
          </a:ln>
        </p:spPr>
      </p:pic>
    </p:spTree>
    <p:extLst>
      <p:ext uri="{BB962C8B-B14F-4D97-AF65-F5344CB8AC3E}">
        <p14:creationId xmlns:p14="http://schemas.microsoft.com/office/powerpoint/2010/main" val="3686490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terlude">
  <p:cSld name="Interlude">
    <p:spTree>
      <p:nvGrpSpPr>
        <p:cNvPr id="1" name="Shape 118"/>
        <p:cNvGrpSpPr/>
        <p:nvPr/>
      </p:nvGrpSpPr>
      <p:grpSpPr>
        <a:xfrm>
          <a:off x="0" y="0"/>
          <a:ext cx="0" cy="0"/>
          <a:chOff x="0" y="0"/>
          <a:chExt cx="0" cy="0"/>
        </a:xfrm>
      </p:grpSpPr>
      <p:sp>
        <p:nvSpPr>
          <p:cNvPr id="119" name="Google Shape;119;p18"/>
          <p:cNvSpPr/>
          <p:nvPr/>
        </p:nvSpPr>
        <p:spPr>
          <a:xfrm>
            <a:off x="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0" name="Google Shape;120;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1" name="Google Shape;121;p18"/>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122" name="Google Shape;122;p18"/>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123" name="Google Shape;123;p18"/>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cxnSp>
        <p:nvCxnSpPr>
          <p:cNvPr id="124" name="Google Shape;124;p18"/>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125" name="Google Shape;125;p18"/>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Clr>
                <a:schemeClr val="lt1"/>
              </a:buClr>
              <a:buSzPts val="1600"/>
              <a:buNone/>
              <a:defRPr>
                <a:solidFill>
                  <a:schemeClr val="lt1"/>
                </a:solidFill>
              </a:defRPr>
            </a:lvl1pPr>
            <a:lvl2pPr lvl="1" rtl="0">
              <a:lnSpc>
                <a:spcPct val="100000"/>
              </a:lnSpc>
              <a:spcBef>
                <a:spcPts val="800"/>
              </a:spcBef>
              <a:spcAft>
                <a:spcPts val="0"/>
              </a:spcAft>
              <a:buClr>
                <a:schemeClr val="lt1"/>
              </a:buClr>
              <a:buSzPts val="2100"/>
              <a:buNone/>
              <a:defRPr sz="2800">
                <a:solidFill>
                  <a:schemeClr val="lt1"/>
                </a:solidFill>
              </a:defRPr>
            </a:lvl2pPr>
            <a:lvl3pPr lvl="2" rtl="0">
              <a:lnSpc>
                <a:spcPct val="100000"/>
              </a:lnSpc>
              <a:spcBef>
                <a:spcPts val="800"/>
              </a:spcBef>
              <a:spcAft>
                <a:spcPts val="0"/>
              </a:spcAft>
              <a:buClr>
                <a:schemeClr val="lt1"/>
              </a:buClr>
              <a:buSzPts val="2100"/>
              <a:buNone/>
              <a:defRPr sz="2800">
                <a:solidFill>
                  <a:schemeClr val="lt1"/>
                </a:solidFill>
              </a:defRPr>
            </a:lvl3pPr>
            <a:lvl4pPr lvl="3" rtl="0">
              <a:lnSpc>
                <a:spcPct val="100000"/>
              </a:lnSpc>
              <a:spcBef>
                <a:spcPts val="800"/>
              </a:spcBef>
              <a:spcAft>
                <a:spcPts val="0"/>
              </a:spcAft>
              <a:buClr>
                <a:schemeClr val="lt1"/>
              </a:buClr>
              <a:buSzPts val="2100"/>
              <a:buNone/>
              <a:defRPr sz="2800">
                <a:solidFill>
                  <a:schemeClr val="lt1"/>
                </a:solidFill>
              </a:defRPr>
            </a:lvl4pPr>
            <a:lvl5pPr lvl="4" rtl="0">
              <a:lnSpc>
                <a:spcPct val="100000"/>
              </a:lnSpc>
              <a:spcBef>
                <a:spcPts val="800"/>
              </a:spcBef>
              <a:spcAft>
                <a:spcPts val="0"/>
              </a:spcAft>
              <a:buClr>
                <a:schemeClr val="lt1"/>
              </a:buClr>
              <a:buSzPts val="2100"/>
              <a:buNone/>
              <a:defRPr sz="2800">
                <a:solidFill>
                  <a:schemeClr val="lt1"/>
                </a:solidFill>
              </a:defRPr>
            </a:lvl5pPr>
            <a:lvl6pPr lvl="5" rtl="0">
              <a:lnSpc>
                <a:spcPct val="100000"/>
              </a:lnSpc>
              <a:spcBef>
                <a:spcPts val="800"/>
              </a:spcBef>
              <a:spcAft>
                <a:spcPts val="0"/>
              </a:spcAft>
              <a:buClr>
                <a:schemeClr val="lt1"/>
              </a:buClr>
              <a:buSzPts val="2100"/>
              <a:buNone/>
              <a:defRPr sz="2800">
                <a:solidFill>
                  <a:schemeClr val="lt1"/>
                </a:solidFill>
              </a:defRPr>
            </a:lvl6pPr>
            <a:lvl7pPr lvl="6" rtl="0">
              <a:lnSpc>
                <a:spcPct val="100000"/>
              </a:lnSpc>
              <a:spcBef>
                <a:spcPts val="800"/>
              </a:spcBef>
              <a:spcAft>
                <a:spcPts val="0"/>
              </a:spcAft>
              <a:buClr>
                <a:schemeClr val="lt1"/>
              </a:buClr>
              <a:buSzPts val="2100"/>
              <a:buNone/>
              <a:defRPr sz="2800">
                <a:solidFill>
                  <a:schemeClr val="lt1"/>
                </a:solidFill>
              </a:defRPr>
            </a:lvl7pPr>
            <a:lvl8pPr lvl="7" rtl="0">
              <a:lnSpc>
                <a:spcPct val="100000"/>
              </a:lnSpc>
              <a:spcBef>
                <a:spcPts val="800"/>
              </a:spcBef>
              <a:spcAft>
                <a:spcPts val="0"/>
              </a:spcAft>
              <a:buClr>
                <a:schemeClr val="lt1"/>
              </a:buClr>
              <a:buSzPts val="2100"/>
              <a:buNone/>
              <a:defRPr sz="2800">
                <a:solidFill>
                  <a:schemeClr val="lt1"/>
                </a:solidFill>
              </a:defRPr>
            </a:lvl8pPr>
            <a:lvl9pPr lvl="8" rtl="0">
              <a:lnSpc>
                <a:spcPct val="100000"/>
              </a:lnSpc>
              <a:spcBef>
                <a:spcPts val="80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1117457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rtl="0">
              <a:spcBef>
                <a:spcPts val="0"/>
              </a:spcBef>
              <a:spcAft>
                <a:spcPts val="0"/>
              </a:spcAft>
              <a:buSzPts val="1400"/>
              <a:buChar char="●"/>
              <a:defRPr sz="1867"/>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rtl="0">
              <a:spcBef>
                <a:spcPts val="0"/>
              </a:spcBef>
              <a:spcAft>
                <a:spcPts val="0"/>
              </a:spcAft>
              <a:buSzPts val="1400"/>
              <a:buChar char="●"/>
              <a:defRPr sz="1867"/>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12972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oadmap">
  <p:cSld name="1_Roadmap">
    <p:spTree>
      <p:nvGrpSpPr>
        <p:cNvPr id="1" name="Shape 26"/>
        <p:cNvGrpSpPr/>
        <p:nvPr/>
      </p:nvGrpSpPr>
      <p:grpSpPr>
        <a:xfrm>
          <a:off x="0" y="0"/>
          <a:ext cx="0" cy="0"/>
          <a:chOff x="0" y="0"/>
          <a:chExt cx="0" cy="0"/>
        </a:xfrm>
      </p:grpSpPr>
      <p:sp>
        <p:nvSpPr>
          <p:cNvPr id="27" name="Google Shape;27;p5"/>
          <p:cNvSpPr/>
          <p:nvPr/>
        </p:nvSpPr>
        <p:spPr>
          <a:xfrm>
            <a:off x="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29" name="Google Shape;29;p5"/>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30" name="Google Shape;30;p5"/>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31" name="Google Shape;31;p5"/>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cxnSp>
        <p:nvCxnSpPr>
          <p:cNvPr id="32" name="Google Shape;32;p5"/>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33" name="Google Shape;33;p5"/>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SzPts val="1600"/>
              <a:buNone/>
              <a:defRPr/>
            </a:lvl1pPr>
            <a:lvl2pPr lvl="1" rtl="0">
              <a:lnSpc>
                <a:spcPct val="100000"/>
              </a:lnSpc>
              <a:spcBef>
                <a:spcPts val="800"/>
              </a:spcBef>
              <a:spcAft>
                <a:spcPts val="0"/>
              </a:spcAft>
              <a:buSzPts val="2100"/>
              <a:buNone/>
              <a:defRPr sz="2800"/>
            </a:lvl2pPr>
            <a:lvl3pPr lvl="2" rtl="0">
              <a:lnSpc>
                <a:spcPct val="100000"/>
              </a:lnSpc>
              <a:spcBef>
                <a:spcPts val="800"/>
              </a:spcBef>
              <a:spcAft>
                <a:spcPts val="0"/>
              </a:spcAft>
              <a:buSzPts val="2100"/>
              <a:buNone/>
              <a:defRPr sz="2800"/>
            </a:lvl3pPr>
            <a:lvl4pPr lvl="3" rtl="0">
              <a:lnSpc>
                <a:spcPct val="100000"/>
              </a:lnSpc>
              <a:spcBef>
                <a:spcPts val="800"/>
              </a:spcBef>
              <a:spcAft>
                <a:spcPts val="0"/>
              </a:spcAft>
              <a:buSzPts val="2100"/>
              <a:buNone/>
              <a:defRPr sz="2800"/>
            </a:lvl4pPr>
            <a:lvl5pPr lvl="4" rtl="0">
              <a:lnSpc>
                <a:spcPct val="100000"/>
              </a:lnSpc>
              <a:spcBef>
                <a:spcPts val="800"/>
              </a:spcBef>
              <a:spcAft>
                <a:spcPts val="0"/>
              </a:spcAft>
              <a:buSzPts val="2100"/>
              <a:buNone/>
              <a:defRPr sz="2800"/>
            </a:lvl5pPr>
            <a:lvl6pPr lvl="5" rtl="0">
              <a:lnSpc>
                <a:spcPct val="100000"/>
              </a:lnSpc>
              <a:spcBef>
                <a:spcPts val="800"/>
              </a:spcBef>
              <a:spcAft>
                <a:spcPts val="0"/>
              </a:spcAft>
              <a:buSzPts val="2100"/>
              <a:buNone/>
              <a:defRPr sz="2800"/>
            </a:lvl6pPr>
            <a:lvl7pPr lvl="6" rtl="0">
              <a:lnSpc>
                <a:spcPct val="100000"/>
              </a:lnSpc>
              <a:spcBef>
                <a:spcPts val="800"/>
              </a:spcBef>
              <a:spcAft>
                <a:spcPts val="0"/>
              </a:spcAft>
              <a:buSzPts val="2100"/>
              <a:buNone/>
              <a:defRPr sz="2800"/>
            </a:lvl7pPr>
            <a:lvl8pPr lvl="7" rtl="0">
              <a:lnSpc>
                <a:spcPct val="100000"/>
              </a:lnSpc>
              <a:spcBef>
                <a:spcPts val="800"/>
              </a:spcBef>
              <a:spcAft>
                <a:spcPts val="0"/>
              </a:spcAft>
              <a:buSzPts val="2100"/>
              <a:buNone/>
              <a:defRPr sz="2800"/>
            </a:lvl8pPr>
            <a:lvl9pPr lvl="8" rtl="0">
              <a:lnSpc>
                <a:spcPct val="100000"/>
              </a:lnSpc>
              <a:spcBef>
                <a:spcPts val="800"/>
              </a:spcBef>
              <a:spcAft>
                <a:spcPts val="0"/>
              </a:spcAft>
              <a:buSzPts val="2100"/>
              <a:buNone/>
              <a:defRPr sz="2800"/>
            </a:lvl9pPr>
          </a:lstStyle>
          <a:p>
            <a:endParaRPr/>
          </a:p>
        </p:txBody>
      </p:sp>
    </p:spTree>
    <p:extLst>
      <p:ext uri="{BB962C8B-B14F-4D97-AF65-F5344CB8AC3E}">
        <p14:creationId xmlns:p14="http://schemas.microsoft.com/office/powerpoint/2010/main" val="2668563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0" y="0"/>
            <a:ext cx="113608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142725" y="536267"/>
            <a:ext cx="11360800" cy="4555200"/>
          </a:xfrm>
          <a:prstGeom prst="rect">
            <a:avLst/>
          </a:prstGeom>
        </p:spPr>
        <p:txBody>
          <a:bodyPr spcFirstLastPara="1" wrap="square" lIns="91425" tIns="91425" rIns="91425" bIns="91425" anchor="t"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24" name="Google Shape;24;p4"/>
          <p:cNvCxnSpPr/>
          <p:nvPr/>
        </p:nvCxnSpPr>
        <p:spPr>
          <a:xfrm>
            <a:off x="127241" y="536280"/>
            <a:ext cx="11879600" cy="0"/>
          </a:xfrm>
          <a:prstGeom prst="straightConnector1">
            <a:avLst/>
          </a:prstGeom>
          <a:noFill/>
          <a:ln w="19050" cap="flat" cmpd="sng">
            <a:solidFill>
              <a:srgbClr val="BF9000"/>
            </a:solidFill>
            <a:prstDash val="solid"/>
            <a:round/>
            <a:headEnd type="none" w="med" len="med"/>
            <a:tailEnd type="none" w="med" len="med"/>
          </a:ln>
        </p:spPr>
      </p:cxnSp>
      <p:sp>
        <p:nvSpPr>
          <p:cNvPr id="25" name="Google Shape;25;p4"/>
          <p:cNvSpPr txBox="1"/>
          <p:nvPr/>
        </p:nvSpPr>
        <p:spPr>
          <a:xfrm>
            <a:off x="11410117" y="763601"/>
            <a:ext cx="731600" cy="2051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333">
                <a:latin typeface="Roboto Light"/>
                <a:ea typeface="Roboto Light"/>
                <a:cs typeface="Roboto Light"/>
                <a:sym typeface="Roboto Light"/>
              </a:rPr>
              <a:t>1149817</a:t>
            </a:r>
            <a:endParaRPr sz="1333">
              <a:latin typeface="Roboto Light"/>
              <a:ea typeface="Roboto Light"/>
              <a:cs typeface="Roboto Light"/>
              <a:sym typeface="Roboto Light"/>
            </a:endParaRPr>
          </a:p>
        </p:txBody>
      </p:sp>
      <p:pic>
        <p:nvPicPr>
          <p:cNvPr id="26" name="Google Shape;26;p4"/>
          <p:cNvPicPr preferRelativeResize="0"/>
          <p:nvPr/>
        </p:nvPicPr>
        <p:blipFill rotWithShape="1">
          <a:blip r:embed="rId2">
            <a:alphaModFix/>
          </a:blip>
          <a:srcRect b="3799"/>
          <a:stretch/>
        </p:blipFill>
        <p:spPr>
          <a:xfrm>
            <a:off x="11360801" y="0"/>
            <a:ext cx="830300" cy="798733"/>
          </a:xfrm>
          <a:prstGeom prst="rect">
            <a:avLst/>
          </a:prstGeom>
          <a:noFill/>
          <a:ln>
            <a:noFill/>
          </a:ln>
        </p:spPr>
      </p:pic>
    </p:spTree>
    <p:extLst>
      <p:ext uri="{BB962C8B-B14F-4D97-AF65-F5344CB8AC3E}">
        <p14:creationId xmlns:p14="http://schemas.microsoft.com/office/powerpoint/2010/main" val="17536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emo slide left">
  <p:cSld name="Demo slide left">
    <p:spTree>
      <p:nvGrpSpPr>
        <p:cNvPr id="1" name="Shape 43"/>
        <p:cNvGrpSpPr/>
        <p:nvPr/>
      </p:nvGrpSpPr>
      <p:grpSpPr>
        <a:xfrm>
          <a:off x="0" y="0"/>
          <a:ext cx="0" cy="0"/>
          <a:chOff x="0" y="0"/>
          <a:chExt cx="0" cy="0"/>
        </a:xfrm>
      </p:grpSpPr>
      <p:sp>
        <p:nvSpPr>
          <p:cNvPr id="44" name="Google Shape;44;p7"/>
          <p:cNvSpPr/>
          <p:nvPr/>
        </p:nvSpPr>
        <p:spPr>
          <a:xfrm>
            <a:off x="0" y="-167"/>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 name="Google Shape;45;p7"/>
          <p:cNvSpPr txBox="1">
            <a:spLocks noGrp="1"/>
          </p:cNvSpPr>
          <p:nvPr>
            <p:ph type="subTitle" idx="1"/>
          </p:nvPr>
        </p:nvSpPr>
        <p:spPr>
          <a:xfrm>
            <a:off x="300600" y="5257867"/>
            <a:ext cx="5393600" cy="6200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6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46" name="Google Shape;46;p7"/>
          <p:cNvSpPr txBox="1"/>
          <p:nvPr/>
        </p:nvSpPr>
        <p:spPr>
          <a:xfrm>
            <a:off x="277920" y="4560101"/>
            <a:ext cx="54956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Demo Slides</a:t>
            </a:r>
            <a:endParaRPr sz="3333" b="1">
              <a:solidFill>
                <a:schemeClr val="accent3"/>
              </a:solidFill>
              <a:latin typeface="Roboto"/>
              <a:ea typeface="Roboto"/>
              <a:cs typeface="Roboto"/>
              <a:sym typeface="Roboto"/>
            </a:endParaRPr>
          </a:p>
        </p:txBody>
      </p:sp>
      <p:sp>
        <p:nvSpPr>
          <p:cNvPr id="47" name="Google Shape;47;p7"/>
          <p:cNvSpPr txBox="1">
            <a:spLocks noGrp="1"/>
          </p:cNvSpPr>
          <p:nvPr>
            <p:ph type="body" idx="2"/>
          </p:nvPr>
        </p:nvSpPr>
        <p:spPr>
          <a:xfrm>
            <a:off x="6223233" y="536267"/>
            <a:ext cx="5736400" cy="5681600"/>
          </a:xfrm>
          <a:prstGeom prst="rect">
            <a:avLst/>
          </a:prstGeom>
        </p:spPr>
        <p:txBody>
          <a:bodyPr spcFirstLastPara="1" wrap="square" lIns="91425" tIns="91425" rIns="91425" bIns="91425" anchor="t"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48" name="Google Shape;48;p7"/>
          <p:cNvSpPr txBox="1">
            <a:spLocks noGrp="1"/>
          </p:cNvSpPr>
          <p:nvPr>
            <p:ph type="title"/>
          </p:nvPr>
        </p:nvSpPr>
        <p:spPr>
          <a:xfrm>
            <a:off x="6096000" y="0"/>
            <a:ext cx="6096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9" name="Google Shape;49;p7"/>
          <p:cNvCxnSpPr/>
          <p:nvPr/>
        </p:nvCxnSpPr>
        <p:spPr>
          <a:xfrm>
            <a:off x="6223241" y="536280"/>
            <a:ext cx="5802800" cy="0"/>
          </a:xfrm>
          <a:prstGeom prst="straightConnector1">
            <a:avLst/>
          </a:prstGeom>
          <a:noFill/>
          <a:ln w="19050" cap="flat" cmpd="sng">
            <a:solidFill>
              <a:srgbClr val="BF9000"/>
            </a:solidFill>
            <a:prstDash val="solid"/>
            <a:round/>
            <a:headEnd type="none" w="med" len="med"/>
            <a:tailEnd type="none" w="med" len="med"/>
          </a:ln>
        </p:spPr>
      </p:cxnSp>
      <p:pic>
        <p:nvPicPr>
          <p:cNvPr id="50" name="Google Shape;50;p7"/>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51" name="Google Shape;5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52" name="Google Shape;52;p7"/>
          <p:cNvSpPr txBox="1"/>
          <p:nvPr/>
        </p:nvSpPr>
        <p:spPr>
          <a:xfrm>
            <a:off x="11410117" y="763601"/>
            <a:ext cx="731600" cy="2051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333">
                <a:latin typeface="Roboto Light"/>
                <a:ea typeface="Roboto Light"/>
                <a:cs typeface="Roboto Light"/>
                <a:sym typeface="Roboto Light"/>
              </a:rPr>
              <a:t>1149817</a:t>
            </a:r>
            <a:endParaRPr sz="1333">
              <a:latin typeface="Roboto Light"/>
              <a:ea typeface="Roboto Light"/>
              <a:cs typeface="Roboto Light"/>
              <a:sym typeface="Roboto Light"/>
            </a:endParaRPr>
          </a:p>
        </p:txBody>
      </p:sp>
      <p:pic>
        <p:nvPicPr>
          <p:cNvPr id="53" name="Google Shape;53;p7"/>
          <p:cNvPicPr preferRelativeResize="0"/>
          <p:nvPr/>
        </p:nvPicPr>
        <p:blipFill rotWithShape="1">
          <a:blip r:embed="rId3">
            <a:alphaModFix/>
          </a:blip>
          <a:srcRect b="3799"/>
          <a:stretch/>
        </p:blipFill>
        <p:spPr>
          <a:xfrm>
            <a:off x="11360801" y="0"/>
            <a:ext cx="830300" cy="798733"/>
          </a:xfrm>
          <a:prstGeom prst="rect">
            <a:avLst/>
          </a:prstGeom>
          <a:noFill/>
          <a:ln>
            <a:noFill/>
          </a:ln>
        </p:spPr>
      </p:pic>
    </p:spTree>
    <p:extLst>
      <p:ext uri="{BB962C8B-B14F-4D97-AF65-F5344CB8AC3E}">
        <p14:creationId xmlns:p14="http://schemas.microsoft.com/office/powerpoint/2010/main" val="2061874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fld id="{89D00882-420D-446F-B065-6675A463A27F}" type="slidenum">
              <a:rPr lang="en-US" smtClean="0"/>
              <a:t>‹#›</a:t>
            </a:fld>
            <a:endParaRPr lang="en-US"/>
          </a:p>
        </p:txBody>
      </p:sp>
    </p:spTree>
    <p:extLst>
      <p:ext uri="{BB962C8B-B14F-4D97-AF65-F5344CB8AC3E}">
        <p14:creationId xmlns:p14="http://schemas.microsoft.com/office/powerpoint/2010/main" val="592030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85" r:id="rId3"/>
    <p:sldLayoutId id="2147483691" r:id="rId4"/>
    <p:sldLayoutId id="2147483664" r:id="rId5"/>
    <p:sldLayoutId id="2147483665" r:id="rId6"/>
    <p:sldLayoutId id="2147483672" r:id="rId7"/>
    <p:sldLayoutId id="2147483676" r:id="rId8"/>
    <p:sldLayoutId id="2147483677" r:id="rId9"/>
    <p:sldLayoutId id="2147483678" r:id="rId10"/>
    <p:sldLayoutId id="2147483679" r:id="rId11"/>
    <p:sldLayoutId id="2147483681" r:id="rId12"/>
    <p:sldLayoutId id="2147483684" r:id="rId13"/>
    <p:sldLayoutId id="2147483688" r:id="rId14"/>
    <p:sldLayoutId id="2147483689" r:id="rId15"/>
    <p:sldLayoutId id="2147483690" r:id="rId16"/>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desmos.com/calculator/twpnylu4lr"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6.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4.gif"/><Relationship Id="rId4" Type="http://schemas.openxmlformats.org/officeDocument/2006/relationships/image" Target="../media/image43.gif"/></Relationships>
</file>

<file path=ppt/slides/_rels/slide45.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6.gif"/><Relationship Id="rId5" Type="http://schemas.openxmlformats.org/officeDocument/2006/relationships/image" Target="../media/image45.gif"/><Relationship Id="rId4" Type="http://schemas.openxmlformats.org/officeDocument/2006/relationships/image" Target="../media/image44.gif"/></Relationships>
</file>

<file path=ppt/slides/_rels/slide4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47.xml.rels><?xml version="1.0" encoding="UTF-8" standalone="yes"?>
<Relationships xmlns="http://schemas.openxmlformats.org/package/2006/relationships"><Relationship Id="rId3" Type="http://schemas.openxmlformats.org/officeDocument/2006/relationships/image" Target="../media/image42.gif"/><Relationship Id="rId7" Type="http://schemas.openxmlformats.org/officeDocument/2006/relationships/image" Target="../media/image58.gif"/><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7.gif"/><Relationship Id="rId5" Type="http://schemas.openxmlformats.org/officeDocument/2006/relationships/image" Target="../media/image56.gif"/><Relationship Id="rId4" Type="http://schemas.openxmlformats.org/officeDocument/2006/relationships/image" Target="../media/image45.gif"/></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4.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0.png"/><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1.xml.rels><?xml version="1.0" encoding="UTF-8" standalone="yes"?>
<Relationships xmlns="http://schemas.openxmlformats.org/package/2006/relationships"><Relationship Id="rId3" Type="http://schemas.openxmlformats.org/officeDocument/2006/relationships/image" Target="../media/image70.gif"/><Relationship Id="rId7"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43.gif"/></Relationships>
</file>

<file path=ppt/slides/_rels/slide5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4.gif"/><Relationship Id="rId7" Type="http://schemas.openxmlformats.org/officeDocument/2006/relationships/image" Target="../media/image43.gif"/><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70.gif"/><Relationship Id="rId5" Type="http://schemas.openxmlformats.org/officeDocument/2006/relationships/image" Target="../media/image76.gif"/><Relationship Id="rId4" Type="http://schemas.openxmlformats.org/officeDocument/2006/relationships/image" Target="../media/image75.gif"/></Relationships>
</file>

<file path=ppt/slides/_rels/slide53.xml.rels><?xml version="1.0" encoding="UTF-8" standalone="yes"?>
<Relationships xmlns="http://schemas.openxmlformats.org/package/2006/relationships"><Relationship Id="rId8" Type="http://schemas.openxmlformats.org/officeDocument/2006/relationships/image" Target="../media/image83.gif"/><Relationship Id="rId3" Type="http://schemas.openxmlformats.org/officeDocument/2006/relationships/image" Target="../media/image78.gif"/><Relationship Id="rId7" Type="http://schemas.openxmlformats.org/officeDocument/2006/relationships/image" Target="../media/image82.gif"/><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81.gif"/><Relationship Id="rId5" Type="http://schemas.openxmlformats.org/officeDocument/2006/relationships/image" Target="../media/image80.gif"/><Relationship Id="rId4" Type="http://schemas.openxmlformats.org/officeDocument/2006/relationships/image" Target="../media/image79.gif"/></Relationships>
</file>

<file path=ppt/slides/_rels/slide54.xml.rels><?xml version="1.0" encoding="UTF-8" standalone="yes"?>
<Relationships xmlns="http://schemas.openxmlformats.org/package/2006/relationships"><Relationship Id="rId3" Type="http://schemas.openxmlformats.org/officeDocument/2006/relationships/image" Target="../media/image84.gif"/><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79.gif"/><Relationship Id="rId5" Type="http://schemas.openxmlformats.org/officeDocument/2006/relationships/image" Target="../media/image86.gif"/><Relationship Id="rId4" Type="http://schemas.openxmlformats.org/officeDocument/2006/relationships/image" Target="../media/image85.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5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93.png"/></Relationships>
</file>

<file path=ppt/slides/_rels/slide5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59.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3.png"/><Relationship Id="rId7" Type="http://schemas.openxmlformats.org/officeDocument/2006/relationships/image" Target="../media/image99.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2.png"/></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102.png"/><Relationship Id="rId4" Type="http://schemas.openxmlformats.org/officeDocument/2006/relationships/image" Target="../media/image101.png"/></Relationships>
</file>

<file path=ppt/slides/_rels/slide6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CCB048-B67C-E79B-1CAC-1D9CA1807D4A}"/>
              </a:ext>
            </a:extLst>
          </p:cNvPr>
          <p:cNvSpPr>
            <a:spLocks noGrp="1"/>
          </p:cNvSpPr>
          <p:nvPr>
            <p:ph type="ctrTitle"/>
          </p:nvPr>
        </p:nvSpPr>
        <p:spPr/>
        <p:txBody>
          <a:bodyPr/>
          <a:lstStyle/>
          <a:p>
            <a:r>
              <a:rPr lang="en-US" dirty="0"/>
              <a:t>Gradient Descent</a:t>
            </a:r>
            <a:br>
              <a:rPr lang="en-US" dirty="0"/>
            </a:br>
            <a:r>
              <a:rPr lang="en-US" dirty="0"/>
              <a:t>for Linear Regression (Simple and Multiple)</a:t>
            </a:r>
          </a:p>
        </p:txBody>
      </p:sp>
      <p:sp>
        <p:nvSpPr>
          <p:cNvPr id="6" name="TextBox 5">
            <a:extLst>
              <a:ext uri="{FF2B5EF4-FFF2-40B4-BE49-F238E27FC236}">
                <a16:creationId xmlns:a16="http://schemas.microsoft.com/office/drawing/2014/main" id="{A13AD516-9370-3827-DF97-F8B64741380B}"/>
              </a:ext>
            </a:extLst>
          </p:cNvPr>
          <p:cNvSpPr txBox="1"/>
          <p:nvPr/>
        </p:nvSpPr>
        <p:spPr>
          <a:xfrm>
            <a:off x="76993" y="6200775"/>
            <a:ext cx="5401733" cy="430887"/>
          </a:xfrm>
          <a:prstGeom prst="rect">
            <a:avLst/>
          </a:prstGeom>
          <a:noFill/>
        </p:spPr>
        <p:txBody>
          <a:bodyPr wrap="square" rtlCol="0">
            <a:spAutoFit/>
          </a:bodyPr>
          <a:lstStyle/>
          <a:p>
            <a:r>
              <a:rPr lang="nn-NO" sz="1100" dirty="0">
                <a:latin typeface="+mn-lt"/>
                <a:ea typeface="Roboto Medium"/>
                <a:cs typeface="Roboto Medium"/>
                <a:sym typeface="Roboto Medium"/>
              </a:rPr>
              <a:t>From: </a:t>
            </a:r>
          </a:p>
          <a:p>
            <a:r>
              <a:rPr lang="nn-NO" sz="1100" dirty="0">
                <a:latin typeface="+mn-lt"/>
                <a:ea typeface="Roboto Medium"/>
                <a:cs typeface="Roboto Medium"/>
                <a:sym typeface="Roboto Medium"/>
              </a:rPr>
              <a:t>DS100 UC Berkeley</a:t>
            </a:r>
          </a:p>
        </p:txBody>
      </p:sp>
    </p:spTree>
    <p:extLst>
      <p:ext uri="{BB962C8B-B14F-4D97-AF65-F5344CB8AC3E}">
        <p14:creationId xmlns:p14="http://schemas.microsoft.com/office/powerpoint/2010/main" val="1616806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AB55A6-AA01-2093-30A8-5FA00B3C58A9}"/>
              </a:ext>
            </a:extLst>
          </p:cNvPr>
          <p:cNvSpPr>
            <a:spLocks noGrp="1"/>
          </p:cNvSpPr>
          <p:nvPr>
            <p:ph idx="1"/>
          </p:nvPr>
        </p:nvSpPr>
        <p:spPr>
          <a:xfrm>
            <a:off x="266700" y="990601"/>
            <a:ext cx="11658601" cy="5553073"/>
          </a:xfrm>
        </p:spPr>
        <p:txBody>
          <a:bodyPr/>
          <a:lstStyle/>
          <a:p>
            <a:pPr lvl="0"/>
            <a:r>
              <a:rPr lang="en-US" dirty="0"/>
              <a:t>Optimizing complex models – how do we select parameters when the loss function is “tricky”?</a:t>
            </a:r>
          </a:p>
          <a:p>
            <a:pPr lvl="1"/>
            <a:r>
              <a:rPr lang="en-US" dirty="0"/>
              <a:t>Identifying cases where straight calculus or geometric arguments won’t work</a:t>
            </a:r>
          </a:p>
          <a:p>
            <a:pPr lvl="1"/>
            <a:r>
              <a:rPr lang="en-US" dirty="0"/>
              <a:t>Introducing an alternative technique – gradient descent</a:t>
            </a:r>
          </a:p>
          <a:p>
            <a:endParaRPr lang="en-US" dirty="0"/>
          </a:p>
        </p:txBody>
      </p:sp>
      <p:sp>
        <p:nvSpPr>
          <p:cNvPr id="3" name="Title 2">
            <a:extLst>
              <a:ext uri="{FF2B5EF4-FFF2-40B4-BE49-F238E27FC236}">
                <a16:creationId xmlns:a16="http://schemas.microsoft.com/office/drawing/2014/main" id="{E1B7CCCF-5CAC-48C8-7B97-B2ABA6A65078}"/>
              </a:ext>
            </a:extLst>
          </p:cNvPr>
          <p:cNvSpPr>
            <a:spLocks noGrp="1"/>
          </p:cNvSpPr>
          <p:nvPr>
            <p:ph type="title"/>
          </p:nvPr>
        </p:nvSpPr>
        <p:spPr>
          <a:xfrm>
            <a:off x="266699" y="20819"/>
            <a:ext cx="11658601" cy="969781"/>
          </a:xfrm>
        </p:spPr>
        <p:txBody>
          <a:bodyPr/>
          <a:lstStyle/>
          <a:p>
            <a:r>
              <a:rPr lang="en-US" dirty="0"/>
              <a:t>Our goals for this lecture</a:t>
            </a:r>
          </a:p>
        </p:txBody>
      </p:sp>
      <p:sp>
        <p:nvSpPr>
          <p:cNvPr id="4" name="Slide Number Placeholder 3">
            <a:extLst>
              <a:ext uri="{FF2B5EF4-FFF2-40B4-BE49-F238E27FC236}">
                <a16:creationId xmlns:a16="http://schemas.microsoft.com/office/drawing/2014/main" id="{0BBAF99A-B1C2-7406-2F91-0B6BEAE59DB1}"/>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2</a:t>
            </a:fld>
            <a:endParaRPr lang="en-US"/>
          </a:p>
        </p:txBody>
      </p:sp>
    </p:spTree>
    <p:extLst>
      <p:ext uri="{BB962C8B-B14F-4D97-AF65-F5344CB8AC3E}">
        <p14:creationId xmlns:p14="http://schemas.microsoft.com/office/powerpoint/2010/main" val="2114073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5D24CD-8C51-2746-1735-0D609179F8E9}"/>
              </a:ext>
            </a:extLst>
          </p:cNvPr>
          <p:cNvSpPr>
            <a:spLocks noGrp="1"/>
          </p:cNvSpPr>
          <p:nvPr>
            <p:ph idx="1"/>
          </p:nvPr>
        </p:nvSpPr>
        <p:spPr>
          <a:xfrm>
            <a:off x="266700" y="990601"/>
            <a:ext cx="11658601" cy="5553073"/>
          </a:xfrm>
        </p:spPr>
        <p:txBody>
          <a:bodyPr/>
          <a:lstStyle/>
          <a:p>
            <a:pPr lvl="0"/>
            <a:r>
              <a:rPr lang="en-US" dirty="0"/>
              <a:t>Optimization: where are we?</a:t>
            </a:r>
          </a:p>
          <a:p>
            <a:pPr lvl="0"/>
            <a:r>
              <a:rPr lang="en-US" dirty="0"/>
              <a:t>Minimizing an arbitrary 1D function</a:t>
            </a:r>
          </a:p>
          <a:p>
            <a:pPr lvl="0"/>
            <a:r>
              <a:rPr lang="en-US" dirty="0"/>
              <a:t>Gradient descent on a 1D model</a:t>
            </a:r>
          </a:p>
          <a:p>
            <a:pPr lvl="0"/>
            <a:r>
              <a:rPr lang="en-US" dirty="0"/>
              <a:t>Gradient descent on high-dimensional models</a:t>
            </a:r>
          </a:p>
          <a:p>
            <a:pPr lvl="0"/>
            <a:r>
              <a:rPr lang="en-US" dirty="0"/>
              <a:t>Batch, mini-batch, and stochastic gradient descent</a:t>
            </a:r>
          </a:p>
          <a:p>
            <a:endParaRPr lang="en-US" dirty="0"/>
          </a:p>
        </p:txBody>
      </p:sp>
      <p:sp>
        <p:nvSpPr>
          <p:cNvPr id="3" name="Title 2">
            <a:extLst>
              <a:ext uri="{FF2B5EF4-FFF2-40B4-BE49-F238E27FC236}">
                <a16:creationId xmlns:a16="http://schemas.microsoft.com/office/drawing/2014/main" id="{3579A3D2-B889-D5DA-4301-E7FE3CF4C15A}"/>
              </a:ext>
            </a:extLst>
          </p:cNvPr>
          <p:cNvSpPr>
            <a:spLocks noGrp="1"/>
          </p:cNvSpPr>
          <p:nvPr>
            <p:ph type="title"/>
          </p:nvPr>
        </p:nvSpPr>
        <p:spPr>
          <a:xfrm>
            <a:off x="266699" y="20819"/>
            <a:ext cx="11658601" cy="969781"/>
          </a:xfrm>
        </p:spPr>
        <p:txBody>
          <a:bodyPr/>
          <a:lstStyle/>
          <a:p>
            <a:r>
              <a:rPr lang="en-US" dirty="0"/>
              <a:t>Agenda</a:t>
            </a:r>
          </a:p>
        </p:txBody>
      </p:sp>
      <p:sp>
        <p:nvSpPr>
          <p:cNvPr id="4" name="Slide Number Placeholder 3">
            <a:extLst>
              <a:ext uri="{FF2B5EF4-FFF2-40B4-BE49-F238E27FC236}">
                <a16:creationId xmlns:a16="http://schemas.microsoft.com/office/drawing/2014/main" id="{F1A699C0-22B6-D7D9-CE7D-DE9BB3A292F1}"/>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3</a:t>
            </a:fld>
            <a:endParaRPr lang="en-US"/>
          </a:p>
        </p:txBody>
      </p:sp>
    </p:spTree>
    <p:extLst>
      <p:ext uri="{BB962C8B-B14F-4D97-AF65-F5344CB8AC3E}">
        <p14:creationId xmlns:p14="http://schemas.microsoft.com/office/powerpoint/2010/main" val="2483116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5D24CD-8C51-2746-1735-0D609179F8E9}"/>
              </a:ext>
            </a:extLst>
          </p:cNvPr>
          <p:cNvSpPr>
            <a:spLocks noGrp="1"/>
          </p:cNvSpPr>
          <p:nvPr>
            <p:ph idx="1"/>
          </p:nvPr>
        </p:nvSpPr>
        <p:spPr>
          <a:xfrm>
            <a:off x="266700" y="990601"/>
            <a:ext cx="11658601" cy="5553073"/>
          </a:xfrm>
        </p:spPr>
        <p:txBody>
          <a:bodyPr/>
          <a:lstStyle/>
          <a:p>
            <a:pPr lvl="0"/>
            <a:r>
              <a:rPr lang="en-US" b="1" dirty="0"/>
              <a:t>Optimization: where are we?</a:t>
            </a:r>
          </a:p>
          <a:p>
            <a:pPr lvl="0"/>
            <a:r>
              <a:rPr lang="en-US" dirty="0"/>
              <a:t>Minimizing an arbitrary 1D function</a:t>
            </a:r>
          </a:p>
          <a:p>
            <a:pPr lvl="0"/>
            <a:r>
              <a:rPr lang="en-US" dirty="0"/>
              <a:t>Gradient descent on a 1D model</a:t>
            </a:r>
          </a:p>
          <a:p>
            <a:pPr lvl="0"/>
            <a:r>
              <a:rPr lang="en-US" dirty="0"/>
              <a:t>Gradient descent on high-dimensional models</a:t>
            </a:r>
          </a:p>
          <a:p>
            <a:pPr lvl="0"/>
            <a:r>
              <a:rPr lang="en-US" dirty="0"/>
              <a:t>Batch, mini-batch, and stochastic gradient descent</a:t>
            </a:r>
          </a:p>
          <a:p>
            <a:endParaRPr lang="en-US" dirty="0"/>
          </a:p>
        </p:txBody>
      </p:sp>
      <p:sp>
        <p:nvSpPr>
          <p:cNvPr id="3" name="Title 2">
            <a:extLst>
              <a:ext uri="{FF2B5EF4-FFF2-40B4-BE49-F238E27FC236}">
                <a16:creationId xmlns:a16="http://schemas.microsoft.com/office/drawing/2014/main" id="{3579A3D2-B889-D5DA-4301-E7FE3CF4C15A}"/>
              </a:ext>
            </a:extLst>
          </p:cNvPr>
          <p:cNvSpPr>
            <a:spLocks noGrp="1"/>
          </p:cNvSpPr>
          <p:nvPr>
            <p:ph type="title"/>
          </p:nvPr>
        </p:nvSpPr>
        <p:spPr>
          <a:xfrm>
            <a:off x="266699" y="20819"/>
            <a:ext cx="11658601" cy="969781"/>
          </a:xfrm>
        </p:spPr>
        <p:txBody>
          <a:bodyPr/>
          <a:lstStyle/>
          <a:p>
            <a:r>
              <a:rPr lang="en-US" dirty="0"/>
              <a:t>Agenda</a:t>
            </a:r>
          </a:p>
        </p:txBody>
      </p:sp>
      <p:sp>
        <p:nvSpPr>
          <p:cNvPr id="4" name="Slide Number Placeholder 3">
            <a:extLst>
              <a:ext uri="{FF2B5EF4-FFF2-40B4-BE49-F238E27FC236}">
                <a16:creationId xmlns:a16="http://schemas.microsoft.com/office/drawing/2014/main" id="{F1A699C0-22B6-D7D9-CE7D-DE9BB3A292F1}"/>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4</a:t>
            </a:fld>
            <a:endParaRPr lang="en-US"/>
          </a:p>
        </p:txBody>
      </p:sp>
    </p:spTree>
    <p:extLst>
      <p:ext uri="{BB962C8B-B14F-4D97-AF65-F5344CB8AC3E}">
        <p14:creationId xmlns:p14="http://schemas.microsoft.com/office/powerpoint/2010/main" val="3572361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71060F-E2F5-CA25-A397-DDE275A066B1}"/>
              </a:ext>
            </a:extLst>
          </p:cNvPr>
          <p:cNvSpPr>
            <a:spLocks noGrp="1"/>
          </p:cNvSpPr>
          <p:nvPr>
            <p:ph idx="1"/>
          </p:nvPr>
        </p:nvSpPr>
        <p:spPr>
          <a:xfrm>
            <a:off x="266700" y="990601"/>
            <a:ext cx="11658601" cy="5553073"/>
          </a:xfrm>
        </p:spPr>
        <p:txBody>
          <a:bodyPr/>
          <a:lstStyle/>
          <a:p>
            <a:pPr lvl="0"/>
            <a:r>
              <a:rPr lang="en-US" dirty="0"/>
              <a:t>Takeaways from the past lecture:</a:t>
            </a:r>
          </a:p>
          <a:p>
            <a:pPr lvl="1"/>
            <a:r>
              <a:rPr lang="en-US" dirty="0"/>
              <a:t>Choose a model</a:t>
            </a:r>
          </a:p>
          <a:p>
            <a:pPr lvl="1"/>
            <a:r>
              <a:rPr lang="en-US" dirty="0"/>
              <a:t>Choose a loss function</a:t>
            </a:r>
          </a:p>
          <a:p>
            <a:pPr lvl="1"/>
            <a:r>
              <a:rPr lang="en-US" dirty="0"/>
              <a:t>Optimize parameters – choose the values of     that minimize the model’s loss</a:t>
            </a:r>
          </a:p>
          <a:p>
            <a:endParaRPr lang="en-US" dirty="0"/>
          </a:p>
          <a:p>
            <a:pPr lvl="0"/>
            <a:r>
              <a:rPr lang="en-US" dirty="0">
                <a:sym typeface="Roboto Light"/>
              </a:rPr>
              <a:t>How have we optimized?</a:t>
            </a:r>
          </a:p>
          <a:p>
            <a:pPr lvl="1"/>
            <a:r>
              <a:rPr lang="en-US" dirty="0">
                <a:sym typeface="Roboto Light"/>
              </a:rPr>
              <a:t>Use calculus to solve for</a:t>
            </a:r>
          </a:p>
          <a:p>
            <a:pPr marL="457200" lvl="1" indent="0">
              <a:buNone/>
            </a:pPr>
            <a:r>
              <a:rPr lang="en-US" dirty="0">
                <a:sym typeface="Roboto Light"/>
              </a:rPr>
              <a:t>Take derivatives, set equal to 0, solve.</a:t>
            </a:r>
          </a:p>
        </p:txBody>
      </p:sp>
      <p:sp>
        <p:nvSpPr>
          <p:cNvPr id="10" name="Title 9">
            <a:extLst>
              <a:ext uri="{FF2B5EF4-FFF2-40B4-BE49-F238E27FC236}">
                <a16:creationId xmlns:a16="http://schemas.microsoft.com/office/drawing/2014/main" id="{CBA28A4B-1303-9180-7D24-86627336E3D8}"/>
              </a:ext>
            </a:extLst>
          </p:cNvPr>
          <p:cNvSpPr>
            <a:spLocks noGrp="1"/>
          </p:cNvSpPr>
          <p:nvPr>
            <p:ph type="title"/>
          </p:nvPr>
        </p:nvSpPr>
        <p:spPr/>
        <p:txBody>
          <a:bodyPr/>
          <a:lstStyle/>
          <a:p>
            <a:r>
              <a:rPr lang="en" dirty="0"/>
              <a:t>What We’ve Done</a:t>
            </a:r>
            <a:endParaRPr lang="en-US" dirty="0"/>
          </a:p>
        </p:txBody>
      </p:sp>
      <p:sp>
        <p:nvSpPr>
          <p:cNvPr id="4" name="Slide Number Placeholder 3">
            <a:extLst>
              <a:ext uri="{FF2B5EF4-FFF2-40B4-BE49-F238E27FC236}">
                <a16:creationId xmlns:a16="http://schemas.microsoft.com/office/drawing/2014/main" id="{34D85AF6-51D4-32AA-30BA-2397E69BE2B9}"/>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5</a:t>
            </a:fld>
            <a:endParaRPr lang="en-US"/>
          </a:p>
        </p:txBody>
      </p:sp>
      <p:pic>
        <p:nvPicPr>
          <p:cNvPr id="11" name="Google Shape;261;p41" descr="{&quot;aid&quot;:null,&quot;type&quot;:&quot;$$&quot;,&quot;font&quot;:{&quot;family&quot;:&quot;Roboto&quot;,&quot;size&quot;:16,&quot;color&quot;:&quot;#000000&quot;},&quot;backgroundColor&quot;:&quot;#FFFFFF&quot;,&quot;code&quot;:&quot;$$\\theta$$&quot;,&quot;id&quot;:&quot;2&quot;,&quot;backgroundColorModified&quot;:false,&quot;ts&quot;:1688668513157,&quot;cs&quot;:&quot;VIA8dogDEgJQwvxiLwkNWw==&quot;,&quot;size&quot;:{&quot;width&quot;:9.333333333333334,&quot;height&quot;:15.5}}">
            <a:extLst>
              <a:ext uri="{FF2B5EF4-FFF2-40B4-BE49-F238E27FC236}">
                <a16:creationId xmlns:a16="http://schemas.microsoft.com/office/drawing/2014/main" id="{769A12A8-7508-26F2-93B8-A534DAF3AB7D}"/>
              </a:ext>
            </a:extLst>
          </p:cNvPr>
          <p:cNvPicPr preferRelativeResize="0"/>
          <p:nvPr/>
        </p:nvPicPr>
        <p:blipFill>
          <a:blip r:embed="rId2">
            <a:alphaModFix/>
          </a:blip>
          <a:stretch>
            <a:fillRect/>
          </a:stretch>
        </p:blipFill>
        <p:spPr>
          <a:xfrm>
            <a:off x="4332301" y="3952784"/>
            <a:ext cx="216416" cy="264318"/>
          </a:xfrm>
          <a:prstGeom prst="rect">
            <a:avLst/>
          </a:prstGeom>
          <a:noFill/>
          <a:ln>
            <a:noFill/>
          </a:ln>
        </p:spPr>
      </p:pic>
      <p:pic>
        <p:nvPicPr>
          <p:cNvPr id="3" name="Google Shape;261;p41" descr="{&quot;aid&quot;:null,&quot;type&quot;:&quot;$$&quot;,&quot;font&quot;:{&quot;family&quot;:&quot;Roboto&quot;,&quot;size&quot;:16,&quot;color&quot;:&quot;#000000&quot;},&quot;backgroundColor&quot;:&quot;#FFFFFF&quot;,&quot;code&quot;:&quot;$$\\theta$$&quot;,&quot;id&quot;:&quot;2&quot;,&quot;backgroundColorModified&quot;:false,&quot;ts&quot;:1688668513157,&quot;cs&quot;:&quot;VIA8dogDEgJQwvxiLwkNWw==&quot;,&quot;size&quot;:{&quot;width&quot;:9.333333333333334,&quot;height&quot;:15.5}}">
            <a:extLst>
              <a:ext uri="{FF2B5EF4-FFF2-40B4-BE49-F238E27FC236}">
                <a16:creationId xmlns:a16="http://schemas.microsoft.com/office/drawing/2014/main" id="{1C79C415-C20C-0549-8A47-E0363B90A9B3}"/>
              </a:ext>
            </a:extLst>
          </p:cNvPr>
          <p:cNvPicPr preferRelativeResize="0"/>
          <p:nvPr/>
        </p:nvPicPr>
        <p:blipFill>
          <a:blip r:embed="rId2">
            <a:alphaModFix/>
          </a:blip>
          <a:stretch>
            <a:fillRect/>
          </a:stretch>
        </p:blipFill>
        <p:spPr>
          <a:xfrm>
            <a:off x="6580201" y="2482124"/>
            <a:ext cx="216416" cy="264318"/>
          </a:xfrm>
          <a:prstGeom prst="rect">
            <a:avLst/>
          </a:prstGeom>
          <a:noFill/>
          <a:ln>
            <a:noFill/>
          </a:ln>
        </p:spPr>
      </p:pic>
    </p:spTree>
    <p:extLst>
      <p:ext uri="{BB962C8B-B14F-4D97-AF65-F5344CB8AC3E}">
        <p14:creationId xmlns:p14="http://schemas.microsoft.com/office/powerpoint/2010/main" val="6403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8" name="Google Shape;268;p42"/>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We made some big assumptions</a:t>
            </a:r>
            <a:endParaRPr dirty="0"/>
          </a:p>
          <a:p>
            <a:r>
              <a:rPr lang="en" dirty="0"/>
              <a:t>assumed that the loss function was differentiable at all points and that the algebra was manageable</a:t>
            </a:r>
          </a:p>
          <a:p>
            <a:pPr marL="0" indent="0">
              <a:buNone/>
            </a:pPr>
            <a:endParaRPr lang="en-US" sz="2800" dirty="0">
              <a:solidFill>
                <a:schemeClr val="dk1"/>
              </a:solidFill>
              <a:latin typeface="Roboto Light"/>
              <a:ea typeface="Roboto Light"/>
              <a:cs typeface="Roboto Light"/>
              <a:sym typeface="Roboto Light"/>
            </a:endParaRPr>
          </a:p>
          <a:p>
            <a:pPr marL="0" indent="0">
              <a:buNone/>
            </a:pPr>
            <a:r>
              <a:rPr lang="en-US" sz="2800" dirty="0">
                <a:solidFill>
                  <a:schemeClr val="dk1"/>
                </a:solidFill>
                <a:latin typeface="Roboto Light"/>
                <a:ea typeface="Roboto Light"/>
                <a:cs typeface="Roboto Light"/>
                <a:sym typeface="Roboto Light"/>
              </a:rPr>
              <a:t>To design more complex models with different loss functions, we need a new optimization technique: </a:t>
            </a:r>
            <a:r>
              <a:rPr lang="en-US" sz="2800" b="1" dirty="0">
                <a:solidFill>
                  <a:schemeClr val="dk1"/>
                </a:solidFill>
                <a:latin typeface="Roboto"/>
                <a:ea typeface="Roboto"/>
                <a:cs typeface="Roboto"/>
                <a:sym typeface="Roboto"/>
              </a:rPr>
              <a:t>gradient descent</a:t>
            </a:r>
            <a:r>
              <a:rPr lang="en-US" sz="2800" dirty="0">
                <a:solidFill>
                  <a:schemeClr val="dk1"/>
                </a:solidFill>
                <a:latin typeface="Roboto Light"/>
                <a:ea typeface="Roboto Light"/>
                <a:cs typeface="Roboto Light"/>
                <a:sym typeface="Roboto Light"/>
              </a:rPr>
              <a:t>.</a:t>
            </a:r>
            <a:endParaRPr lang="en-US" dirty="0"/>
          </a:p>
          <a:p>
            <a:endParaRPr dirty="0"/>
          </a:p>
          <a:p>
            <a:pPr marL="0" indent="0">
              <a:buNone/>
            </a:pPr>
            <a:endParaRPr dirty="0"/>
          </a:p>
          <a:p>
            <a:pPr marL="0" indent="0">
              <a:buNone/>
            </a:pPr>
            <a:endParaRPr dirty="0"/>
          </a:p>
        </p:txBody>
      </p:sp>
      <p:sp>
        <p:nvSpPr>
          <p:cNvPr id="267" name="Google Shape;267;p42"/>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Where We’re Going</a:t>
            </a:r>
            <a:endParaRPr/>
          </a:p>
        </p:txBody>
      </p:sp>
      <p:sp>
        <p:nvSpPr>
          <p:cNvPr id="269" name="Google Shape;269;p42"/>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6</a:t>
            </a:fld>
            <a:endParaRPr/>
          </a:p>
        </p:txBody>
      </p:sp>
      <p:sp>
        <p:nvSpPr>
          <p:cNvPr id="270" name="Google Shape;270;p42"/>
          <p:cNvSpPr/>
          <p:nvPr/>
        </p:nvSpPr>
        <p:spPr>
          <a:xfrm>
            <a:off x="856220" y="4894599"/>
            <a:ext cx="10182400" cy="972800"/>
          </a:xfrm>
          <a:prstGeom prst="rect">
            <a:avLst/>
          </a:prstGeom>
          <a:solidFill>
            <a:schemeClr val="accent1"/>
          </a:solidFill>
          <a:ln>
            <a:noFill/>
          </a:ln>
        </p:spPr>
        <p:txBody>
          <a:bodyPr spcFirstLastPara="1" wrap="square" lIns="121900" tIns="121900" rIns="121900" bIns="121900" anchor="ctr" anchorCtr="0">
            <a:noAutofit/>
          </a:bodyPr>
          <a:lstStyle/>
          <a:p>
            <a:pPr algn="ctr">
              <a:spcBef>
                <a:spcPts val="0"/>
              </a:spcBef>
              <a:spcAft>
                <a:spcPts val="0"/>
              </a:spcAft>
            </a:pPr>
            <a:r>
              <a:rPr lang="en" sz="2133">
                <a:latin typeface="Roboto Light"/>
                <a:ea typeface="Roboto Light"/>
                <a:cs typeface="Roboto Light"/>
                <a:sym typeface="Roboto Light"/>
              </a:rPr>
              <a:t>Big Idea: use an algorithm instead of solving for an exact answer</a:t>
            </a:r>
            <a:endParaRPr sz="2133">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3"/>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Our Roadmap</a:t>
            </a:r>
            <a:endParaRPr/>
          </a:p>
        </p:txBody>
      </p:sp>
      <p:sp>
        <p:nvSpPr>
          <p:cNvPr id="277" name="Google Shape;277;p43"/>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7</a:t>
            </a:fld>
            <a:endParaRPr/>
          </a:p>
        </p:txBody>
      </p:sp>
      <p:sp>
        <p:nvSpPr>
          <p:cNvPr id="278" name="Google Shape;278;p43"/>
          <p:cNvSpPr/>
          <p:nvPr/>
        </p:nvSpPr>
        <p:spPr>
          <a:xfrm>
            <a:off x="782533" y="1001000"/>
            <a:ext cx="10182400" cy="972800"/>
          </a:xfrm>
          <a:prstGeom prst="rect">
            <a:avLst/>
          </a:prstGeom>
          <a:solidFill>
            <a:schemeClr val="accent1"/>
          </a:solidFill>
          <a:ln>
            <a:noFill/>
          </a:ln>
        </p:spPr>
        <p:txBody>
          <a:bodyPr spcFirstLastPara="1" wrap="square" lIns="121900" tIns="121900" rIns="121900" bIns="121900" anchor="ctr" anchorCtr="0">
            <a:noAutofit/>
          </a:bodyPr>
          <a:lstStyle/>
          <a:p>
            <a:pPr algn="ctr">
              <a:spcBef>
                <a:spcPts val="0"/>
              </a:spcBef>
              <a:spcAft>
                <a:spcPts val="0"/>
              </a:spcAft>
            </a:pPr>
            <a:r>
              <a:rPr lang="en" sz="2133">
                <a:latin typeface="Roboto Light"/>
                <a:ea typeface="Roboto Light"/>
                <a:cs typeface="Roboto Light"/>
                <a:sym typeface="Roboto Light"/>
              </a:rPr>
              <a:t>Big Idea: use an algorithm instead of solving for an exact answer</a:t>
            </a:r>
            <a:endParaRPr sz="2133">
              <a:latin typeface="Roboto Light"/>
              <a:ea typeface="Roboto Light"/>
              <a:cs typeface="Roboto Light"/>
              <a:sym typeface="Roboto Light"/>
            </a:endParaRPr>
          </a:p>
        </p:txBody>
      </p:sp>
      <p:sp>
        <p:nvSpPr>
          <p:cNvPr id="279" name="Google Shape;279;p43"/>
          <p:cNvSpPr txBox="1"/>
          <p:nvPr/>
        </p:nvSpPr>
        <p:spPr>
          <a:xfrm>
            <a:off x="565733" y="2378800"/>
            <a:ext cx="10616000" cy="436782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400" dirty="0">
                <a:latin typeface="Calibri" panose="020F0502020204030204" pitchFamily="34" charset="0"/>
                <a:ea typeface="Calibri" panose="020F0502020204030204" pitchFamily="34" charset="0"/>
                <a:cs typeface="Calibri" panose="020F0502020204030204" pitchFamily="34" charset="0"/>
                <a:sym typeface="Roboto Light"/>
              </a:rPr>
              <a:t>Structure for today’s lecture:</a:t>
            </a:r>
            <a:endParaRPr sz="2400" dirty="0">
              <a:latin typeface="Calibri" panose="020F0502020204030204" pitchFamily="34" charset="0"/>
              <a:ea typeface="Calibri" panose="020F0502020204030204" pitchFamily="34" charset="0"/>
              <a:cs typeface="Calibri" panose="020F0502020204030204" pitchFamily="34" charset="0"/>
              <a:sym typeface="Roboto Light"/>
            </a:endParaRPr>
          </a:p>
          <a:p>
            <a:pPr marL="609585" indent="-440256">
              <a:spcBef>
                <a:spcPts val="1333"/>
              </a:spcBef>
              <a:spcAft>
                <a:spcPts val="0"/>
              </a:spcAft>
              <a:buSzPts val="1600"/>
              <a:buFont typeface="Roboto Light"/>
              <a:buAutoNum type="arabicPeriod"/>
            </a:pPr>
            <a:r>
              <a:rPr lang="en" sz="2400" dirty="0">
                <a:latin typeface="Calibri" panose="020F0502020204030204" pitchFamily="34" charset="0"/>
                <a:ea typeface="Calibri" panose="020F0502020204030204" pitchFamily="34" charset="0"/>
                <a:cs typeface="Calibri" panose="020F0502020204030204" pitchFamily="34" charset="0"/>
                <a:sym typeface="Roboto Light"/>
              </a:rPr>
              <a:t>Use a simple example (some arbitrary function) to build the intuition for our algorithm</a:t>
            </a:r>
            <a:endParaRPr sz="2400" dirty="0">
              <a:latin typeface="Calibri" panose="020F0502020204030204" pitchFamily="34" charset="0"/>
              <a:ea typeface="Calibri" panose="020F0502020204030204" pitchFamily="34" charset="0"/>
              <a:cs typeface="Calibri" panose="020F0502020204030204" pitchFamily="34" charset="0"/>
              <a:sym typeface="Roboto Light"/>
            </a:endParaRPr>
          </a:p>
          <a:p>
            <a:pPr marL="609585" indent="-440256">
              <a:spcBef>
                <a:spcPts val="1333"/>
              </a:spcBef>
              <a:spcAft>
                <a:spcPts val="0"/>
              </a:spcAft>
              <a:buSzPts val="1600"/>
              <a:buFont typeface="Roboto Light"/>
              <a:buAutoNum type="arabicPeriod"/>
            </a:pPr>
            <a:r>
              <a:rPr lang="en" sz="2400" dirty="0">
                <a:latin typeface="Calibri" panose="020F0502020204030204" pitchFamily="34" charset="0"/>
                <a:ea typeface="Calibri" panose="020F0502020204030204" pitchFamily="34" charset="0"/>
                <a:cs typeface="Calibri" panose="020F0502020204030204" pitchFamily="34" charset="0"/>
                <a:sym typeface="Roboto Light"/>
              </a:rPr>
              <a:t>Apply the algorithm to a </a:t>
            </a:r>
            <a:r>
              <a:rPr lang="en" sz="2400" i="1" dirty="0">
                <a:latin typeface="Calibri" panose="020F0502020204030204" pitchFamily="34" charset="0"/>
                <a:ea typeface="Calibri" panose="020F0502020204030204" pitchFamily="34" charset="0"/>
                <a:cs typeface="Calibri" panose="020F0502020204030204" pitchFamily="34" charset="0"/>
                <a:sym typeface="Roboto Light"/>
              </a:rPr>
              <a:t>simple</a:t>
            </a:r>
            <a:r>
              <a:rPr lang="en" sz="2400" dirty="0">
                <a:latin typeface="Calibri" panose="020F0502020204030204" pitchFamily="34" charset="0"/>
                <a:ea typeface="Calibri" panose="020F0502020204030204" pitchFamily="34" charset="0"/>
                <a:cs typeface="Calibri" panose="020F0502020204030204" pitchFamily="34" charset="0"/>
                <a:sym typeface="Roboto Light"/>
              </a:rPr>
              <a:t> </a:t>
            </a:r>
            <a:r>
              <a:rPr lang="en" sz="2400" i="1" dirty="0">
                <a:latin typeface="Calibri" panose="020F0502020204030204" pitchFamily="34" charset="0"/>
                <a:ea typeface="Calibri" panose="020F0502020204030204" pitchFamily="34" charset="0"/>
                <a:cs typeface="Calibri" panose="020F0502020204030204" pitchFamily="34" charset="0"/>
                <a:sym typeface="Roboto Light"/>
              </a:rPr>
              <a:t>model</a:t>
            </a:r>
            <a:r>
              <a:rPr lang="en" sz="2400" dirty="0">
                <a:latin typeface="Calibri" panose="020F0502020204030204" pitchFamily="34" charset="0"/>
                <a:ea typeface="Calibri" panose="020F0502020204030204" pitchFamily="34" charset="0"/>
                <a:cs typeface="Calibri" panose="020F0502020204030204" pitchFamily="34" charset="0"/>
                <a:sym typeface="Roboto Light"/>
              </a:rPr>
              <a:t> to see it in action</a:t>
            </a:r>
            <a:endParaRPr sz="2400" dirty="0">
              <a:latin typeface="Calibri" panose="020F0502020204030204" pitchFamily="34" charset="0"/>
              <a:ea typeface="Calibri" panose="020F0502020204030204" pitchFamily="34" charset="0"/>
              <a:cs typeface="Calibri" panose="020F0502020204030204" pitchFamily="34" charset="0"/>
              <a:sym typeface="Roboto Light"/>
            </a:endParaRPr>
          </a:p>
          <a:p>
            <a:pPr marL="609585" indent="-440256">
              <a:spcBef>
                <a:spcPts val="1333"/>
              </a:spcBef>
              <a:spcAft>
                <a:spcPts val="0"/>
              </a:spcAft>
              <a:buSzPts val="1600"/>
              <a:buFont typeface="Roboto Light"/>
              <a:buAutoNum type="arabicPeriod"/>
            </a:pPr>
            <a:r>
              <a:rPr lang="en" sz="2400" dirty="0">
                <a:latin typeface="Calibri" panose="020F0502020204030204" pitchFamily="34" charset="0"/>
                <a:ea typeface="Calibri" panose="020F0502020204030204" pitchFamily="34" charset="0"/>
                <a:cs typeface="Calibri" panose="020F0502020204030204" pitchFamily="34" charset="0"/>
                <a:sym typeface="Roboto Light"/>
              </a:rPr>
              <a:t>Formalize the algorithm to be applied to </a:t>
            </a:r>
            <a:r>
              <a:rPr lang="en" sz="2400" i="1" dirty="0">
                <a:latin typeface="Calibri" panose="020F0502020204030204" pitchFamily="34" charset="0"/>
                <a:ea typeface="Calibri" panose="020F0502020204030204" pitchFamily="34" charset="0"/>
                <a:cs typeface="Calibri" panose="020F0502020204030204" pitchFamily="34" charset="0"/>
                <a:sym typeface="Roboto Light"/>
              </a:rPr>
              <a:t>any</a:t>
            </a:r>
            <a:r>
              <a:rPr lang="en" sz="2400" dirty="0">
                <a:latin typeface="Calibri" panose="020F0502020204030204" pitchFamily="34" charset="0"/>
                <a:ea typeface="Calibri" panose="020F0502020204030204" pitchFamily="34" charset="0"/>
                <a:cs typeface="Calibri" panose="020F0502020204030204" pitchFamily="34" charset="0"/>
                <a:sym typeface="Roboto Light"/>
              </a:rPr>
              <a:t> </a:t>
            </a:r>
            <a:r>
              <a:rPr lang="en" sz="2400" i="1" dirty="0">
                <a:latin typeface="Calibri" panose="020F0502020204030204" pitchFamily="34" charset="0"/>
                <a:ea typeface="Calibri" panose="020F0502020204030204" pitchFamily="34" charset="0"/>
                <a:cs typeface="Calibri" panose="020F0502020204030204" pitchFamily="34" charset="0"/>
                <a:sym typeface="Roboto Light"/>
              </a:rPr>
              <a:t>model</a:t>
            </a:r>
            <a:endParaRPr sz="2400" i="1" dirty="0">
              <a:latin typeface="Calibri" panose="020F0502020204030204" pitchFamily="34" charset="0"/>
              <a:ea typeface="Calibri" panose="020F0502020204030204" pitchFamily="34" charset="0"/>
              <a:cs typeface="Calibri" panose="020F0502020204030204" pitchFamily="34" charset="0"/>
              <a:sym typeface="Roboto Light"/>
            </a:endParaRPr>
          </a:p>
          <a:p>
            <a:pPr>
              <a:spcBef>
                <a:spcPts val="1333"/>
              </a:spcBef>
              <a:spcAft>
                <a:spcPts val="0"/>
              </a:spcAft>
            </a:pPr>
            <a:endParaRPr sz="2400" dirty="0">
              <a:latin typeface="Calibri" panose="020F0502020204030204" pitchFamily="34" charset="0"/>
              <a:ea typeface="Calibri" panose="020F0502020204030204" pitchFamily="34" charset="0"/>
              <a:cs typeface="Calibri" panose="020F0502020204030204" pitchFamily="34" charset="0"/>
              <a:sym typeface="Roboto Light"/>
            </a:endParaRPr>
          </a:p>
          <a:p>
            <a:pPr>
              <a:spcBef>
                <a:spcPts val="1333"/>
              </a:spcBef>
              <a:spcAft>
                <a:spcPts val="0"/>
              </a:spcAft>
            </a:pPr>
            <a:r>
              <a:rPr lang="en" sz="2400" dirty="0">
                <a:latin typeface="Calibri" panose="020F0502020204030204" pitchFamily="34" charset="0"/>
                <a:ea typeface="Calibri" panose="020F0502020204030204" pitchFamily="34" charset="0"/>
                <a:cs typeface="Calibri" panose="020F0502020204030204" pitchFamily="34" charset="0"/>
                <a:sym typeface="Roboto Light"/>
              </a:rPr>
              <a:t>Remember our goal: find the parameters that </a:t>
            </a:r>
            <a:r>
              <a:rPr lang="en" sz="2400" b="1" dirty="0">
                <a:latin typeface="Calibri" panose="020F0502020204030204" pitchFamily="34" charset="0"/>
                <a:ea typeface="Calibri" panose="020F0502020204030204" pitchFamily="34" charset="0"/>
                <a:cs typeface="Calibri" panose="020F0502020204030204" pitchFamily="34" charset="0"/>
                <a:sym typeface="Roboto"/>
              </a:rPr>
              <a:t>minimize the model’s loss</a:t>
            </a:r>
            <a:endParaRPr sz="2400" b="1" dirty="0">
              <a:latin typeface="Calibri" panose="020F0502020204030204" pitchFamily="34" charset="0"/>
              <a:ea typeface="Calibri" panose="020F0502020204030204" pitchFamily="34" charset="0"/>
              <a:cs typeface="Calibri" panose="020F0502020204030204" pitchFamily="34" charset="0"/>
              <a:sym typeface="Roboto"/>
            </a:endParaRPr>
          </a:p>
          <a:p>
            <a:pPr>
              <a:spcBef>
                <a:spcPts val="1333"/>
              </a:spcBef>
              <a:spcAft>
                <a:spcPts val="1333"/>
              </a:spcAft>
            </a:pPr>
            <a:r>
              <a:rPr lang="en" sz="2400" dirty="0">
                <a:latin typeface="Calibri" panose="020F0502020204030204" pitchFamily="34" charset="0"/>
                <a:ea typeface="Calibri" panose="020F0502020204030204" pitchFamily="34" charset="0"/>
                <a:cs typeface="Calibri" panose="020F0502020204030204" pitchFamily="34" charset="0"/>
                <a:sym typeface="Roboto Light"/>
              </a:rPr>
              <a:t>Let’s do it.</a:t>
            </a:r>
            <a:endParaRPr sz="2400" dirty="0">
              <a:latin typeface="Calibri" panose="020F0502020204030204" pitchFamily="34" charset="0"/>
              <a:ea typeface="Calibri" panose="020F0502020204030204" pitchFamily="34" charset="0"/>
              <a:cs typeface="Calibri" panose="020F0502020204030204" pitchFamily="34" charset="0"/>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5D24CD-8C51-2746-1735-0D609179F8E9}"/>
              </a:ext>
            </a:extLst>
          </p:cNvPr>
          <p:cNvSpPr>
            <a:spLocks noGrp="1"/>
          </p:cNvSpPr>
          <p:nvPr>
            <p:ph idx="1"/>
          </p:nvPr>
        </p:nvSpPr>
        <p:spPr>
          <a:xfrm>
            <a:off x="266700" y="990601"/>
            <a:ext cx="11658601" cy="5553073"/>
          </a:xfrm>
        </p:spPr>
        <p:txBody>
          <a:bodyPr/>
          <a:lstStyle/>
          <a:p>
            <a:pPr lvl="0"/>
            <a:r>
              <a:rPr lang="en-US" dirty="0"/>
              <a:t>Optimization: where are we?</a:t>
            </a:r>
          </a:p>
          <a:p>
            <a:pPr lvl="0"/>
            <a:r>
              <a:rPr lang="en-US" b="1" dirty="0"/>
              <a:t>Minimizing an arbitrary 1D function</a:t>
            </a:r>
          </a:p>
          <a:p>
            <a:pPr lvl="0"/>
            <a:r>
              <a:rPr lang="en-US" dirty="0"/>
              <a:t>Gradient descent on a 1D model</a:t>
            </a:r>
          </a:p>
          <a:p>
            <a:pPr lvl="0"/>
            <a:r>
              <a:rPr lang="en-US" dirty="0"/>
              <a:t>Gradient descent on high-dimensional models</a:t>
            </a:r>
          </a:p>
          <a:p>
            <a:pPr lvl="0"/>
            <a:r>
              <a:rPr lang="en-US" dirty="0"/>
              <a:t>Batch, mini-batch, and stochastic gradient descent</a:t>
            </a:r>
          </a:p>
          <a:p>
            <a:endParaRPr lang="en-US" dirty="0"/>
          </a:p>
        </p:txBody>
      </p:sp>
      <p:sp>
        <p:nvSpPr>
          <p:cNvPr id="3" name="Title 2">
            <a:extLst>
              <a:ext uri="{FF2B5EF4-FFF2-40B4-BE49-F238E27FC236}">
                <a16:creationId xmlns:a16="http://schemas.microsoft.com/office/drawing/2014/main" id="{3579A3D2-B889-D5DA-4301-E7FE3CF4C15A}"/>
              </a:ext>
            </a:extLst>
          </p:cNvPr>
          <p:cNvSpPr>
            <a:spLocks noGrp="1"/>
          </p:cNvSpPr>
          <p:nvPr>
            <p:ph type="title"/>
          </p:nvPr>
        </p:nvSpPr>
        <p:spPr>
          <a:xfrm>
            <a:off x="266699" y="20819"/>
            <a:ext cx="11658601" cy="969781"/>
          </a:xfrm>
        </p:spPr>
        <p:txBody>
          <a:bodyPr/>
          <a:lstStyle/>
          <a:p>
            <a:pPr lvl="0"/>
            <a:r>
              <a:rPr lang="en-US" b="1" dirty="0"/>
              <a:t>Minimizing an arbitrary 1D function</a:t>
            </a:r>
          </a:p>
        </p:txBody>
      </p:sp>
      <p:sp>
        <p:nvSpPr>
          <p:cNvPr id="4" name="Slide Number Placeholder 3">
            <a:extLst>
              <a:ext uri="{FF2B5EF4-FFF2-40B4-BE49-F238E27FC236}">
                <a16:creationId xmlns:a16="http://schemas.microsoft.com/office/drawing/2014/main" id="{F1A699C0-22B6-D7D9-CE7D-DE9BB3A292F1}"/>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8</a:t>
            </a:fld>
            <a:endParaRPr lang="en-US"/>
          </a:p>
        </p:txBody>
      </p:sp>
    </p:spTree>
    <p:extLst>
      <p:ext uri="{BB962C8B-B14F-4D97-AF65-F5344CB8AC3E}">
        <p14:creationId xmlns:p14="http://schemas.microsoft.com/office/powerpoint/2010/main" val="1996108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EBEA-F790-98EA-FC2C-9CB44A70EE05}"/>
              </a:ext>
            </a:extLst>
          </p:cNvPr>
          <p:cNvSpPr>
            <a:spLocks noGrp="1"/>
          </p:cNvSpPr>
          <p:nvPr>
            <p:ph type="title"/>
          </p:nvPr>
        </p:nvSpPr>
        <p:spPr/>
        <p:txBody>
          <a:bodyPr/>
          <a:lstStyle/>
          <a:p>
            <a:r>
              <a:rPr lang="en" dirty="0"/>
              <a:t>An Arbitrary Function</a:t>
            </a:r>
            <a:endParaRPr lang="en-US" dirty="0"/>
          </a:p>
        </p:txBody>
      </p:sp>
      <p:sp>
        <p:nvSpPr>
          <p:cNvPr id="3" name="Slide Number Placeholder 2">
            <a:extLst>
              <a:ext uri="{FF2B5EF4-FFF2-40B4-BE49-F238E27FC236}">
                <a16:creationId xmlns:a16="http://schemas.microsoft.com/office/drawing/2014/main" id="{ECC53DE4-3414-4F9A-A402-FA5294D3E98B}"/>
              </a:ext>
            </a:extLst>
          </p:cNvPr>
          <p:cNvSpPr>
            <a:spLocks noGrp="1"/>
          </p:cNvSpPr>
          <p:nvPr>
            <p:ph type="sldNum" sz="quarter" idx="12"/>
          </p:nvPr>
        </p:nvSpPr>
        <p:spPr/>
        <p:txBody>
          <a:bodyPr/>
          <a:lstStyle/>
          <a:p>
            <a:fld id="{89D00882-420D-446F-B065-6675A463A27F}" type="slidenum">
              <a:rPr lang="en-US" smtClean="0"/>
              <a:pPr/>
              <a:t>9</a:t>
            </a:fld>
            <a:endParaRPr lang="en-US"/>
          </a:p>
        </p:txBody>
      </p:sp>
      <p:grpSp>
        <p:nvGrpSpPr>
          <p:cNvPr id="6" name="Group 5">
            <a:extLst>
              <a:ext uri="{FF2B5EF4-FFF2-40B4-BE49-F238E27FC236}">
                <a16:creationId xmlns:a16="http://schemas.microsoft.com/office/drawing/2014/main" id="{945DD486-6479-04F0-25C3-97AC64C63477}"/>
              </a:ext>
            </a:extLst>
          </p:cNvPr>
          <p:cNvGrpSpPr/>
          <p:nvPr/>
        </p:nvGrpSpPr>
        <p:grpSpPr>
          <a:xfrm>
            <a:off x="1795300" y="1584225"/>
            <a:ext cx="8450062" cy="5016600"/>
            <a:chOff x="1297620" y="1650530"/>
            <a:chExt cx="7499007" cy="4593726"/>
          </a:xfrm>
        </p:grpSpPr>
        <p:pic>
          <p:nvPicPr>
            <p:cNvPr id="4" name="Google Shape;293;p45">
              <a:extLst>
                <a:ext uri="{FF2B5EF4-FFF2-40B4-BE49-F238E27FC236}">
                  <a16:creationId xmlns:a16="http://schemas.microsoft.com/office/drawing/2014/main" id="{36604D65-96C1-5764-A546-9EBD21071FB8}"/>
                </a:ext>
              </a:extLst>
            </p:cNvPr>
            <p:cNvPicPr preferRelativeResize="0"/>
            <p:nvPr/>
          </p:nvPicPr>
          <p:blipFill>
            <a:blip r:embed="rId2">
              <a:alphaModFix/>
            </a:blip>
            <a:stretch>
              <a:fillRect/>
            </a:stretch>
          </p:blipFill>
          <p:spPr>
            <a:xfrm>
              <a:off x="1297620" y="1650530"/>
              <a:ext cx="5683351" cy="1277750"/>
            </a:xfrm>
            <a:prstGeom prst="rect">
              <a:avLst/>
            </a:prstGeom>
            <a:noFill/>
            <a:ln>
              <a:noFill/>
            </a:ln>
          </p:spPr>
        </p:pic>
        <p:pic>
          <p:nvPicPr>
            <p:cNvPr id="5" name="Google Shape;294;p45">
              <a:extLst>
                <a:ext uri="{FF2B5EF4-FFF2-40B4-BE49-F238E27FC236}">
                  <a16:creationId xmlns:a16="http://schemas.microsoft.com/office/drawing/2014/main" id="{0E25CB09-55C9-632F-5809-407E6C03EF1C}"/>
                </a:ext>
              </a:extLst>
            </p:cNvPr>
            <p:cNvPicPr preferRelativeResize="0"/>
            <p:nvPr/>
          </p:nvPicPr>
          <p:blipFill>
            <a:blip r:embed="rId3">
              <a:alphaModFix/>
            </a:blip>
            <a:stretch>
              <a:fillRect/>
            </a:stretch>
          </p:blipFill>
          <p:spPr>
            <a:xfrm>
              <a:off x="2637808" y="3036680"/>
              <a:ext cx="6158819" cy="3207576"/>
            </a:xfrm>
            <a:prstGeom prst="rect">
              <a:avLst/>
            </a:prstGeom>
            <a:noFill/>
            <a:ln>
              <a:noFill/>
            </a:ln>
          </p:spPr>
        </p:pic>
      </p:grpSp>
    </p:spTree>
    <p:extLst>
      <p:ext uri="{BB962C8B-B14F-4D97-AF65-F5344CB8AC3E}">
        <p14:creationId xmlns:p14="http://schemas.microsoft.com/office/powerpoint/2010/main" val="2056774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6"/>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dirty="0">
                <a:solidFill>
                  <a:schemeClr val="accent3"/>
                </a:solidFill>
              </a:rPr>
              <a:t>An Arbitrary Function</a:t>
            </a:r>
            <a:endParaRPr dirty="0">
              <a:solidFill>
                <a:schemeClr val="accent3"/>
              </a:solidFill>
            </a:endParaRPr>
          </a:p>
          <a:p>
            <a:pPr algn="l"/>
            <a:endParaRPr dirty="0"/>
          </a:p>
        </p:txBody>
      </p:sp>
      <p:sp>
        <p:nvSpPr>
          <p:cNvPr id="302" name="Google Shape;302;p46"/>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10</a:t>
            </a:fld>
            <a:endParaRPr/>
          </a:p>
        </p:txBody>
      </p:sp>
      <p:sp>
        <p:nvSpPr>
          <p:cNvPr id="301" name="Google Shape;301;p46"/>
          <p:cNvSpPr txBox="1">
            <a:spLocks noGrp="1"/>
          </p:cNvSpPr>
          <p:nvPr>
            <p:ph type="body" idx="4294967295"/>
          </p:nvPr>
        </p:nvSpPr>
        <p:spPr>
          <a:xfrm>
            <a:off x="0" y="1075699"/>
            <a:ext cx="11360150" cy="554091"/>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US" sz="2400" dirty="0"/>
              <a:t>Our goal is to find the value of x that minimizes our function.</a:t>
            </a:r>
          </a:p>
          <a:p>
            <a:pPr marL="0" indent="0">
              <a:buNone/>
            </a:pPr>
            <a:endParaRPr sz="2400" dirty="0"/>
          </a:p>
        </p:txBody>
      </p:sp>
      <p:sp>
        <p:nvSpPr>
          <p:cNvPr id="306" name="Google Shape;306;p46"/>
          <p:cNvSpPr txBox="1"/>
          <p:nvPr/>
        </p:nvSpPr>
        <p:spPr>
          <a:xfrm>
            <a:off x="10079099" y="4807276"/>
            <a:ext cx="31380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dirty="0">
                <a:latin typeface="Roboto Light"/>
                <a:ea typeface="Roboto Light"/>
                <a:cs typeface="Roboto Light"/>
                <a:sym typeface="Roboto Light"/>
              </a:rPr>
              <a:t>Minimum of function</a:t>
            </a:r>
            <a:endParaRPr dirty="0">
              <a:latin typeface="Roboto Light"/>
              <a:ea typeface="Roboto Light"/>
              <a:cs typeface="Roboto Light"/>
              <a:sym typeface="Roboto Light"/>
            </a:endParaRPr>
          </a:p>
        </p:txBody>
      </p:sp>
      <p:grpSp>
        <p:nvGrpSpPr>
          <p:cNvPr id="2" name="Group 1">
            <a:extLst>
              <a:ext uri="{FF2B5EF4-FFF2-40B4-BE49-F238E27FC236}">
                <a16:creationId xmlns:a16="http://schemas.microsoft.com/office/drawing/2014/main" id="{48EAC8A1-AA89-F675-5A8A-8C799DBD4A6B}"/>
              </a:ext>
            </a:extLst>
          </p:cNvPr>
          <p:cNvGrpSpPr/>
          <p:nvPr/>
        </p:nvGrpSpPr>
        <p:grpSpPr>
          <a:xfrm>
            <a:off x="1867340" y="1874466"/>
            <a:ext cx="8516549" cy="4755914"/>
            <a:chOff x="1867340" y="1474967"/>
            <a:chExt cx="8516549" cy="4755914"/>
          </a:xfrm>
        </p:grpSpPr>
        <p:pic>
          <p:nvPicPr>
            <p:cNvPr id="303" name="Google Shape;303;p46"/>
            <p:cNvPicPr preferRelativeResize="0"/>
            <p:nvPr/>
          </p:nvPicPr>
          <p:blipFill>
            <a:blip r:embed="rId3">
              <a:alphaModFix/>
            </a:blip>
            <a:stretch>
              <a:fillRect/>
            </a:stretch>
          </p:blipFill>
          <p:spPr>
            <a:xfrm>
              <a:off x="1867340" y="1474967"/>
              <a:ext cx="8211759" cy="4276768"/>
            </a:xfrm>
            <a:prstGeom prst="rect">
              <a:avLst/>
            </a:prstGeom>
            <a:noFill/>
            <a:ln>
              <a:noFill/>
            </a:ln>
          </p:spPr>
        </p:pic>
        <p:cxnSp>
          <p:nvCxnSpPr>
            <p:cNvPr id="304" name="Google Shape;304;p46"/>
            <p:cNvCxnSpPr/>
            <p:nvPr/>
          </p:nvCxnSpPr>
          <p:spPr>
            <a:xfrm rot="10800000">
              <a:off x="8310513" y="1629791"/>
              <a:ext cx="0" cy="3598400"/>
            </a:xfrm>
            <a:prstGeom prst="straightConnector1">
              <a:avLst/>
            </a:prstGeom>
            <a:noFill/>
            <a:ln w="28575" cap="flat" cmpd="sng">
              <a:solidFill>
                <a:schemeClr val="accent4"/>
              </a:solidFill>
              <a:prstDash val="dash"/>
              <a:round/>
              <a:headEnd type="none" w="med" len="med"/>
              <a:tailEnd type="none" w="med" len="med"/>
            </a:ln>
          </p:spPr>
        </p:cxnSp>
        <p:sp>
          <p:nvSpPr>
            <p:cNvPr id="305" name="Google Shape;305;p46"/>
            <p:cNvSpPr/>
            <p:nvPr/>
          </p:nvSpPr>
          <p:spPr>
            <a:xfrm>
              <a:off x="8237200" y="5102933"/>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307" name="Google Shape;307;p46"/>
            <p:cNvSpPr txBox="1"/>
            <p:nvPr/>
          </p:nvSpPr>
          <p:spPr>
            <a:xfrm>
              <a:off x="7245889" y="5707701"/>
              <a:ext cx="31380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a:latin typeface="Roboto Light"/>
                  <a:ea typeface="Roboto Light"/>
                  <a:cs typeface="Roboto Light"/>
                  <a:sym typeface="Roboto Light"/>
                </a:rPr>
                <a:t>Minimi</a:t>
              </a:r>
              <a:r>
                <a:rPr lang="en" i="1">
                  <a:latin typeface="Roboto Light"/>
                  <a:ea typeface="Roboto Light"/>
                  <a:cs typeface="Roboto Light"/>
                  <a:sym typeface="Roboto Light"/>
                </a:rPr>
                <a:t>zing</a:t>
              </a:r>
              <a:r>
                <a:rPr lang="en">
                  <a:latin typeface="Roboto Light"/>
                  <a:ea typeface="Roboto Light"/>
                  <a:cs typeface="Roboto Light"/>
                  <a:sym typeface="Roboto Light"/>
                </a:rPr>
                <a:t> value of x</a:t>
              </a:r>
              <a:endParaRPr>
                <a:latin typeface="Roboto Light"/>
                <a:ea typeface="Roboto Light"/>
                <a:cs typeface="Roboto Light"/>
                <a:sym typeface="Roboto Light"/>
              </a:endParaRPr>
            </a:p>
          </p:txBody>
        </p:sp>
        <p:cxnSp>
          <p:nvCxnSpPr>
            <p:cNvPr id="308" name="Google Shape;308;p46"/>
            <p:cNvCxnSpPr/>
            <p:nvPr/>
          </p:nvCxnSpPr>
          <p:spPr>
            <a:xfrm rot="10800000">
              <a:off x="8310522" y="5352433"/>
              <a:ext cx="0" cy="468000"/>
            </a:xfrm>
            <a:prstGeom prst="straightConnector1">
              <a:avLst/>
            </a:prstGeom>
            <a:noFill/>
            <a:ln w="28575" cap="flat" cmpd="sng">
              <a:solidFill>
                <a:schemeClr val="dk2"/>
              </a:solidFill>
              <a:prstDash val="solid"/>
              <a:round/>
              <a:headEnd type="none" w="med" len="med"/>
              <a:tailEnd type="triangle" w="med" len="med"/>
            </a:ln>
          </p:spPr>
        </p:cxnSp>
        <p:cxnSp>
          <p:nvCxnSpPr>
            <p:cNvPr id="309" name="Google Shape;309;p46"/>
            <p:cNvCxnSpPr/>
            <p:nvPr/>
          </p:nvCxnSpPr>
          <p:spPr>
            <a:xfrm flipH="1">
              <a:off x="8570222" y="4669367"/>
              <a:ext cx="1455200" cy="303600"/>
            </a:xfrm>
            <a:prstGeom prst="curvedConnector3">
              <a:avLst>
                <a:gd name="adj1" fmla="val 50000"/>
              </a:avLst>
            </a:prstGeom>
            <a:noFill/>
            <a:ln w="28575" cap="flat" cmpd="sng">
              <a:solidFill>
                <a:schemeClr val="dk2"/>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5" name="Google Shape;315;p47"/>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We could start with a random guess. </a:t>
            </a:r>
            <a:endParaRPr/>
          </a:p>
        </p:txBody>
      </p:sp>
      <p:sp>
        <p:nvSpPr>
          <p:cNvPr id="314" name="Google Shape;314;p47"/>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Finding the Minimum</a:t>
            </a:r>
            <a:endParaRPr/>
          </a:p>
        </p:txBody>
      </p:sp>
      <p:sp>
        <p:nvSpPr>
          <p:cNvPr id="316" name="Google Shape;316;p47"/>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11</a:t>
            </a:fld>
            <a:endParaRPr/>
          </a:p>
        </p:txBody>
      </p:sp>
      <p:pic>
        <p:nvPicPr>
          <p:cNvPr id="317" name="Google Shape;317;p47"/>
          <p:cNvPicPr preferRelativeResize="0"/>
          <p:nvPr/>
        </p:nvPicPr>
        <p:blipFill>
          <a:blip r:embed="rId3">
            <a:alphaModFix/>
          </a:blip>
          <a:stretch>
            <a:fillRect/>
          </a:stretch>
        </p:blipFill>
        <p:spPr>
          <a:xfrm>
            <a:off x="1876218" y="1936606"/>
            <a:ext cx="8211759" cy="4276768"/>
          </a:xfrm>
          <a:prstGeom prst="rect">
            <a:avLst/>
          </a:prstGeom>
          <a:noFill/>
          <a:ln>
            <a:noFill/>
          </a:ln>
        </p:spPr>
      </p:pic>
      <p:sp>
        <p:nvSpPr>
          <p:cNvPr id="318" name="Google Shape;318;p47"/>
          <p:cNvSpPr/>
          <p:nvPr/>
        </p:nvSpPr>
        <p:spPr>
          <a:xfrm>
            <a:off x="9325367" y="4198039"/>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9"/>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Finding the Minimum</a:t>
            </a:r>
            <a:endParaRPr/>
          </a:p>
        </p:txBody>
      </p:sp>
      <p:sp>
        <p:nvSpPr>
          <p:cNvPr id="334" name="Google Shape;334;p49"/>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12</a:t>
            </a:fld>
            <a:endParaRPr/>
          </a:p>
        </p:txBody>
      </p:sp>
      <p:sp>
        <p:nvSpPr>
          <p:cNvPr id="333" name="Google Shape;333;p49"/>
          <p:cNvSpPr txBox="1">
            <a:spLocks noGrp="1"/>
          </p:cNvSpPr>
          <p:nvPr>
            <p:ph type="body" idx="4294967295"/>
          </p:nvPr>
        </p:nvSpPr>
        <p:spPr>
          <a:xfrm>
            <a:off x="0" y="273682"/>
            <a:ext cx="11360150" cy="45545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endParaRPr lang="en" sz="2800" dirty="0"/>
          </a:p>
          <a:p>
            <a:pPr marL="0" indent="0">
              <a:buNone/>
            </a:pPr>
            <a:r>
              <a:rPr lang="en" sz="2800" dirty="0"/>
              <a:t>Where do we go next? We “step” downhill.</a:t>
            </a:r>
            <a:endParaRPr sz="2800" dirty="0"/>
          </a:p>
        </p:txBody>
      </p:sp>
      <p:pic>
        <p:nvPicPr>
          <p:cNvPr id="335" name="Google Shape;335;p49"/>
          <p:cNvPicPr preferRelativeResize="0"/>
          <p:nvPr/>
        </p:nvPicPr>
        <p:blipFill>
          <a:blip r:embed="rId3">
            <a:alphaModFix/>
          </a:blip>
          <a:stretch>
            <a:fillRect/>
          </a:stretch>
        </p:blipFill>
        <p:spPr>
          <a:xfrm>
            <a:off x="1876218" y="1474967"/>
            <a:ext cx="8211759" cy="4276768"/>
          </a:xfrm>
          <a:prstGeom prst="rect">
            <a:avLst/>
          </a:prstGeom>
          <a:noFill/>
          <a:ln>
            <a:noFill/>
          </a:ln>
        </p:spPr>
      </p:pic>
      <p:sp>
        <p:nvSpPr>
          <p:cNvPr id="336" name="Google Shape;336;p49"/>
          <p:cNvSpPr/>
          <p:nvPr/>
        </p:nvSpPr>
        <p:spPr>
          <a:xfrm>
            <a:off x="9325367" y="3736400"/>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cxnSp>
        <p:nvCxnSpPr>
          <p:cNvPr id="337" name="Google Shape;337;p49"/>
          <p:cNvCxnSpPr/>
          <p:nvPr/>
        </p:nvCxnSpPr>
        <p:spPr>
          <a:xfrm rot="10800000" flipH="1">
            <a:off x="8958433" y="2550951"/>
            <a:ext cx="1050400" cy="2328000"/>
          </a:xfrm>
          <a:prstGeom prst="straightConnector1">
            <a:avLst/>
          </a:prstGeom>
          <a:noFill/>
          <a:ln w="28575" cap="flat" cmpd="sng">
            <a:solidFill>
              <a:schemeClr val="accent4"/>
            </a:solidFill>
            <a:prstDash val="solid"/>
            <a:round/>
            <a:headEnd type="none" w="med" len="med"/>
            <a:tailEnd type="none" w="med" len="med"/>
          </a:ln>
        </p:spPr>
      </p:cxnSp>
      <p:sp>
        <p:nvSpPr>
          <p:cNvPr id="338" name="Google Shape;338;p49"/>
          <p:cNvSpPr txBox="1"/>
          <p:nvPr/>
        </p:nvSpPr>
        <p:spPr>
          <a:xfrm>
            <a:off x="142733" y="5694667"/>
            <a:ext cx="86384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Follow the slope of the line down to the minimum. </a:t>
            </a:r>
            <a:endParaRPr sz="2133">
              <a:latin typeface="Roboto Light"/>
              <a:ea typeface="Roboto Light"/>
              <a:cs typeface="Roboto Light"/>
              <a:sym typeface="Roboto Light"/>
            </a:endParaRPr>
          </a:p>
        </p:txBody>
      </p:sp>
      <p:cxnSp>
        <p:nvCxnSpPr>
          <p:cNvPr id="339" name="Google Shape;339;p49"/>
          <p:cNvCxnSpPr/>
          <p:nvPr/>
        </p:nvCxnSpPr>
        <p:spPr>
          <a:xfrm flipH="1">
            <a:off x="9338033" y="3821267"/>
            <a:ext cx="291200" cy="696000"/>
          </a:xfrm>
          <a:prstGeom prst="straightConnector1">
            <a:avLst/>
          </a:prstGeom>
          <a:noFill/>
          <a:ln w="28575" cap="flat" cmpd="sng">
            <a:solidFill>
              <a:schemeClr val="accent5"/>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0"/>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Finding the Minimum</a:t>
            </a:r>
            <a:endParaRPr>
              <a:solidFill>
                <a:schemeClr val="accent3"/>
              </a:solidFill>
            </a:endParaRPr>
          </a:p>
          <a:p>
            <a:pPr algn="l"/>
            <a:endParaRPr/>
          </a:p>
        </p:txBody>
      </p:sp>
      <p:sp>
        <p:nvSpPr>
          <p:cNvPr id="346" name="Google Shape;346;p5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13</a:t>
            </a:fld>
            <a:endParaRPr/>
          </a:p>
        </p:txBody>
      </p:sp>
      <p:sp>
        <p:nvSpPr>
          <p:cNvPr id="345" name="Google Shape;345;p50"/>
          <p:cNvSpPr txBox="1">
            <a:spLocks noGrp="1"/>
          </p:cNvSpPr>
          <p:nvPr>
            <p:ph type="body" idx="4294967295"/>
          </p:nvPr>
        </p:nvSpPr>
        <p:spPr>
          <a:xfrm>
            <a:off x="0" y="910213"/>
            <a:ext cx="11360150" cy="45545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sz="2800" dirty="0"/>
              <a:t>We arrive closer to the minimum.</a:t>
            </a:r>
            <a:endParaRPr sz="2800" dirty="0"/>
          </a:p>
        </p:txBody>
      </p:sp>
      <p:pic>
        <p:nvPicPr>
          <p:cNvPr id="347" name="Google Shape;347;p50"/>
          <p:cNvPicPr preferRelativeResize="0"/>
          <p:nvPr/>
        </p:nvPicPr>
        <p:blipFill>
          <a:blip r:embed="rId3">
            <a:alphaModFix/>
          </a:blip>
          <a:stretch>
            <a:fillRect/>
          </a:stretch>
        </p:blipFill>
        <p:spPr>
          <a:xfrm>
            <a:off x="1876218" y="1474967"/>
            <a:ext cx="8211759" cy="4276768"/>
          </a:xfrm>
          <a:prstGeom prst="rect">
            <a:avLst/>
          </a:prstGeom>
          <a:noFill/>
          <a:ln>
            <a:noFill/>
          </a:ln>
        </p:spPr>
      </p:pic>
      <p:sp>
        <p:nvSpPr>
          <p:cNvPr id="348" name="Google Shape;348;p50"/>
          <p:cNvSpPr/>
          <p:nvPr/>
        </p:nvSpPr>
        <p:spPr>
          <a:xfrm>
            <a:off x="9325367" y="3736400"/>
            <a:ext cx="164400" cy="164400"/>
          </a:xfrm>
          <a:prstGeom prst="ellipse">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349" name="Google Shape;349;p50"/>
          <p:cNvCxnSpPr/>
          <p:nvPr/>
        </p:nvCxnSpPr>
        <p:spPr>
          <a:xfrm flipH="1">
            <a:off x="9261967" y="3900800"/>
            <a:ext cx="291200" cy="696000"/>
          </a:xfrm>
          <a:prstGeom prst="straightConnector1">
            <a:avLst/>
          </a:prstGeom>
          <a:noFill/>
          <a:ln w="28575" cap="flat" cmpd="sng">
            <a:solidFill>
              <a:schemeClr val="accent5"/>
            </a:solidFill>
            <a:prstDash val="solid"/>
            <a:round/>
            <a:headEnd type="none" w="med" len="med"/>
            <a:tailEnd type="triangle" w="med" len="med"/>
          </a:ln>
        </p:spPr>
      </p:cxnSp>
      <p:sp>
        <p:nvSpPr>
          <p:cNvPr id="350" name="Google Shape;350;p50"/>
          <p:cNvSpPr/>
          <p:nvPr/>
        </p:nvSpPr>
        <p:spPr>
          <a:xfrm>
            <a:off x="8933867" y="4416033"/>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351" name="Google Shape;351;p50"/>
          <p:cNvSpPr txBox="1"/>
          <p:nvPr/>
        </p:nvSpPr>
        <p:spPr>
          <a:xfrm>
            <a:off x="151467" y="5706934"/>
            <a:ext cx="65164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Positive slope → step to the left</a:t>
            </a:r>
            <a:endParaRPr sz="2133">
              <a:latin typeface="Roboto Light"/>
              <a:ea typeface="Roboto Light"/>
              <a:cs typeface="Roboto Light"/>
              <a:sym typeface="Robot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51"/>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Finding the Minimum</a:t>
            </a:r>
            <a:endParaRPr>
              <a:solidFill>
                <a:schemeClr val="accent3"/>
              </a:solidFill>
            </a:endParaRPr>
          </a:p>
          <a:p>
            <a:pPr algn="l"/>
            <a:endParaRPr/>
          </a:p>
        </p:txBody>
      </p:sp>
      <p:sp>
        <p:nvSpPr>
          <p:cNvPr id="358" name="Google Shape;358;p51"/>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14</a:t>
            </a:fld>
            <a:endParaRPr/>
          </a:p>
        </p:txBody>
      </p:sp>
      <p:sp>
        <p:nvSpPr>
          <p:cNvPr id="357" name="Google Shape;357;p51"/>
          <p:cNvSpPr txBox="1">
            <a:spLocks noGrp="1"/>
          </p:cNvSpPr>
          <p:nvPr>
            <p:ph type="body" idx="4294967295"/>
          </p:nvPr>
        </p:nvSpPr>
        <p:spPr>
          <a:xfrm>
            <a:off x="62144" y="828495"/>
            <a:ext cx="11360150" cy="45545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Do this again: follow the slope downwards towards the minimum</a:t>
            </a:r>
            <a:endParaRPr dirty="0"/>
          </a:p>
        </p:txBody>
      </p:sp>
      <p:pic>
        <p:nvPicPr>
          <p:cNvPr id="359" name="Google Shape;359;p51"/>
          <p:cNvPicPr preferRelativeResize="0"/>
          <p:nvPr/>
        </p:nvPicPr>
        <p:blipFill>
          <a:blip r:embed="rId3">
            <a:alphaModFix/>
          </a:blip>
          <a:stretch>
            <a:fillRect/>
          </a:stretch>
        </p:blipFill>
        <p:spPr>
          <a:xfrm>
            <a:off x="1876218" y="1474967"/>
            <a:ext cx="8211759" cy="4276768"/>
          </a:xfrm>
          <a:prstGeom prst="rect">
            <a:avLst/>
          </a:prstGeom>
          <a:noFill/>
          <a:ln>
            <a:noFill/>
          </a:ln>
        </p:spPr>
      </p:pic>
      <p:sp>
        <p:nvSpPr>
          <p:cNvPr id="360" name="Google Shape;360;p51"/>
          <p:cNvSpPr/>
          <p:nvPr/>
        </p:nvSpPr>
        <p:spPr>
          <a:xfrm>
            <a:off x="9325367" y="3736400"/>
            <a:ext cx="164400" cy="164400"/>
          </a:xfrm>
          <a:prstGeom prst="ellipse">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sp>
        <p:nvSpPr>
          <p:cNvPr id="361" name="Google Shape;361;p51"/>
          <p:cNvSpPr/>
          <p:nvPr/>
        </p:nvSpPr>
        <p:spPr>
          <a:xfrm>
            <a:off x="8933867" y="4416033"/>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362" name="Google Shape;362;p51"/>
          <p:cNvSpPr txBox="1"/>
          <p:nvPr/>
        </p:nvSpPr>
        <p:spPr>
          <a:xfrm>
            <a:off x="151467" y="5706934"/>
            <a:ext cx="65164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Positive slope → step to the left</a:t>
            </a:r>
            <a:endParaRPr sz="2133">
              <a:latin typeface="Roboto Light"/>
              <a:ea typeface="Roboto Light"/>
              <a:cs typeface="Roboto Light"/>
              <a:sym typeface="Roboto Light"/>
            </a:endParaRPr>
          </a:p>
        </p:txBody>
      </p:sp>
      <p:cxnSp>
        <p:nvCxnSpPr>
          <p:cNvPr id="363" name="Google Shape;363;p51"/>
          <p:cNvCxnSpPr/>
          <p:nvPr/>
        </p:nvCxnSpPr>
        <p:spPr>
          <a:xfrm rot="10800000" flipH="1">
            <a:off x="8265500" y="3388233"/>
            <a:ext cx="1758800" cy="2050800"/>
          </a:xfrm>
          <a:prstGeom prst="straightConnector1">
            <a:avLst/>
          </a:prstGeom>
          <a:noFill/>
          <a:ln w="28575" cap="flat" cmpd="sng">
            <a:solidFill>
              <a:schemeClr val="accent4"/>
            </a:solidFill>
            <a:prstDash val="solid"/>
            <a:round/>
            <a:headEnd type="none" w="med" len="med"/>
            <a:tailEnd type="none" w="med" len="med"/>
          </a:ln>
        </p:spPr>
      </p:cxnSp>
      <p:cxnSp>
        <p:nvCxnSpPr>
          <p:cNvPr id="364" name="Google Shape;364;p51"/>
          <p:cNvCxnSpPr/>
          <p:nvPr/>
        </p:nvCxnSpPr>
        <p:spPr>
          <a:xfrm flipH="1">
            <a:off x="8616909" y="4700776"/>
            <a:ext cx="429200" cy="478400"/>
          </a:xfrm>
          <a:prstGeom prst="straightConnector1">
            <a:avLst/>
          </a:prstGeom>
          <a:noFill/>
          <a:ln w="28575" cap="flat" cmpd="sng">
            <a:solidFill>
              <a:schemeClr val="accent5"/>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2"/>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Finding the Minimum</a:t>
            </a:r>
            <a:endParaRPr>
              <a:solidFill>
                <a:schemeClr val="accent3"/>
              </a:solidFill>
            </a:endParaRPr>
          </a:p>
          <a:p>
            <a:pPr algn="l"/>
            <a:endParaRPr/>
          </a:p>
        </p:txBody>
      </p:sp>
      <p:sp>
        <p:nvSpPr>
          <p:cNvPr id="371" name="Google Shape;371;p52"/>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15</a:t>
            </a:fld>
            <a:endParaRPr/>
          </a:p>
        </p:txBody>
      </p:sp>
      <p:sp>
        <p:nvSpPr>
          <p:cNvPr id="370" name="Google Shape;370;p52"/>
          <p:cNvSpPr txBox="1">
            <a:spLocks noGrp="1"/>
          </p:cNvSpPr>
          <p:nvPr>
            <p:ph type="body" idx="4294967295"/>
          </p:nvPr>
        </p:nvSpPr>
        <p:spPr>
          <a:xfrm>
            <a:off x="0" y="536575"/>
            <a:ext cx="11360150" cy="45545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Do this again: follow the slope downwards towards the minimum</a:t>
            </a:r>
            <a:endParaRPr/>
          </a:p>
        </p:txBody>
      </p:sp>
      <p:pic>
        <p:nvPicPr>
          <p:cNvPr id="372" name="Google Shape;372;p52"/>
          <p:cNvPicPr preferRelativeResize="0"/>
          <p:nvPr/>
        </p:nvPicPr>
        <p:blipFill>
          <a:blip r:embed="rId3">
            <a:alphaModFix/>
          </a:blip>
          <a:stretch>
            <a:fillRect/>
          </a:stretch>
        </p:blipFill>
        <p:spPr>
          <a:xfrm>
            <a:off x="1876218" y="1474967"/>
            <a:ext cx="8211759" cy="4276768"/>
          </a:xfrm>
          <a:prstGeom prst="rect">
            <a:avLst/>
          </a:prstGeom>
          <a:noFill/>
          <a:ln>
            <a:noFill/>
          </a:ln>
        </p:spPr>
      </p:pic>
      <p:sp>
        <p:nvSpPr>
          <p:cNvPr id="373" name="Google Shape;373;p52"/>
          <p:cNvSpPr/>
          <p:nvPr/>
        </p:nvSpPr>
        <p:spPr>
          <a:xfrm>
            <a:off x="9325367" y="3736400"/>
            <a:ext cx="164400" cy="164400"/>
          </a:xfrm>
          <a:prstGeom prst="ellipse">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374" name="Google Shape;374;p52"/>
          <p:cNvCxnSpPr/>
          <p:nvPr/>
        </p:nvCxnSpPr>
        <p:spPr>
          <a:xfrm flipH="1">
            <a:off x="8616909" y="4700776"/>
            <a:ext cx="429200" cy="478400"/>
          </a:xfrm>
          <a:prstGeom prst="straightConnector1">
            <a:avLst/>
          </a:prstGeom>
          <a:noFill/>
          <a:ln w="28575" cap="flat" cmpd="sng">
            <a:solidFill>
              <a:schemeClr val="accent5"/>
            </a:solidFill>
            <a:prstDash val="solid"/>
            <a:round/>
            <a:headEnd type="none" w="med" len="med"/>
            <a:tailEnd type="triangle" w="med" len="med"/>
          </a:ln>
        </p:spPr>
      </p:cxnSp>
      <p:sp>
        <p:nvSpPr>
          <p:cNvPr id="375" name="Google Shape;375;p52"/>
          <p:cNvSpPr/>
          <p:nvPr/>
        </p:nvSpPr>
        <p:spPr>
          <a:xfrm>
            <a:off x="8154667" y="4927067"/>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376" name="Google Shape;376;p52"/>
          <p:cNvSpPr txBox="1"/>
          <p:nvPr/>
        </p:nvSpPr>
        <p:spPr>
          <a:xfrm>
            <a:off x="151467" y="5706934"/>
            <a:ext cx="65164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Positive slope → step to the left</a:t>
            </a:r>
            <a:endParaRPr sz="2133">
              <a:latin typeface="Roboto Light"/>
              <a:ea typeface="Roboto Light"/>
              <a:cs typeface="Roboto Light"/>
              <a:sym typeface="Roboto Light"/>
            </a:endParaRPr>
          </a:p>
        </p:txBody>
      </p:sp>
      <p:sp>
        <p:nvSpPr>
          <p:cNvPr id="377" name="Google Shape;377;p52"/>
          <p:cNvSpPr/>
          <p:nvPr/>
        </p:nvSpPr>
        <p:spPr>
          <a:xfrm>
            <a:off x="8948000" y="4397967"/>
            <a:ext cx="164400" cy="164400"/>
          </a:xfrm>
          <a:prstGeom prst="ellipse">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3"/>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Finding the Minimum</a:t>
            </a:r>
            <a:endParaRPr>
              <a:solidFill>
                <a:schemeClr val="accent3"/>
              </a:solidFill>
            </a:endParaRPr>
          </a:p>
          <a:p>
            <a:pPr algn="l"/>
            <a:endParaRPr/>
          </a:p>
        </p:txBody>
      </p:sp>
      <p:sp>
        <p:nvSpPr>
          <p:cNvPr id="384" name="Google Shape;384;p53"/>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16</a:t>
            </a:fld>
            <a:endParaRPr/>
          </a:p>
        </p:txBody>
      </p:sp>
      <p:sp>
        <p:nvSpPr>
          <p:cNvPr id="383" name="Google Shape;383;p53"/>
          <p:cNvSpPr txBox="1">
            <a:spLocks noGrp="1"/>
          </p:cNvSpPr>
          <p:nvPr>
            <p:ph type="body" idx="4294967295"/>
          </p:nvPr>
        </p:nvSpPr>
        <p:spPr>
          <a:xfrm>
            <a:off x="0" y="828495"/>
            <a:ext cx="11360150" cy="45545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What if we had started elsewhere?</a:t>
            </a:r>
            <a:endParaRPr dirty="0"/>
          </a:p>
        </p:txBody>
      </p:sp>
      <p:pic>
        <p:nvPicPr>
          <p:cNvPr id="385" name="Google Shape;385;p53"/>
          <p:cNvPicPr preferRelativeResize="0"/>
          <p:nvPr/>
        </p:nvPicPr>
        <p:blipFill>
          <a:blip r:embed="rId3">
            <a:alphaModFix/>
          </a:blip>
          <a:stretch>
            <a:fillRect/>
          </a:stretch>
        </p:blipFill>
        <p:spPr>
          <a:xfrm>
            <a:off x="1876218" y="1474967"/>
            <a:ext cx="8211759" cy="4276768"/>
          </a:xfrm>
          <a:prstGeom prst="rect">
            <a:avLst/>
          </a:prstGeom>
          <a:noFill/>
          <a:ln>
            <a:noFill/>
          </a:ln>
        </p:spPr>
      </p:pic>
      <p:sp>
        <p:nvSpPr>
          <p:cNvPr id="386" name="Google Shape;386;p53"/>
          <p:cNvSpPr/>
          <p:nvPr/>
        </p:nvSpPr>
        <p:spPr>
          <a:xfrm>
            <a:off x="9325367" y="3736400"/>
            <a:ext cx="164400" cy="164400"/>
          </a:xfrm>
          <a:prstGeom prst="ellipse">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387" name="Google Shape;387;p53"/>
          <p:cNvCxnSpPr/>
          <p:nvPr/>
        </p:nvCxnSpPr>
        <p:spPr>
          <a:xfrm flipH="1">
            <a:off x="9261967" y="3900800"/>
            <a:ext cx="291200" cy="696000"/>
          </a:xfrm>
          <a:prstGeom prst="straightConnector1">
            <a:avLst/>
          </a:prstGeom>
          <a:noFill/>
          <a:ln w="28575" cap="flat" cmpd="sng">
            <a:solidFill>
              <a:schemeClr val="accent5"/>
            </a:solidFill>
            <a:prstDash val="solid"/>
            <a:round/>
            <a:headEnd type="none" w="med" len="med"/>
            <a:tailEnd type="triangle" w="med" len="med"/>
          </a:ln>
        </p:spPr>
      </p:cxnSp>
      <p:sp>
        <p:nvSpPr>
          <p:cNvPr id="388" name="Google Shape;388;p53"/>
          <p:cNvSpPr/>
          <p:nvPr/>
        </p:nvSpPr>
        <p:spPr>
          <a:xfrm>
            <a:off x="8933867" y="4416033"/>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389" name="Google Shape;389;p53"/>
          <p:cNvSpPr/>
          <p:nvPr/>
        </p:nvSpPr>
        <p:spPr>
          <a:xfrm>
            <a:off x="6667867" y="4505367"/>
            <a:ext cx="164400" cy="164400"/>
          </a:xfrm>
          <a:prstGeom prst="ellipse">
            <a:avLst/>
          </a:prstGeom>
          <a:solidFill>
            <a:schemeClr val="accent3"/>
          </a:solidFill>
          <a:ln>
            <a:noFill/>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4"/>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Finding the Minimum</a:t>
            </a:r>
            <a:endParaRPr>
              <a:solidFill>
                <a:schemeClr val="accent3"/>
              </a:solidFill>
            </a:endParaRPr>
          </a:p>
          <a:p>
            <a:pPr algn="l"/>
            <a:endParaRPr/>
          </a:p>
        </p:txBody>
      </p:sp>
      <p:sp>
        <p:nvSpPr>
          <p:cNvPr id="396" name="Google Shape;396;p54"/>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17</a:t>
            </a:fld>
            <a:endParaRPr/>
          </a:p>
        </p:txBody>
      </p:sp>
      <p:sp>
        <p:nvSpPr>
          <p:cNvPr id="395" name="Google Shape;395;p54"/>
          <p:cNvSpPr txBox="1">
            <a:spLocks noGrp="1"/>
          </p:cNvSpPr>
          <p:nvPr>
            <p:ph type="body" idx="4294967295"/>
          </p:nvPr>
        </p:nvSpPr>
        <p:spPr>
          <a:xfrm>
            <a:off x="77391" y="828495"/>
            <a:ext cx="11360150" cy="45545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What if we had started elsewhere?</a:t>
            </a:r>
            <a:endParaRPr dirty="0"/>
          </a:p>
        </p:txBody>
      </p:sp>
      <p:pic>
        <p:nvPicPr>
          <p:cNvPr id="397" name="Google Shape;397;p54"/>
          <p:cNvPicPr preferRelativeResize="0"/>
          <p:nvPr/>
        </p:nvPicPr>
        <p:blipFill>
          <a:blip r:embed="rId3">
            <a:alphaModFix/>
          </a:blip>
          <a:stretch>
            <a:fillRect/>
          </a:stretch>
        </p:blipFill>
        <p:spPr>
          <a:xfrm>
            <a:off x="1876218" y="1474967"/>
            <a:ext cx="8211759" cy="4276768"/>
          </a:xfrm>
          <a:prstGeom prst="rect">
            <a:avLst/>
          </a:prstGeom>
          <a:noFill/>
          <a:ln>
            <a:noFill/>
          </a:ln>
        </p:spPr>
      </p:pic>
      <p:sp>
        <p:nvSpPr>
          <p:cNvPr id="398" name="Google Shape;398;p54"/>
          <p:cNvSpPr/>
          <p:nvPr/>
        </p:nvSpPr>
        <p:spPr>
          <a:xfrm>
            <a:off x="9325367" y="3736400"/>
            <a:ext cx="164400" cy="164400"/>
          </a:xfrm>
          <a:prstGeom prst="ellipse">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399" name="Google Shape;399;p54"/>
          <p:cNvCxnSpPr/>
          <p:nvPr/>
        </p:nvCxnSpPr>
        <p:spPr>
          <a:xfrm flipH="1">
            <a:off x="9261967" y="3900800"/>
            <a:ext cx="291200" cy="696000"/>
          </a:xfrm>
          <a:prstGeom prst="straightConnector1">
            <a:avLst/>
          </a:prstGeom>
          <a:noFill/>
          <a:ln w="28575" cap="flat" cmpd="sng">
            <a:solidFill>
              <a:schemeClr val="accent5"/>
            </a:solidFill>
            <a:prstDash val="solid"/>
            <a:round/>
            <a:headEnd type="none" w="med" len="med"/>
            <a:tailEnd type="triangle" w="med" len="med"/>
          </a:ln>
        </p:spPr>
      </p:cxnSp>
      <p:sp>
        <p:nvSpPr>
          <p:cNvPr id="400" name="Google Shape;400;p54"/>
          <p:cNvSpPr/>
          <p:nvPr/>
        </p:nvSpPr>
        <p:spPr>
          <a:xfrm>
            <a:off x="8933867" y="4416033"/>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401" name="Google Shape;401;p54"/>
          <p:cNvSpPr/>
          <p:nvPr/>
        </p:nvSpPr>
        <p:spPr>
          <a:xfrm>
            <a:off x="6667867" y="4505367"/>
            <a:ext cx="164400" cy="164400"/>
          </a:xfrm>
          <a:prstGeom prst="ellipse">
            <a:avLst/>
          </a:prstGeom>
          <a:solidFill>
            <a:schemeClr val="accent3"/>
          </a:solidFill>
          <a:ln>
            <a:noFill/>
          </a:ln>
        </p:spPr>
        <p:txBody>
          <a:bodyPr spcFirstLastPara="1" wrap="square" lIns="121900" tIns="121900" rIns="121900" bIns="121900" anchor="ctr" anchorCtr="0">
            <a:noAutofit/>
          </a:bodyPr>
          <a:lstStyle/>
          <a:p>
            <a:pPr>
              <a:spcBef>
                <a:spcPts val="0"/>
              </a:spcBef>
              <a:spcAft>
                <a:spcPts val="0"/>
              </a:spcAft>
            </a:pPr>
            <a:endParaRPr/>
          </a:p>
        </p:txBody>
      </p:sp>
      <p:cxnSp>
        <p:nvCxnSpPr>
          <p:cNvPr id="402" name="Google Shape;402;p54"/>
          <p:cNvCxnSpPr/>
          <p:nvPr/>
        </p:nvCxnSpPr>
        <p:spPr>
          <a:xfrm rot="10800000">
            <a:off x="5757467" y="4211567"/>
            <a:ext cx="1985200" cy="752000"/>
          </a:xfrm>
          <a:prstGeom prst="straightConnector1">
            <a:avLst/>
          </a:prstGeom>
          <a:noFill/>
          <a:ln w="28575" cap="flat" cmpd="sng">
            <a:solidFill>
              <a:schemeClr val="accent3"/>
            </a:solidFill>
            <a:prstDash val="solid"/>
            <a:round/>
            <a:headEnd type="none" w="med" len="med"/>
            <a:tailEnd type="none" w="med" len="med"/>
          </a:ln>
        </p:spPr>
      </p:cxnSp>
      <p:cxnSp>
        <p:nvCxnSpPr>
          <p:cNvPr id="403" name="Google Shape;403;p54"/>
          <p:cNvCxnSpPr/>
          <p:nvPr/>
        </p:nvCxnSpPr>
        <p:spPr>
          <a:xfrm>
            <a:off x="6959133" y="4397367"/>
            <a:ext cx="822400" cy="309200"/>
          </a:xfrm>
          <a:prstGeom prst="straightConnector1">
            <a:avLst/>
          </a:prstGeom>
          <a:noFill/>
          <a:ln w="28575" cap="flat" cmpd="sng">
            <a:solidFill>
              <a:schemeClr val="accent5"/>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4"/>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Finding the Minimum</a:t>
            </a:r>
            <a:endParaRPr>
              <a:solidFill>
                <a:schemeClr val="accent3"/>
              </a:solidFill>
            </a:endParaRPr>
          </a:p>
          <a:p>
            <a:pPr algn="l"/>
            <a:endParaRPr/>
          </a:p>
        </p:txBody>
      </p:sp>
      <p:sp>
        <p:nvSpPr>
          <p:cNvPr id="396" name="Google Shape;396;p54"/>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18</a:t>
            </a:fld>
            <a:endParaRPr/>
          </a:p>
        </p:txBody>
      </p:sp>
      <p:sp>
        <p:nvSpPr>
          <p:cNvPr id="395" name="Google Shape;395;p54"/>
          <p:cNvSpPr txBox="1">
            <a:spLocks noGrp="1"/>
          </p:cNvSpPr>
          <p:nvPr>
            <p:ph type="body" idx="4294967295"/>
          </p:nvPr>
        </p:nvSpPr>
        <p:spPr>
          <a:xfrm>
            <a:off x="77391" y="828495"/>
            <a:ext cx="11360150" cy="45545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What if we had started elsewhere?</a:t>
            </a:r>
            <a:endParaRPr dirty="0"/>
          </a:p>
        </p:txBody>
      </p:sp>
      <p:pic>
        <p:nvPicPr>
          <p:cNvPr id="397" name="Google Shape;397;p54"/>
          <p:cNvPicPr preferRelativeResize="0"/>
          <p:nvPr/>
        </p:nvPicPr>
        <p:blipFill>
          <a:blip r:embed="rId3">
            <a:alphaModFix/>
          </a:blip>
          <a:stretch>
            <a:fillRect/>
          </a:stretch>
        </p:blipFill>
        <p:spPr>
          <a:xfrm>
            <a:off x="1876218" y="1474967"/>
            <a:ext cx="8211759" cy="4276768"/>
          </a:xfrm>
          <a:prstGeom prst="rect">
            <a:avLst/>
          </a:prstGeom>
          <a:noFill/>
          <a:ln>
            <a:noFill/>
          </a:ln>
        </p:spPr>
      </p:pic>
      <p:sp>
        <p:nvSpPr>
          <p:cNvPr id="398" name="Google Shape;398;p54"/>
          <p:cNvSpPr/>
          <p:nvPr/>
        </p:nvSpPr>
        <p:spPr>
          <a:xfrm>
            <a:off x="9325367" y="3736400"/>
            <a:ext cx="164400" cy="164400"/>
          </a:xfrm>
          <a:prstGeom prst="ellipse">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399" name="Google Shape;399;p54"/>
          <p:cNvCxnSpPr/>
          <p:nvPr/>
        </p:nvCxnSpPr>
        <p:spPr>
          <a:xfrm flipH="1">
            <a:off x="9261967" y="3900800"/>
            <a:ext cx="291200" cy="696000"/>
          </a:xfrm>
          <a:prstGeom prst="straightConnector1">
            <a:avLst/>
          </a:prstGeom>
          <a:noFill/>
          <a:ln w="28575" cap="flat" cmpd="sng">
            <a:solidFill>
              <a:schemeClr val="accent5"/>
            </a:solidFill>
            <a:prstDash val="solid"/>
            <a:round/>
            <a:headEnd type="none" w="med" len="med"/>
            <a:tailEnd type="triangle" w="med" len="med"/>
          </a:ln>
        </p:spPr>
      </p:cxnSp>
      <p:sp>
        <p:nvSpPr>
          <p:cNvPr id="400" name="Google Shape;400;p54"/>
          <p:cNvSpPr/>
          <p:nvPr/>
        </p:nvSpPr>
        <p:spPr>
          <a:xfrm>
            <a:off x="8933867" y="4416033"/>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401" name="Google Shape;401;p54"/>
          <p:cNvSpPr/>
          <p:nvPr/>
        </p:nvSpPr>
        <p:spPr>
          <a:xfrm>
            <a:off x="6667867" y="4505367"/>
            <a:ext cx="164400" cy="164400"/>
          </a:xfrm>
          <a:prstGeom prst="ellipse">
            <a:avLst/>
          </a:prstGeom>
          <a:solidFill>
            <a:schemeClr val="accent3"/>
          </a:solidFill>
          <a:ln>
            <a:noFill/>
          </a:ln>
        </p:spPr>
        <p:txBody>
          <a:bodyPr spcFirstLastPara="1" wrap="square" lIns="121900" tIns="121900" rIns="121900" bIns="121900" anchor="ctr" anchorCtr="0">
            <a:noAutofit/>
          </a:bodyPr>
          <a:lstStyle/>
          <a:p>
            <a:pPr>
              <a:spcBef>
                <a:spcPts val="0"/>
              </a:spcBef>
              <a:spcAft>
                <a:spcPts val="0"/>
              </a:spcAft>
            </a:pPr>
            <a:endParaRPr/>
          </a:p>
        </p:txBody>
      </p:sp>
      <p:cxnSp>
        <p:nvCxnSpPr>
          <p:cNvPr id="402" name="Google Shape;402;p54"/>
          <p:cNvCxnSpPr/>
          <p:nvPr/>
        </p:nvCxnSpPr>
        <p:spPr>
          <a:xfrm rot="10800000">
            <a:off x="5757467" y="4211567"/>
            <a:ext cx="1985200" cy="752000"/>
          </a:xfrm>
          <a:prstGeom prst="straightConnector1">
            <a:avLst/>
          </a:prstGeom>
          <a:noFill/>
          <a:ln w="28575" cap="flat" cmpd="sng">
            <a:solidFill>
              <a:schemeClr val="accent3"/>
            </a:solidFill>
            <a:prstDash val="solid"/>
            <a:round/>
            <a:headEnd type="none" w="med" len="med"/>
            <a:tailEnd type="none" w="med" len="med"/>
          </a:ln>
        </p:spPr>
      </p:cxnSp>
      <p:cxnSp>
        <p:nvCxnSpPr>
          <p:cNvPr id="403" name="Google Shape;403;p54"/>
          <p:cNvCxnSpPr/>
          <p:nvPr/>
        </p:nvCxnSpPr>
        <p:spPr>
          <a:xfrm>
            <a:off x="6959133" y="4397367"/>
            <a:ext cx="822400" cy="309200"/>
          </a:xfrm>
          <a:prstGeom prst="straightConnector1">
            <a:avLst/>
          </a:prstGeom>
          <a:noFill/>
          <a:ln w="28575" cap="flat" cmpd="sng">
            <a:solidFill>
              <a:schemeClr val="accent5"/>
            </a:solidFill>
            <a:prstDash val="solid"/>
            <a:round/>
            <a:headEnd type="none" w="med" len="med"/>
            <a:tailEnd type="triangle" w="med" len="med"/>
          </a:ln>
        </p:spPr>
      </p:cxnSp>
      <p:sp>
        <p:nvSpPr>
          <p:cNvPr id="2" name="Google Shape;417;p55">
            <a:extLst>
              <a:ext uri="{FF2B5EF4-FFF2-40B4-BE49-F238E27FC236}">
                <a16:creationId xmlns:a16="http://schemas.microsoft.com/office/drawing/2014/main" id="{4D6FF505-5BDD-FB01-7335-4C39F5856776}"/>
              </a:ext>
            </a:extLst>
          </p:cNvPr>
          <p:cNvSpPr txBox="1"/>
          <p:nvPr/>
        </p:nvSpPr>
        <p:spPr>
          <a:xfrm>
            <a:off x="151467" y="5706934"/>
            <a:ext cx="65164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Negative slope → step to the right</a:t>
            </a:r>
            <a:endParaRPr sz="2133" dirty="0">
              <a:latin typeface="Roboto Light"/>
              <a:ea typeface="Roboto Light"/>
              <a:cs typeface="Roboto Light"/>
              <a:sym typeface="Roboto Light"/>
            </a:endParaRPr>
          </a:p>
        </p:txBody>
      </p:sp>
    </p:spTree>
    <p:extLst>
      <p:ext uri="{BB962C8B-B14F-4D97-AF65-F5344CB8AC3E}">
        <p14:creationId xmlns:p14="http://schemas.microsoft.com/office/powerpoint/2010/main" val="180379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6"/>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Slopes Tell Us Where to Go</a:t>
            </a:r>
            <a:endParaRPr/>
          </a:p>
        </p:txBody>
      </p:sp>
      <p:sp>
        <p:nvSpPr>
          <p:cNvPr id="425" name="Google Shape;425;p56"/>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19</a:t>
            </a:fld>
            <a:endParaRPr/>
          </a:p>
        </p:txBody>
      </p:sp>
      <p:sp>
        <p:nvSpPr>
          <p:cNvPr id="424" name="Google Shape;424;p56"/>
          <p:cNvSpPr txBox="1">
            <a:spLocks noGrp="1"/>
          </p:cNvSpPr>
          <p:nvPr>
            <p:ph type="body" idx="4294967295"/>
          </p:nvPr>
        </p:nvSpPr>
        <p:spPr>
          <a:xfrm>
            <a:off x="830263" y="5686425"/>
            <a:ext cx="11361737" cy="619125"/>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spcBef>
                <a:spcPts val="0"/>
              </a:spcBef>
              <a:buNone/>
            </a:pPr>
            <a:r>
              <a:rPr lang="en" sz="2400" dirty="0"/>
              <a:t>The derivative of the function at each point tells us the direction of our next guess.</a:t>
            </a:r>
            <a:endParaRPr sz="2400" dirty="0"/>
          </a:p>
          <a:p>
            <a:pPr marL="0" indent="0">
              <a:spcBef>
                <a:spcPts val="0"/>
              </a:spcBef>
              <a:buNone/>
            </a:pPr>
            <a:r>
              <a:rPr lang="en" sz="2400" dirty="0"/>
              <a:t>Demo link: </a:t>
            </a:r>
            <a:r>
              <a:rPr lang="en" sz="2400" u="sng" dirty="0">
                <a:solidFill>
                  <a:schemeClr val="hlink"/>
                </a:solidFill>
                <a:hlinkClick r:id="rId3"/>
              </a:rPr>
              <a:t>https://www.desmos.com/calculator/twpnylu4lr</a:t>
            </a:r>
            <a:endParaRPr sz="2400" dirty="0"/>
          </a:p>
          <a:p>
            <a:pPr marL="0" indent="0">
              <a:spcBef>
                <a:spcPts val="0"/>
              </a:spcBef>
              <a:buNone/>
            </a:pPr>
            <a:endParaRPr sz="2400" dirty="0"/>
          </a:p>
          <a:p>
            <a:pPr marL="0" indent="0">
              <a:spcBef>
                <a:spcPts val="0"/>
              </a:spcBef>
              <a:buNone/>
            </a:pPr>
            <a:endParaRPr sz="2400" dirty="0"/>
          </a:p>
        </p:txBody>
      </p:sp>
      <p:pic>
        <p:nvPicPr>
          <p:cNvPr id="426" name="Google Shape;426;p56"/>
          <p:cNvPicPr preferRelativeResize="0"/>
          <p:nvPr/>
        </p:nvPicPr>
        <p:blipFill>
          <a:blip r:embed="rId4">
            <a:alphaModFix/>
          </a:blip>
          <a:stretch>
            <a:fillRect/>
          </a:stretch>
        </p:blipFill>
        <p:spPr>
          <a:xfrm>
            <a:off x="487400" y="2058701"/>
            <a:ext cx="4755867" cy="3287999"/>
          </a:xfrm>
          <a:prstGeom prst="rect">
            <a:avLst/>
          </a:prstGeom>
          <a:noFill/>
          <a:ln>
            <a:noFill/>
          </a:ln>
        </p:spPr>
      </p:pic>
      <p:pic>
        <p:nvPicPr>
          <p:cNvPr id="427" name="Google Shape;427;p56"/>
          <p:cNvPicPr preferRelativeResize="0"/>
          <p:nvPr/>
        </p:nvPicPr>
        <p:blipFill>
          <a:blip r:embed="rId5">
            <a:alphaModFix/>
          </a:blip>
          <a:stretch>
            <a:fillRect/>
          </a:stretch>
        </p:blipFill>
        <p:spPr>
          <a:xfrm>
            <a:off x="6488734" y="2058700"/>
            <a:ext cx="4755868" cy="3182936"/>
          </a:xfrm>
          <a:prstGeom prst="rect">
            <a:avLst/>
          </a:prstGeom>
          <a:noFill/>
          <a:ln>
            <a:noFill/>
          </a:ln>
        </p:spPr>
      </p:pic>
      <p:sp>
        <p:nvSpPr>
          <p:cNvPr id="428" name="Google Shape;428;p56"/>
          <p:cNvSpPr txBox="1"/>
          <p:nvPr/>
        </p:nvSpPr>
        <p:spPr>
          <a:xfrm>
            <a:off x="6921267" y="916852"/>
            <a:ext cx="40000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solidFill>
                  <a:schemeClr val="dk1"/>
                </a:solidFill>
                <a:latin typeface="Roboto Light"/>
                <a:ea typeface="Roboto Light"/>
                <a:cs typeface="Roboto Light"/>
                <a:sym typeface="Roboto Light"/>
              </a:rPr>
              <a:t>Positive slope → step to the left </a:t>
            </a:r>
            <a:endParaRPr sz="2133">
              <a:solidFill>
                <a:schemeClr val="dk1"/>
              </a:solidFill>
              <a:latin typeface="Roboto Light"/>
              <a:ea typeface="Roboto Light"/>
              <a:cs typeface="Roboto Light"/>
              <a:sym typeface="Roboto Light"/>
            </a:endParaRPr>
          </a:p>
          <a:p>
            <a:pPr algn="ctr">
              <a:spcBef>
                <a:spcPts val="0"/>
              </a:spcBef>
              <a:spcAft>
                <a:spcPts val="0"/>
              </a:spcAft>
            </a:pPr>
            <a:r>
              <a:rPr lang="en" sz="2133">
                <a:solidFill>
                  <a:schemeClr val="accent4"/>
                </a:solidFill>
                <a:latin typeface="Roboto Light"/>
                <a:ea typeface="Roboto Light"/>
                <a:cs typeface="Roboto Light"/>
                <a:sym typeface="Roboto Light"/>
              </a:rPr>
              <a:t>Move in the </a:t>
            </a:r>
            <a:r>
              <a:rPr lang="en" sz="2133" i="1">
                <a:solidFill>
                  <a:schemeClr val="accent4"/>
                </a:solidFill>
                <a:latin typeface="Roboto Light"/>
                <a:ea typeface="Roboto Light"/>
                <a:cs typeface="Roboto Light"/>
                <a:sym typeface="Roboto Light"/>
              </a:rPr>
              <a:t>negative</a:t>
            </a:r>
            <a:r>
              <a:rPr lang="en" sz="2133">
                <a:solidFill>
                  <a:schemeClr val="accent4"/>
                </a:solidFill>
                <a:latin typeface="Roboto Light"/>
                <a:ea typeface="Roboto Light"/>
                <a:cs typeface="Roboto Light"/>
                <a:sym typeface="Roboto Light"/>
              </a:rPr>
              <a:t> direction</a:t>
            </a:r>
            <a:endParaRPr>
              <a:solidFill>
                <a:schemeClr val="accent4"/>
              </a:solidFill>
            </a:endParaRPr>
          </a:p>
        </p:txBody>
      </p:sp>
      <p:sp>
        <p:nvSpPr>
          <p:cNvPr id="429" name="Google Shape;429;p56"/>
          <p:cNvSpPr txBox="1"/>
          <p:nvPr/>
        </p:nvSpPr>
        <p:spPr>
          <a:xfrm>
            <a:off x="518733" y="916868"/>
            <a:ext cx="4693200" cy="902643"/>
          </a:xfrm>
          <a:prstGeom prst="rect">
            <a:avLst/>
          </a:prstGeom>
          <a:noFill/>
          <a:ln>
            <a:noFill/>
          </a:ln>
        </p:spPr>
        <p:txBody>
          <a:bodyPr spcFirstLastPara="1" wrap="square" lIns="121900" tIns="121900" rIns="121900" bIns="121900" anchor="t" anchorCtr="0">
            <a:spAutoFit/>
          </a:bodyPr>
          <a:lstStyle/>
          <a:p>
            <a:pPr algn="ctr">
              <a:spcBef>
                <a:spcPts val="0"/>
              </a:spcBef>
              <a:spcAft>
                <a:spcPts val="0"/>
              </a:spcAft>
            </a:pPr>
            <a:r>
              <a:rPr lang="en" sz="2133">
                <a:solidFill>
                  <a:schemeClr val="dk1"/>
                </a:solidFill>
                <a:latin typeface="Roboto Light"/>
                <a:ea typeface="Roboto Light"/>
                <a:cs typeface="Roboto Light"/>
                <a:sym typeface="Roboto Light"/>
              </a:rPr>
              <a:t>Negative slope → step to the right </a:t>
            </a:r>
            <a:r>
              <a:rPr lang="en" sz="2133">
                <a:solidFill>
                  <a:schemeClr val="accent3"/>
                </a:solidFill>
                <a:latin typeface="Roboto Light"/>
                <a:ea typeface="Roboto Light"/>
                <a:cs typeface="Roboto Light"/>
                <a:sym typeface="Roboto Light"/>
              </a:rPr>
              <a:t>Move in the </a:t>
            </a:r>
            <a:r>
              <a:rPr lang="en" sz="2133" i="1">
                <a:solidFill>
                  <a:schemeClr val="accent3"/>
                </a:solidFill>
                <a:latin typeface="Roboto Light"/>
                <a:ea typeface="Roboto Light"/>
                <a:cs typeface="Roboto Light"/>
                <a:sym typeface="Roboto Light"/>
              </a:rPr>
              <a:t>positive </a:t>
            </a:r>
            <a:r>
              <a:rPr lang="en" sz="2133">
                <a:solidFill>
                  <a:schemeClr val="accent3"/>
                </a:solidFill>
                <a:latin typeface="Roboto Light"/>
                <a:ea typeface="Roboto Light"/>
                <a:cs typeface="Roboto Light"/>
                <a:sym typeface="Roboto Light"/>
              </a:rPr>
              <a:t>direction</a:t>
            </a:r>
            <a:endParaRPr>
              <a:solidFill>
                <a:schemeClr val="accent3"/>
              </a:solidFill>
            </a:endParaRPr>
          </a:p>
        </p:txBody>
      </p:sp>
      <p:cxnSp>
        <p:nvCxnSpPr>
          <p:cNvPr id="430" name="Google Shape;430;p56"/>
          <p:cNvCxnSpPr/>
          <p:nvPr/>
        </p:nvCxnSpPr>
        <p:spPr>
          <a:xfrm>
            <a:off x="3074600" y="4081033"/>
            <a:ext cx="759200" cy="423600"/>
          </a:xfrm>
          <a:prstGeom prst="straightConnector1">
            <a:avLst/>
          </a:prstGeom>
          <a:noFill/>
          <a:ln w="28575" cap="flat" cmpd="sng">
            <a:solidFill>
              <a:schemeClr val="accent5"/>
            </a:solidFill>
            <a:prstDash val="solid"/>
            <a:round/>
            <a:headEnd type="none" w="med" len="med"/>
            <a:tailEnd type="triangle" w="med" len="med"/>
          </a:ln>
        </p:spPr>
      </p:cxnSp>
      <p:cxnSp>
        <p:nvCxnSpPr>
          <p:cNvPr id="431" name="Google Shape;431;p56"/>
          <p:cNvCxnSpPr/>
          <p:nvPr/>
        </p:nvCxnSpPr>
        <p:spPr>
          <a:xfrm flipH="1">
            <a:off x="10274667" y="3391033"/>
            <a:ext cx="316000" cy="690000"/>
          </a:xfrm>
          <a:prstGeom prst="straightConnector1">
            <a:avLst/>
          </a:prstGeom>
          <a:noFill/>
          <a:ln w="28575" cap="flat" cmpd="sng">
            <a:solidFill>
              <a:schemeClr val="accent5"/>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6" name="Google Shape;456;p59"/>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spcBef>
                <a:spcPts val="0"/>
              </a:spcBef>
              <a:buNone/>
            </a:pPr>
            <a:r>
              <a:rPr lang="en"/>
              <a:t>The derivative of the function at each point tells us the direction of our next guess.</a:t>
            </a:r>
            <a:endParaRPr/>
          </a:p>
          <a:p>
            <a:pPr marL="0" indent="0">
              <a:spcBef>
                <a:spcPts val="0"/>
              </a:spcBef>
              <a:buNone/>
            </a:pPr>
            <a:endParaRPr/>
          </a:p>
          <a:p>
            <a:pPr marL="0" indent="0">
              <a:spcBef>
                <a:spcPts val="0"/>
              </a:spcBef>
              <a:buNone/>
            </a:pPr>
            <a:endParaRPr/>
          </a:p>
        </p:txBody>
      </p:sp>
      <p:sp>
        <p:nvSpPr>
          <p:cNvPr id="455" name="Google Shape;455;p59"/>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solidFill>
                  <a:schemeClr val="accent3"/>
                </a:solidFill>
              </a:rPr>
              <a:t>Slopes Tell Us Where to Go</a:t>
            </a:r>
            <a:endParaRPr/>
          </a:p>
        </p:txBody>
      </p:sp>
      <p:sp>
        <p:nvSpPr>
          <p:cNvPr id="457" name="Google Shape;457;p59"/>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20</a:t>
            </a:fld>
            <a:endParaRPr/>
          </a:p>
        </p:txBody>
      </p:sp>
      <p:sp>
        <p:nvSpPr>
          <p:cNvPr id="458" name="Google Shape;458;p59"/>
          <p:cNvSpPr txBox="1"/>
          <p:nvPr/>
        </p:nvSpPr>
        <p:spPr>
          <a:xfrm>
            <a:off x="6921268" y="1680388"/>
            <a:ext cx="40000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solidFill>
                  <a:schemeClr val="dk1"/>
                </a:solidFill>
                <a:latin typeface="Roboto Light"/>
                <a:ea typeface="Roboto Light"/>
                <a:cs typeface="Roboto Light"/>
                <a:sym typeface="Roboto Light"/>
              </a:rPr>
              <a:t>Positive slope → step to the left </a:t>
            </a:r>
            <a:endParaRPr sz="2133" dirty="0">
              <a:solidFill>
                <a:schemeClr val="dk1"/>
              </a:solidFill>
              <a:latin typeface="Roboto Light"/>
              <a:ea typeface="Roboto Light"/>
              <a:cs typeface="Roboto Light"/>
              <a:sym typeface="Roboto Light"/>
            </a:endParaRPr>
          </a:p>
          <a:p>
            <a:pPr algn="ctr">
              <a:spcBef>
                <a:spcPts val="0"/>
              </a:spcBef>
              <a:spcAft>
                <a:spcPts val="0"/>
              </a:spcAft>
            </a:pPr>
            <a:r>
              <a:rPr lang="en" sz="2133" dirty="0">
                <a:solidFill>
                  <a:schemeClr val="accent4"/>
                </a:solidFill>
                <a:latin typeface="Roboto Light"/>
                <a:ea typeface="Roboto Light"/>
                <a:cs typeface="Roboto Light"/>
                <a:sym typeface="Roboto Light"/>
              </a:rPr>
              <a:t>Move x in the </a:t>
            </a:r>
            <a:r>
              <a:rPr lang="en" sz="2133" i="1" dirty="0">
                <a:solidFill>
                  <a:schemeClr val="accent4"/>
                </a:solidFill>
                <a:latin typeface="Roboto Light"/>
                <a:ea typeface="Roboto Light"/>
                <a:cs typeface="Roboto Light"/>
                <a:sym typeface="Roboto Light"/>
              </a:rPr>
              <a:t>negative</a:t>
            </a:r>
            <a:r>
              <a:rPr lang="en" sz="2133" dirty="0">
                <a:solidFill>
                  <a:schemeClr val="accent4"/>
                </a:solidFill>
                <a:latin typeface="Roboto Light"/>
                <a:ea typeface="Roboto Light"/>
                <a:cs typeface="Roboto Light"/>
                <a:sym typeface="Roboto Light"/>
              </a:rPr>
              <a:t> direction</a:t>
            </a:r>
            <a:endParaRPr dirty="0">
              <a:solidFill>
                <a:schemeClr val="accent4"/>
              </a:solidFill>
            </a:endParaRPr>
          </a:p>
        </p:txBody>
      </p:sp>
      <p:sp>
        <p:nvSpPr>
          <p:cNvPr id="459" name="Google Shape;459;p59"/>
          <p:cNvSpPr txBox="1"/>
          <p:nvPr/>
        </p:nvSpPr>
        <p:spPr>
          <a:xfrm>
            <a:off x="1224035" y="1680388"/>
            <a:ext cx="4693200" cy="902643"/>
          </a:xfrm>
          <a:prstGeom prst="rect">
            <a:avLst/>
          </a:prstGeom>
          <a:noFill/>
          <a:ln>
            <a:noFill/>
          </a:ln>
        </p:spPr>
        <p:txBody>
          <a:bodyPr spcFirstLastPara="1" wrap="square" lIns="121900" tIns="121900" rIns="121900" bIns="121900" anchor="t" anchorCtr="0">
            <a:spAutoFit/>
          </a:bodyPr>
          <a:lstStyle/>
          <a:p>
            <a:pPr algn="ctr">
              <a:spcBef>
                <a:spcPts val="0"/>
              </a:spcBef>
              <a:spcAft>
                <a:spcPts val="0"/>
              </a:spcAft>
            </a:pPr>
            <a:r>
              <a:rPr lang="en" sz="2133" dirty="0">
                <a:solidFill>
                  <a:schemeClr val="dk1"/>
                </a:solidFill>
                <a:latin typeface="Roboto Light"/>
                <a:ea typeface="Roboto Light"/>
                <a:cs typeface="Roboto Light"/>
                <a:sym typeface="Roboto Light"/>
              </a:rPr>
              <a:t>Negative slope → step to the right </a:t>
            </a:r>
            <a:r>
              <a:rPr lang="en" sz="2133" dirty="0">
                <a:solidFill>
                  <a:schemeClr val="accent3"/>
                </a:solidFill>
                <a:latin typeface="Roboto Light"/>
                <a:ea typeface="Roboto Light"/>
                <a:cs typeface="Roboto Light"/>
                <a:sym typeface="Roboto Light"/>
              </a:rPr>
              <a:t>Move x in the </a:t>
            </a:r>
            <a:r>
              <a:rPr lang="en" sz="2133" i="1" dirty="0">
                <a:solidFill>
                  <a:schemeClr val="accent3"/>
                </a:solidFill>
                <a:latin typeface="Roboto Light"/>
                <a:ea typeface="Roboto Light"/>
                <a:cs typeface="Roboto Light"/>
                <a:sym typeface="Roboto Light"/>
              </a:rPr>
              <a:t>positive </a:t>
            </a:r>
            <a:r>
              <a:rPr lang="en" sz="2133" dirty="0">
                <a:solidFill>
                  <a:schemeClr val="accent3"/>
                </a:solidFill>
                <a:latin typeface="Roboto Light"/>
                <a:ea typeface="Roboto Light"/>
                <a:cs typeface="Roboto Light"/>
                <a:sym typeface="Roboto Light"/>
              </a:rPr>
              <a:t>direction</a:t>
            </a:r>
            <a:endParaRPr dirty="0">
              <a:solidFill>
                <a:schemeClr val="accent3"/>
              </a:solidFill>
            </a:endParaRPr>
          </a:p>
        </p:txBody>
      </p:sp>
      <p:sp>
        <p:nvSpPr>
          <p:cNvPr id="460" name="Google Shape;460;p59"/>
          <p:cNvSpPr txBox="1"/>
          <p:nvPr/>
        </p:nvSpPr>
        <p:spPr>
          <a:xfrm>
            <a:off x="202833" y="2391434"/>
            <a:ext cx="10730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Our first attempt at making an algorithm: step in the opposite direction to the slope</a:t>
            </a:r>
            <a:endParaRPr sz="2133">
              <a:latin typeface="Roboto Light"/>
              <a:ea typeface="Roboto Light"/>
              <a:cs typeface="Roboto Light"/>
              <a:sym typeface="Roboto Light"/>
            </a:endParaRPr>
          </a:p>
        </p:txBody>
      </p:sp>
      <p:pic>
        <p:nvPicPr>
          <p:cNvPr id="461" name="Google Shape;461;p59" descr="{&quot;font&quot;:{&quot;size&quot;:23,&quot;family&quot;:&quot;Arial&quot;,&quot;color&quot;:&quot;#000000&quot;},&quot;code&quot;:&quot;$x^{\\left(t+1\\right)}=x^{\\left(t\\right)}-\\frac{d}{dx}f\\left(x^{\\left(t\\right)}\\right)$&quot;,&quot;backgroundColorModified&quot;:false,&quot;type&quot;:&quot;$&quot;,&quot;aid&quot;:null,&quot;id&quot;:&quot;4&quot;,&quot;backgroundColor&quot;:&quot;#FFFFFF&quot;,&quot;ts&quot;:1688690388700,&quot;cs&quot;:&quot;ZXN1VeaTz5tQhTuEQBuGDg==&quot;,&quot;size&quot;:{&quot;width&quot;:368,&quot;height&quot;:45}}"/>
          <p:cNvPicPr preferRelativeResize="0"/>
          <p:nvPr/>
        </p:nvPicPr>
        <p:blipFill>
          <a:blip r:embed="rId3">
            <a:alphaModFix/>
          </a:blip>
          <a:stretch>
            <a:fillRect/>
          </a:stretch>
        </p:blipFill>
        <p:spPr>
          <a:xfrm>
            <a:off x="4090084" y="3485295"/>
            <a:ext cx="4673600" cy="571500"/>
          </a:xfrm>
          <a:prstGeom prst="rect">
            <a:avLst/>
          </a:prstGeom>
          <a:noFill/>
          <a:ln>
            <a:noFill/>
          </a:ln>
        </p:spPr>
      </p:pic>
      <p:sp>
        <p:nvSpPr>
          <p:cNvPr id="462" name="Google Shape;462;p59"/>
          <p:cNvSpPr txBox="1"/>
          <p:nvPr/>
        </p:nvSpPr>
        <p:spPr>
          <a:xfrm>
            <a:off x="644733" y="4438434"/>
            <a:ext cx="2954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Our next guess for the minimizing x</a:t>
            </a:r>
            <a:endParaRPr sz="2133">
              <a:latin typeface="Roboto Light"/>
              <a:ea typeface="Roboto Light"/>
              <a:cs typeface="Roboto Light"/>
              <a:sym typeface="Roboto Light"/>
            </a:endParaRPr>
          </a:p>
        </p:txBody>
      </p:sp>
      <p:sp>
        <p:nvSpPr>
          <p:cNvPr id="463" name="Google Shape;463;p59"/>
          <p:cNvSpPr txBox="1"/>
          <p:nvPr/>
        </p:nvSpPr>
        <p:spPr>
          <a:xfrm>
            <a:off x="4224800" y="4438434"/>
            <a:ext cx="3562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…starts at the previous guess</a:t>
            </a:r>
            <a:endParaRPr sz="2133">
              <a:latin typeface="Roboto Light"/>
              <a:ea typeface="Roboto Light"/>
              <a:cs typeface="Roboto Light"/>
              <a:sym typeface="Roboto Light"/>
            </a:endParaRPr>
          </a:p>
        </p:txBody>
      </p:sp>
      <p:sp>
        <p:nvSpPr>
          <p:cNvPr id="464" name="Google Shape;464;p59"/>
          <p:cNvSpPr txBox="1"/>
          <p:nvPr/>
        </p:nvSpPr>
        <p:spPr>
          <a:xfrm>
            <a:off x="7894633" y="4397301"/>
            <a:ext cx="3854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…and moves opposite to the slope</a:t>
            </a:r>
            <a:endParaRPr sz="2133">
              <a:latin typeface="Roboto Light"/>
              <a:ea typeface="Roboto Light"/>
              <a:cs typeface="Roboto Light"/>
              <a:sym typeface="Roboto Light"/>
            </a:endParaRPr>
          </a:p>
        </p:txBody>
      </p:sp>
      <p:cxnSp>
        <p:nvCxnSpPr>
          <p:cNvPr id="465" name="Google Shape;465;p59"/>
          <p:cNvCxnSpPr/>
          <p:nvPr/>
        </p:nvCxnSpPr>
        <p:spPr>
          <a:xfrm rot="10800000" flipH="1">
            <a:off x="3524133" y="3959033"/>
            <a:ext cx="944800" cy="794800"/>
          </a:xfrm>
          <a:prstGeom prst="curvedConnector3">
            <a:avLst>
              <a:gd name="adj1" fmla="val 87299"/>
            </a:avLst>
          </a:prstGeom>
          <a:noFill/>
          <a:ln w="28575" cap="flat" cmpd="sng">
            <a:solidFill>
              <a:schemeClr val="dk2"/>
            </a:solidFill>
            <a:prstDash val="solid"/>
            <a:round/>
            <a:headEnd type="none" w="med" len="med"/>
            <a:tailEnd type="triangle" w="med" len="med"/>
          </a:ln>
        </p:spPr>
      </p:cxnSp>
      <p:cxnSp>
        <p:nvCxnSpPr>
          <p:cNvPr id="466" name="Google Shape;466;p59"/>
          <p:cNvCxnSpPr/>
          <p:nvPr/>
        </p:nvCxnSpPr>
        <p:spPr>
          <a:xfrm rot="5400000" flipH="1">
            <a:off x="7342600" y="4220433"/>
            <a:ext cx="688400" cy="378400"/>
          </a:xfrm>
          <a:prstGeom prst="curvedConnector3">
            <a:avLst>
              <a:gd name="adj1" fmla="val 8876"/>
            </a:avLst>
          </a:prstGeom>
          <a:noFill/>
          <a:ln w="28575" cap="flat" cmpd="sng">
            <a:solidFill>
              <a:schemeClr val="dk2"/>
            </a:solidFill>
            <a:prstDash val="solid"/>
            <a:round/>
            <a:headEnd type="none" w="med" len="med"/>
            <a:tailEnd type="triangle" w="med" len="med"/>
          </a:ln>
        </p:spPr>
      </p:cxnSp>
      <p:cxnSp>
        <p:nvCxnSpPr>
          <p:cNvPr id="467" name="Google Shape;467;p59"/>
          <p:cNvCxnSpPr/>
          <p:nvPr/>
        </p:nvCxnSpPr>
        <p:spPr>
          <a:xfrm rot="10800000" flipH="1">
            <a:off x="5975667" y="3959033"/>
            <a:ext cx="15200" cy="550000"/>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0"/>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Algorithm Attempt #1</a:t>
            </a:r>
            <a:endParaRPr/>
          </a:p>
        </p:txBody>
      </p:sp>
      <p:sp>
        <p:nvSpPr>
          <p:cNvPr id="475" name="Google Shape;475;p6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21</a:t>
            </a:fld>
            <a:endParaRPr/>
          </a:p>
        </p:txBody>
      </p:sp>
      <p:pic>
        <p:nvPicPr>
          <p:cNvPr id="473" name="Google Shape;473;p60"/>
          <p:cNvPicPr preferRelativeResize="0"/>
          <p:nvPr/>
        </p:nvPicPr>
        <p:blipFill>
          <a:blip r:embed="rId3">
            <a:alphaModFix/>
          </a:blip>
          <a:stretch>
            <a:fillRect/>
          </a:stretch>
        </p:blipFill>
        <p:spPr>
          <a:xfrm>
            <a:off x="203199" y="1511446"/>
            <a:ext cx="6137568" cy="2470967"/>
          </a:xfrm>
          <a:prstGeom prst="rect">
            <a:avLst/>
          </a:prstGeom>
          <a:noFill/>
          <a:ln>
            <a:noFill/>
          </a:ln>
        </p:spPr>
      </p:pic>
      <p:pic>
        <p:nvPicPr>
          <p:cNvPr id="474" name="Google Shape;474;p60"/>
          <p:cNvPicPr preferRelativeResize="0"/>
          <p:nvPr/>
        </p:nvPicPr>
        <p:blipFill>
          <a:blip r:embed="rId4">
            <a:alphaModFix/>
          </a:blip>
          <a:stretch>
            <a:fillRect/>
          </a:stretch>
        </p:blipFill>
        <p:spPr>
          <a:xfrm>
            <a:off x="6614802" y="1032801"/>
            <a:ext cx="5373999" cy="469706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480" name="Google Shape;480;p61"/>
          <p:cNvPicPr preferRelativeResize="0"/>
          <p:nvPr/>
        </p:nvPicPr>
        <p:blipFill>
          <a:blip r:embed="rId3">
            <a:alphaModFix/>
          </a:blip>
          <a:stretch>
            <a:fillRect/>
          </a:stretch>
        </p:blipFill>
        <p:spPr>
          <a:xfrm>
            <a:off x="203199" y="1573590"/>
            <a:ext cx="6137568" cy="2470967"/>
          </a:xfrm>
          <a:prstGeom prst="rect">
            <a:avLst/>
          </a:prstGeom>
          <a:noFill/>
          <a:ln>
            <a:noFill/>
          </a:ln>
        </p:spPr>
      </p:pic>
      <p:pic>
        <p:nvPicPr>
          <p:cNvPr id="481" name="Google Shape;481;p61"/>
          <p:cNvPicPr preferRelativeResize="0"/>
          <p:nvPr/>
        </p:nvPicPr>
        <p:blipFill>
          <a:blip r:embed="rId4">
            <a:alphaModFix/>
          </a:blip>
          <a:stretch>
            <a:fillRect/>
          </a:stretch>
        </p:blipFill>
        <p:spPr>
          <a:xfrm>
            <a:off x="6614801" y="931201"/>
            <a:ext cx="5374000" cy="4781481"/>
          </a:xfrm>
          <a:prstGeom prst="rect">
            <a:avLst/>
          </a:prstGeom>
          <a:noFill/>
          <a:ln>
            <a:noFill/>
          </a:ln>
        </p:spPr>
      </p:pic>
      <p:sp>
        <p:nvSpPr>
          <p:cNvPr id="482" name="Google Shape;482;p61"/>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Algorithm Attempt #1</a:t>
            </a:r>
            <a:endParaRPr>
              <a:solidFill>
                <a:schemeClr val="accent3"/>
              </a:solidFill>
            </a:endParaRPr>
          </a:p>
          <a:p>
            <a:pPr algn="l">
              <a:buClr>
                <a:schemeClr val="dk1"/>
              </a:buClr>
              <a:buSzPts val="1100"/>
            </a:pPr>
            <a:endParaRPr>
              <a:solidFill>
                <a:schemeClr val="accent3"/>
              </a:solidFill>
            </a:endParaRPr>
          </a:p>
        </p:txBody>
      </p:sp>
      <p:sp>
        <p:nvSpPr>
          <p:cNvPr id="483" name="Google Shape;483;p61"/>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62"/>
          <p:cNvPicPr preferRelativeResize="0"/>
          <p:nvPr/>
        </p:nvPicPr>
        <p:blipFill>
          <a:blip r:embed="rId3">
            <a:alphaModFix/>
          </a:blip>
          <a:stretch>
            <a:fillRect/>
          </a:stretch>
        </p:blipFill>
        <p:spPr>
          <a:xfrm>
            <a:off x="266699" y="1724510"/>
            <a:ext cx="6137568" cy="2470967"/>
          </a:xfrm>
          <a:prstGeom prst="rect">
            <a:avLst/>
          </a:prstGeom>
          <a:noFill/>
          <a:ln>
            <a:noFill/>
          </a:ln>
        </p:spPr>
      </p:pic>
      <p:pic>
        <p:nvPicPr>
          <p:cNvPr id="489" name="Google Shape;489;p62"/>
          <p:cNvPicPr preferRelativeResize="0"/>
          <p:nvPr/>
        </p:nvPicPr>
        <p:blipFill>
          <a:blip r:embed="rId4">
            <a:alphaModFix/>
          </a:blip>
          <a:stretch>
            <a:fillRect/>
          </a:stretch>
        </p:blipFill>
        <p:spPr>
          <a:xfrm>
            <a:off x="6614801" y="931200"/>
            <a:ext cx="5374000" cy="4627611"/>
          </a:xfrm>
          <a:prstGeom prst="rect">
            <a:avLst/>
          </a:prstGeom>
          <a:noFill/>
          <a:ln>
            <a:noFill/>
          </a:ln>
        </p:spPr>
      </p:pic>
      <p:sp>
        <p:nvSpPr>
          <p:cNvPr id="490" name="Google Shape;490;p62"/>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Algorithm Attempt #1</a:t>
            </a:r>
            <a:endParaRPr>
              <a:solidFill>
                <a:schemeClr val="accent3"/>
              </a:solidFill>
            </a:endParaRPr>
          </a:p>
        </p:txBody>
      </p:sp>
      <p:sp>
        <p:nvSpPr>
          <p:cNvPr id="491" name="Google Shape;491;p62"/>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pic>
        <p:nvPicPr>
          <p:cNvPr id="496" name="Google Shape;496;p63"/>
          <p:cNvPicPr preferRelativeResize="0"/>
          <p:nvPr/>
        </p:nvPicPr>
        <p:blipFill>
          <a:blip r:embed="rId3">
            <a:alphaModFix/>
          </a:blip>
          <a:stretch>
            <a:fillRect/>
          </a:stretch>
        </p:blipFill>
        <p:spPr>
          <a:xfrm>
            <a:off x="266699" y="1617978"/>
            <a:ext cx="6137568" cy="2470967"/>
          </a:xfrm>
          <a:prstGeom prst="rect">
            <a:avLst/>
          </a:prstGeom>
          <a:noFill/>
          <a:ln>
            <a:noFill/>
          </a:ln>
        </p:spPr>
      </p:pic>
      <p:pic>
        <p:nvPicPr>
          <p:cNvPr id="497" name="Google Shape;497;p63"/>
          <p:cNvPicPr preferRelativeResize="0"/>
          <p:nvPr/>
        </p:nvPicPr>
        <p:blipFill>
          <a:blip r:embed="rId4">
            <a:alphaModFix/>
          </a:blip>
          <a:stretch>
            <a:fillRect/>
          </a:stretch>
        </p:blipFill>
        <p:spPr>
          <a:xfrm>
            <a:off x="6614802" y="931200"/>
            <a:ext cx="5373999" cy="4784504"/>
          </a:xfrm>
          <a:prstGeom prst="rect">
            <a:avLst/>
          </a:prstGeom>
          <a:noFill/>
          <a:ln>
            <a:noFill/>
          </a:ln>
        </p:spPr>
      </p:pic>
      <p:sp>
        <p:nvSpPr>
          <p:cNvPr id="498" name="Google Shape;498;p63"/>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Algorithm Attempt #1</a:t>
            </a:r>
            <a:endParaRPr>
              <a:solidFill>
                <a:schemeClr val="accent3"/>
              </a:solidFill>
            </a:endParaRPr>
          </a:p>
        </p:txBody>
      </p:sp>
      <p:sp>
        <p:nvSpPr>
          <p:cNvPr id="499" name="Google Shape;499;p63"/>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pic>
        <p:nvPicPr>
          <p:cNvPr id="504" name="Google Shape;504;p64"/>
          <p:cNvPicPr preferRelativeResize="0"/>
          <p:nvPr/>
        </p:nvPicPr>
        <p:blipFill>
          <a:blip r:embed="rId3">
            <a:alphaModFix/>
          </a:blip>
          <a:stretch>
            <a:fillRect/>
          </a:stretch>
        </p:blipFill>
        <p:spPr>
          <a:xfrm>
            <a:off x="203200" y="1600223"/>
            <a:ext cx="6137568" cy="2470967"/>
          </a:xfrm>
          <a:prstGeom prst="rect">
            <a:avLst/>
          </a:prstGeom>
          <a:noFill/>
          <a:ln>
            <a:noFill/>
          </a:ln>
        </p:spPr>
      </p:pic>
      <p:pic>
        <p:nvPicPr>
          <p:cNvPr id="505" name="Google Shape;505;p64"/>
          <p:cNvPicPr preferRelativeResize="0"/>
          <p:nvPr/>
        </p:nvPicPr>
        <p:blipFill>
          <a:blip r:embed="rId4">
            <a:alphaModFix/>
          </a:blip>
          <a:stretch>
            <a:fillRect/>
          </a:stretch>
        </p:blipFill>
        <p:spPr>
          <a:xfrm>
            <a:off x="6614801" y="931200"/>
            <a:ext cx="5373999" cy="4656563"/>
          </a:xfrm>
          <a:prstGeom prst="rect">
            <a:avLst/>
          </a:prstGeom>
          <a:noFill/>
          <a:ln>
            <a:noFill/>
          </a:ln>
        </p:spPr>
      </p:pic>
      <p:sp>
        <p:nvSpPr>
          <p:cNvPr id="506" name="Google Shape;506;p64"/>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Algorithm Attempt #1</a:t>
            </a:r>
            <a:endParaRPr>
              <a:solidFill>
                <a:schemeClr val="accent3"/>
              </a:solidFill>
            </a:endParaRPr>
          </a:p>
        </p:txBody>
      </p:sp>
      <p:sp>
        <p:nvSpPr>
          <p:cNvPr id="507" name="Google Shape;507;p64"/>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65"/>
          <p:cNvPicPr preferRelativeResize="0"/>
          <p:nvPr/>
        </p:nvPicPr>
        <p:blipFill>
          <a:blip r:embed="rId3">
            <a:alphaModFix/>
          </a:blip>
          <a:stretch>
            <a:fillRect/>
          </a:stretch>
        </p:blipFill>
        <p:spPr>
          <a:xfrm>
            <a:off x="266699" y="834208"/>
            <a:ext cx="6137568" cy="2470967"/>
          </a:xfrm>
          <a:prstGeom prst="rect">
            <a:avLst/>
          </a:prstGeom>
          <a:noFill/>
          <a:ln>
            <a:noFill/>
          </a:ln>
        </p:spPr>
      </p:pic>
      <p:pic>
        <p:nvPicPr>
          <p:cNvPr id="513" name="Google Shape;513;p65"/>
          <p:cNvPicPr preferRelativeResize="0"/>
          <p:nvPr/>
        </p:nvPicPr>
        <p:blipFill>
          <a:blip r:embed="rId4">
            <a:alphaModFix/>
          </a:blip>
          <a:stretch>
            <a:fillRect/>
          </a:stretch>
        </p:blipFill>
        <p:spPr>
          <a:xfrm>
            <a:off x="6614801" y="931200"/>
            <a:ext cx="5373999" cy="4656563"/>
          </a:xfrm>
          <a:prstGeom prst="rect">
            <a:avLst/>
          </a:prstGeom>
          <a:noFill/>
          <a:ln>
            <a:noFill/>
          </a:ln>
        </p:spPr>
      </p:pic>
      <p:sp>
        <p:nvSpPr>
          <p:cNvPr id="515" name="Google Shape;515;p65"/>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Algorithm Attempt #1</a:t>
            </a:r>
            <a:endParaRPr>
              <a:solidFill>
                <a:schemeClr val="accent3"/>
              </a:solidFill>
            </a:endParaRPr>
          </a:p>
        </p:txBody>
      </p:sp>
      <p:sp>
        <p:nvSpPr>
          <p:cNvPr id="516" name="Google Shape;516;p65"/>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26</a:t>
            </a:fld>
            <a:endParaRPr/>
          </a:p>
        </p:txBody>
      </p:sp>
      <p:sp>
        <p:nvSpPr>
          <p:cNvPr id="514" name="Google Shape;514;p65"/>
          <p:cNvSpPr txBox="1">
            <a:spLocks noGrp="1"/>
          </p:cNvSpPr>
          <p:nvPr>
            <p:ph type="body" idx="4294967295"/>
          </p:nvPr>
        </p:nvSpPr>
        <p:spPr>
          <a:xfrm>
            <a:off x="0" y="3305175"/>
            <a:ext cx="6137275" cy="17859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We appear to be bouncing back and forth. Turns out we are stuck! </a:t>
            </a:r>
            <a:endParaRPr/>
          </a:p>
          <a:p>
            <a:r>
              <a:rPr lang="en"/>
              <a:t>Any suggestions for how we can avoid this issue?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2" name="Google Shape;522;p66"/>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spcBef>
                <a:spcPts val="0"/>
              </a:spcBef>
              <a:buNone/>
            </a:pPr>
            <a:r>
              <a:rPr lang="en"/>
              <a:t>Problem: each step is too big, so we overshoot the minimizing x</a:t>
            </a:r>
            <a:endParaRPr/>
          </a:p>
          <a:p>
            <a:pPr marL="0" indent="0">
              <a:spcBef>
                <a:spcPts val="0"/>
              </a:spcBef>
              <a:buNone/>
            </a:pPr>
            <a:endParaRPr/>
          </a:p>
          <a:p>
            <a:pPr marL="0" indent="0">
              <a:spcBef>
                <a:spcPts val="0"/>
              </a:spcBef>
              <a:buNone/>
            </a:pPr>
            <a:r>
              <a:rPr lang="en"/>
              <a:t>Solution: decrease the size of each step</a:t>
            </a:r>
            <a:endParaRPr/>
          </a:p>
          <a:p>
            <a:pPr marL="0" indent="0">
              <a:spcBef>
                <a:spcPts val="0"/>
              </a:spcBef>
              <a:buNone/>
            </a:pPr>
            <a:endParaRPr/>
          </a:p>
          <a:p>
            <a:pPr marL="0" indent="0">
              <a:spcBef>
                <a:spcPts val="0"/>
              </a:spcBef>
              <a:buNone/>
            </a:pPr>
            <a:endParaRPr/>
          </a:p>
        </p:txBody>
      </p:sp>
      <p:sp>
        <p:nvSpPr>
          <p:cNvPr id="521" name="Google Shape;521;p66"/>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Introducing a Learning Rate</a:t>
            </a:r>
            <a:endParaRPr/>
          </a:p>
        </p:txBody>
      </p:sp>
      <p:sp>
        <p:nvSpPr>
          <p:cNvPr id="523" name="Google Shape;523;p66"/>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27</a:t>
            </a:fld>
            <a:endParaRPr/>
          </a:p>
        </p:txBody>
      </p:sp>
      <p:sp>
        <p:nvSpPr>
          <p:cNvPr id="524" name="Google Shape;524;p66"/>
          <p:cNvSpPr txBox="1"/>
          <p:nvPr/>
        </p:nvSpPr>
        <p:spPr>
          <a:xfrm>
            <a:off x="101233" y="2391434"/>
            <a:ext cx="119268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Updated algorithm:     represents a </a:t>
            </a:r>
            <a:r>
              <a:rPr lang="en" sz="2133" b="1">
                <a:latin typeface="Roboto"/>
                <a:ea typeface="Roboto"/>
                <a:cs typeface="Roboto"/>
                <a:sym typeface="Roboto"/>
              </a:rPr>
              <a:t>learning rate</a:t>
            </a:r>
            <a:r>
              <a:rPr lang="en" sz="2133">
                <a:latin typeface="Roboto Light"/>
                <a:ea typeface="Roboto Light"/>
                <a:cs typeface="Roboto Light"/>
                <a:sym typeface="Roboto Light"/>
              </a:rPr>
              <a:t> that we choose. It controls the size of each step.</a:t>
            </a:r>
            <a:endParaRPr sz="2133">
              <a:latin typeface="Roboto Light"/>
              <a:ea typeface="Roboto Light"/>
              <a:cs typeface="Roboto Light"/>
              <a:sym typeface="Roboto Light"/>
            </a:endParaRPr>
          </a:p>
        </p:txBody>
      </p:sp>
      <p:pic>
        <p:nvPicPr>
          <p:cNvPr id="525" name="Google Shape;525;p66" descr="{&quot;aid&quot;:null,&quot;font&quot;:{&quot;family&quot;:&quot;Arial&quot;,&quot;size&quot;:23,&quot;color&quot;:&quot;#000000&quot;},&quot;code&quot;:&quot;$x^{\\left(t+1\\right)}=x^{\\left(t\\right)}-\\alpha\\frac{d}{dx}f\\left(x^{\\left(t\\right)}\\right)$&quot;,&quot;type&quot;:&quot;$&quot;,&quot;id&quot;:&quot;4&quot;,&quot;backgroundColorModified&quot;:false,&quot;backgroundColor&quot;:&quot;#FFFFFF&quot;,&quot;ts&quot;:1688690411585,&quot;cs&quot;:&quot;X3HQPRd69cTnAh+3Sj7ldg==&quot;,&quot;size&quot;:{&quot;width&quot;:391,&quot;height&quot;:45}}"/>
          <p:cNvPicPr preferRelativeResize="0"/>
          <p:nvPr/>
        </p:nvPicPr>
        <p:blipFill>
          <a:blip r:embed="rId3">
            <a:alphaModFix/>
          </a:blip>
          <a:stretch>
            <a:fillRect/>
          </a:stretch>
        </p:blipFill>
        <p:spPr>
          <a:xfrm>
            <a:off x="4090085" y="3504173"/>
            <a:ext cx="4965700" cy="571500"/>
          </a:xfrm>
          <a:prstGeom prst="rect">
            <a:avLst/>
          </a:prstGeom>
          <a:noFill/>
          <a:ln>
            <a:noFill/>
          </a:ln>
        </p:spPr>
      </p:pic>
      <p:sp>
        <p:nvSpPr>
          <p:cNvPr id="526" name="Google Shape;526;p66"/>
          <p:cNvSpPr txBox="1"/>
          <p:nvPr/>
        </p:nvSpPr>
        <p:spPr>
          <a:xfrm>
            <a:off x="644733" y="4438434"/>
            <a:ext cx="2954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Our next guess for the minimizing x</a:t>
            </a:r>
            <a:endParaRPr sz="2133">
              <a:latin typeface="Roboto Light"/>
              <a:ea typeface="Roboto Light"/>
              <a:cs typeface="Roboto Light"/>
              <a:sym typeface="Roboto Light"/>
            </a:endParaRPr>
          </a:p>
        </p:txBody>
      </p:sp>
      <p:sp>
        <p:nvSpPr>
          <p:cNvPr id="527" name="Google Shape;527;p66"/>
          <p:cNvSpPr txBox="1"/>
          <p:nvPr/>
        </p:nvSpPr>
        <p:spPr>
          <a:xfrm>
            <a:off x="4224800" y="4438434"/>
            <a:ext cx="3562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…starts at the previous guess</a:t>
            </a:r>
            <a:endParaRPr sz="2133">
              <a:latin typeface="Roboto Light"/>
              <a:ea typeface="Roboto Light"/>
              <a:cs typeface="Roboto Light"/>
              <a:sym typeface="Roboto Light"/>
            </a:endParaRPr>
          </a:p>
        </p:txBody>
      </p:sp>
      <p:sp>
        <p:nvSpPr>
          <p:cNvPr id="528" name="Google Shape;528;p66"/>
          <p:cNvSpPr txBox="1"/>
          <p:nvPr/>
        </p:nvSpPr>
        <p:spPr>
          <a:xfrm>
            <a:off x="7894633" y="4397301"/>
            <a:ext cx="3854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…and moves opposite to the slope</a:t>
            </a:r>
            <a:endParaRPr sz="2133">
              <a:latin typeface="Roboto Light"/>
              <a:ea typeface="Roboto Light"/>
              <a:cs typeface="Roboto Light"/>
              <a:sym typeface="Roboto Light"/>
            </a:endParaRPr>
          </a:p>
        </p:txBody>
      </p:sp>
      <p:cxnSp>
        <p:nvCxnSpPr>
          <p:cNvPr id="529" name="Google Shape;529;p66"/>
          <p:cNvCxnSpPr/>
          <p:nvPr/>
        </p:nvCxnSpPr>
        <p:spPr>
          <a:xfrm rot="10800000" flipH="1">
            <a:off x="3524133" y="3959033"/>
            <a:ext cx="944800" cy="794800"/>
          </a:xfrm>
          <a:prstGeom prst="curvedConnector3">
            <a:avLst>
              <a:gd name="adj1" fmla="val 87299"/>
            </a:avLst>
          </a:prstGeom>
          <a:noFill/>
          <a:ln w="28575" cap="flat" cmpd="sng">
            <a:solidFill>
              <a:schemeClr val="dk2"/>
            </a:solidFill>
            <a:prstDash val="solid"/>
            <a:round/>
            <a:headEnd type="none" w="med" len="med"/>
            <a:tailEnd type="triangle" w="med" len="med"/>
          </a:ln>
        </p:spPr>
      </p:cxnSp>
      <p:cxnSp>
        <p:nvCxnSpPr>
          <p:cNvPr id="530" name="Google Shape;530;p66"/>
          <p:cNvCxnSpPr/>
          <p:nvPr/>
        </p:nvCxnSpPr>
        <p:spPr>
          <a:xfrm rot="5400000" flipH="1">
            <a:off x="7342600" y="4220433"/>
            <a:ext cx="688400" cy="378400"/>
          </a:xfrm>
          <a:prstGeom prst="curvedConnector3">
            <a:avLst>
              <a:gd name="adj1" fmla="val 8876"/>
            </a:avLst>
          </a:prstGeom>
          <a:noFill/>
          <a:ln w="28575" cap="flat" cmpd="sng">
            <a:solidFill>
              <a:schemeClr val="dk2"/>
            </a:solidFill>
            <a:prstDash val="solid"/>
            <a:round/>
            <a:headEnd type="none" w="med" len="med"/>
            <a:tailEnd type="triangle" w="med" len="med"/>
          </a:ln>
        </p:spPr>
      </p:cxnSp>
      <p:cxnSp>
        <p:nvCxnSpPr>
          <p:cNvPr id="531" name="Google Shape;531;p66"/>
          <p:cNvCxnSpPr/>
          <p:nvPr/>
        </p:nvCxnSpPr>
        <p:spPr>
          <a:xfrm rot="10800000" flipH="1">
            <a:off x="5975667" y="3959033"/>
            <a:ext cx="15200" cy="550000"/>
          </a:xfrm>
          <a:prstGeom prst="straightConnector1">
            <a:avLst/>
          </a:prstGeom>
          <a:noFill/>
          <a:ln w="28575" cap="flat" cmpd="sng">
            <a:solidFill>
              <a:schemeClr val="dk2"/>
            </a:solidFill>
            <a:prstDash val="solid"/>
            <a:round/>
            <a:headEnd type="none" w="med" len="med"/>
            <a:tailEnd type="triangle" w="med" len="med"/>
          </a:ln>
        </p:spPr>
      </p:cxnSp>
      <p:sp>
        <p:nvSpPr>
          <p:cNvPr id="532" name="Google Shape;532;p66"/>
          <p:cNvSpPr txBox="1"/>
          <p:nvPr/>
        </p:nvSpPr>
        <p:spPr>
          <a:xfrm>
            <a:off x="113433" y="5642834"/>
            <a:ext cx="8878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Let’s try</a:t>
            </a:r>
            <a:endParaRPr sz="2133">
              <a:latin typeface="Roboto Light"/>
              <a:ea typeface="Roboto Light"/>
              <a:cs typeface="Roboto Light"/>
              <a:sym typeface="Roboto Light"/>
            </a:endParaRPr>
          </a:p>
        </p:txBody>
      </p:sp>
      <p:pic>
        <p:nvPicPr>
          <p:cNvPr id="533" name="Google Shape;533;p66" descr="{&quot;id&quot;:&quot;5&quot;,&quot;font&quot;:{&quot;size&quot;:16,&quot;family&quot;:&quot;Roboto&quot;,&quot;color&quot;:&quot;#000000&quot;},&quot;backgroundColor&quot;:&quot;#FFFFFF&quot;,&quot;type&quot;:&quot;$$&quot;,&quot;backgroundColorModified&quot;:false,&quot;code&quot;:&quot;$$\\alpha=0.3$$&quot;,&quot;aid&quot;:null,&quot;ts&quot;:1688671859495,&quot;cs&quot;:&quot;74UvrjsYTp4WTrnOC919Wg==&quot;,&quot;size&quot;:{&quot;width&quot;:68.83333333333333,&quot;height&quot;:15}}"/>
          <p:cNvPicPr preferRelativeResize="0"/>
          <p:nvPr/>
        </p:nvPicPr>
        <p:blipFill>
          <a:blip r:embed="rId4">
            <a:alphaModFix/>
          </a:blip>
          <a:stretch>
            <a:fillRect/>
          </a:stretch>
        </p:blipFill>
        <p:spPr>
          <a:xfrm>
            <a:off x="1282167" y="5834967"/>
            <a:ext cx="874184" cy="190500"/>
          </a:xfrm>
          <a:prstGeom prst="rect">
            <a:avLst/>
          </a:prstGeom>
          <a:noFill/>
          <a:ln>
            <a:noFill/>
          </a:ln>
        </p:spPr>
      </p:pic>
      <p:pic>
        <p:nvPicPr>
          <p:cNvPr id="534" name="Google Shape;534;p66" descr="{&quot;font&quot;:{&quot;size&quot;:16,&quot;color&quot;:&quot;#000000&quot;,&quot;family&quot;:&quot;Roboto&quot;},&quot;code&quot;:&quot;$$\\alpha$$&quot;,&quot;backgroundColor&quot;:&quot;#FFFFFF&quot;,&quot;id&quot;:&quot;5&quot;,&quot;backgroundColorModified&quot;:false,&quot;aid&quot;:null,&quot;type&quot;:&quot;$$&quot;,&quot;ts&quot;:1688671880481,&quot;cs&quot;:&quot;/lQT+2ek8erWrok5be/yWw==&quot;,&quot;size&quot;:{&quot;width&quot;:12.5,&quot;height&quot;:9.833333333333334}}"/>
          <p:cNvPicPr preferRelativeResize="0"/>
          <p:nvPr/>
        </p:nvPicPr>
        <p:blipFill>
          <a:blip r:embed="rId5">
            <a:alphaModFix/>
          </a:blip>
          <a:stretch>
            <a:fillRect/>
          </a:stretch>
        </p:blipFill>
        <p:spPr>
          <a:xfrm>
            <a:off x="2553078" y="2616385"/>
            <a:ext cx="158751" cy="1248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3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6" name="Google Shape;556;p69"/>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a:solidFill>
                  <a:schemeClr val="accent3"/>
                </a:solidFill>
              </a:rPr>
              <a:t>Algorithm Attempt #2</a:t>
            </a:r>
            <a:endParaRPr/>
          </a:p>
        </p:txBody>
      </p:sp>
      <p:sp>
        <p:nvSpPr>
          <p:cNvPr id="557" name="Google Shape;557;p69"/>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28</a:t>
            </a:fld>
            <a:endParaRPr/>
          </a:p>
        </p:txBody>
      </p:sp>
      <p:sp>
        <p:nvSpPr>
          <p:cNvPr id="555" name="Google Shape;555;p69"/>
          <p:cNvSpPr txBox="1">
            <a:spLocks noGrp="1"/>
          </p:cNvSpPr>
          <p:nvPr>
            <p:ph type="body" idx="4294967295"/>
          </p:nvPr>
        </p:nvSpPr>
        <p:spPr>
          <a:xfrm>
            <a:off x="0" y="3406775"/>
            <a:ext cx="6523038" cy="2913063"/>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sz="2400" dirty="0"/>
              <a:t>When do we stop updating?</a:t>
            </a:r>
            <a:endParaRPr sz="2400" dirty="0"/>
          </a:p>
          <a:p>
            <a:pPr marL="0" indent="0">
              <a:buNone/>
            </a:pPr>
            <a:r>
              <a:rPr lang="en" sz="2400" dirty="0"/>
              <a:t>Some options:</a:t>
            </a:r>
            <a:endParaRPr sz="2400" dirty="0"/>
          </a:p>
          <a:p>
            <a:r>
              <a:rPr lang="en" sz="2400" dirty="0"/>
              <a:t>After a fixed number of updates</a:t>
            </a:r>
            <a:endParaRPr sz="2400" dirty="0"/>
          </a:p>
          <a:p>
            <a:pPr>
              <a:spcBef>
                <a:spcPts val="0"/>
              </a:spcBef>
            </a:pPr>
            <a:r>
              <a:rPr lang="en" sz="2400" dirty="0"/>
              <a:t>Subsequent update doesn’t change “much”</a:t>
            </a:r>
            <a:endParaRPr sz="2400" dirty="0"/>
          </a:p>
          <a:p>
            <a:pPr marL="0" indent="0">
              <a:buNone/>
            </a:pPr>
            <a:endParaRPr sz="2400" dirty="0"/>
          </a:p>
          <a:p>
            <a:pPr marL="0" indent="0">
              <a:buNone/>
            </a:pPr>
            <a:r>
              <a:rPr lang="en" sz="2400" b="1" dirty="0">
                <a:latin typeface="Roboto"/>
                <a:ea typeface="Roboto"/>
                <a:cs typeface="Roboto"/>
                <a:sym typeface="Roboto"/>
              </a:rPr>
              <a:t>Convergence:</a:t>
            </a:r>
            <a:r>
              <a:rPr lang="en" sz="2400" dirty="0"/>
              <a:t> GD settles on a solution and stops updating significantly (or at all)</a:t>
            </a:r>
            <a:endParaRPr sz="2400" dirty="0"/>
          </a:p>
        </p:txBody>
      </p:sp>
      <p:pic>
        <p:nvPicPr>
          <p:cNvPr id="558" name="Google Shape;558;p69"/>
          <p:cNvPicPr preferRelativeResize="0"/>
          <p:nvPr/>
        </p:nvPicPr>
        <p:blipFill>
          <a:blip r:embed="rId3">
            <a:alphaModFix/>
          </a:blip>
          <a:stretch>
            <a:fillRect/>
          </a:stretch>
        </p:blipFill>
        <p:spPr>
          <a:xfrm>
            <a:off x="142734" y="1087478"/>
            <a:ext cx="6280335" cy="2105327"/>
          </a:xfrm>
          <a:prstGeom prst="rect">
            <a:avLst/>
          </a:prstGeom>
          <a:noFill/>
          <a:ln>
            <a:noFill/>
          </a:ln>
        </p:spPr>
      </p:pic>
      <p:pic>
        <p:nvPicPr>
          <p:cNvPr id="559" name="Google Shape;559;p69"/>
          <p:cNvPicPr preferRelativeResize="0"/>
          <p:nvPr/>
        </p:nvPicPr>
        <p:blipFill>
          <a:blip r:embed="rId4">
            <a:alphaModFix/>
          </a:blip>
          <a:stretch>
            <a:fillRect/>
          </a:stretch>
        </p:blipFill>
        <p:spPr>
          <a:xfrm>
            <a:off x="6665669" y="1087468"/>
            <a:ext cx="5362535" cy="432126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pic>
        <p:nvPicPr>
          <p:cNvPr id="564" name="Google Shape;564;p70"/>
          <p:cNvPicPr preferRelativeResize="0"/>
          <p:nvPr/>
        </p:nvPicPr>
        <p:blipFill>
          <a:blip r:embed="rId3">
            <a:alphaModFix/>
          </a:blip>
          <a:stretch>
            <a:fillRect/>
          </a:stretch>
        </p:blipFill>
        <p:spPr>
          <a:xfrm>
            <a:off x="3221536" y="1883533"/>
            <a:ext cx="6862065" cy="4743867"/>
          </a:xfrm>
          <a:prstGeom prst="rect">
            <a:avLst/>
          </a:prstGeom>
          <a:noFill/>
          <a:ln>
            <a:noFill/>
          </a:ln>
        </p:spPr>
      </p:pic>
      <p:sp>
        <p:nvSpPr>
          <p:cNvPr id="565" name="Google Shape;565;p70"/>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Convexity</a:t>
            </a:r>
            <a:endParaRPr/>
          </a:p>
        </p:txBody>
      </p:sp>
      <p:sp>
        <p:nvSpPr>
          <p:cNvPr id="567" name="Google Shape;567;p7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29</a:t>
            </a:fld>
            <a:endParaRPr/>
          </a:p>
        </p:txBody>
      </p:sp>
      <p:sp>
        <p:nvSpPr>
          <p:cNvPr id="566" name="Google Shape;566;p70"/>
          <p:cNvSpPr txBox="1">
            <a:spLocks noGrp="1"/>
          </p:cNvSpPr>
          <p:nvPr>
            <p:ph type="body" idx="4294967295"/>
          </p:nvPr>
        </p:nvSpPr>
        <p:spPr>
          <a:xfrm>
            <a:off x="0" y="1109247"/>
            <a:ext cx="11360150" cy="6556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What if our initial guess had been elsewhere?</a:t>
            </a:r>
            <a:endParaRPr dirty="0"/>
          </a:p>
          <a:p>
            <a:pPr marL="0" indent="0">
              <a:buNone/>
            </a:pPr>
            <a:endParaRPr dirty="0"/>
          </a:p>
        </p:txBody>
      </p:sp>
      <p:sp>
        <p:nvSpPr>
          <p:cNvPr id="568" name="Google Shape;568;p70"/>
          <p:cNvSpPr txBox="1"/>
          <p:nvPr/>
        </p:nvSpPr>
        <p:spPr>
          <a:xfrm>
            <a:off x="1083100" y="2774268"/>
            <a:ext cx="2984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Starting guess near local minimum</a:t>
            </a:r>
            <a:endParaRPr sz="2133">
              <a:latin typeface="Roboto Light"/>
              <a:ea typeface="Roboto Light"/>
              <a:cs typeface="Roboto Light"/>
              <a:sym typeface="Roboto Light"/>
            </a:endParaRPr>
          </a:p>
        </p:txBody>
      </p:sp>
      <p:cxnSp>
        <p:nvCxnSpPr>
          <p:cNvPr id="569" name="Google Shape;569;p70"/>
          <p:cNvCxnSpPr/>
          <p:nvPr/>
        </p:nvCxnSpPr>
        <p:spPr>
          <a:xfrm>
            <a:off x="2117867" y="3569133"/>
            <a:ext cx="2699200" cy="929600"/>
          </a:xfrm>
          <a:prstGeom prst="curvedConnector3">
            <a:avLst>
              <a:gd name="adj1" fmla="val 8333"/>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pic>
        <p:nvPicPr>
          <p:cNvPr id="574" name="Google Shape;574;p71"/>
          <p:cNvPicPr preferRelativeResize="0"/>
          <p:nvPr/>
        </p:nvPicPr>
        <p:blipFill>
          <a:blip r:embed="rId3">
            <a:alphaModFix/>
          </a:blip>
          <a:stretch>
            <a:fillRect/>
          </a:stretch>
        </p:blipFill>
        <p:spPr>
          <a:xfrm>
            <a:off x="3289401" y="2217000"/>
            <a:ext cx="6293236" cy="4192232"/>
          </a:xfrm>
          <a:prstGeom prst="rect">
            <a:avLst/>
          </a:prstGeom>
          <a:noFill/>
          <a:ln>
            <a:noFill/>
          </a:ln>
        </p:spPr>
      </p:pic>
      <p:sp>
        <p:nvSpPr>
          <p:cNvPr id="576" name="Google Shape;576;p71"/>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What if our initial guess had been elsewhere?</a:t>
            </a:r>
            <a:endParaRPr dirty="0"/>
          </a:p>
          <a:p>
            <a:pPr marL="0" indent="0">
              <a:buNone/>
            </a:pPr>
            <a:r>
              <a:rPr lang="en" dirty="0"/>
              <a:t>The algorithm may have gotten “stuck” in a local minimum. </a:t>
            </a:r>
            <a:endParaRPr dirty="0"/>
          </a:p>
        </p:txBody>
      </p:sp>
      <p:sp>
        <p:nvSpPr>
          <p:cNvPr id="575" name="Google Shape;575;p71"/>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Convexity</a:t>
            </a:r>
            <a:endParaRPr/>
          </a:p>
        </p:txBody>
      </p:sp>
      <p:sp>
        <p:nvSpPr>
          <p:cNvPr id="577" name="Google Shape;577;p71"/>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30</a:t>
            </a:fld>
            <a:endParaRPr/>
          </a:p>
        </p:txBody>
      </p:sp>
      <p:sp>
        <p:nvSpPr>
          <p:cNvPr id="578" name="Google Shape;578;p71"/>
          <p:cNvSpPr txBox="1"/>
          <p:nvPr/>
        </p:nvSpPr>
        <p:spPr>
          <a:xfrm>
            <a:off x="1083100" y="2774268"/>
            <a:ext cx="2984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Starting guess near local minimum</a:t>
            </a:r>
            <a:endParaRPr sz="2133">
              <a:latin typeface="Roboto Light"/>
              <a:ea typeface="Roboto Light"/>
              <a:cs typeface="Roboto Light"/>
              <a:sym typeface="Roboto Light"/>
            </a:endParaRPr>
          </a:p>
        </p:txBody>
      </p:sp>
      <p:sp>
        <p:nvSpPr>
          <p:cNvPr id="579" name="Google Shape;579;p71"/>
          <p:cNvSpPr txBox="1"/>
          <p:nvPr/>
        </p:nvSpPr>
        <p:spPr>
          <a:xfrm>
            <a:off x="9207600" y="3860268"/>
            <a:ext cx="2984400" cy="1230874"/>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Final guess fails to find the true global minimum</a:t>
            </a:r>
            <a:endParaRPr sz="2133">
              <a:latin typeface="Roboto Light"/>
              <a:ea typeface="Roboto Light"/>
              <a:cs typeface="Roboto Light"/>
              <a:sym typeface="Roboto Light"/>
            </a:endParaRPr>
          </a:p>
        </p:txBody>
      </p:sp>
      <p:cxnSp>
        <p:nvCxnSpPr>
          <p:cNvPr id="580" name="Google Shape;580;p71"/>
          <p:cNvCxnSpPr/>
          <p:nvPr/>
        </p:nvCxnSpPr>
        <p:spPr>
          <a:xfrm>
            <a:off x="2117867" y="3569133"/>
            <a:ext cx="2699200" cy="929600"/>
          </a:xfrm>
          <a:prstGeom prst="curvedConnector3">
            <a:avLst>
              <a:gd name="adj1" fmla="val 8333"/>
            </a:avLst>
          </a:prstGeom>
          <a:noFill/>
          <a:ln w="28575" cap="flat" cmpd="sng">
            <a:solidFill>
              <a:schemeClr val="dk2"/>
            </a:solidFill>
            <a:prstDash val="solid"/>
            <a:round/>
            <a:headEnd type="none" w="med" len="med"/>
            <a:tailEnd type="triangle" w="med" len="med"/>
          </a:ln>
        </p:spPr>
      </p:cxnSp>
      <p:cxnSp>
        <p:nvCxnSpPr>
          <p:cNvPr id="581" name="Google Shape;581;p71"/>
          <p:cNvCxnSpPr>
            <a:stCxn id="579" idx="1"/>
          </p:cNvCxnSpPr>
          <p:nvPr/>
        </p:nvCxnSpPr>
        <p:spPr>
          <a:xfrm rot="10800000" flipV="1">
            <a:off x="5728400" y="4475705"/>
            <a:ext cx="3479200" cy="757760"/>
          </a:xfrm>
          <a:prstGeom prst="curvedConnector3">
            <a:avLst>
              <a:gd name="adj1" fmla="val 50000"/>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7" name="Google Shape;587;p72"/>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For a </a:t>
            </a:r>
            <a:r>
              <a:rPr lang="en" b="1" dirty="0">
                <a:latin typeface="Roboto"/>
                <a:ea typeface="Roboto"/>
                <a:cs typeface="Roboto"/>
                <a:sym typeface="Roboto"/>
              </a:rPr>
              <a:t>convex</a:t>
            </a:r>
            <a:r>
              <a:rPr lang="en" dirty="0"/>
              <a:t> function, any local minimum is a global minimum – we avoid the situation where the algorithm converges on some critical point that is not the minimum of the function. </a:t>
            </a:r>
            <a:endParaRPr dirty="0"/>
          </a:p>
          <a:p>
            <a:r>
              <a:rPr lang="en" dirty="0"/>
              <a:t>Our arbitrary function is non-convex</a:t>
            </a:r>
            <a:endParaRPr dirty="0"/>
          </a:p>
          <a:p>
            <a:pPr marL="0" indent="0">
              <a:buClr>
                <a:schemeClr val="dk1"/>
              </a:buClr>
              <a:buSzPts val="1100"/>
              <a:buNone/>
            </a:pPr>
            <a:endParaRPr lang="en" dirty="0"/>
          </a:p>
          <a:p>
            <a:pPr marL="0" indent="0">
              <a:buClr>
                <a:schemeClr val="dk1"/>
              </a:buClr>
              <a:buSzPts val="1100"/>
              <a:buNone/>
            </a:pPr>
            <a:r>
              <a:rPr lang="en" dirty="0"/>
              <a:t>Algorithm is only guaranteed to converge (given enough iterations and an appropriate step size) for convex functions.</a:t>
            </a:r>
            <a:endParaRPr dirty="0">
              <a:solidFill>
                <a:schemeClr val="dk2"/>
              </a:solidFill>
            </a:endParaRPr>
          </a:p>
        </p:txBody>
      </p:sp>
      <p:sp>
        <p:nvSpPr>
          <p:cNvPr id="586" name="Google Shape;586;p72"/>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Convexity</a:t>
            </a:r>
            <a:endParaRPr/>
          </a:p>
        </p:txBody>
      </p:sp>
      <p:sp>
        <p:nvSpPr>
          <p:cNvPr id="588" name="Google Shape;588;p72"/>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31</a:t>
            </a:fld>
            <a:endParaRPr/>
          </a:p>
        </p:txBody>
      </p:sp>
      <p:sp>
        <p:nvSpPr>
          <p:cNvPr id="591" name="Google Shape;591;p72"/>
          <p:cNvSpPr txBox="1"/>
          <p:nvPr/>
        </p:nvSpPr>
        <p:spPr>
          <a:xfrm>
            <a:off x="358275" y="4975564"/>
            <a:ext cx="7123200" cy="80017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dirty="0">
                <a:latin typeface="Roboto Light"/>
                <a:ea typeface="Roboto Light"/>
                <a:cs typeface="Roboto Light"/>
                <a:sym typeface="Roboto Light"/>
              </a:rPr>
              <a:t>if I draw a line between any two points on the curve, all values on the curve must be at or below the line.</a:t>
            </a:r>
            <a:endParaRPr dirty="0">
              <a:latin typeface="Roboto Light"/>
              <a:ea typeface="Roboto Light"/>
              <a:cs typeface="Roboto Light"/>
              <a:sym typeface="Roboto Light"/>
            </a:endParaRPr>
          </a:p>
        </p:txBody>
      </p:sp>
      <p:pic>
        <p:nvPicPr>
          <p:cNvPr id="592" name="Google Shape;592;p72"/>
          <p:cNvPicPr preferRelativeResize="0"/>
          <p:nvPr/>
        </p:nvPicPr>
        <p:blipFill>
          <a:blip r:embed="rId3">
            <a:alphaModFix/>
          </a:blip>
          <a:stretch>
            <a:fillRect/>
          </a:stretch>
        </p:blipFill>
        <p:spPr>
          <a:xfrm>
            <a:off x="7085579" y="4757573"/>
            <a:ext cx="5013869" cy="22196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5D24CD-8C51-2746-1735-0D609179F8E9}"/>
              </a:ext>
            </a:extLst>
          </p:cNvPr>
          <p:cNvSpPr>
            <a:spLocks noGrp="1"/>
          </p:cNvSpPr>
          <p:nvPr>
            <p:ph idx="1"/>
          </p:nvPr>
        </p:nvSpPr>
        <p:spPr>
          <a:xfrm>
            <a:off x="266700" y="990601"/>
            <a:ext cx="11658601" cy="5553073"/>
          </a:xfrm>
        </p:spPr>
        <p:txBody>
          <a:bodyPr/>
          <a:lstStyle/>
          <a:p>
            <a:pPr lvl="0"/>
            <a:r>
              <a:rPr lang="en-US" dirty="0"/>
              <a:t>Optimization: where are we?</a:t>
            </a:r>
          </a:p>
          <a:p>
            <a:pPr lvl="0"/>
            <a:r>
              <a:rPr lang="en-US" dirty="0"/>
              <a:t>Minimizing an arbitrary 1D function</a:t>
            </a:r>
          </a:p>
          <a:p>
            <a:pPr lvl="0"/>
            <a:r>
              <a:rPr lang="en-US" b="1" dirty="0"/>
              <a:t>Gradient descent on a 1D model</a:t>
            </a:r>
          </a:p>
          <a:p>
            <a:pPr lvl="0"/>
            <a:r>
              <a:rPr lang="en-US" dirty="0"/>
              <a:t>Gradient descent on high-dimensional models</a:t>
            </a:r>
          </a:p>
          <a:p>
            <a:pPr lvl="0"/>
            <a:r>
              <a:rPr lang="en-US" dirty="0"/>
              <a:t>Batch, mini-batch, and stochastic gradient descent</a:t>
            </a:r>
          </a:p>
          <a:p>
            <a:endParaRPr lang="en-US" dirty="0"/>
          </a:p>
        </p:txBody>
      </p:sp>
      <p:sp>
        <p:nvSpPr>
          <p:cNvPr id="3" name="Title 2">
            <a:extLst>
              <a:ext uri="{FF2B5EF4-FFF2-40B4-BE49-F238E27FC236}">
                <a16:creationId xmlns:a16="http://schemas.microsoft.com/office/drawing/2014/main" id="{3579A3D2-B889-D5DA-4301-E7FE3CF4C15A}"/>
              </a:ext>
            </a:extLst>
          </p:cNvPr>
          <p:cNvSpPr>
            <a:spLocks noGrp="1"/>
          </p:cNvSpPr>
          <p:nvPr>
            <p:ph type="title"/>
          </p:nvPr>
        </p:nvSpPr>
        <p:spPr>
          <a:xfrm>
            <a:off x="266699" y="20819"/>
            <a:ext cx="11658601" cy="969781"/>
          </a:xfrm>
        </p:spPr>
        <p:txBody>
          <a:bodyPr/>
          <a:lstStyle/>
          <a:p>
            <a:r>
              <a:rPr lang="en-US" dirty="0"/>
              <a:t>Agenda</a:t>
            </a:r>
          </a:p>
        </p:txBody>
      </p:sp>
      <p:sp>
        <p:nvSpPr>
          <p:cNvPr id="4" name="Slide Number Placeholder 3">
            <a:extLst>
              <a:ext uri="{FF2B5EF4-FFF2-40B4-BE49-F238E27FC236}">
                <a16:creationId xmlns:a16="http://schemas.microsoft.com/office/drawing/2014/main" id="{F1A699C0-22B6-D7D9-CE7D-DE9BB3A292F1}"/>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32</a:t>
            </a:fld>
            <a:endParaRPr lang="en-US"/>
          </a:p>
        </p:txBody>
      </p:sp>
    </p:spTree>
    <p:extLst>
      <p:ext uri="{BB962C8B-B14F-4D97-AF65-F5344CB8AC3E}">
        <p14:creationId xmlns:p14="http://schemas.microsoft.com/office/powerpoint/2010/main" val="4038852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6" name="Google Shape;606;p74"/>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In a modeling context, we aim to minimize a </a:t>
            </a:r>
            <a:r>
              <a:rPr lang="en" i="1"/>
              <a:t>loss function</a:t>
            </a:r>
            <a:r>
              <a:rPr lang="en"/>
              <a:t> by choosing the minimizing model </a:t>
            </a:r>
            <a:r>
              <a:rPr lang="en" i="1"/>
              <a:t>parameters.</a:t>
            </a:r>
            <a:endParaRPr i="1"/>
          </a:p>
          <a:p>
            <a:pPr marL="0" indent="0">
              <a:buNone/>
            </a:pPr>
            <a:endParaRPr/>
          </a:p>
          <a:p>
            <a:pPr marL="0" indent="0">
              <a:buNone/>
            </a:pPr>
            <a:endParaRPr/>
          </a:p>
        </p:txBody>
      </p:sp>
      <p:sp>
        <p:nvSpPr>
          <p:cNvPr id="605" name="Google Shape;605;p74"/>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From Arbitrary Functions to Loss Functions</a:t>
            </a:r>
            <a:endParaRPr/>
          </a:p>
        </p:txBody>
      </p:sp>
      <p:sp>
        <p:nvSpPr>
          <p:cNvPr id="607" name="Google Shape;607;p74"/>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33</a:t>
            </a:fld>
            <a:endParaRPr/>
          </a:p>
        </p:txBody>
      </p:sp>
      <p:sp>
        <p:nvSpPr>
          <p:cNvPr id="608" name="Google Shape;608;p74"/>
          <p:cNvSpPr txBox="1"/>
          <p:nvPr/>
        </p:nvSpPr>
        <p:spPr>
          <a:xfrm>
            <a:off x="266699" y="2325614"/>
            <a:ext cx="11082400" cy="4246635"/>
          </a:xfrm>
          <a:prstGeom prst="rect">
            <a:avLst/>
          </a:prstGeom>
          <a:solidFill>
            <a:schemeClr val="accent1"/>
          </a:solidFill>
          <a:ln>
            <a:noFill/>
          </a:ln>
        </p:spPr>
        <p:txBody>
          <a:bodyPr spcFirstLastPara="1" wrap="square" lIns="121900" tIns="121900" rIns="121900" bIns="121900" anchor="t" anchorCtr="0">
            <a:spAutoFit/>
          </a:bodyPr>
          <a:lstStyle/>
          <a:p>
            <a:pPr>
              <a:spcBef>
                <a:spcPts val="800"/>
              </a:spcBef>
              <a:spcAft>
                <a:spcPts val="0"/>
              </a:spcAft>
            </a:pPr>
            <a:r>
              <a:rPr lang="en" sz="2133" dirty="0">
                <a:solidFill>
                  <a:schemeClr val="dk1"/>
                </a:solidFill>
                <a:latin typeface="Roboto Light"/>
                <a:ea typeface="Roboto Light"/>
                <a:cs typeface="Roboto Light"/>
                <a:sym typeface="Roboto Light"/>
              </a:rPr>
              <a:t>Terminology clarification: </a:t>
            </a:r>
            <a:endParaRPr sz="2133" dirty="0">
              <a:solidFill>
                <a:schemeClr val="dk1"/>
              </a:solidFill>
              <a:latin typeface="Roboto Light"/>
              <a:ea typeface="Roboto Light"/>
              <a:cs typeface="Roboto Light"/>
              <a:sym typeface="Roboto Light"/>
            </a:endParaRPr>
          </a:p>
          <a:p>
            <a:pPr marL="609585" indent="-440256">
              <a:spcBef>
                <a:spcPts val="800"/>
              </a:spcBef>
              <a:spcAft>
                <a:spcPts val="0"/>
              </a:spcAft>
              <a:buClr>
                <a:schemeClr val="dk1"/>
              </a:buClr>
              <a:buSzPts val="1600"/>
              <a:buFont typeface="Roboto Light"/>
              <a:buChar char="●"/>
            </a:pPr>
            <a:r>
              <a:rPr lang="en" sz="2133" dirty="0">
                <a:solidFill>
                  <a:schemeClr val="dk1"/>
                </a:solidFill>
                <a:latin typeface="Roboto Light"/>
                <a:ea typeface="Roboto Light"/>
                <a:cs typeface="Roboto Light"/>
                <a:sym typeface="Roboto Light"/>
              </a:rPr>
              <a:t>In past lectures, we have used “loss” to refer to the error incurred on a </a:t>
            </a:r>
            <a:r>
              <a:rPr lang="en" sz="2133" i="1" dirty="0">
                <a:solidFill>
                  <a:schemeClr val="dk1"/>
                </a:solidFill>
                <a:latin typeface="Roboto Light"/>
                <a:ea typeface="Roboto Light"/>
                <a:cs typeface="Roboto Light"/>
                <a:sym typeface="Roboto Light"/>
              </a:rPr>
              <a:t>single</a:t>
            </a:r>
            <a:r>
              <a:rPr lang="en" sz="2133" dirty="0">
                <a:solidFill>
                  <a:schemeClr val="dk1"/>
                </a:solidFill>
                <a:latin typeface="Roboto Light"/>
                <a:ea typeface="Roboto Light"/>
                <a:cs typeface="Roboto Light"/>
                <a:sym typeface="Roboto Light"/>
              </a:rPr>
              <a:t> datapoint</a:t>
            </a:r>
            <a:endParaRPr sz="2133" dirty="0">
              <a:solidFill>
                <a:schemeClr val="dk1"/>
              </a:solidFill>
              <a:latin typeface="Roboto Light"/>
              <a:ea typeface="Roboto Light"/>
              <a:cs typeface="Roboto Light"/>
              <a:sym typeface="Roboto Light"/>
            </a:endParaRPr>
          </a:p>
          <a:p>
            <a:pPr marL="609585" indent="-440256">
              <a:spcBef>
                <a:spcPts val="0"/>
              </a:spcBef>
              <a:spcAft>
                <a:spcPts val="0"/>
              </a:spcAft>
              <a:buClr>
                <a:schemeClr val="dk1"/>
              </a:buClr>
              <a:buSzPts val="1600"/>
              <a:buFont typeface="Roboto Light"/>
              <a:buChar char="●"/>
            </a:pPr>
            <a:r>
              <a:rPr lang="en" sz="2133" dirty="0">
                <a:solidFill>
                  <a:schemeClr val="dk1"/>
                </a:solidFill>
                <a:latin typeface="Roboto Light"/>
                <a:ea typeface="Roboto Light"/>
                <a:cs typeface="Roboto Light"/>
                <a:sym typeface="Roboto Light"/>
              </a:rPr>
              <a:t>In applications, we usually care more about the average error across </a:t>
            </a:r>
            <a:r>
              <a:rPr lang="en" sz="2133" i="1" dirty="0">
                <a:solidFill>
                  <a:schemeClr val="dk1"/>
                </a:solidFill>
                <a:latin typeface="Roboto Light"/>
                <a:ea typeface="Roboto Light"/>
                <a:cs typeface="Roboto Light"/>
                <a:sym typeface="Roboto Light"/>
              </a:rPr>
              <a:t>all</a:t>
            </a:r>
            <a:r>
              <a:rPr lang="en" sz="2133" dirty="0">
                <a:solidFill>
                  <a:schemeClr val="dk1"/>
                </a:solidFill>
                <a:latin typeface="Roboto Light"/>
                <a:ea typeface="Roboto Light"/>
                <a:cs typeface="Roboto Light"/>
                <a:sym typeface="Roboto Light"/>
              </a:rPr>
              <a:t> datapoints</a:t>
            </a:r>
            <a:endParaRPr sz="2133" dirty="0">
              <a:solidFill>
                <a:schemeClr val="dk1"/>
              </a:solidFill>
              <a:latin typeface="Roboto Light"/>
              <a:ea typeface="Roboto Light"/>
              <a:cs typeface="Roboto Light"/>
              <a:sym typeface="Roboto Light"/>
            </a:endParaRPr>
          </a:p>
          <a:p>
            <a:pPr>
              <a:spcBef>
                <a:spcPts val="800"/>
              </a:spcBef>
              <a:spcAft>
                <a:spcPts val="0"/>
              </a:spcAft>
            </a:pPr>
            <a:endParaRPr sz="2133" dirty="0">
              <a:solidFill>
                <a:schemeClr val="dk1"/>
              </a:solidFill>
              <a:latin typeface="Roboto Light"/>
              <a:ea typeface="Roboto Light"/>
              <a:cs typeface="Roboto Light"/>
              <a:sym typeface="Roboto Light"/>
            </a:endParaRPr>
          </a:p>
          <a:p>
            <a:pPr>
              <a:spcBef>
                <a:spcPts val="800"/>
              </a:spcBef>
              <a:spcAft>
                <a:spcPts val="0"/>
              </a:spcAft>
            </a:pPr>
            <a:r>
              <a:rPr lang="en" sz="2133" dirty="0">
                <a:solidFill>
                  <a:schemeClr val="dk1"/>
                </a:solidFill>
                <a:latin typeface="Roboto Light"/>
                <a:ea typeface="Roboto Light"/>
                <a:cs typeface="Roboto Light"/>
                <a:sym typeface="Roboto Light"/>
              </a:rPr>
              <a:t>Going forward, we will take the “model’s loss” to mean the model’s average error across the dataset. This is sometimes also known as the empirical risk, cost function, or objective function.</a:t>
            </a:r>
            <a:endParaRPr sz="2133" dirty="0">
              <a:solidFill>
                <a:schemeClr val="dk1"/>
              </a:solidFill>
              <a:latin typeface="Roboto Light"/>
              <a:ea typeface="Roboto Light"/>
              <a:cs typeface="Roboto Light"/>
              <a:sym typeface="Roboto Light"/>
            </a:endParaRPr>
          </a:p>
          <a:p>
            <a:pPr>
              <a:spcBef>
                <a:spcPts val="800"/>
              </a:spcBef>
              <a:spcAft>
                <a:spcPts val="0"/>
              </a:spcAft>
            </a:pPr>
            <a:endParaRPr sz="2133" dirty="0">
              <a:solidFill>
                <a:schemeClr val="dk1"/>
              </a:solidFill>
              <a:latin typeface="Roboto Light"/>
              <a:ea typeface="Roboto Light"/>
              <a:cs typeface="Roboto Light"/>
              <a:sym typeface="Roboto Light"/>
            </a:endParaRPr>
          </a:p>
          <a:p>
            <a:pPr>
              <a:spcBef>
                <a:spcPts val="800"/>
              </a:spcBef>
              <a:spcAft>
                <a:spcPts val="0"/>
              </a:spcAft>
            </a:pPr>
            <a:endParaRPr sz="2133" dirty="0">
              <a:solidFill>
                <a:schemeClr val="dk1"/>
              </a:solidFill>
              <a:latin typeface="Roboto Light"/>
              <a:ea typeface="Roboto Light"/>
              <a:cs typeface="Roboto Light"/>
              <a:sym typeface="Roboto Light"/>
            </a:endParaRPr>
          </a:p>
          <a:p>
            <a:pPr>
              <a:spcBef>
                <a:spcPts val="800"/>
              </a:spcBef>
              <a:spcAft>
                <a:spcPts val="0"/>
              </a:spcAft>
            </a:pPr>
            <a:endParaRPr sz="2133" dirty="0">
              <a:solidFill>
                <a:schemeClr val="dk1"/>
              </a:solidFill>
              <a:latin typeface="Roboto Light"/>
              <a:ea typeface="Roboto Light"/>
              <a:cs typeface="Roboto Light"/>
              <a:sym typeface="Roboto Light"/>
            </a:endParaRPr>
          </a:p>
        </p:txBody>
      </p:sp>
      <p:pic>
        <p:nvPicPr>
          <p:cNvPr id="609" name="Google Shape;609;p74" descr="{&quot;id&quot;:&quot;24&quot;,&quot;code&quot;:&quot;$L\\left(\\theta\\right)=R\\left(\\theta\\right)=\\frac{1}{n}\\sum_{i=1}^{n}l\\left(y,\\,\\hat{y}\\right)$&quot;,&quot;type&quot;:&quot;$&quot;,&quot;font&quot;:{&quot;family&quot;:&quot;Roboto&quot;,&quot;size&quot;:27.5,&quot;color&quot;:&quot;#000000&quot;},&quot;backgroundColor&quot;:&quot;#FFFFFF&quot;,&quot;aid&quot;:null,&quot;ts&quot;:1689113827495,&quot;cs&quot;:&quot;HtBseBWPP1QEZgjFXUqT5Q==&quot;,&quot;size&quot;:{&quot;width&quot;:477.34654698162734,&quot;height&quot;:46.16798005249341}}"/>
          <p:cNvPicPr preferRelativeResize="0"/>
          <p:nvPr/>
        </p:nvPicPr>
        <p:blipFill>
          <a:blip r:embed="rId3">
            <a:alphaModFix/>
          </a:blip>
          <a:stretch>
            <a:fillRect/>
          </a:stretch>
        </p:blipFill>
        <p:spPr>
          <a:xfrm>
            <a:off x="3064848" y="5574232"/>
            <a:ext cx="6062301" cy="5863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5" name="Google Shape;615;p75"/>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In a modeling context, we aim to minimize a </a:t>
            </a:r>
            <a:r>
              <a:rPr lang="en" i="1"/>
              <a:t>loss function</a:t>
            </a:r>
            <a:r>
              <a:rPr lang="en"/>
              <a:t> by choosing the minimizing model </a:t>
            </a:r>
            <a:r>
              <a:rPr lang="en" i="1"/>
              <a:t>parameters.</a:t>
            </a:r>
            <a:endParaRPr i="1"/>
          </a:p>
          <a:p>
            <a:pPr marL="0" indent="0">
              <a:buNone/>
            </a:pPr>
            <a:endParaRPr/>
          </a:p>
          <a:p>
            <a:pPr marL="0" indent="0">
              <a:buNone/>
            </a:pPr>
            <a:r>
              <a:rPr lang="en"/>
              <a:t>Goal: choose the value of      that minimizes          , the model’s loss on the dataset</a:t>
            </a:r>
            <a:endParaRPr/>
          </a:p>
        </p:txBody>
      </p:sp>
      <p:sp>
        <p:nvSpPr>
          <p:cNvPr id="614" name="Google Shape;614;p75"/>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solidFill>
                  <a:schemeClr val="accent3"/>
                </a:solidFill>
              </a:rPr>
              <a:t>From Arbitrary Functions to Loss Functions</a:t>
            </a:r>
            <a:endParaRPr/>
          </a:p>
        </p:txBody>
      </p:sp>
      <p:sp>
        <p:nvSpPr>
          <p:cNvPr id="616" name="Google Shape;616;p75"/>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34</a:t>
            </a:fld>
            <a:endParaRPr/>
          </a:p>
        </p:txBody>
      </p:sp>
      <p:pic>
        <p:nvPicPr>
          <p:cNvPr id="617" name="Google Shape;617;p75" descr="{&quot;backgroundColor&quot;:&quot;#FFFFFF&quot;,&quot;type&quot;:&quot;$$&quot;,&quot;aid&quot;:null,&quot;font&quot;:{&quot;family&quot;:&quot;Roboto&quot;,&quot;size&quot;:16,&quot;color&quot;:&quot;#000000&quot;},&quot;id&quot;:&quot;6&quot;,&quot;backgroundColorModified&quot;:false,&quot;code&quot;:&quot;$$\\theta$$&quot;,&quot;ts&quot;:1688690631927,&quot;cs&quot;:&quot;3JvBEalJuqXwNmqaThx+bg==&quot;,&quot;size&quot;:{&quot;width&quot;:9.333333333333334,&quot;height&quot;:15.5}}"/>
          <p:cNvPicPr preferRelativeResize="0"/>
          <p:nvPr/>
        </p:nvPicPr>
        <p:blipFill>
          <a:blip r:embed="rId3">
            <a:alphaModFix/>
          </a:blip>
          <a:stretch>
            <a:fillRect/>
          </a:stretch>
        </p:blipFill>
        <p:spPr>
          <a:xfrm>
            <a:off x="4239447" y="2801871"/>
            <a:ext cx="118533" cy="196851"/>
          </a:xfrm>
          <a:prstGeom prst="rect">
            <a:avLst/>
          </a:prstGeom>
          <a:noFill/>
          <a:ln>
            <a:noFill/>
          </a:ln>
        </p:spPr>
      </p:pic>
      <p:pic>
        <p:nvPicPr>
          <p:cNvPr id="618" name="Google Shape;618;p75" descr="{&quot;backgroundColor&quot;:&quot;#FFFFFF&quot;,&quot;code&quot;:&quot;$$L\\left(\\theta\\right)$$&quot;,&quot;backgroundColorModified&quot;:false,&quot;id&quot;:&quot;7&quot;,&quot;type&quot;:&quot;$$&quot;,&quot;font&quot;:{&quot;family&quot;:&quot;Roboto&quot;,&quot;size&quot;:16,&quot;color&quot;:&quot;#000000&quot;},&quot;aid&quot;:null,&quot;ts&quot;:1688690717675,&quot;cs&quot;:&quot;ETE9sh0KrQ8uaU8hwdKwTw==&quot;,&quot;size&quot;:{&quot;width&quot;:39,&quot;height&quot;:21.666666666666668}}"/>
          <p:cNvPicPr preferRelativeResize="0"/>
          <p:nvPr/>
        </p:nvPicPr>
        <p:blipFill>
          <a:blip r:embed="rId4">
            <a:alphaModFix/>
          </a:blip>
          <a:stretch>
            <a:fillRect/>
          </a:stretch>
        </p:blipFill>
        <p:spPr>
          <a:xfrm>
            <a:off x="6789767" y="2796654"/>
            <a:ext cx="495300" cy="275167"/>
          </a:xfrm>
          <a:prstGeom prst="rect">
            <a:avLst/>
          </a:prstGeom>
          <a:noFill/>
          <a:ln>
            <a:noFill/>
          </a:ln>
        </p:spPr>
      </p:pic>
      <p:sp>
        <p:nvSpPr>
          <p:cNvPr id="619" name="Google Shape;619;p75"/>
          <p:cNvSpPr txBox="1"/>
          <p:nvPr/>
        </p:nvSpPr>
        <p:spPr>
          <a:xfrm>
            <a:off x="3856952" y="3302842"/>
            <a:ext cx="88928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Our new framework:</a:t>
            </a:r>
            <a:endParaRPr sz="2133" dirty="0">
              <a:latin typeface="Roboto Light"/>
              <a:ea typeface="Roboto Light"/>
              <a:cs typeface="Roboto Light"/>
              <a:sym typeface="Roboto Light"/>
            </a:endParaRPr>
          </a:p>
        </p:txBody>
      </p:sp>
      <p:pic>
        <p:nvPicPr>
          <p:cNvPr id="620" name="Google Shape;620;p75"/>
          <p:cNvPicPr preferRelativeResize="0"/>
          <p:nvPr/>
        </p:nvPicPr>
        <p:blipFill>
          <a:blip r:embed="rId5">
            <a:alphaModFix/>
          </a:blip>
          <a:stretch>
            <a:fillRect/>
          </a:stretch>
        </p:blipFill>
        <p:spPr>
          <a:xfrm>
            <a:off x="2205200" y="3882194"/>
            <a:ext cx="7818501" cy="2290999"/>
          </a:xfrm>
          <a:prstGeom prst="rect">
            <a:avLst/>
          </a:prstGeom>
          <a:noFill/>
          <a:ln>
            <a:noFill/>
          </a:ln>
        </p:spPr>
      </p:pic>
      <p:pic>
        <p:nvPicPr>
          <p:cNvPr id="621" name="Google Shape;621;p75" descr="{&quot;backgroundColor&quot;:&quot;#FFFFFF&quot;,&quot;type&quot;:&quot;$$&quot;,&quot;aid&quot;:null,&quot;font&quot;:{&quot;family&quot;:&quot;Roboto&quot;,&quot;size&quot;:16,&quot;color&quot;:&quot;#000000&quot;},&quot;id&quot;:&quot;6&quot;,&quot;backgroundColorModified&quot;:false,&quot;code&quot;:&quot;$$\\theta$$&quot;,&quot;ts&quot;:1688690631927,&quot;cs&quot;:&quot;3JvBEalJuqXwNmqaThx+bg==&quot;,&quot;size&quot;:{&quot;width&quot;:9.333333333333334,&quot;height&quot;:15.5}}"/>
          <p:cNvPicPr preferRelativeResize="0"/>
          <p:nvPr/>
        </p:nvPicPr>
        <p:blipFill>
          <a:blip r:embed="rId3">
            <a:alphaModFix/>
          </a:blip>
          <a:stretch>
            <a:fillRect/>
          </a:stretch>
        </p:blipFill>
        <p:spPr>
          <a:xfrm>
            <a:off x="6114451" y="6183511"/>
            <a:ext cx="118533" cy="196851"/>
          </a:xfrm>
          <a:prstGeom prst="rect">
            <a:avLst/>
          </a:prstGeom>
          <a:noFill/>
          <a:ln>
            <a:noFill/>
          </a:ln>
        </p:spPr>
      </p:pic>
      <p:pic>
        <p:nvPicPr>
          <p:cNvPr id="622" name="Google Shape;622;p75" descr="{&quot;backgroundColor&quot;:&quot;#FFFFFF&quot;,&quot;code&quot;:&quot;$$L\\left(\\theta\\right)$$&quot;,&quot;backgroundColorModified&quot;:false,&quot;id&quot;:&quot;7&quot;,&quot;type&quot;:&quot;$$&quot;,&quot;font&quot;:{&quot;family&quot;:&quot;Roboto&quot;,&quot;size&quot;:16,&quot;color&quot;:&quot;#000000&quot;},&quot;aid&quot;:null,&quot;ts&quot;:1688690717675,&quot;cs&quot;:&quot;ETE9sh0KrQ8uaU8hwdKwTw==&quot;,&quot;size&quot;:{&quot;width&quot;:39,&quot;height&quot;:21.666666666666668}}"/>
          <p:cNvPicPr preferRelativeResize="0"/>
          <p:nvPr/>
        </p:nvPicPr>
        <p:blipFill>
          <a:blip r:embed="rId4">
            <a:alphaModFix/>
          </a:blip>
          <a:stretch>
            <a:fillRect/>
          </a:stretch>
        </p:blipFill>
        <p:spPr>
          <a:xfrm>
            <a:off x="1769151" y="3563067"/>
            <a:ext cx="495300" cy="275167"/>
          </a:xfrm>
          <a:prstGeom prst="rect">
            <a:avLst/>
          </a:prstGeom>
          <a:noFill/>
          <a:ln>
            <a:noFill/>
          </a:ln>
        </p:spPr>
      </p:pic>
      <p:sp>
        <p:nvSpPr>
          <p:cNvPr id="623" name="Google Shape;623;p75"/>
          <p:cNvSpPr txBox="1"/>
          <p:nvPr/>
        </p:nvSpPr>
        <p:spPr>
          <a:xfrm>
            <a:off x="4361583" y="6467823"/>
            <a:ext cx="42740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dirty="0">
                <a:latin typeface="Roboto Light"/>
                <a:ea typeface="Roboto Light"/>
                <a:cs typeface="Roboto Light"/>
                <a:sym typeface="Roboto Light"/>
              </a:rPr>
              <a:t>Test several values of the parameter </a:t>
            </a:r>
            <a:endParaRPr dirty="0">
              <a:latin typeface="Roboto Light"/>
              <a:ea typeface="Roboto Light"/>
              <a:cs typeface="Roboto Light"/>
              <a:sym typeface="Roboto Light"/>
            </a:endParaRPr>
          </a:p>
        </p:txBody>
      </p:sp>
      <p:pic>
        <p:nvPicPr>
          <p:cNvPr id="624" name="Google Shape;624;p75" descr="{&quot;backgroundColor&quot;:&quot;#FFFFFF&quot;,&quot;type&quot;:&quot;$$&quot;,&quot;aid&quot;:null,&quot;font&quot;:{&quot;family&quot;:&quot;Roboto&quot;,&quot;size&quot;:16,&quot;color&quot;:&quot;#000000&quot;},&quot;id&quot;:&quot;6&quot;,&quot;backgroundColorModified&quot;:false,&quot;code&quot;:&quot;$$\\theta$$&quot;,&quot;ts&quot;:1688690631927,&quot;cs&quot;:&quot;3JvBEalJuqXwNmqaThx+bg==&quot;,&quot;size&quot;:{&quot;width&quot;:9.333333333333334,&quot;height&quot;:15.5}}"/>
          <p:cNvPicPr preferRelativeResize="0"/>
          <p:nvPr/>
        </p:nvPicPr>
        <p:blipFill>
          <a:blip r:embed="rId3">
            <a:alphaModFix/>
          </a:blip>
          <a:stretch>
            <a:fillRect/>
          </a:stretch>
        </p:blipFill>
        <p:spPr>
          <a:xfrm>
            <a:off x="8184819" y="6625842"/>
            <a:ext cx="118533" cy="196851"/>
          </a:xfrm>
          <a:prstGeom prst="rect">
            <a:avLst/>
          </a:prstGeom>
          <a:noFill/>
          <a:ln>
            <a:noFill/>
          </a:ln>
        </p:spPr>
      </p:pic>
      <p:sp>
        <p:nvSpPr>
          <p:cNvPr id="625" name="Google Shape;625;p75"/>
          <p:cNvSpPr txBox="1"/>
          <p:nvPr/>
        </p:nvSpPr>
        <p:spPr>
          <a:xfrm>
            <a:off x="9939701" y="4356808"/>
            <a:ext cx="2069600" cy="1354176"/>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dirty="0">
                <a:latin typeface="Roboto Light"/>
                <a:ea typeface="Roboto Light"/>
                <a:cs typeface="Roboto Light"/>
                <a:sym typeface="Roboto Light"/>
              </a:rPr>
              <a:t>Compute the model’s loss for this choice of parameter</a:t>
            </a:r>
            <a:endParaRPr dirty="0">
              <a:latin typeface="Roboto Light"/>
              <a:ea typeface="Roboto Light"/>
              <a:cs typeface="Roboto Light"/>
              <a:sym typeface="Roboto Light"/>
            </a:endParaRPr>
          </a:p>
        </p:txBody>
      </p:sp>
      <p:sp>
        <p:nvSpPr>
          <p:cNvPr id="626" name="Google Shape;626;p75"/>
          <p:cNvSpPr/>
          <p:nvPr/>
        </p:nvSpPr>
        <p:spPr>
          <a:xfrm>
            <a:off x="6625367" y="5785199"/>
            <a:ext cx="164400" cy="164400"/>
          </a:xfrm>
          <a:prstGeom prst="ellipse">
            <a:avLst/>
          </a:prstGeom>
          <a:solidFill>
            <a:schemeClr val="accent4"/>
          </a:solidFill>
          <a:ln>
            <a:noFill/>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2" name="Google Shape;632;p76"/>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Goal: choose the value of      that minimizes        , the model’s loss on the dataset</a:t>
            </a:r>
            <a:endParaRPr dirty="0"/>
          </a:p>
        </p:txBody>
      </p:sp>
      <p:sp>
        <p:nvSpPr>
          <p:cNvPr id="631" name="Google Shape;631;p76"/>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solidFill>
                  <a:schemeClr val="accent3"/>
                </a:solidFill>
              </a:rPr>
              <a:t>From Arbitrary Functions to Loss Functions</a:t>
            </a:r>
            <a:endParaRPr/>
          </a:p>
        </p:txBody>
      </p:sp>
      <p:sp>
        <p:nvSpPr>
          <p:cNvPr id="633" name="Google Shape;633;p76"/>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35</a:t>
            </a:fld>
            <a:endParaRPr/>
          </a:p>
        </p:txBody>
      </p:sp>
      <p:pic>
        <p:nvPicPr>
          <p:cNvPr id="634" name="Google Shape;634;p76" descr="{&quot;backgroundColor&quot;:&quot;#FFFFFF&quot;,&quot;type&quot;:&quot;$$&quot;,&quot;aid&quot;:null,&quot;font&quot;:{&quot;family&quot;:&quot;Roboto&quot;,&quot;size&quot;:16,&quot;color&quot;:&quot;#000000&quot;},&quot;id&quot;:&quot;6&quot;,&quot;backgroundColorModified&quot;:false,&quot;code&quot;:&quot;$$\\theta$$&quot;,&quot;ts&quot;:1688690631927,&quot;cs&quot;:&quot;3JvBEalJuqXwNmqaThx+bg==&quot;,&quot;size&quot;:{&quot;width&quot;:9.333333333333334,&quot;height&quot;:15.5}}"/>
          <p:cNvPicPr preferRelativeResize="0"/>
          <p:nvPr/>
        </p:nvPicPr>
        <p:blipFill>
          <a:blip r:embed="rId3">
            <a:alphaModFix/>
          </a:blip>
          <a:stretch>
            <a:fillRect/>
          </a:stretch>
        </p:blipFill>
        <p:spPr>
          <a:xfrm>
            <a:off x="4263222" y="1336058"/>
            <a:ext cx="118533" cy="196851"/>
          </a:xfrm>
          <a:prstGeom prst="rect">
            <a:avLst/>
          </a:prstGeom>
          <a:noFill/>
          <a:ln>
            <a:noFill/>
          </a:ln>
        </p:spPr>
      </p:pic>
      <p:pic>
        <p:nvPicPr>
          <p:cNvPr id="635" name="Google Shape;635;p76" descr="{&quot;backgroundColor&quot;:&quot;#FFFFFF&quot;,&quot;code&quot;:&quot;$$L\\left(\\theta\\right)$$&quot;,&quot;backgroundColorModified&quot;:false,&quot;id&quot;:&quot;7&quot;,&quot;type&quot;:&quot;$$&quot;,&quot;font&quot;:{&quot;family&quot;:&quot;Roboto&quot;,&quot;size&quot;:16,&quot;color&quot;:&quot;#000000&quot;},&quot;aid&quot;:null,&quot;ts&quot;:1688690717675,&quot;cs&quot;:&quot;ETE9sh0KrQ8uaU8hwdKwTw==&quot;,&quot;size&quot;:{&quot;width&quot;:39,&quot;height&quot;:21.666666666666668}}"/>
          <p:cNvPicPr preferRelativeResize="0"/>
          <p:nvPr/>
        </p:nvPicPr>
        <p:blipFill>
          <a:blip r:embed="rId4">
            <a:alphaModFix/>
          </a:blip>
          <a:stretch>
            <a:fillRect/>
          </a:stretch>
        </p:blipFill>
        <p:spPr>
          <a:xfrm>
            <a:off x="6779891" y="1336058"/>
            <a:ext cx="495300" cy="275167"/>
          </a:xfrm>
          <a:prstGeom prst="rect">
            <a:avLst/>
          </a:prstGeom>
          <a:noFill/>
          <a:ln>
            <a:noFill/>
          </a:ln>
        </p:spPr>
      </p:pic>
      <p:sp>
        <p:nvSpPr>
          <p:cNvPr id="636" name="Google Shape;636;p76"/>
          <p:cNvSpPr txBox="1"/>
          <p:nvPr/>
        </p:nvSpPr>
        <p:spPr>
          <a:xfrm>
            <a:off x="384952" y="2138888"/>
            <a:ext cx="76172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The </a:t>
            </a:r>
            <a:r>
              <a:rPr lang="en" sz="2133" b="1" dirty="0">
                <a:latin typeface="Roboto"/>
                <a:ea typeface="Roboto"/>
                <a:cs typeface="Roboto"/>
                <a:sym typeface="Roboto"/>
              </a:rPr>
              <a:t>1D gradient descent</a:t>
            </a:r>
            <a:r>
              <a:rPr lang="en" sz="2133" dirty="0">
                <a:latin typeface="Roboto Light"/>
                <a:ea typeface="Roboto Light"/>
                <a:cs typeface="Roboto Light"/>
                <a:sym typeface="Roboto Light"/>
              </a:rPr>
              <a:t> algorithm:</a:t>
            </a:r>
            <a:endParaRPr sz="2133" dirty="0">
              <a:latin typeface="Roboto Light"/>
              <a:ea typeface="Roboto Light"/>
              <a:cs typeface="Roboto Light"/>
              <a:sym typeface="Roboto Light"/>
            </a:endParaRPr>
          </a:p>
        </p:txBody>
      </p:sp>
      <p:pic>
        <p:nvPicPr>
          <p:cNvPr id="637" name="Google Shape;637;p76" descr="{&quot;backgroundColorModified&quot;:false,&quot;aid&quot;:null,&quot;id&quot;:&quot;4&quot;,&quot;code&quot;:&quot;$\\theta^{\\left(t+1\\right)}=\\theta^{\\left(t\\right)}-\\alpha\\frac{d}{d\\theta}L\\left(\\theta^{\\left(t\\right)}\\right)$&quot;,&quot;backgroundColor&quot;:&quot;#FFFFFF&quot;,&quot;type&quot;:&quot;$&quot;,&quot;font&quot;:{&quot;color&quot;:&quot;#000000&quot;,&quot;family&quot;:&quot;Arial&quot;,&quot;size&quot;:38},&quot;ts&quot;:1688693177254,&quot;cs&quot;:&quot;x3/sdth9dJk3Lf/jJe36Lw==&quot;,&quot;size&quot;:{&quot;width&quot;:631.5,&quot;height&quot;:74}}"/>
          <p:cNvPicPr preferRelativeResize="0"/>
          <p:nvPr/>
        </p:nvPicPr>
        <p:blipFill>
          <a:blip r:embed="rId5">
            <a:alphaModFix/>
          </a:blip>
          <a:stretch>
            <a:fillRect/>
          </a:stretch>
        </p:blipFill>
        <p:spPr>
          <a:xfrm>
            <a:off x="2287411" y="2787249"/>
            <a:ext cx="8020051" cy="939800"/>
          </a:xfrm>
          <a:prstGeom prst="rect">
            <a:avLst/>
          </a:prstGeom>
          <a:noFill/>
          <a:ln>
            <a:noFill/>
          </a:ln>
        </p:spPr>
      </p:pic>
      <p:sp>
        <p:nvSpPr>
          <p:cNvPr id="638" name="Google Shape;638;p76"/>
          <p:cNvSpPr txBox="1"/>
          <p:nvPr/>
        </p:nvSpPr>
        <p:spPr>
          <a:xfrm>
            <a:off x="100867" y="4170933"/>
            <a:ext cx="10511200" cy="1802800"/>
          </a:xfrm>
          <a:prstGeom prst="rect">
            <a:avLst/>
          </a:prstGeom>
          <a:noFill/>
          <a:ln>
            <a:noFill/>
          </a:ln>
        </p:spPr>
        <p:txBody>
          <a:bodyPr spcFirstLastPara="1" wrap="square" lIns="121900" tIns="121900" rIns="121900" bIns="121900" anchor="t" anchorCtr="0">
            <a:noAutofit/>
          </a:bodyPr>
          <a:lstStyle/>
          <a:p>
            <a:pPr>
              <a:spcBef>
                <a:spcPts val="0"/>
              </a:spcBef>
              <a:spcAft>
                <a:spcPts val="0"/>
              </a:spcAft>
            </a:pPr>
            <a:r>
              <a:rPr lang="en" sz="2133">
                <a:latin typeface="Roboto Light"/>
                <a:ea typeface="Roboto Light"/>
                <a:cs typeface="Roboto Light"/>
                <a:sym typeface="Roboto Light"/>
              </a:rPr>
              <a:t>Take our algorithm from before, replace x with     and f with L.</a:t>
            </a:r>
            <a:endParaRPr sz="2133">
              <a:latin typeface="Roboto Light"/>
              <a:ea typeface="Roboto Light"/>
              <a:cs typeface="Roboto Light"/>
              <a:sym typeface="Roboto Light"/>
            </a:endParaRPr>
          </a:p>
        </p:txBody>
      </p:sp>
      <p:pic>
        <p:nvPicPr>
          <p:cNvPr id="639" name="Google Shape;639;p76" descr="{&quot;backgroundColor&quot;:&quot;#FFFFFF&quot;,&quot;type&quot;:&quot;$$&quot;,&quot;aid&quot;:null,&quot;font&quot;:{&quot;family&quot;:&quot;Roboto&quot;,&quot;size&quot;:16,&quot;color&quot;:&quot;#000000&quot;},&quot;id&quot;:&quot;6&quot;,&quot;backgroundColorModified&quot;:false,&quot;code&quot;:&quot;$$\\theta$$&quot;,&quot;ts&quot;:1688690631927,&quot;cs&quot;:&quot;3JvBEalJuqXwNmqaThx+bg==&quot;,&quot;size&quot;:{&quot;width&quot;:9.333333333333334,&quot;height&quot;:15.5}}"/>
          <p:cNvPicPr preferRelativeResize="0"/>
          <p:nvPr/>
        </p:nvPicPr>
        <p:blipFill>
          <a:blip r:embed="rId3">
            <a:alphaModFix/>
          </a:blip>
          <a:stretch>
            <a:fillRect/>
          </a:stretch>
        </p:blipFill>
        <p:spPr>
          <a:xfrm>
            <a:off x="5763867" y="4383133"/>
            <a:ext cx="118533" cy="19685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5" name="Google Shape;645;p77"/>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We want to predict the tip (y) given the price of a meal (x). To do this:</a:t>
            </a:r>
            <a:endParaRPr dirty="0"/>
          </a:p>
          <a:p>
            <a:endParaRPr lang="en" dirty="0"/>
          </a:p>
          <a:p>
            <a:r>
              <a:rPr lang="en" dirty="0"/>
              <a:t>Choose a model:</a:t>
            </a:r>
            <a:endParaRPr dirty="0"/>
          </a:p>
          <a:p>
            <a:pPr indent="0">
              <a:buNone/>
            </a:pPr>
            <a:endParaRPr sz="800" dirty="0"/>
          </a:p>
          <a:p>
            <a:endParaRPr lang="en" dirty="0"/>
          </a:p>
          <a:p>
            <a:endParaRPr lang="en" dirty="0"/>
          </a:p>
          <a:p>
            <a:r>
              <a:rPr lang="en" dirty="0"/>
              <a:t>Choose a loss function:</a:t>
            </a:r>
            <a:endParaRPr dirty="0"/>
          </a:p>
        </p:txBody>
      </p:sp>
      <p:sp>
        <p:nvSpPr>
          <p:cNvPr id="644" name="Google Shape;644;p77"/>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dirty="0">
                <a:solidFill>
                  <a:schemeClr val="accent3"/>
                </a:solidFill>
              </a:rPr>
              <a:t>Gradient Descent on the </a:t>
            </a:r>
            <a:r>
              <a:rPr lang="en" dirty="0">
                <a:solidFill>
                  <a:schemeClr val="accent3"/>
                </a:solidFill>
                <a:latin typeface="Consolas"/>
                <a:ea typeface="Consolas"/>
                <a:cs typeface="Consolas"/>
                <a:sym typeface="Consolas"/>
              </a:rPr>
              <a:t>tips</a:t>
            </a:r>
            <a:r>
              <a:rPr lang="en" dirty="0">
                <a:solidFill>
                  <a:schemeClr val="accent3"/>
                </a:solidFill>
              </a:rPr>
              <a:t> Dataset</a:t>
            </a:r>
            <a:r>
              <a:rPr lang="en" dirty="0"/>
              <a:t> </a:t>
            </a:r>
            <a:endParaRPr dirty="0"/>
          </a:p>
        </p:txBody>
      </p:sp>
      <p:sp>
        <p:nvSpPr>
          <p:cNvPr id="646" name="Google Shape;646;p77"/>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36</a:t>
            </a:fld>
            <a:endParaRPr/>
          </a:p>
        </p:txBody>
      </p:sp>
      <p:pic>
        <p:nvPicPr>
          <p:cNvPr id="647" name="Google Shape;647;p77" descr="{&quot;code&quot;:&quot;$$\\hat{y}=\\theta_{1}x$$&quot;,&quot;backgroundColorModified&quot;:false,&quot;backgroundColor&quot;:&quot;#FFFFFF&quot;,&quot;aid&quot;:null,&quot;type&quot;:&quot;$$&quot;,&quot;id&quot;:&quot;8&quot;,&quot;font&quot;:{&quot;family&quot;:&quot;Arial&quot;,&quot;size&quot;:16.5,&quot;color&quot;:&quot;#000000&quot;},&quot;ts&quot;:1688692034236,&quot;cs&quot;:&quot;yigvmDNUmAuukqbPCgOU9g==&quot;,&quot;size&quot;:{&quot;width&quot;:86.79000944881886,&quot;height&quot;:24.356958792650918}}"/>
          <p:cNvPicPr preferRelativeResize="0"/>
          <p:nvPr/>
        </p:nvPicPr>
        <p:blipFill>
          <a:blip r:embed="rId3">
            <a:alphaModFix/>
          </a:blip>
          <a:stretch>
            <a:fillRect/>
          </a:stretch>
        </p:blipFill>
        <p:spPr>
          <a:xfrm>
            <a:off x="3875077" y="2293536"/>
            <a:ext cx="1332190" cy="392370"/>
          </a:xfrm>
          <a:prstGeom prst="rect">
            <a:avLst/>
          </a:prstGeom>
          <a:noFill/>
          <a:ln>
            <a:noFill/>
          </a:ln>
        </p:spPr>
      </p:pic>
      <p:pic>
        <p:nvPicPr>
          <p:cNvPr id="648" name="Google Shape;648;p77" descr="{&quot;backgroundColorModified&quot;:false,&quot;aid&quot;:null,&quot;type&quot;:&quot;$$&quot;,&quot;backgroundColor&quot;:&quot;#FFFFFF&quot;,&quot;font&quot;:{&quot;size&quot;:12,&quot;family&quot;:&quot;Arial&quot;,&quot;color&quot;:&quot;#000000&quot;},&quot;code&quot;:&quot;$$L\\left(\\theta\\right)=MSE\\left(\\theta\\right)=\\frac{1}{n}\\sum_{i=1}^{n}\\left(y_{i}-\\theta_{1}x_{i}\\right)^{2}$$&quot;,&quot;id&quot;:&quot;9&quot;,&quot;ts&quot;:1688692554992,&quot;cs&quot;:&quot;WgSXzYad+KIlh2jDhS7BrA==&quot;,&quot;size&quot;:{&quot;width&quot;:299.25,&quot;height&quot;:48.25}}"/>
          <p:cNvPicPr preferRelativeResize="0"/>
          <p:nvPr/>
        </p:nvPicPr>
        <p:blipFill>
          <a:blip r:embed="rId4">
            <a:alphaModFix/>
          </a:blip>
          <a:stretch>
            <a:fillRect/>
          </a:stretch>
        </p:blipFill>
        <p:spPr>
          <a:xfrm>
            <a:off x="4921089" y="3767137"/>
            <a:ext cx="4742675" cy="95899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78"/>
          <p:cNvSpPr/>
          <p:nvPr/>
        </p:nvSpPr>
        <p:spPr>
          <a:xfrm>
            <a:off x="3408723" y="4359359"/>
            <a:ext cx="5848400" cy="1124800"/>
          </a:xfrm>
          <a:prstGeom prst="rect">
            <a:avLst/>
          </a:prstGeom>
          <a:solidFill>
            <a:schemeClr val="lt2"/>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655" name="Google Shape;655;p78"/>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We want to predict the tip (y) given the price of a meal (x). To do this:</a:t>
            </a:r>
            <a:endParaRPr/>
          </a:p>
          <a:p>
            <a:r>
              <a:rPr lang="en"/>
              <a:t>Choose a model:</a:t>
            </a:r>
            <a:endParaRPr/>
          </a:p>
          <a:p>
            <a:pPr indent="0">
              <a:buNone/>
            </a:pPr>
            <a:endParaRPr sz="800"/>
          </a:p>
          <a:p>
            <a:r>
              <a:rPr lang="en"/>
              <a:t>Choose a loss function:</a:t>
            </a:r>
            <a:endParaRPr/>
          </a:p>
          <a:p>
            <a:pPr marL="0" indent="0">
              <a:buNone/>
            </a:pPr>
            <a:endParaRPr/>
          </a:p>
          <a:p>
            <a:r>
              <a:rPr lang="en"/>
              <a:t>Optimize the model parameter – apply gradient descent</a:t>
            </a:r>
            <a:endParaRPr/>
          </a:p>
        </p:txBody>
      </p:sp>
      <p:sp>
        <p:nvSpPr>
          <p:cNvPr id="654" name="Google Shape;654;p78"/>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dirty="0">
                <a:solidFill>
                  <a:schemeClr val="accent3"/>
                </a:solidFill>
              </a:rPr>
              <a:t>Gradient Descent on the </a:t>
            </a:r>
            <a:r>
              <a:rPr lang="en" dirty="0">
                <a:solidFill>
                  <a:schemeClr val="accent3"/>
                </a:solidFill>
                <a:latin typeface="Consolas"/>
                <a:ea typeface="Consolas"/>
                <a:cs typeface="Consolas"/>
                <a:sym typeface="Consolas"/>
              </a:rPr>
              <a:t>tips</a:t>
            </a:r>
            <a:r>
              <a:rPr lang="en" dirty="0">
                <a:solidFill>
                  <a:schemeClr val="accent3"/>
                </a:solidFill>
              </a:rPr>
              <a:t> Dataset </a:t>
            </a:r>
            <a:endParaRPr dirty="0"/>
          </a:p>
        </p:txBody>
      </p:sp>
      <p:sp>
        <p:nvSpPr>
          <p:cNvPr id="656" name="Google Shape;656;p78"/>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37</a:t>
            </a:fld>
            <a:endParaRPr/>
          </a:p>
        </p:txBody>
      </p:sp>
      <p:pic>
        <p:nvPicPr>
          <p:cNvPr id="657" name="Google Shape;657;p78" descr="{&quot;code&quot;:&quot;$$\\hat{y}=\\theta_{1}x$$&quot;,&quot;backgroundColorModified&quot;:false,&quot;backgroundColor&quot;:&quot;#FFFFFF&quot;,&quot;aid&quot;:null,&quot;type&quot;:&quot;$$&quot;,&quot;id&quot;:&quot;8&quot;,&quot;font&quot;:{&quot;family&quot;:&quot;Arial&quot;,&quot;size&quot;:16.5,&quot;color&quot;:&quot;#000000&quot;},&quot;ts&quot;:1688692034236,&quot;cs&quot;:&quot;yigvmDNUmAuukqbPCgOU9g==&quot;,&quot;size&quot;:{&quot;width&quot;:86.79000944881886,&quot;height&quot;:24.356958792650918}}"/>
          <p:cNvPicPr preferRelativeResize="0"/>
          <p:nvPr/>
        </p:nvPicPr>
        <p:blipFill>
          <a:blip r:embed="rId3">
            <a:alphaModFix/>
          </a:blip>
          <a:stretch>
            <a:fillRect/>
          </a:stretch>
        </p:blipFill>
        <p:spPr>
          <a:xfrm>
            <a:off x="4653966" y="1904701"/>
            <a:ext cx="1102233" cy="309333"/>
          </a:xfrm>
          <a:prstGeom prst="rect">
            <a:avLst/>
          </a:prstGeom>
          <a:noFill/>
          <a:ln>
            <a:noFill/>
          </a:ln>
        </p:spPr>
      </p:pic>
      <p:pic>
        <p:nvPicPr>
          <p:cNvPr id="658" name="Google Shape;658;p78" descr="{&quot;backgroundColorModified&quot;:false,&quot;aid&quot;:null,&quot;type&quot;:&quot;$$&quot;,&quot;backgroundColor&quot;:&quot;#FFFFFF&quot;,&quot;font&quot;:{&quot;size&quot;:12,&quot;family&quot;:&quot;Arial&quot;,&quot;color&quot;:&quot;#000000&quot;},&quot;code&quot;:&quot;$$L\\left(\\theta\\right)=MSE\\left(\\theta\\right)=\\frac{1}{n}\\sum_{i=1}^{n}\\left(y_{i}-\\theta_{1}x_{i}\\right)^{2}$$&quot;,&quot;id&quot;:&quot;9&quot;,&quot;ts&quot;:1688692554992,&quot;cs&quot;:&quot;WgSXzYad+KIlh2jDhS7BrA==&quot;,&quot;size&quot;:{&quot;width&quot;:299.25,&quot;height&quot;:48.25}}"/>
          <p:cNvPicPr preferRelativeResize="0"/>
          <p:nvPr/>
        </p:nvPicPr>
        <p:blipFill>
          <a:blip r:embed="rId4">
            <a:alphaModFix/>
          </a:blip>
          <a:stretch>
            <a:fillRect/>
          </a:stretch>
        </p:blipFill>
        <p:spPr>
          <a:xfrm>
            <a:off x="4653966" y="2311078"/>
            <a:ext cx="4053868" cy="653600"/>
          </a:xfrm>
          <a:prstGeom prst="rect">
            <a:avLst/>
          </a:prstGeom>
          <a:noFill/>
          <a:ln>
            <a:noFill/>
          </a:ln>
        </p:spPr>
      </p:pic>
      <p:pic>
        <p:nvPicPr>
          <p:cNvPr id="659" name="Google Shape;659;p78" descr="{&quot;font&quot;:{&quot;family&quot;:&quot;Arial&quot;,&quot;size&quot;:23,&quot;color&quot;:&quot;#000000&quot;},&quot;backgroundColorModified&quot;:false,&quot;type&quot;:&quot;$&quot;,&quot;backgroundColor&quot;:&quot;#FFFFFF&quot;,&quot;id&quot;:&quot;4&quot;,&quot;aid&quot;:null,&quot;code&quot;:&quot;$\\theta^{\\left(t+1\\right)}=\\theta^{\\left(t\\right)}-\\alpha\\frac{d}{d\\theta}L\\left(\\theta^{\\left(t\\right)}\\right)$&quot;,&quot;ts&quot;:1688693158759,&quot;cs&quot;:&quot;s5XrqoN67LBO0qabDkfnXw==&quot;,&quot;size&quot;:{&quot;width&quot;:382.3333333333333,&quot;height&quot;:45}}"/>
          <p:cNvPicPr preferRelativeResize="0"/>
          <p:nvPr/>
        </p:nvPicPr>
        <p:blipFill>
          <a:blip r:embed="rId5">
            <a:alphaModFix/>
          </a:blip>
          <a:stretch>
            <a:fillRect/>
          </a:stretch>
        </p:blipFill>
        <p:spPr>
          <a:xfrm>
            <a:off x="3980119" y="4741987"/>
            <a:ext cx="4855633" cy="571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79"/>
          <p:cNvSpPr/>
          <p:nvPr/>
        </p:nvSpPr>
        <p:spPr>
          <a:xfrm>
            <a:off x="3554100" y="1595567"/>
            <a:ext cx="5848400" cy="1124800"/>
          </a:xfrm>
          <a:prstGeom prst="rect">
            <a:avLst/>
          </a:prstGeom>
          <a:solidFill>
            <a:schemeClr val="lt2"/>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666" name="Google Shape;666;p79"/>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r>
              <a:rPr lang="en"/>
              <a:t>Optimize the model parameter – apply gradient descent</a:t>
            </a:r>
            <a:endParaRPr/>
          </a:p>
        </p:txBody>
      </p:sp>
      <p:sp>
        <p:nvSpPr>
          <p:cNvPr id="665" name="Google Shape;665;p79"/>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dirty="0">
                <a:solidFill>
                  <a:schemeClr val="accent3"/>
                </a:solidFill>
              </a:rPr>
              <a:t>Gradient Descent on the </a:t>
            </a:r>
            <a:r>
              <a:rPr lang="en" dirty="0">
                <a:solidFill>
                  <a:schemeClr val="accent3"/>
                </a:solidFill>
                <a:latin typeface="Consolas"/>
                <a:ea typeface="Consolas"/>
                <a:cs typeface="Consolas"/>
                <a:sym typeface="Consolas"/>
              </a:rPr>
              <a:t>tips</a:t>
            </a:r>
            <a:r>
              <a:rPr lang="en" dirty="0">
                <a:solidFill>
                  <a:schemeClr val="accent3"/>
                </a:solidFill>
              </a:rPr>
              <a:t> Dataset</a:t>
            </a:r>
            <a:endParaRPr dirty="0"/>
          </a:p>
        </p:txBody>
      </p:sp>
      <p:sp>
        <p:nvSpPr>
          <p:cNvPr id="667" name="Google Shape;667;p79"/>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38</a:t>
            </a:fld>
            <a:endParaRPr/>
          </a:p>
        </p:txBody>
      </p:sp>
      <p:pic>
        <p:nvPicPr>
          <p:cNvPr id="668" name="Google Shape;668;p79" descr="{&quot;backgroundColorModified&quot;:false,&quot;aid&quot;:null,&quot;type&quot;:&quot;$$&quot;,&quot;backgroundColor&quot;:&quot;#FFFFFF&quot;,&quot;font&quot;:{&quot;size&quot;:12.5,&quot;family&quot;:&quot;Arial&quot;,&quot;color&quot;:&quot;#000000&quot;},&quot;code&quot;:&quot;$$L\\left(\\theta\\right)=MSE\\left(\\theta\\right)=\\frac{1}{n}\\sum_{i=1}^{n}\\left(y_{i}-\\theta_{1}x_{i}\\right)^{2}$$&quot;,&quot;id&quot;:&quot;9&quot;,&quot;ts&quot;:1688692838533,&quot;cs&quot;:&quot;kn/5uP+Ez3bOuDZFlu06eg==&quot;,&quot;size&quot;:{&quot;width&quot;:319.20219921259843,&quot;height&quot;:51.46458976377954}}"/>
          <p:cNvPicPr preferRelativeResize="0"/>
          <p:nvPr/>
        </p:nvPicPr>
        <p:blipFill>
          <a:blip r:embed="rId3">
            <a:alphaModFix/>
          </a:blip>
          <a:stretch>
            <a:fillRect/>
          </a:stretch>
        </p:blipFill>
        <p:spPr>
          <a:xfrm>
            <a:off x="3329088" y="3608546"/>
            <a:ext cx="5533822" cy="865287"/>
          </a:xfrm>
          <a:prstGeom prst="rect">
            <a:avLst/>
          </a:prstGeom>
          <a:noFill/>
          <a:ln>
            <a:noFill/>
          </a:ln>
        </p:spPr>
      </p:pic>
      <p:pic>
        <p:nvPicPr>
          <p:cNvPr id="669" name="Google Shape;669;p79" descr="{&quot;id&quot;:&quot;4&quot;,&quot;font&quot;:{&quot;color&quot;:&quot;#000000&quot;,&quot;family&quot;:&quot;Arial&quot;,&quot;size&quot;:23},&quot;code&quot;:&quot;$\\theta^{\\left(t+1\\right)}=\\theta^{\\left(t\\right)}-\\alpha\\frac{d}{d\\theta}L\\left(\\theta^{\\left(t\\right)}\\right)$&quot;,&quot;type&quot;:&quot;$&quot;,&quot;backgroundColor&quot;:&quot;#FFFFFF&quot;,&quot;backgroundColorModified&quot;:false,&quot;aid&quot;:null,&quot;ts&quot;:1688693145053,&quot;cs&quot;:&quot;m7M9H8CSEa9Weg9mgX58fg==&quot;,&quot;size&quot;:{&quot;width&quot;:382.3333333333333,&quot;height&quot;:45.00000000000002}}"/>
          <p:cNvPicPr preferRelativeResize="0"/>
          <p:nvPr/>
        </p:nvPicPr>
        <p:blipFill>
          <a:blip r:embed="rId4">
            <a:alphaModFix/>
          </a:blip>
          <a:stretch>
            <a:fillRect/>
          </a:stretch>
        </p:blipFill>
        <p:spPr>
          <a:xfrm>
            <a:off x="4196518" y="1889418"/>
            <a:ext cx="4855633" cy="571500"/>
          </a:xfrm>
          <a:prstGeom prst="rect">
            <a:avLst/>
          </a:prstGeom>
          <a:noFill/>
          <a:ln>
            <a:noFill/>
          </a:ln>
        </p:spPr>
      </p:pic>
      <p:sp>
        <p:nvSpPr>
          <p:cNvPr id="670" name="Google Shape;670;p79"/>
          <p:cNvSpPr txBox="1"/>
          <p:nvPr/>
        </p:nvSpPr>
        <p:spPr>
          <a:xfrm>
            <a:off x="389900" y="3034134"/>
            <a:ext cx="4454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Our loss function</a:t>
            </a:r>
            <a:endParaRPr sz="2400">
              <a:latin typeface="Roboto Light"/>
              <a:ea typeface="Roboto Light"/>
              <a:cs typeface="Roboto Light"/>
              <a:sym typeface="Roboto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0"/>
          <p:cNvSpPr/>
          <p:nvPr/>
        </p:nvSpPr>
        <p:spPr>
          <a:xfrm>
            <a:off x="3554100" y="1595567"/>
            <a:ext cx="5848400" cy="1124800"/>
          </a:xfrm>
          <a:prstGeom prst="rect">
            <a:avLst/>
          </a:prstGeom>
          <a:solidFill>
            <a:schemeClr val="lt2"/>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677" name="Google Shape;677;p80"/>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r>
              <a:rPr lang="en"/>
              <a:t>Optimize the model parameter – apply gradient descent</a:t>
            </a:r>
            <a:endParaRPr/>
          </a:p>
        </p:txBody>
      </p:sp>
      <p:sp>
        <p:nvSpPr>
          <p:cNvPr id="676" name="Google Shape;676;p80"/>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buClr>
                <a:schemeClr val="dk1"/>
              </a:buClr>
              <a:buSzPts val="1100"/>
            </a:pPr>
            <a:r>
              <a:rPr lang="en" dirty="0">
                <a:solidFill>
                  <a:schemeClr val="accent3"/>
                </a:solidFill>
              </a:rPr>
              <a:t>Gradient Descent on the </a:t>
            </a:r>
            <a:r>
              <a:rPr lang="en" dirty="0">
                <a:solidFill>
                  <a:schemeClr val="accent3"/>
                </a:solidFill>
                <a:latin typeface="Consolas"/>
                <a:ea typeface="Consolas"/>
                <a:cs typeface="Consolas"/>
                <a:sym typeface="Consolas"/>
              </a:rPr>
              <a:t>tips</a:t>
            </a:r>
            <a:r>
              <a:rPr lang="en" dirty="0">
                <a:solidFill>
                  <a:schemeClr val="accent3"/>
                </a:solidFill>
              </a:rPr>
              <a:t> Dataset</a:t>
            </a:r>
            <a:endParaRPr dirty="0"/>
          </a:p>
        </p:txBody>
      </p:sp>
      <p:sp>
        <p:nvSpPr>
          <p:cNvPr id="678" name="Google Shape;678;p8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39</a:t>
            </a:fld>
            <a:endParaRPr/>
          </a:p>
        </p:txBody>
      </p:sp>
      <p:pic>
        <p:nvPicPr>
          <p:cNvPr id="679" name="Google Shape;679;p80" descr="{&quot;backgroundColorModified&quot;:false,&quot;aid&quot;:null,&quot;type&quot;:&quot;$$&quot;,&quot;backgroundColor&quot;:&quot;#FFFFFF&quot;,&quot;font&quot;:{&quot;size&quot;:12.5,&quot;family&quot;:&quot;Arial&quot;,&quot;color&quot;:&quot;#000000&quot;},&quot;code&quot;:&quot;$$L\\left(\\theta\\right)=MSE\\left(\\theta\\right)=\\frac{1}{n}\\sum_{i=1}^{n}\\left(y_{i}-\\theta_{1}x_{i}\\right)^{2}$$&quot;,&quot;id&quot;:&quot;9&quot;,&quot;ts&quot;:1688692838533,&quot;cs&quot;:&quot;kn/5uP+Ez3bOuDZFlu06eg==&quot;,&quot;size&quot;:{&quot;width&quot;:319.20219921259843,&quot;height&quot;:51.46458976377954}}"/>
          <p:cNvPicPr preferRelativeResize="0"/>
          <p:nvPr/>
        </p:nvPicPr>
        <p:blipFill>
          <a:blip r:embed="rId3">
            <a:alphaModFix/>
          </a:blip>
          <a:stretch>
            <a:fillRect/>
          </a:stretch>
        </p:blipFill>
        <p:spPr>
          <a:xfrm>
            <a:off x="481967" y="3485332"/>
            <a:ext cx="4053868" cy="653600"/>
          </a:xfrm>
          <a:prstGeom prst="rect">
            <a:avLst/>
          </a:prstGeom>
          <a:noFill/>
          <a:ln>
            <a:noFill/>
          </a:ln>
        </p:spPr>
      </p:pic>
      <p:pic>
        <p:nvPicPr>
          <p:cNvPr id="680" name="Google Shape;680;p80" descr="{&quot;id&quot;:&quot;4&quot;,&quot;font&quot;:{&quot;color&quot;:&quot;#000000&quot;,&quot;family&quot;:&quot;Arial&quot;,&quot;size&quot;:23},&quot;code&quot;:&quot;$\\theta^{\\left(t+1\\right)}=\\theta^{\\left(t\\right)}-\\alpha\\frac{d}{d\\theta}L\\left(\\theta^{\\left(t\\right)}\\right)$&quot;,&quot;type&quot;:&quot;$&quot;,&quot;backgroundColor&quot;:&quot;#FFFFFF&quot;,&quot;backgroundColorModified&quot;:false,&quot;aid&quot;:null,&quot;ts&quot;:1688693145053,&quot;cs&quot;:&quot;m7M9H8CSEa9Weg9mgX58fg==&quot;,&quot;size&quot;:{&quot;width&quot;:382.3333333333333,&quot;height&quot;:45.00000000000002}}"/>
          <p:cNvPicPr preferRelativeResize="0"/>
          <p:nvPr/>
        </p:nvPicPr>
        <p:blipFill>
          <a:blip r:embed="rId4">
            <a:alphaModFix/>
          </a:blip>
          <a:stretch>
            <a:fillRect/>
          </a:stretch>
        </p:blipFill>
        <p:spPr>
          <a:xfrm>
            <a:off x="4196518" y="1889418"/>
            <a:ext cx="4855633" cy="571500"/>
          </a:xfrm>
          <a:prstGeom prst="rect">
            <a:avLst/>
          </a:prstGeom>
          <a:noFill/>
          <a:ln>
            <a:noFill/>
          </a:ln>
        </p:spPr>
      </p:pic>
      <p:sp>
        <p:nvSpPr>
          <p:cNvPr id="681" name="Google Shape;681;p80"/>
          <p:cNvSpPr txBox="1"/>
          <p:nvPr/>
        </p:nvSpPr>
        <p:spPr>
          <a:xfrm>
            <a:off x="389900" y="3034134"/>
            <a:ext cx="4454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Our loss function</a:t>
            </a:r>
            <a:endParaRPr sz="2400">
              <a:latin typeface="Roboto Light"/>
              <a:ea typeface="Roboto Light"/>
              <a:cs typeface="Roboto Light"/>
              <a:sym typeface="Roboto Light"/>
            </a:endParaRPr>
          </a:p>
        </p:txBody>
      </p:sp>
      <p:sp>
        <p:nvSpPr>
          <p:cNvPr id="682" name="Google Shape;682;p80"/>
          <p:cNvSpPr txBox="1"/>
          <p:nvPr/>
        </p:nvSpPr>
        <p:spPr>
          <a:xfrm>
            <a:off x="288300" y="4483934"/>
            <a:ext cx="34192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Take the derivative wrt </a:t>
            </a:r>
            <a:endParaRPr sz="2133">
              <a:latin typeface="Roboto Light"/>
              <a:ea typeface="Roboto Light"/>
              <a:cs typeface="Roboto Light"/>
              <a:sym typeface="Roboto Light"/>
            </a:endParaRPr>
          </a:p>
        </p:txBody>
      </p:sp>
      <p:pic>
        <p:nvPicPr>
          <p:cNvPr id="683" name="Google Shape;683;p80" descr="{&quot;backgroundColor&quot;:&quot;#FFFFFF&quot;,&quot;code&quot;:&quot;$$\\theta_{1}$$&quot;,&quot;id&quot;:&quot;6&quot;,&quot;aid&quot;:null,&quot;backgroundColorModified&quot;:false,&quot;type&quot;:&quot;$$&quot;,&quot;font&quot;:{&quot;color&quot;:&quot;#000000&quot;,&quot;family&quot;:&quot;Roboto&quot;,&quot;size&quot;:16},&quot;ts&quot;:1688693004886,&quot;cs&quot;:&quot;PrrXXlek2PXCCBMyQT+LFA==&quot;,&quot;size&quot;:{&quot;width&quot;:16.166666666666668,&quot;height&quot;:18.5}}"/>
          <p:cNvPicPr preferRelativeResize="0"/>
          <p:nvPr/>
        </p:nvPicPr>
        <p:blipFill>
          <a:blip r:embed="rId5">
            <a:alphaModFix/>
          </a:blip>
          <a:stretch>
            <a:fillRect/>
          </a:stretch>
        </p:blipFill>
        <p:spPr>
          <a:xfrm>
            <a:off x="3181100" y="4703505"/>
            <a:ext cx="205317" cy="234951"/>
          </a:xfrm>
          <a:prstGeom prst="rect">
            <a:avLst/>
          </a:prstGeom>
          <a:noFill/>
          <a:ln>
            <a:noFill/>
          </a:ln>
        </p:spPr>
      </p:pic>
      <p:pic>
        <p:nvPicPr>
          <p:cNvPr id="684" name="Google Shape;684;p80" descr="{&quot;backgroundColor&quot;:&quot;#FFFFFF&quot;,&quot;font&quot;:{&quot;color&quot;:&quot;#000000&quot;,&quot;size&quot;:12.5,&quot;family&quot;:&quot;Roboto&quot;},&quot;id&quot;:&quot;10&quot;,&quot;backgroundColorModified&quot;:false,&quot;aid&quot;:null,&quot;type&quot;:&quot;$$&quot;,&quot;code&quot;:&quot;$$\\frac{d}{d\\theta_{1}}L\\left(\\theta_{1}^{\\left(t\\right)}\\right)=\\frac{-2}{n}\\sum_{i=1}^{n}\\left(y_{i}-\\theta_{1}^{\\left(t\\right)}x_{i}\\right)x_{i}$$&quot;,&quot;ts&quot;:1688745279604,&quot;cs&quot;:&quot;ielzoDVvOY+jpV6CjD2vHw==&quot;,&quot;size&quot;:{&quot;width&quot;:266.2,&quot;height&quot;:43.399999999999984}}"/>
          <p:cNvPicPr preferRelativeResize="0"/>
          <p:nvPr/>
        </p:nvPicPr>
        <p:blipFill>
          <a:blip r:embed="rId6">
            <a:alphaModFix/>
          </a:blip>
          <a:stretch>
            <a:fillRect/>
          </a:stretch>
        </p:blipFill>
        <p:spPr>
          <a:xfrm>
            <a:off x="481967" y="5084629"/>
            <a:ext cx="3380740" cy="551180"/>
          </a:xfrm>
          <a:prstGeom prst="rect">
            <a:avLst/>
          </a:prstGeom>
          <a:noFill/>
          <a:ln>
            <a:noFill/>
          </a:ln>
        </p:spPr>
      </p:pic>
      <p:cxnSp>
        <p:nvCxnSpPr>
          <p:cNvPr id="685" name="Google Shape;685;p80"/>
          <p:cNvCxnSpPr/>
          <p:nvPr/>
        </p:nvCxnSpPr>
        <p:spPr>
          <a:xfrm>
            <a:off x="5413667" y="4363933"/>
            <a:ext cx="1094800" cy="0"/>
          </a:xfrm>
          <a:prstGeom prst="straightConnector1">
            <a:avLst/>
          </a:prstGeom>
          <a:noFill/>
          <a:ln w="28575" cap="flat" cmpd="sng">
            <a:solidFill>
              <a:schemeClr val="dk2"/>
            </a:solidFill>
            <a:prstDash val="solid"/>
            <a:round/>
            <a:headEnd type="none" w="med" len="med"/>
            <a:tailEnd type="triangle" w="med" len="med"/>
          </a:ln>
        </p:spPr>
      </p:cxnSp>
      <p:sp>
        <p:nvSpPr>
          <p:cNvPr id="686" name="Google Shape;686;p80"/>
          <p:cNvSpPr txBox="1"/>
          <p:nvPr/>
        </p:nvSpPr>
        <p:spPr>
          <a:xfrm>
            <a:off x="7011767" y="3397218"/>
            <a:ext cx="4454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The gradient descent update rule</a:t>
            </a:r>
            <a:endParaRPr sz="2133">
              <a:latin typeface="Roboto Light"/>
              <a:ea typeface="Roboto Light"/>
              <a:cs typeface="Roboto Light"/>
              <a:sym typeface="Roboto Light"/>
            </a:endParaRPr>
          </a:p>
        </p:txBody>
      </p:sp>
      <p:pic>
        <p:nvPicPr>
          <p:cNvPr id="687" name="Google Shape;687;p80" descr="{&quot;id&quot;:&quot;10&quot;,&quot;type&quot;:&quot;$$&quot;,&quot;backgroundColorModified&quot;:false,&quot;font&quot;:{&quot;family&quot;:&quot;Roboto&quot;,&quot;color&quot;:&quot;#000000&quot;,&quot;size&quot;:16.5},&quot;backgroundColor&quot;:&quot;#FFFFFF&quot;,&quot;aid&quot;:null,&quot;code&quot;:&quot;$$\\theta_{1}^{\\left(t+1\\right)}=\\theta_{1}^{\\left(t\\right)}-\\alpha\\frac{-2}{n}\\sum_{i=1}^{n}\\left(y_{i}-\\theta_{1}^{\\left(t\\right)}x_{i}\\right)x_{i}$$&quot;,&quot;ts&quot;:1688745300997,&quot;cs&quot;:&quot;rKV5BhppzrJJOLKS15OCoQ==&quot;,&quot;size&quot;:{&quot;width&quot;:362,&quot;height&quot;:57.333333333333336}}"/>
          <p:cNvPicPr preferRelativeResize="0"/>
          <p:nvPr/>
        </p:nvPicPr>
        <p:blipFill>
          <a:blip r:embed="rId7">
            <a:alphaModFix/>
          </a:blip>
          <a:stretch>
            <a:fillRect/>
          </a:stretch>
        </p:blipFill>
        <p:spPr>
          <a:xfrm>
            <a:off x="7094500" y="3986566"/>
            <a:ext cx="4597400" cy="72813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p81"/>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Gradient Descent on the </a:t>
            </a:r>
            <a:r>
              <a:rPr lang="en">
                <a:latin typeface="Consolas"/>
                <a:ea typeface="Consolas"/>
                <a:cs typeface="Consolas"/>
                <a:sym typeface="Consolas"/>
              </a:rPr>
              <a:t>tips</a:t>
            </a:r>
            <a:r>
              <a:rPr lang="en"/>
              <a:t> Dataset</a:t>
            </a:r>
            <a:endParaRPr/>
          </a:p>
        </p:txBody>
      </p:sp>
      <p:sp>
        <p:nvSpPr>
          <p:cNvPr id="695" name="Google Shape;695;p81"/>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40</a:t>
            </a:fld>
            <a:endParaRPr/>
          </a:p>
        </p:txBody>
      </p:sp>
      <p:sp>
        <p:nvSpPr>
          <p:cNvPr id="693" name="Google Shape;693;p81"/>
          <p:cNvSpPr txBox="1">
            <a:spLocks noGrp="1"/>
          </p:cNvSpPr>
          <p:nvPr>
            <p:ph type="body" idx="4294967295"/>
          </p:nvPr>
        </p:nvSpPr>
        <p:spPr>
          <a:xfrm>
            <a:off x="2575233" y="842978"/>
            <a:ext cx="5737225" cy="5681663"/>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Loss function:</a:t>
            </a:r>
            <a:endParaRPr dirty="0"/>
          </a:p>
          <a:p>
            <a:pPr marL="0" indent="0">
              <a:buNone/>
            </a:pPr>
            <a:endParaRPr lang="fa-IR" dirty="0"/>
          </a:p>
          <a:p>
            <a:pPr marL="0" indent="0">
              <a:buNone/>
            </a:pPr>
            <a:r>
              <a:rPr lang="en" dirty="0"/>
              <a:t>GD update rule: </a:t>
            </a:r>
            <a:endParaRPr dirty="0"/>
          </a:p>
        </p:txBody>
      </p:sp>
      <p:pic>
        <p:nvPicPr>
          <p:cNvPr id="696" name="Google Shape;696;p81" descr="{&quot;font&quot;:{&quot;color&quot;:&quot;#000000&quot;,&quot;family&quot;:&quot;Arial&quot;,&quot;size&quot;:12},&quot;type&quot;:&quot;$$&quot;,&quot;backgroundColorModified&quot;:false,&quot;id&quot;:&quot;9&quot;,&quot;backgroundColor&quot;:&quot;#FFFFFF&quot;,&quot;code&quot;:&quot;$$MSE\\left(\\theta\\right)=\\frac{1}{n}\\sum_{i=1}^{n}\\left(y_{i}-\\theta_{1}x_{i}\\right)^{2}$$&quot;,&quot;aid&quot;:null,&quot;ts&quot;:1688692086906,&quot;cs&quot;:&quot;PvP45et43rs6C8esjMh/Sw==&quot;,&quot;size&quot;:{&quot;width&quot;:240.96518425196848,&quot;height&quot;:48.818912073490814}}"/>
          <p:cNvPicPr preferRelativeResize="0"/>
          <p:nvPr/>
        </p:nvPicPr>
        <p:blipFill>
          <a:blip r:embed="rId3">
            <a:alphaModFix/>
          </a:blip>
          <a:stretch>
            <a:fillRect/>
          </a:stretch>
        </p:blipFill>
        <p:spPr>
          <a:xfrm>
            <a:off x="5528493" y="1117060"/>
            <a:ext cx="3060257" cy="620000"/>
          </a:xfrm>
          <a:prstGeom prst="rect">
            <a:avLst/>
          </a:prstGeom>
          <a:noFill/>
          <a:ln>
            <a:noFill/>
          </a:ln>
        </p:spPr>
      </p:pic>
      <p:sp>
        <p:nvSpPr>
          <p:cNvPr id="697" name="Google Shape;697;p81"/>
          <p:cNvSpPr txBox="1"/>
          <p:nvPr/>
        </p:nvSpPr>
        <p:spPr>
          <a:xfrm>
            <a:off x="3119199" y="6123759"/>
            <a:ext cx="59536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MSE is minimized when we set </a:t>
            </a:r>
            <a:endParaRPr sz="2133" dirty="0">
              <a:latin typeface="Roboto Light"/>
              <a:ea typeface="Roboto Light"/>
              <a:cs typeface="Roboto Light"/>
              <a:sym typeface="Roboto Light"/>
            </a:endParaRPr>
          </a:p>
        </p:txBody>
      </p:sp>
      <p:pic>
        <p:nvPicPr>
          <p:cNvPr id="698" name="Google Shape;698;p81" descr="{&quot;code&quot;:&quot;$$\\theta_{1}=0.1437$$&quot;,&quot;backgroundColorModified&quot;:false,&quot;id&quot;:&quot;11&quot;,&quot;type&quot;:&quot;$$&quot;,&quot;font&quot;:{&quot;family&quot;:&quot;Roboto&quot;,&quot;size&quot;:16,&quot;color&quot;:&quot;#000000&quot;},&quot;aid&quot;:null,&quot;backgroundColor&quot;:&quot;#FFFFFF&quot;,&quot;ts&quot;:1688693277304,&quot;cs&quot;:&quot;Z44M/kzIMcjIGzksTF2qRQ==&quot;,&quot;size&quot;:{&quot;width&quot;:106.83333333333333,&quot;height&quot;:18.5}}"/>
          <p:cNvPicPr preferRelativeResize="0"/>
          <p:nvPr/>
        </p:nvPicPr>
        <p:blipFill>
          <a:blip r:embed="rId4">
            <a:alphaModFix/>
          </a:blip>
          <a:stretch>
            <a:fillRect/>
          </a:stretch>
        </p:blipFill>
        <p:spPr>
          <a:xfrm>
            <a:off x="7106082" y="6333163"/>
            <a:ext cx="1356784" cy="234951"/>
          </a:xfrm>
          <a:prstGeom prst="rect">
            <a:avLst/>
          </a:prstGeom>
          <a:noFill/>
          <a:ln>
            <a:noFill/>
          </a:ln>
        </p:spPr>
      </p:pic>
      <p:pic>
        <p:nvPicPr>
          <p:cNvPr id="699" name="Google Shape;699;p81" descr="{&quot;id&quot;:&quot;10&quot;,&quot;type&quot;:&quot;$$&quot;,&quot;backgroundColorModified&quot;:false,&quot;font&quot;:{&quot;family&quot;:&quot;Roboto&quot;,&quot;color&quot;:&quot;#000000&quot;,&quot;size&quot;:13},&quot;backgroundColor&quot;:&quot;#FFFFFF&quot;,&quot;aid&quot;:null,&quot;code&quot;:&quot;$$\\theta_{1}^{\\left(t+1\\right)}=\\theta_{1}^{\\left(t\\right)}-\\alpha\\frac{-2}{n}\\sum_{i=1}^{n}\\left(y_{i}-\\theta_{1}^{\\left(t\\right)}x_{i}\\right)x_{i}$$&quot;,&quot;ts&quot;:1688745321987,&quot;cs&quot;:&quot;oVZKOn3fWOrGTr2MZfqm1Q==&quot;,&quot;size&quot;:{&quot;width&quot;:285.76850078740154,&quot;height&quot;:45.259836220472444}}"/>
          <p:cNvPicPr preferRelativeResize="0"/>
          <p:nvPr/>
        </p:nvPicPr>
        <p:blipFill>
          <a:blip r:embed="rId5">
            <a:alphaModFix/>
          </a:blip>
          <a:stretch>
            <a:fillRect/>
          </a:stretch>
        </p:blipFill>
        <p:spPr>
          <a:xfrm>
            <a:off x="5673449" y="2169660"/>
            <a:ext cx="3629260" cy="574800"/>
          </a:xfrm>
          <a:prstGeom prst="rect">
            <a:avLst/>
          </a:prstGeom>
          <a:noFill/>
          <a:ln>
            <a:noFill/>
          </a:ln>
        </p:spPr>
      </p:pic>
      <p:pic>
        <p:nvPicPr>
          <p:cNvPr id="700" name="Google Shape;700;p81"/>
          <p:cNvPicPr preferRelativeResize="0"/>
          <p:nvPr/>
        </p:nvPicPr>
        <p:blipFill>
          <a:blip r:embed="rId6">
            <a:alphaModFix/>
          </a:blip>
          <a:stretch>
            <a:fillRect/>
          </a:stretch>
        </p:blipFill>
        <p:spPr>
          <a:xfrm>
            <a:off x="2952447" y="2921839"/>
            <a:ext cx="4535632" cy="328126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6" name="Google Shape;706;p82"/>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When we visualized the MSE loss on the </a:t>
            </a:r>
            <a:r>
              <a:rPr lang="en" dirty="0">
                <a:latin typeface="Consolas"/>
                <a:ea typeface="Consolas"/>
                <a:cs typeface="Consolas"/>
                <a:sym typeface="Consolas"/>
              </a:rPr>
              <a:t>tips</a:t>
            </a:r>
            <a:r>
              <a:rPr lang="en" dirty="0"/>
              <a:t> data, there was a single global minimum</a:t>
            </a:r>
            <a:endParaRPr dirty="0"/>
          </a:p>
        </p:txBody>
      </p:sp>
      <p:sp>
        <p:nvSpPr>
          <p:cNvPr id="705" name="Google Shape;705;p82"/>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MSE is Convex!</a:t>
            </a:r>
            <a:endParaRPr/>
          </a:p>
        </p:txBody>
      </p:sp>
      <p:sp>
        <p:nvSpPr>
          <p:cNvPr id="707" name="Google Shape;707;p82"/>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41</a:t>
            </a:fld>
            <a:endParaRPr/>
          </a:p>
        </p:txBody>
      </p:sp>
      <p:pic>
        <p:nvPicPr>
          <p:cNvPr id="708" name="Google Shape;708;p82"/>
          <p:cNvPicPr preferRelativeResize="0"/>
          <p:nvPr/>
        </p:nvPicPr>
        <p:blipFill>
          <a:blip r:embed="rId3">
            <a:alphaModFix/>
          </a:blip>
          <a:stretch>
            <a:fillRect/>
          </a:stretch>
        </p:blipFill>
        <p:spPr>
          <a:xfrm>
            <a:off x="266699" y="3555914"/>
            <a:ext cx="4535632" cy="3281267"/>
          </a:xfrm>
          <a:prstGeom prst="rect">
            <a:avLst/>
          </a:prstGeom>
          <a:noFill/>
          <a:ln>
            <a:noFill/>
          </a:ln>
        </p:spPr>
      </p:pic>
      <p:cxnSp>
        <p:nvCxnSpPr>
          <p:cNvPr id="709" name="Google Shape;709;p82"/>
          <p:cNvCxnSpPr/>
          <p:nvPr/>
        </p:nvCxnSpPr>
        <p:spPr>
          <a:xfrm>
            <a:off x="3389167" y="4618867"/>
            <a:ext cx="0" cy="914800"/>
          </a:xfrm>
          <a:prstGeom prst="straightConnector1">
            <a:avLst/>
          </a:prstGeom>
          <a:noFill/>
          <a:ln w="28575" cap="flat" cmpd="sng">
            <a:solidFill>
              <a:schemeClr val="dk2"/>
            </a:solidFill>
            <a:prstDash val="solid"/>
            <a:round/>
            <a:headEnd type="none" w="med" len="med"/>
            <a:tailEnd type="triangle" w="med" len="med"/>
          </a:ln>
        </p:spPr>
      </p:cxnSp>
      <p:sp>
        <p:nvSpPr>
          <p:cNvPr id="710" name="Google Shape;710;p82"/>
          <p:cNvSpPr txBox="1"/>
          <p:nvPr/>
        </p:nvSpPr>
        <p:spPr>
          <a:xfrm>
            <a:off x="5604416" y="4460830"/>
            <a:ext cx="5518800" cy="1230874"/>
          </a:xfrm>
          <a:prstGeom prst="rect">
            <a:avLst/>
          </a:prstGeom>
          <a:solidFill>
            <a:schemeClr val="accent1"/>
          </a:solid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This is one reason why the MSE is a popular choice of loss function: it behaves “nicely” for optimization</a:t>
            </a:r>
            <a:endParaRPr sz="2133" dirty="0">
              <a:latin typeface="Roboto Light"/>
              <a:ea typeface="Roboto Light"/>
              <a:cs typeface="Roboto Light"/>
              <a:sym typeface="Roboto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5D24CD-8C51-2746-1735-0D609179F8E9}"/>
              </a:ext>
            </a:extLst>
          </p:cNvPr>
          <p:cNvSpPr>
            <a:spLocks noGrp="1"/>
          </p:cNvSpPr>
          <p:nvPr>
            <p:ph idx="1"/>
          </p:nvPr>
        </p:nvSpPr>
        <p:spPr>
          <a:xfrm>
            <a:off x="266700" y="990601"/>
            <a:ext cx="11658601" cy="5553073"/>
          </a:xfrm>
        </p:spPr>
        <p:txBody>
          <a:bodyPr/>
          <a:lstStyle/>
          <a:p>
            <a:pPr lvl="0"/>
            <a:r>
              <a:rPr lang="en-US" dirty="0"/>
              <a:t>Optimization: where are we?</a:t>
            </a:r>
          </a:p>
          <a:p>
            <a:pPr lvl="0"/>
            <a:r>
              <a:rPr lang="en-US" dirty="0"/>
              <a:t>Minimizing an arbitrary 1D function</a:t>
            </a:r>
          </a:p>
          <a:p>
            <a:pPr lvl="0"/>
            <a:r>
              <a:rPr lang="en-US" dirty="0"/>
              <a:t>Gradient descent on a 1D model</a:t>
            </a:r>
          </a:p>
          <a:p>
            <a:pPr lvl="0"/>
            <a:r>
              <a:rPr lang="en-US" b="1" dirty="0"/>
              <a:t>Gradient descent on high-dimensional models</a:t>
            </a:r>
          </a:p>
          <a:p>
            <a:pPr lvl="0"/>
            <a:r>
              <a:rPr lang="en-US" dirty="0"/>
              <a:t>Batch, mini-batch, and stochastic gradient descent</a:t>
            </a:r>
          </a:p>
          <a:p>
            <a:endParaRPr lang="en-US" dirty="0"/>
          </a:p>
        </p:txBody>
      </p:sp>
      <p:sp>
        <p:nvSpPr>
          <p:cNvPr id="3" name="Title 2">
            <a:extLst>
              <a:ext uri="{FF2B5EF4-FFF2-40B4-BE49-F238E27FC236}">
                <a16:creationId xmlns:a16="http://schemas.microsoft.com/office/drawing/2014/main" id="{3579A3D2-B889-D5DA-4301-E7FE3CF4C15A}"/>
              </a:ext>
            </a:extLst>
          </p:cNvPr>
          <p:cNvSpPr>
            <a:spLocks noGrp="1"/>
          </p:cNvSpPr>
          <p:nvPr>
            <p:ph type="title"/>
          </p:nvPr>
        </p:nvSpPr>
        <p:spPr>
          <a:xfrm>
            <a:off x="266699" y="20819"/>
            <a:ext cx="11658601" cy="969781"/>
          </a:xfrm>
        </p:spPr>
        <p:txBody>
          <a:bodyPr/>
          <a:lstStyle/>
          <a:p>
            <a:r>
              <a:rPr lang="en-US" dirty="0"/>
              <a:t>Agenda</a:t>
            </a:r>
          </a:p>
        </p:txBody>
      </p:sp>
      <p:sp>
        <p:nvSpPr>
          <p:cNvPr id="4" name="Slide Number Placeholder 3">
            <a:extLst>
              <a:ext uri="{FF2B5EF4-FFF2-40B4-BE49-F238E27FC236}">
                <a16:creationId xmlns:a16="http://schemas.microsoft.com/office/drawing/2014/main" id="{F1A699C0-22B6-D7D9-CE7D-DE9BB3A292F1}"/>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42</a:t>
            </a:fld>
            <a:endParaRPr lang="en-US"/>
          </a:p>
        </p:txBody>
      </p:sp>
    </p:spTree>
    <p:extLst>
      <p:ext uri="{BB962C8B-B14F-4D97-AF65-F5344CB8AC3E}">
        <p14:creationId xmlns:p14="http://schemas.microsoft.com/office/powerpoint/2010/main" val="2413965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5" name="Google Shape;735;p85"/>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Usually, models will have more than one parameter that needs to be optimized.</a:t>
            </a:r>
            <a:endParaRPr/>
          </a:p>
          <a:p>
            <a:pPr marL="0" indent="0">
              <a:buNone/>
            </a:pPr>
            <a:endParaRPr/>
          </a:p>
          <a:p>
            <a:pPr marL="0" indent="0">
              <a:buNone/>
            </a:pPr>
            <a:endParaRPr/>
          </a:p>
          <a:p>
            <a:pPr marL="0" indent="0">
              <a:buNone/>
            </a:pPr>
            <a:endParaRPr/>
          </a:p>
        </p:txBody>
      </p:sp>
      <p:sp>
        <p:nvSpPr>
          <p:cNvPr id="734" name="Google Shape;734;p85"/>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Models in 2D or Higher</a:t>
            </a:r>
            <a:endParaRPr/>
          </a:p>
        </p:txBody>
      </p:sp>
      <p:sp>
        <p:nvSpPr>
          <p:cNvPr id="736" name="Google Shape;736;p85"/>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43</a:t>
            </a:fld>
            <a:endParaRPr/>
          </a:p>
        </p:txBody>
      </p:sp>
      <p:sp>
        <p:nvSpPr>
          <p:cNvPr id="737" name="Google Shape;737;p85"/>
          <p:cNvSpPr txBox="1"/>
          <p:nvPr/>
        </p:nvSpPr>
        <p:spPr>
          <a:xfrm>
            <a:off x="433285" y="4703829"/>
            <a:ext cx="11360800" cy="1005235"/>
          </a:xfrm>
          <a:prstGeom prst="rect">
            <a:avLst/>
          </a:prstGeom>
          <a:noFill/>
          <a:ln>
            <a:noFill/>
          </a:ln>
        </p:spPr>
        <p:txBody>
          <a:bodyPr spcFirstLastPara="1" wrap="square" lIns="121900" tIns="121900" rIns="121900" bIns="121900" anchor="t" anchorCtr="0">
            <a:spAutoFit/>
          </a:bodyPr>
          <a:lstStyle/>
          <a:p>
            <a:pPr>
              <a:spcBef>
                <a:spcPts val="800"/>
              </a:spcBef>
              <a:spcAft>
                <a:spcPts val="0"/>
              </a:spcAft>
            </a:pPr>
            <a:r>
              <a:rPr lang="en" sz="2133" dirty="0">
                <a:solidFill>
                  <a:schemeClr val="dk1"/>
                </a:solidFill>
                <a:latin typeface="Roboto Light"/>
                <a:ea typeface="Roboto Light"/>
                <a:cs typeface="Roboto Light"/>
                <a:sym typeface="Roboto Light"/>
              </a:rPr>
              <a:t>Idea: expand gradient descent so we can update our guesses for </a:t>
            </a:r>
            <a:r>
              <a:rPr lang="en" sz="2133" i="1" dirty="0">
                <a:solidFill>
                  <a:schemeClr val="dk1"/>
                </a:solidFill>
                <a:latin typeface="Roboto Light"/>
                <a:ea typeface="Roboto Light"/>
                <a:cs typeface="Roboto Light"/>
                <a:sym typeface="Roboto Light"/>
              </a:rPr>
              <a:t>all </a:t>
            </a:r>
            <a:r>
              <a:rPr lang="en" sz="2133" dirty="0">
                <a:solidFill>
                  <a:schemeClr val="dk1"/>
                </a:solidFill>
                <a:latin typeface="Roboto Light"/>
                <a:ea typeface="Roboto Light"/>
                <a:cs typeface="Roboto Light"/>
                <a:sym typeface="Roboto Light"/>
              </a:rPr>
              <a:t>model parameters, all in one go</a:t>
            </a:r>
            <a:endParaRPr dirty="0"/>
          </a:p>
        </p:txBody>
      </p:sp>
      <p:pic>
        <p:nvPicPr>
          <p:cNvPr id="738" name="Google Shape;738;p85" descr="{&quot;aid&quot;:null,&quot;backgroundColor&quot;:&quot;#FFFFFF&quot;,&quot;font&quot;:{&quot;family&quot;:&quot;Roboto&quot;,&quot;size&quot;:23,&quot;color&quot;:&quot;#000000&quot;},&quot;backgroundColorModified&quot;:false,&quot;code&quot;:&quot;$$\\hat{y}=\\theta_{0}+\\theta_{1}x$$&quot;,&quot;type&quot;:&quot;$$&quot;,&quot;id&quot;:&quot;12&quot;,&quot;ts&quot;:1688762003360,&quot;cs&quot;:&quot;BpcAySrJny6XwKdMrQC5DA==&quot;,&quot;size&quot;:{&quot;width&quot;:169.44610761154857,&quot;height&quot;:29.01313700787401}}"/>
          <p:cNvPicPr preferRelativeResize="0"/>
          <p:nvPr/>
        </p:nvPicPr>
        <p:blipFill>
          <a:blip r:embed="rId3">
            <a:alphaModFix/>
          </a:blip>
          <a:stretch>
            <a:fillRect/>
          </a:stretch>
        </p:blipFill>
        <p:spPr>
          <a:xfrm>
            <a:off x="4023491" y="2420788"/>
            <a:ext cx="2151965" cy="368467"/>
          </a:xfrm>
          <a:prstGeom prst="rect">
            <a:avLst/>
          </a:prstGeom>
          <a:noFill/>
          <a:ln>
            <a:noFill/>
          </a:ln>
        </p:spPr>
      </p:pic>
      <p:pic>
        <p:nvPicPr>
          <p:cNvPr id="739" name="Google Shape;739;p85" descr="{&quot;code&quot;:&quot;$$\\hat{\\mathbb{Y}}=\\theta_{0}+\\theta_{1}\\mathbb{X}_{:,1}+\\theta_{2}\\mathbb{X}_{:,\\,2}...+\\theta_{p}\\mathbb{X}_{:,\\,p}$$&quot;,&quot;backgroundColor&quot;:&quot;#FFFFFF&quot;,&quot;type&quot;:&quot;$$&quot;,&quot;id&quot;:&quot;12&quot;,&quot;font&quot;:{&quot;color&quot;:&quot;#000000&quot;,&quot;family&quot;:&quot;Roboto&quot;,&quot;size&quot;:25.5},&quot;aid&quot;:null,&quot;backgroundColorModified&quot;:false,&quot;ts&quot;:1689183427355,&quot;cs&quot;:&quot;nBhRgELU/w4PxJolNzre3A==&quot;,&quot;size&quot;:{&quot;width&quot;:514.4999999999999,&quot;height&quot;:41.5}}"/>
          <p:cNvPicPr preferRelativeResize="0"/>
          <p:nvPr/>
        </p:nvPicPr>
        <p:blipFill>
          <a:blip r:embed="rId4">
            <a:alphaModFix/>
          </a:blip>
          <a:stretch>
            <a:fillRect/>
          </a:stretch>
        </p:blipFill>
        <p:spPr>
          <a:xfrm>
            <a:off x="4023491" y="3370743"/>
            <a:ext cx="6534151" cy="527051"/>
          </a:xfrm>
          <a:prstGeom prst="rect">
            <a:avLst/>
          </a:prstGeom>
          <a:noFill/>
          <a:ln>
            <a:noFill/>
          </a:ln>
        </p:spPr>
      </p:pic>
      <p:sp>
        <p:nvSpPr>
          <p:cNvPr id="740" name="Google Shape;740;p85"/>
          <p:cNvSpPr txBox="1"/>
          <p:nvPr/>
        </p:nvSpPr>
        <p:spPr>
          <a:xfrm>
            <a:off x="442600" y="2317378"/>
            <a:ext cx="3224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Simple linear regression:</a:t>
            </a:r>
            <a:endParaRPr sz="2133" dirty="0">
              <a:latin typeface="Roboto Light"/>
              <a:ea typeface="Roboto Light"/>
              <a:cs typeface="Roboto Light"/>
              <a:sym typeface="Roboto Light"/>
            </a:endParaRPr>
          </a:p>
        </p:txBody>
      </p:sp>
      <p:sp>
        <p:nvSpPr>
          <p:cNvPr id="741" name="Google Shape;741;p85"/>
          <p:cNvSpPr txBox="1"/>
          <p:nvPr/>
        </p:nvSpPr>
        <p:spPr>
          <a:xfrm>
            <a:off x="433285" y="3294807"/>
            <a:ext cx="48812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Multiple linear regression:</a:t>
            </a:r>
            <a:endParaRPr sz="2133" dirty="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97"/>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Define the </a:t>
            </a:r>
            <a:r>
              <a:rPr lang="en" b="1">
                <a:solidFill>
                  <a:schemeClr val="accent3"/>
                </a:solidFill>
                <a:latin typeface="Roboto"/>
                <a:ea typeface="Roboto"/>
                <a:cs typeface="Roboto"/>
                <a:sym typeface="Roboto"/>
              </a:rPr>
              <a:t>multiple linear regression</a:t>
            </a:r>
            <a:r>
              <a:rPr lang="en"/>
              <a:t> model:</a:t>
            </a:r>
            <a:endParaRPr/>
          </a:p>
          <a:p>
            <a:pPr marL="0" indent="0">
              <a:buNone/>
            </a:pPr>
            <a:endParaRPr/>
          </a:p>
          <a:p>
            <a:pPr marL="0" indent="0">
              <a:buNone/>
            </a:pPr>
            <a:endParaRPr/>
          </a:p>
          <a:p>
            <a:pPr marL="0" indent="0">
              <a:buNone/>
            </a:pPr>
            <a:endParaRPr/>
          </a:p>
          <a:p>
            <a:pPr marL="0" indent="0">
              <a:buNone/>
            </a:pPr>
            <a:r>
              <a:rPr lang="en"/>
              <a:t>Parameters are					   . </a:t>
            </a:r>
            <a:endParaRPr/>
          </a:p>
        </p:txBody>
      </p:sp>
      <p:sp>
        <p:nvSpPr>
          <p:cNvPr id="1235" name="Google Shape;1235;p97"/>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Multiple Linear Regression</a:t>
            </a:r>
            <a:endParaRPr/>
          </a:p>
        </p:txBody>
      </p:sp>
      <p:sp>
        <p:nvSpPr>
          <p:cNvPr id="1236" name="Google Shape;1236;p97"/>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44</a:t>
            </a:fld>
            <a:endParaRPr/>
          </a:p>
        </p:txBody>
      </p:sp>
      <p:pic>
        <p:nvPicPr>
          <p:cNvPr id="1237" name="Google Shape;1237;p97" title="[0,0,0,&quot;https://latex-staging.easygenerator.com/eqneditor/editor.php?latex=%5Chat%7By%7D%20%3D%20%5Ctheta_0%20%2B%20%5Ctheta_1%20x_1%20%2B%20%5Ctheta_2%20x_2%20%2B%20%5Cdots%20%2B%20%5Ctheta_p%20x_p#0&quot;]"/>
          <p:cNvPicPr preferRelativeResize="0"/>
          <p:nvPr/>
        </p:nvPicPr>
        <p:blipFill>
          <a:blip r:embed="rId3">
            <a:alphaModFix/>
          </a:blip>
          <a:stretch>
            <a:fillRect/>
          </a:stretch>
        </p:blipFill>
        <p:spPr>
          <a:xfrm>
            <a:off x="2076332" y="2062636"/>
            <a:ext cx="8602135" cy="592667"/>
          </a:xfrm>
          <a:prstGeom prst="rect">
            <a:avLst/>
          </a:prstGeom>
          <a:noFill/>
          <a:ln>
            <a:noFill/>
          </a:ln>
        </p:spPr>
      </p:pic>
      <p:grpSp>
        <p:nvGrpSpPr>
          <p:cNvPr id="1238" name="Google Shape;1238;p97"/>
          <p:cNvGrpSpPr/>
          <p:nvPr/>
        </p:nvGrpSpPr>
        <p:grpSpPr>
          <a:xfrm>
            <a:off x="6003436" y="4549433"/>
            <a:ext cx="5815233" cy="1354176"/>
            <a:chOff x="4473700" y="1622825"/>
            <a:chExt cx="4361425" cy="1015632"/>
          </a:xfrm>
        </p:grpSpPr>
        <p:sp>
          <p:nvSpPr>
            <p:cNvPr id="1239" name="Google Shape;1239;p97"/>
            <p:cNvSpPr/>
            <p:nvPr/>
          </p:nvSpPr>
          <p:spPr>
            <a:xfrm>
              <a:off x="4473700" y="1728800"/>
              <a:ext cx="1966200" cy="7563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r>
                <a:rPr lang="en" sz="2133"/>
                <a:t>Is this linear in      ?</a:t>
              </a:r>
              <a:endParaRPr sz="2133"/>
            </a:p>
          </p:txBody>
        </p:sp>
        <p:sp>
          <p:nvSpPr>
            <p:cNvPr id="1240" name="Google Shape;1240;p97"/>
            <p:cNvSpPr txBox="1"/>
            <p:nvPr/>
          </p:nvSpPr>
          <p:spPr>
            <a:xfrm>
              <a:off x="6506525" y="1622825"/>
              <a:ext cx="2328600" cy="101563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400" b="1">
                  <a:solidFill>
                    <a:schemeClr val="accent4"/>
                  </a:solidFill>
                  <a:latin typeface="Roboto"/>
                  <a:ea typeface="Roboto"/>
                  <a:cs typeface="Roboto"/>
                  <a:sym typeface="Roboto"/>
                </a:rPr>
                <a:t>A.</a:t>
              </a:r>
              <a:r>
                <a:rPr lang="en" sz="2400">
                  <a:latin typeface="Roboto Light"/>
                  <a:ea typeface="Roboto Light"/>
                  <a:cs typeface="Roboto Light"/>
                  <a:sym typeface="Roboto Light"/>
                </a:rPr>
                <a:t> no</a:t>
              </a:r>
              <a:endParaRPr sz="2400">
                <a:latin typeface="Roboto Light"/>
                <a:ea typeface="Roboto Light"/>
                <a:cs typeface="Roboto Light"/>
                <a:sym typeface="Roboto Light"/>
              </a:endParaRPr>
            </a:p>
            <a:p>
              <a:pPr>
                <a:spcBef>
                  <a:spcPts val="0"/>
                </a:spcBef>
                <a:spcAft>
                  <a:spcPts val="0"/>
                </a:spcAft>
              </a:pPr>
              <a:r>
                <a:rPr lang="en" sz="2400" b="1">
                  <a:solidFill>
                    <a:schemeClr val="accent4"/>
                  </a:solidFill>
                  <a:latin typeface="Roboto"/>
                  <a:ea typeface="Roboto"/>
                  <a:cs typeface="Roboto"/>
                  <a:sym typeface="Roboto"/>
                </a:rPr>
                <a:t>B.</a:t>
              </a:r>
              <a:r>
                <a:rPr lang="en" sz="2400">
                  <a:latin typeface="Roboto Light"/>
                  <a:ea typeface="Roboto Light"/>
                  <a:cs typeface="Roboto Light"/>
                  <a:sym typeface="Roboto Light"/>
                </a:rPr>
                <a:t> yes</a:t>
              </a:r>
              <a:endParaRPr sz="2400">
                <a:latin typeface="Roboto Light"/>
                <a:ea typeface="Roboto Light"/>
                <a:cs typeface="Roboto Light"/>
                <a:sym typeface="Roboto Light"/>
              </a:endParaRPr>
            </a:p>
            <a:p>
              <a:pPr>
                <a:spcBef>
                  <a:spcPts val="0"/>
                </a:spcBef>
                <a:spcAft>
                  <a:spcPts val="0"/>
                </a:spcAft>
              </a:pPr>
              <a:r>
                <a:rPr lang="en" sz="2400" b="1">
                  <a:solidFill>
                    <a:schemeClr val="accent4"/>
                  </a:solidFill>
                  <a:latin typeface="Roboto"/>
                  <a:ea typeface="Roboto"/>
                  <a:cs typeface="Roboto"/>
                  <a:sym typeface="Roboto"/>
                </a:rPr>
                <a:t>C.</a:t>
              </a:r>
              <a:r>
                <a:rPr lang="en" sz="2400">
                  <a:latin typeface="Roboto Light"/>
                  <a:ea typeface="Roboto Light"/>
                  <a:cs typeface="Roboto Light"/>
                  <a:sym typeface="Roboto Light"/>
                </a:rPr>
                <a:t> maybe</a:t>
              </a:r>
              <a:endParaRPr sz="2400">
                <a:latin typeface="Roboto Light"/>
                <a:ea typeface="Roboto Light"/>
                <a:cs typeface="Roboto Light"/>
                <a:sym typeface="Roboto Light"/>
              </a:endParaRPr>
            </a:p>
          </p:txBody>
        </p:sp>
        <p:pic>
          <p:nvPicPr>
            <p:cNvPr id="1241" name="Google Shape;1241;p97" title="[0,0,0,&quot;https://latex-staging.easygenerator.com/eqneditor/editor.php?latex=%5Ctheta#0&quot;]"/>
            <p:cNvPicPr preferRelativeResize="0"/>
            <p:nvPr/>
          </p:nvPicPr>
          <p:blipFill>
            <a:blip r:embed="rId4">
              <a:alphaModFix/>
            </a:blip>
            <a:stretch>
              <a:fillRect/>
            </a:stretch>
          </p:blipFill>
          <p:spPr>
            <a:xfrm>
              <a:off x="6005286" y="1998339"/>
              <a:ext cx="136869" cy="228125"/>
            </a:xfrm>
            <a:prstGeom prst="rect">
              <a:avLst/>
            </a:prstGeom>
            <a:noFill/>
            <a:ln>
              <a:noFill/>
            </a:ln>
          </p:spPr>
        </p:pic>
      </p:grpSp>
      <p:pic>
        <p:nvPicPr>
          <p:cNvPr id="1242" name="Google Shape;1242;p97" descr="\theta = [\theta_0, \theta_1, \dots, \theta_p]"/>
          <p:cNvPicPr preferRelativeResize="0"/>
          <p:nvPr/>
        </p:nvPicPr>
        <p:blipFill>
          <a:blip r:embed="rId5">
            <a:alphaModFix/>
          </a:blip>
          <a:stretch>
            <a:fillRect/>
          </a:stretch>
        </p:blipFill>
        <p:spPr>
          <a:xfrm>
            <a:off x="2833282" y="3282134"/>
            <a:ext cx="3621119" cy="524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97"/>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Define the </a:t>
            </a:r>
            <a:r>
              <a:rPr lang="en" b="1" dirty="0">
                <a:solidFill>
                  <a:schemeClr val="accent3"/>
                </a:solidFill>
                <a:latin typeface="Roboto"/>
                <a:ea typeface="Roboto"/>
                <a:cs typeface="Roboto"/>
                <a:sym typeface="Roboto"/>
              </a:rPr>
              <a:t>multiple linear regression</a:t>
            </a:r>
            <a:r>
              <a:rPr lang="en" dirty="0"/>
              <a:t> model:</a:t>
            </a:r>
            <a:endParaRPr dirty="0"/>
          </a:p>
          <a:p>
            <a:pPr marL="0" indent="0">
              <a:buNone/>
            </a:pPr>
            <a:endParaRPr dirty="0"/>
          </a:p>
          <a:p>
            <a:pPr marL="0" indent="0">
              <a:buNone/>
            </a:pPr>
            <a:endParaRPr dirty="0"/>
          </a:p>
          <a:p>
            <a:pPr marL="0" indent="0">
              <a:buNone/>
            </a:pPr>
            <a:endParaRPr dirty="0"/>
          </a:p>
          <a:p>
            <a:pPr marL="0" indent="0">
              <a:buNone/>
            </a:pPr>
            <a:r>
              <a:rPr lang="en" dirty="0"/>
              <a:t>Parameters are			 </a:t>
            </a:r>
            <a:endParaRPr dirty="0"/>
          </a:p>
        </p:txBody>
      </p:sp>
      <p:sp>
        <p:nvSpPr>
          <p:cNvPr id="1235" name="Google Shape;1235;p97"/>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Multiple Linear Regression</a:t>
            </a:r>
            <a:endParaRPr/>
          </a:p>
        </p:txBody>
      </p:sp>
      <p:sp>
        <p:nvSpPr>
          <p:cNvPr id="1236" name="Google Shape;1236;p97"/>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45</a:t>
            </a:fld>
            <a:endParaRPr/>
          </a:p>
        </p:txBody>
      </p:sp>
      <p:pic>
        <p:nvPicPr>
          <p:cNvPr id="1237" name="Google Shape;1237;p97" title="[0,0,0,&quot;https://latex-staging.easygenerator.com/eqneditor/editor.php?latex=%5Chat%7By%7D%20%3D%20%5Ctheta_0%20%2B%20%5Ctheta_1%20x_1%20%2B%20%5Ctheta_2%20x_2%20%2B%20%5Cdots%20%2B%20%5Ctheta_p%20x_p#0&quot;]"/>
          <p:cNvPicPr preferRelativeResize="0"/>
          <p:nvPr/>
        </p:nvPicPr>
        <p:blipFill>
          <a:blip r:embed="rId3">
            <a:alphaModFix/>
          </a:blip>
          <a:stretch>
            <a:fillRect/>
          </a:stretch>
        </p:blipFill>
        <p:spPr>
          <a:xfrm>
            <a:off x="2076332" y="2062636"/>
            <a:ext cx="8602135" cy="592667"/>
          </a:xfrm>
          <a:prstGeom prst="rect">
            <a:avLst/>
          </a:prstGeom>
          <a:noFill/>
          <a:ln>
            <a:noFill/>
          </a:ln>
        </p:spPr>
      </p:pic>
      <p:pic>
        <p:nvPicPr>
          <p:cNvPr id="1242" name="Google Shape;1242;p97" descr="\theta = [\theta_0, \theta_1, \dots, \theta_p]"/>
          <p:cNvPicPr preferRelativeResize="0"/>
          <p:nvPr/>
        </p:nvPicPr>
        <p:blipFill>
          <a:blip r:embed="rId4">
            <a:alphaModFix/>
          </a:blip>
          <a:stretch>
            <a:fillRect/>
          </a:stretch>
        </p:blipFill>
        <p:spPr>
          <a:xfrm>
            <a:off x="2833282" y="3282134"/>
            <a:ext cx="3621119" cy="524800"/>
          </a:xfrm>
          <a:prstGeom prst="rect">
            <a:avLst/>
          </a:prstGeom>
          <a:noFill/>
          <a:ln>
            <a:noFill/>
          </a:ln>
        </p:spPr>
      </p:pic>
      <p:grpSp>
        <p:nvGrpSpPr>
          <p:cNvPr id="2" name="Google Shape;1255;p98">
            <a:extLst>
              <a:ext uri="{FF2B5EF4-FFF2-40B4-BE49-F238E27FC236}">
                <a16:creationId xmlns:a16="http://schemas.microsoft.com/office/drawing/2014/main" id="{AAB50E6F-1725-2BC5-6B8D-E69C1B864A54}"/>
              </a:ext>
            </a:extLst>
          </p:cNvPr>
          <p:cNvGrpSpPr/>
          <p:nvPr/>
        </p:nvGrpSpPr>
        <p:grpSpPr>
          <a:xfrm>
            <a:off x="3278886" y="4635835"/>
            <a:ext cx="5634227" cy="1403699"/>
            <a:chOff x="4019912" y="2590775"/>
            <a:chExt cx="5072988" cy="1059288"/>
          </a:xfrm>
        </p:grpSpPr>
        <p:grpSp>
          <p:nvGrpSpPr>
            <p:cNvPr id="3" name="Google Shape;1256;p98">
              <a:extLst>
                <a:ext uri="{FF2B5EF4-FFF2-40B4-BE49-F238E27FC236}">
                  <a16:creationId xmlns:a16="http://schemas.microsoft.com/office/drawing/2014/main" id="{8BA919B0-8CDA-1B58-2DFA-0F4D8CE040AC}"/>
                </a:ext>
              </a:extLst>
            </p:cNvPr>
            <p:cNvGrpSpPr/>
            <p:nvPr/>
          </p:nvGrpSpPr>
          <p:grpSpPr>
            <a:xfrm>
              <a:off x="4019912" y="2590775"/>
              <a:ext cx="4628061" cy="586200"/>
              <a:chOff x="1277137" y="4181725"/>
              <a:chExt cx="4628061" cy="586200"/>
            </a:xfrm>
          </p:grpSpPr>
          <p:sp>
            <p:nvSpPr>
              <p:cNvPr id="6" name="Google Shape;1257;p98">
                <a:extLst>
                  <a:ext uri="{FF2B5EF4-FFF2-40B4-BE49-F238E27FC236}">
                    <a16:creationId xmlns:a16="http://schemas.microsoft.com/office/drawing/2014/main" id="{7B1E81CB-6743-EF9D-0E24-205C5F2C2D1D}"/>
                  </a:ext>
                </a:extLst>
              </p:cNvPr>
              <p:cNvSpPr/>
              <p:nvPr/>
            </p:nvSpPr>
            <p:spPr>
              <a:xfrm>
                <a:off x="3152350" y="4181725"/>
                <a:ext cx="2054700" cy="586200"/>
              </a:xfrm>
              <a:prstGeom prst="rect">
                <a:avLst/>
              </a:prstGeom>
              <a:solidFill>
                <a:srgbClr val="C9DAF8"/>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 name="Google Shape;1258;p98">
                <a:extLst>
                  <a:ext uri="{FF2B5EF4-FFF2-40B4-BE49-F238E27FC236}">
                    <a16:creationId xmlns:a16="http://schemas.microsoft.com/office/drawing/2014/main" id="{4BE33BB7-B2A7-262E-6075-F1428560AA68}"/>
                  </a:ext>
                </a:extLst>
              </p:cNvPr>
              <p:cNvCxnSpPr/>
              <p:nvPr/>
            </p:nvCxnSpPr>
            <p:spPr>
              <a:xfrm>
                <a:off x="2696050" y="4474824"/>
                <a:ext cx="456300" cy="0"/>
              </a:xfrm>
              <a:prstGeom prst="straightConnector1">
                <a:avLst/>
              </a:prstGeom>
              <a:noFill/>
              <a:ln w="28575" cap="flat" cmpd="sng">
                <a:solidFill>
                  <a:srgbClr val="000000"/>
                </a:solidFill>
                <a:prstDash val="solid"/>
                <a:round/>
                <a:headEnd type="none" w="med" len="med"/>
                <a:tailEnd type="triangle" w="med" len="med"/>
              </a:ln>
            </p:spPr>
          </p:cxnSp>
          <p:cxnSp>
            <p:nvCxnSpPr>
              <p:cNvPr id="8" name="Google Shape;1259;p98">
                <a:extLst>
                  <a:ext uri="{FF2B5EF4-FFF2-40B4-BE49-F238E27FC236}">
                    <a16:creationId xmlns:a16="http://schemas.microsoft.com/office/drawing/2014/main" id="{0154657E-BDA8-CC90-7B2C-1D9C37B92A92}"/>
                  </a:ext>
                </a:extLst>
              </p:cNvPr>
              <p:cNvCxnSpPr>
                <a:stCxn id="6" idx="3"/>
              </p:cNvCxnSpPr>
              <p:nvPr/>
            </p:nvCxnSpPr>
            <p:spPr>
              <a:xfrm>
                <a:off x="5207050" y="4474825"/>
                <a:ext cx="456300" cy="0"/>
              </a:xfrm>
              <a:prstGeom prst="straightConnector1">
                <a:avLst/>
              </a:prstGeom>
              <a:noFill/>
              <a:ln w="28575" cap="flat" cmpd="sng">
                <a:solidFill>
                  <a:srgbClr val="000000"/>
                </a:solidFill>
                <a:prstDash val="solid"/>
                <a:round/>
                <a:headEnd type="none" w="med" len="med"/>
                <a:tailEnd type="triangle" w="med" len="med"/>
              </a:ln>
            </p:spPr>
          </p:cxnSp>
          <p:pic>
            <p:nvPicPr>
              <p:cNvPr id="9" name="Google Shape;1260;p98" title="[0,0,0,&quot;https://latex-staging.easygenerator.com/eqneditor/editor.php?latex=%5Chat%7By%7D#0&quot;]">
                <a:extLst>
                  <a:ext uri="{FF2B5EF4-FFF2-40B4-BE49-F238E27FC236}">
                    <a16:creationId xmlns:a16="http://schemas.microsoft.com/office/drawing/2014/main" id="{90F168E9-07C7-6221-6F40-0CD1B092C4E7}"/>
                  </a:ext>
                </a:extLst>
              </p:cNvPr>
              <p:cNvPicPr preferRelativeResize="0"/>
              <p:nvPr/>
            </p:nvPicPr>
            <p:blipFill>
              <a:blip r:embed="rId5">
                <a:alphaModFix/>
              </a:blip>
              <a:stretch>
                <a:fillRect/>
              </a:stretch>
            </p:blipFill>
            <p:spPr>
              <a:xfrm>
                <a:off x="5702775" y="4278024"/>
                <a:ext cx="202423" cy="393600"/>
              </a:xfrm>
              <a:prstGeom prst="rect">
                <a:avLst/>
              </a:prstGeom>
              <a:noFill/>
              <a:ln>
                <a:noFill/>
              </a:ln>
            </p:spPr>
          </p:pic>
          <p:pic>
            <p:nvPicPr>
              <p:cNvPr id="10" name="Google Shape;1261;p98" title="[0,0,0,&quot;https://latex-staging.easygenerator.com/eqneditor/editor.php?latex=%5Cvec%7Bx%7D%3D%20(x_1%2C%20%5Cdots%2C%20x_p)#0&quot;]">
                <a:extLst>
                  <a:ext uri="{FF2B5EF4-FFF2-40B4-BE49-F238E27FC236}">
                    <a16:creationId xmlns:a16="http://schemas.microsoft.com/office/drawing/2014/main" id="{A4511E03-8BEB-D17C-4484-D3EFF26AFB9E}"/>
                  </a:ext>
                </a:extLst>
              </p:cNvPr>
              <p:cNvPicPr preferRelativeResize="0"/>
              <p:nvPr/>
            </p:nvPicPr>
            <p:blipFill rotWithShape="1">
              <a:blip r:embed="rId6">
                <a:alphaModFix/>
              </a:blip>
              <a:srcRect l="26144"/>
              <a:stretch/>
            </p:blipFill>
            <p:spPr>
              <a:xfrm>
                <a:off x="1277137" y="4331013"/>
                <a:ext cx="1377738" cy="287625"/>
              </a:xfrm>
              <a:prstGeom prst="rect">
                <a:avLst/>
              </a:prstGeom>
              <a:noFill/>
              <a:ln>
                <a:noFill/>
              </a:ln>
            </p:spPr>
          </p:pic>
        </p:grpSp>
        <p:sp>
          <p:nvSpPr>
            <p:cNvPr id="4" name="Google Shape;1262;p98">
              <a:extLst>
                <a:ext uri="{FF2B5EF4-FFF2-40B4-BE49-F238E27FC236}">
                  <a16:creationId xmlns:a16="http://schemas.microsoft.com/office/drawing/2014/main" id="{F27D6BB6-BE00-7297-1EDC-733D563E38C8}"/>
                </a:ext>
              </a:extLst>
            </p:cNvPr>
            <p:cNvSpPr txBox="1"/>
            <p:nvPr/>
          </p:nvSpPr>
          <p:spPr>
            <a:xfrm>
              <a:off x="4148450" y="2998400"/>
              <a:ext cx="1320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Light"/>
                  <a:ea typeface="Roboto Light"/>
                  <a:cs typeface="Roboto Light"/>
                  <a:sym typeface="Roboto Light"/>
                </a:rPr>
                <a:t>single input</a:t>
              </a:r>
              <a:br>
                <a:rPr lang="en">
                  <a:latin typeface="Roboto Light"/>
                  <a:ea typeface="Roboto Light"/>
                  <a:cs typeface="Roboto Light"/>
                  <a:sym typeface="Roboto Light"/>
                </a:rPr>
              </a:br>
              <a:r>
                <a:rPr lang="en">
                  <a:latin typeface="Roboto Light"/>
                  <a:ea typeface="Roboto Light"/>
                  <a:cs typeface="Roboto Light"/>
                  <a:sym typeface="Roboto Light"/>
                </a:rPr>
                <a:t>(p features)</a:t>
              </a:r>
              <a:endParaRPr>
                <a:latin typeface="Roboto Light"/>
                <a:ea typeface="Roboto Light"/>
                <a:cs typeface="Roboto Light"/>
                <a:sym typeface="Roboto Light"/>
              </a:endParaRPr>
            </a:p>
          </p:txBody>
        </p:sp>
        <p:sp>
          <p:nvSpPr>
            <p:cNvPr id="5" name="Google Shape;1263;p98">
              <a:extLst>
                <a:ext uri="{FF2B5EF4-FFF2-40B4-BE49-F238E27FC236}">
                  <a16:creationId xmlns:a16="http://schemas.microsoft.com/office/drawing/2014/main" id="{5A5DC178-AD7F-DD74-0520-15FFA11DF7A0}"/>
                </a:ext>
              </a:extLst>
            </p:cNvPr>
            <p:cNvSpPr txBox="1"/>
            <p:nvPr/>
          </p:nvSpPr>
          <p:spPr>
            <a:xfrm>
              <a:off x="7772300" y="3034463"/>
              <a:ext cx="1320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Light"/>
                  <a:ea typeface="Roboto Light"/>
                  <a:cs typeface="Roboto Light"/>
                  <a:sym typeface="Roboto Light"/>
                </a:rPr>
                <a:t>single</a:t>
              </a:r>
              <a:br>
                <a:rPr lang="en">
                  <a:latin typeface="Roboto Light"/>
                  <a:ea typeface="Roboto Light"/>
                  <a:cs typeface="Roboto Light"/>
                  <a:sym typeface="Roboto Light"/>
                </a:rPr>
              </a:br>
              <a:r>
                <a:rPr lang="en">
                  <a:latin typeface="Roboto Light"/>
                  <a:ea typeface="Roboto Light"/>
                  <a:cs typeface="Roboto Light"/>
                  <a:sym typeface="Roboto Light"/>
                </a:rPr>
                <a:t>prediction</a:t>
              </a:r>
              <a:endParaRPr>
                <a:latin typeface="Roboto Light"/>
                <a:ea typeface="Roboto Light"/>
                <a:cs typeface="Roboto Light"/>
                <a:sym typeface="Roboto Light"/>
              </a:endParaRPr>
            </a:p>
          </p:txBody>
        </p:sp>
      </p:grpSp>
      <p:pic>
        <p:nvPicPr>
          <p:cNvPr id="11" name="Google Shape;1280;p98" descr="\theta = [\theta_0, \theta_1, \dots, \theta_p]">
            <a:extLst>
              <a:ext uri="{FF2B5EF4-FFF2-40B4-BE49-F238E27FC236}">
                <a16:creationId xmlns:a16="http://schemas.microsoft.com/office/drawing/2014/main" id="{BF1952BD-78C9-8B37-CFA1-1FC5F567D014}"/>
              </a:ext>
            </a:extLst>
          </p:cNvPr>
          <p:cNvPicPr preferRelativeResize="0"/>
          <p:nvPr/>
        </p:nvPicPr>
        <p:blipFill>
          <a:blip r:embed="rId4">
            <a:alphaModFix/>
          </a:blip>
          <a:stretch>
            <a:fillRect/>
          </a:stretch>
        </p:blipFill>
        <p:spPr>
          <a:xfrm>
            <a:off x="5503623" y="4894907"/>
            <a:ext cx="2008838" cy="291125"/>
          </a:xfrm>
          <a:prstGeom prst="rect">
            <a:avLst/>
          </a:prstGeom>
          <a:noFill/>
          <a:ln>
            <a:noFill/>
          </a:ln>
        </p:spPr>
      </p:pic>
    </p:spTree>
    <p:extLst>
      <p:ext uri="{BB962C8B-B14F-4D97-AF65-F5344CB8AC3E}">
        <p14:creationId xmlns:p14="http://schemas.microsoft.com/office/powerpoint/2010/main" val="287808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FC7DE9-DBA1-4EAF-12E0-C5F361489776}"/>
              </a:ext>
            </a:extLst>
          </p:cNvPr>
          <p:cNvSpPr>
            <a:spLocks noGrp="1"/>
          </p:cNvSpPr>
          <p:nvPr>
            <p:ph type="title"/>
          </p:nvPr>
        </p:nvSpPr>
        <p:spPr/>
        <p:txBody>
          <a:bodyPr/>
          <a:lstStyle/>
          <a:p>
            <a:r>
              <a:rPr lang="en-US" dirty="0"/>
              <a:t>From SLR to Multiple linear regression</a:t>
            </a:r>
          </a:p>
        </p:txBody>
      </p:sp>
      <p:sp>
        <p:nvSpPr>
          <p:cNvPr id="4" name="Slide Number Placeholder 3">
            <a:extLst>
              <a:ext uri="{FF2B5EF4-FFF2-40B4-BE49-F238E27FC236}">
                <a16:creationId xmlns:a16="http://schemas.microsoft.com/office/drawing/2014/main" id="{5785E27E-A1E9-240B-81B5-73BC8E3CF8CD}"/>
              </a:ext>
            </a:extLst>
          </p:cNvPr>
          <p:cNvSpPr>
            <a:spLocks noGrp="1"/>
          </p:cNvSpPr>
          <p:nvPr>
            <p:ph type="sldNum" sz="quarter" idx="12"/>
          </p:nvPr>
        </p:nvSpPr>
        <p:spPr/>
        <p:txBody>
          <a:bodyPr/>
          <a:lstStyle/>
          <a:p>
            <a:fld id="{89D00882-420D-446F-B065-6675A463A27F}" type="slidenum">
              <a:rPr lang="en-US" smtClean="0"/>
              <a:pPr/>
              <a:t>46</a:t>
            </a:fld>
            <a:endParaRPr lang="en-US"/>
          </a:p>
        </p:txBody>
      </p:sp>
      <p:pic>
        <p:nvPicPr>
          <p:cNvPr id="5" name="Google Shape;406;p45" descr="{&quot;id&quot;:&quot;2&quot;,&quot;aid&quot;:null,&quot;code&quot;:&quot;$$\\begin{array}{|c|c|c|c|c|}\n\\hline\n{x_{11}}&amp;{x_{12}}&amp;{\\dots}&amp;{x_{1p}}&amp;{y_{1}}\\\\\n\\hline\n{x_{21}}&amp;{x_{22}}&amp;{\\dots}&amp;{x_{2p}}&amp;{y_{2}}\\\\\n\\hline\n{\\vdots}&amp;{\\vdots}&amp;{\\ddots}&amp;{\\vdots}&amp;{\\vdots}\\\\\n\\hline\n{x_{n1}}&amp;{x_{n2}}&amp;{\\dots}&amp;{x_{np}}&amp;{y_{n}}\\\\\n\\hline\n\\end{array}$$&quot;,&quot;font&quot;:{&quot;family&quot;:&quot;Arial&quot;,&quot;size&quot;:18,&quot;color&quot;:&quot;#000000&quot;},&quot;type&quot;:&quot;$$&quot;,&quot;backgroundColor&quot;:&quot;#FFFFFF&quot;,&quot;backgroundColorModified&quot;:false,&quot;ts&quot;:1688798384575,&quot;cs&quot;:&quot;9L4K5ffYk5hFvCXlPY0hJA==&quot;,&quot;size&quot;:{&quot;width&quot;:328.5,&quot;height&quot;:193.25}}">
            <a:extLst>
              <a:ext uri="{FF2B5EF4-FFF2-40B4-BE49-F238E27FC236}">
                <a16:creationId xmlns:a16="http://schemas.microsoft.com/office/drawing/2014/main" id="{C7F121C9-4AF0-48C0-C02A-6F70C36BE9F7}"/>
              </a:ext>
            </a:extLst>
          </p:cNvPr>
          <p:cNvPicPr preferRelativeResize="0"/>
          <p:nvPr/>
        </p:nvPicPr>
        <p:blipFill>
          <a:blip r:embed="rId2">
            <a:alphaModFix/>
          </a:blip>
          <a:stretch>
            <a:fillRect/>
          </a:stretch>
        </p:blipFill>
        <p:spPr>
          <a:xfrm>
            <a:off x="6834157" y="2249010"/>
            <a:ext cx="3128963" cy="1840706"/>
          </a:xfrm>
          <a:prstGeom prst="rect">
            <a:avLst/>
          </a:prstGeom>
          <a:noFill/>
          <a:ln>
            <a:noFill/>
          </a:ln>
        </p:spPr>
      </p:pic>
      <p:pic>
        <p:nvPicPr>
          <p:cNvPr id="6" name="Google Shape;407;p45" descr="{&quot;code&quot;:&quot;$$x_{:,1}$$&quot;,&quot;type&quot;:&quot;$$&quot;,&quot;id&quot;:&quot;23&quot;,&quot;aid&quot;:null,&quot;backgroundColor&quot;:&quot;#FFFFFF&quot;,&quot;font&quot;:{&quot;color&quot;:&quot;#000000&quot;,&quot;family&quot;:&quot;Arial&quot;,&quot;size&quot;:18},&quot;ts&quot;:1689107133380,&quot;cs&quot;:&quot;h+sBiy5ufNWL199d8V/dng==&quot;,&quot;size&quot;:{&quot;width&quot;:34.833333333333336,&quot;height&quot;:20.666666666666668}}">
            <a:extLst>
              <a:ext uri="{FF2B5EF4-FFF2-40B4-BE49-F238E27FC236}">
                <a16:creationId xmlns:a16="http://schemas.microsoft.com/office/drawing/2014/main" id="{C5EC0811-DE7E-840B-3158-B890BD55EB75}"/>
              </a:ext>
            </a:extLst>
          </p:cNvPr>
          <p:cNvPicPr preferRelativeResize="0"/>
          <p:nvPr/>
        </p:nvPicPr>
        <p:blipFill>
          <a:blip r:embed="rId3">
            <a:alphaModFix/>
          </a:blip>
          <a:stretch>
            <a:fillRect/>
          </a:stretch>
        </p:blipFill>
        <p:spPr>
          <a:xfrm>
            <a:off x="7047846" y="2039729"/>
            <a:ext cx="331788" cy="196850"/>
          </a:xfrm>
          <a:prstGeom prst="rect">
            <a:avLst/>
          </a:prstGeom>
          <a:noFill/>
          <a:ln>
            <a:noFill/>
          </a:ln>
        </p:spPr>
      </p:pic>
      <p:pic>
        <p:nvPicPr>
          <p:cNvPr id="7" name="Google Shape;408;p45" descr="{&quot;code&quot;:&quot;$$x_{:,2}$$&quot;,&quot;backgroundColor&quot;:&quot;#FFFFFF&quot;,&quot;aid&quot;:null,&quot;font&quot;:{&quot;size&quot;:18,&quot;color&quot;:&quot;#000000&quot;,&quot;family&quot;:&quot;Arial&quot;},&quot;type&quot;:&quot;$$&quot;,&quot;id&quot;:&quot;23&quot;,&quot;ts&quot;:1689107149080,&quot;cs&quot;:&quot;to4uIJzz+HfiGbBmbRMriQ==&quot;,&quot;size&quot;:{&quot;width&quot;:35.166666666666664,&quot;height&quot;:20.666666666666668}}">
            <a:extLst>
              <a:ext uri="{FF2B5EF4-FFF2-40B4-BE49-F238E27FC236}">
                <a16:creationId xmlns:a16="http://schemas.microsoft.com/office/drawing/2014/main" id="{AC20B6E6-5632-3693-38BA-D64375DB7390}"/>
              </a:ext>
            </a:extLst>
          </p:cNvPr>
          <p:cNvPicPr preferRelativeResize="0"/>
          <p:nvPr/>
        </p:nvPicPr>
        <p:blipFill>
          <a:blip r:embed="rId4">
            <a:alphaModFix/>
          </a:blip>
          <a:stretch>
            <a:fillRect/>
          </a:stretch>
        </p:blipFill>
        <p:spPr>
          <a:xfrm>
            <a:off x="7673110" y="2039918"/>
            <a:ext cx="334963" cy="196850"/>
          </a:xfrm>
          <a:prstGeom prst="rect">
            <a:avLst/>
          </a:prstGeom>
          <a:noFill/>
          <a:ln>
            <a:noFill/>
          </a:ln>
        </p:spPr>
      </p:pic>
      <p:pic>
        <p:nvPicPr>
          <p:cNvPr id="8" name="Google Shape;409;p45" descr="{&quot;type&quot;:&quot;$$&quot;,&quot;aid&quot;:null,&quot;backgroundColor&quot;:&quot;#FFFFFF&quot;,&quot;id&quot;:&quot;23&quot;,&quot;font&quot;:{&quot;color&quot;:&quot;#000000&quot;,&quot;family&quot;:&quot;Arial&quot;,&quot;size&quot;:18},&quot;code&quot;:&quot;$$x_{:,p}$$&quot;,&quot;ts&quot;:1689107164612,&quot;cs&quot;:&quot;NnB8TyjSplDFJRptx8AWfw==&quot;,&quot;size&quot;:{&quot;width&quot;:36.166666666666664,&quot;height&quot;:20.666666666666668}}">
            <a:extLst>
              <a:ext uri="{FF2B5EF4-FFF2-40B4-BE49-F238E27FC236}">
                <a16:creationId xmlns:a16="http://schemas.microsoft.com/office/drawing/2014/main" id="{03F76D6E-42E8-30B9-90D0-8185206A3634}"/>
              </a:ext>
            </a:extLst>
          </p:cNvPr>
          <p:cNvPicPr preferRelativeResize="0"/>
          <p:nvPr/>
        </p:nvPicPr>
        <p:blipFill>
          <a:blip r:embed="rId5">
            <a:alphaModFix/>
          </a:blip>
          <a:stretch>
            <a:fillRect/>
          </a:stretch>
        </p:blipFill>
        <p:spPr>
          <a:xfrm>
            <a:off x="8984438" y="2039061"/>
            <a:ext cx="344488" cy="196850"/>
          </a:xfrm>
          <a:prstGeom prst="rect">
            <a:avLst/>
          </a:prstGeom>
          <a:noFill/>
          <a:ln>
            <a:noFill/>
          </a:ln>
        </p:spPr>
      </p:pic>
      <p:pic>
        <p:nvPicPr>
          <p:cNvPr id="9" name="Google Shape;410;p45" descr="{&quot;font&quot;:{&quot;size&quot;:18,&quot;color&quot;:&quot;#000000&quot;,&quot;family&quot;:&quot;Arial&quot;},&quot;id&quot;:&quot;23&quot;,&quot;backgroundColor&quot;:&quot;#FFFFFF&quot;,&quot;aid&quot;:null,&quot;type&quot;:&quot;$$&quot;,&quot;code&quot;:&quot;$$y$$&quot;,&quot;ts&quot;:1688671824497,&quot;cs&quot;:&quot;OOe5VMZlSnzhPkc2hlwXUg==&quot;,&quot;size&quot;:{&quot;width&quot;:13.333333333333334,&quot;height&quot;:18.333333333333332}}">
            <a:extLst>
              <a:ext uri="{FF2B5EF4-FFF2-40B4-BE49-F238E27FC236}">
                <a16:creationId xmlns:a16="http://schemas.microsoft.com/office/drawing/2014/main" id="{69402BD0-E70F-79AE-0455-D7DB8DA7D927}"/>
              </a:ext>
            </a:extLst>
          </p:cNvPr>
          <p:cNvPicPr preferRelativeResize="0"/>
          <p:nvPr/>
        </p:nvPicPr>
        <p:blipFill>
          <a:blip r:embed="rId6">
            <a:alphaModFix/>
          </a:blip>
          <a:stretch>
            <a:fillRect/>
          </a:stretch>
        </p:blipFill>
        <p:spPr>
          <a:xfrm>
            <a:off x="9664463" y="2017535"/>
            <a:ext cx="127000" cy="174625"/>
          </a:xfrm>
          <a:prstGeom prst="rect">
            <a:avLst/>
          </a:prstGeom>
          <a:noFill/>
          <a:ln>
            <a:noFill/>
          </a:ln>
        </p:spPr>
      </p:pic>
      <p:pic>
        <p:nvPicPr>
          <p:cNvPr id="10" name="Google Shape;415;p45">
            <a:extLst>
              <a:ext uri="{FF2B5EF4-FFF2-40B4-BE49-F238E27FC236}">
                <a16:creationId xmlns:a16="http://schemas.microsoft.com/office/drawing/2014/main" id="{0BF6D117-31DC-8D51-B6DC-FEFDCD642430}"/>
              </a:ext>
            </a:extLst>
          </p:cNvPr>
          <p:cNvPicPr preferRelativeResize="0"/>
          <p:nvPr/>
        </p:nvPicPr>
        <p:blipFill>
          <a:blip r:embed="rId7">
            <a:alphaModFix/>
          </a:blip>
          <a:stretch>
            <a:fillRect/>
          </a:stretch>
        </p:blipFill>
        <p:spPr>
          <a:xfrm>
            <a:off x="7505083" y="4171721"/>
            <a:ext cx="1839001" cy="1943152"/>
          </a:xfrm>
          <a:prstGeom prst="rect">
            <a:avLst/>
          </a:prstGeom>
          <a:noFill/>
          <a:ln>
            <a:noFill/>
          </a:ln>
        </p:spPr>
      </p:pic>
      <p:cxnSp>
        <p:nvCxnSpPr>
          <p:cNvPr id="11" name="Google Shape;416;p45">
            <a:extLst>
              <a:ext uri="{FF2B5EF4-FFF2-40B4-BE49-F238E27FC236}">
                <a16:creationId xmlns:a16="http://schemas.microsoft.com/office/drawing/2014/main" id="{7CF5E908-252B-5649-85B9-64591C7AEA27}"/>
              </a:ext>
            </a:extLst>
          </p:cNvPr>
          <p:cNvCxnSpPr/>
          <p:nvPr/>
        </p:nvCxnSpPr>
        <p:spPr>
          <a:xfrm>
            <a:off x="8984432" y="4190210"/>
            <a:ext cx="9300" cy="1803900"/>
          </a:xfrm>
          <a:prstGeom prst="straightConnector1">
            <a:avLst/>
          </a:prstGeom>
          <a:noFill/>
          <a:ln w="9525" cap="flat" cmpd="sng">
            <a:solidFill>
              <a:schemeClr val="dk2"/>
            </a:solidFill>
            <a:prstDash val="solid"/>
            <a:round/>
            <a:headEnd type="none" w="med" len="med"/>
            <a:tailEnd type="none" w="med" len="med"/>
          </a:ln>
        </p:spPr>
      </p:cxnSp>
      <p:pic>
        <p:nvPicPr>
          <p:cNvPr id="12" name="Google Shape;399;p45" descr="{&quot;font&quot;:{&quot;size&quot;:18,&quot;family&quot;:&quot;Arial&quot;,&quot;color&quot;:&quot;#000000&quot;},&quot;code&quot;:&quot;$$\\begin{array}{|c|c|}\n\\hline\n{x_{1}}&amp;{y_{1}}\\\\\n\\hline\n{x_{2}}&amp;{y_{2}}\\\\\n\\hline\n{\\vdots}&amp;{\\vdots}\\\\\n\\hline\n{x_{n}}&amp;{y_{n}}\\\\\n\\hline\n\\end{array}$$&quot;,&quot;type&quot;:&quot;$$&quot;,&quot;backgroundColor&quot;:&quot;#FFFFFF&quot;,&quot;id&quot;:&quot;21&quot;,&quot;aid&quot;:null,&quot;ts&quot;:1688670698231,&quot;cs&quot;:&quot;HHxAQnp5QS6AlMckr6b+fg==&quot;,&quot;size&quot;:{&quot;width&quot;:113.33333333333333,&quot;height&quot;:184}}">
            <a:extLst>
              <a:ext uri="{FF2B5EF4-FFF2-40B4-BE49-F238E27FC236}">
                <a16:creationId xmlns:a16="http://schemas.microsoft.com/office/drawing/2014/main" id="{C3573E4E-B1BA-3C52-909C-FC3A42939C67}"/>
              </a:ext>
            </a:extLst>
          </p:cNvPr>
          <p:cNvPicPr preferRelativeResize="0"/>
          <p:nvPr/>
        </p:nvPicPr>
        <p:blipFill>
          <a:blip r:embed="rId8">
            <a:alphaModFix/>
          </a:blip>
          <a:stretch>
            <a:fillRect/>
          </a:stretch>
        </p:blipFill>
        <p:spPr>
          <a:xfrm>
            <a:off x="1484749" y="2210051"/>
            <a:ext cx="1079500" cy="1752600"/>
          </a:xfrm>
          <a:prstGeom prst="rect">
            <a:avLst/>
          </a:prstGeom>
          <a:noFill/>
          <a:ln>
            <a:noFill/>
          </a:ln>
        </p:spPr>
      </p:pic>
      <p:pic>
        <p:nvPicPr>
          <p:cNvPr id="13" name="Google Shape;401;p45" descr="{&quot;backgroundColor&quot;:&quot;#FFFFFF&quot;,&quot;type&quot;:&quot;$$&quot;,&quot;code&quot;:&quot;$$x$$&quot;,&quot;aid&quot;:null,&quot;id&quot;:&quot;23&quot;,&quot;font&quot;:{&quot;color&quot;:&quot;#000000&quot;,&quot;size&quot;:18,&quot;family&quot;:&quot;Arial&quot;},&quot;ts&quot;:1688671793779,&quot;cs&quot;:&quot;aA9+untC3aXJkB01CqBglg==&quot;,&quot;size&quot;:{&quot;width&quot;:13.833333333333334,&quot;height&quot;:12.833333333333334}}">
            <a:extLst>
              <a:ext uri="{FF2B5EF4-FFF2-40B4-BE49-F238E27FC236}">
                <a16:creationId xmlns:a16="http://schemas.microsoft.com/office/drawing/2014/main" id="{9E140512-7D36-8BB2-1CF6-491434182B57}"/>
              </a:ext>
            </a:extLst>
          </p:cNvPr>
          <p:cNvPicPr preferRelativeResize="0"/>
          <p:nvPr/>
        </p:nvPicPr>
        <p:blipFill>
          <a:blip r:embed="rId9">
            <a:alphaModFix/>
          </a:blip>
          <a:stretch>
            <a:fillRect/>
          </a:stretch>
        </p:blipFill>
        <p:spPr>
          <a:xfrm>
            <a:off x="1682024" y="1960726"/>
            <a:ext cx="131763" cy="122238"/>
          </a:xfrm>
          <a:prstGeom prst="rect">
            <a:avLst/>
          </a:prstGeom>
          <a:noFill/>
          <a:ln>
            <a:noFill/>
          </a:ln>
        </p:spPr>
      </p:pic>
      <p:pic>
        <p:nvPicPr>
          <p:cNvPr id="14" name="Google Shape;402;p45" descr="{&quot;font&quot;:{&quot;size&quot;:18,&quot;color&quot;:&quot;#000000&quot;,&quot;family&quot;:&quot;Arial&quot;},&quot;id&quot;:&quot;23&quot;,&quot;backgroundColor&quot;:&quot;#FFFFFF&quot;,&quot;aid&quot;:null,&quot;type&quot;:&quot;$$&quot;,&quot;code&quot;:&quot;$$y$$&quot;,&quot;ts&quot;:1688671824497,&quot;cs&quot;:&quot;OOe5VMZlSnzhPkc2hlwXUg==&quot;,&quot;size&quot;:{&quot;width&quot;:13.333333333333334,&quot;height&quot;:18.333333333333332}}">
            <a:extLst>
              <a:ext uri="{FF2B5EF4-FFF2-40B4-BE49-F238E27FC236}">
                <a16:creationId xmlns:a16="http://schemas.microsoft.com/office/drawing/2014/main" id="{3414621B-167D-1AFA-DC1C-1B157116BCE0}"/>
              </a:ext>
            </a:extLst>
          </p:cNvPr>
          <p:cNvPicPr preferRelativeResize="0"/>
          <p:nvPr/>
        </p:nvPicPr>
        <p:blipFill>
          <a:blip r:embed="rId6">
            <a:alphaModFix/>
          </a:blip>
          <a:stretch>
            <a:fillRect/>
          </a:stretch>
        </p:blipFill>
        <p:spPr>
          <a:xfrm>
            <a:off x="2228880" y="1934539"/>
            <a:ext cx="127000" cy="174625"/>
          </a:xfrm>
          <a:prstGeom prst="rect">
            <a:avLst/>
          </a:prstGeom>
          <a:noFill/>
          <a:ln>
            <a:noFill/>
          </a:ln>
        </p:spPr>
      </p:pic>
      <p:pic>
        <p:nvPicPr>
          <p:cNvPr id="15" name="Google Shape;412;p45">
            <a:extLst>
              <a:ext uri="{FF2B5EF4-FFF2-40B4-BE49-F238E27FC236}">
                <a16:creationId xmlns:a16="http://schemas.microsoft.com/office/drawing/2014/main" id="{835E02BF-5483-5CC1-0E9A-77988FA79256}"/>
              </a:ext>
            </a:extLst>
          </p:cNvPr>
          <p:cNvPicPr preferRelativeResize="0"/>
          <p:nvPr/>
        </p:nvPicPr>
        <p:blipFill>
          <a:blip r:embed="rId10">
            <a:alphaModFix/>
          </a:blip>
          <a:stretch>
            <a:fillRect/>
          </a:stretch>
        </p:blipFill>
        <p:spPr>
          <a:xfrm>
            <a:off x="1462214" y="4089716"/>
            <a:ext cx="1124599" cy="1941133"/>
          </a:xfrm>
          <a:prstGeom prst="rect">
            <a:avLst/>
          </a:prstGeom>
          <a:noFill/>
          <a:ln>
            <a:noFill/>
          </a:ln>
        </p:spPr>
      </p:pic>
      <p:cxnSp>
        <p:nvCxnSpPr>
          <p:cNvPr id="16" name="Google Shape;413;p45">
            <a:extLst>
              <a:ext uri="{FF2B5EF4-FFF2-40B4-BE49-F238E27FC236}">
                <a16:creationId xmlns:a16="http://schemas.microsoft.com/office/drawing/2014/main" id="{BDA997FB-C033-27A8-4EAC-F1544BD552F0}"/>
              </a:ext>
            </a:extLst>
          </p:cNvPr>
          <p:cNvCxnSpPr/>
          <p:nvPr/>
        </p:nvCxnSpPr>
        <p:spPr>
          <a:xfrm>
            <a:off x="2217361" y="4175801"/>
            <a:ext cx="9300" cy="1803900"/>
          </a:xfrm>
          <a:prstGeom prst="straightConnector1">
            <a:avLst/>
          </a:prstGeom>
          <a:noFill/>
          <a:ln w="952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781900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0"/>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Define the </a:t>
            </a:r>
            <a:r>
              <a:rPr lang="en" b="1" dirty="0">
                <a:solidFill>
                  <a:schemeClr val="accent3"/>
                </a:solidFill>
                <a:latin typeface="Roboto"/>
                <a:ea typeface="Roboto"/>
                <a:cs typeface="Roboto"/>
                <a:sym typeface="Roboto"/>
              </a:rPr>
              <a:t>multiple linear regression</a:t>
            </a:r>
            <a:r>
              <a:rPr lang="en" dirty="0"/>
              <a:t> model:</a:t>
            </a:r>
            <a:endParaRPr dirty="0"/>
          </a:p>
          <a:p>
            <a:pPr marL="0" indent="0">
              <a:buNone/>
            </a:pPr>
            <a:endParaRPr dirty="0"/>
          </a:p>
          <a:p>
            <a:pPr marL="0" indent="0">
              <a:buNone/>
            </a:pPr>
            <a:r>
              <a:rPr lang="en" dirty="0"/>
              <a:t>			   . </a:t>
            </a:r>
            <a:endParaRPr dirty="0"/>
          </a:p>
        </p:txBody>
      </p:sp>
      <p:sp>
        <p:nvSpPr>
          <p:cNvPr id="276" name="Google Shape;276;p40"/>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Multiple Linear Regression</a:t>
            </a:r>
            <a:endParaRPr/>
          </a:p>
        </p:txBody>
      </p:sp>
      <p:sp>
        <p:nvSpPr>
          <p:cNvPr id="277" name="Google Shape;277;p4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47</a:t>
            </a:fld>
            <a:endParaRPr/>
          </a:p>
        </p:txBody>
      </p:sp>
      <p:pic>
        <p:nvPicPr>
          <p:cNvPr id="278" name="Google Shape;278;p40" title="[0,0,0,&quot;https://latex-staging.easygenerator.com/eqneditor/editor.php?latex=%5Chat%7By%7D%20%3D%20%5Ctheta_0%20%2B%20%5Ctheta_1%20x_1%20%2B%20%5Ctheta_2%20x_2%20%2B%20%5Cdots%20%2B%20%5Ctheta_p%20x_p#0&quot;]"/>
          <p:cNvPicPr preferRelativeResize="0"/>
          <p:nvPr/>
        </p:nvPicPr>
        <p:blipFill>
          <a:blip r:embed="rId3">
            <a:alphaModFix/>
          </a:blip>
          <a:stretch>
            <a:fillRect/>
          </a:stretch>
        </p:blipFill>
        <p:spPr>
          <a:xfrm>
            <a:off x="2167536" y="1847866"/>
            <a:ext cx="8602135" cy="592667"/>
          </a:xfrm>
          <a:prstGeom prst="rect">
            <a:avLst/>
          </a:prstGeom>
          <a:noFill/>
          <a:ln>
            <a:noFill/>
          </a:ln>
        </p:spPr>
      </p:pic>
      <p:grpSp>
        <p:nvGrpSpPr>
          <p:cNvPr id="283" name="Google Shape;283;p40"/>
          <p:cNvGrpSpPr/>
          <p:nvPr/>
        </p:nvGrpSpPr>
        <p:grpSpPr>
          <a:xfrm>
            <a:off x="2889267" y="3263900"/>
            <a:ext cx="5867733" cy="2602312"/>
            <a:chOff x="4924300" y="3044850"/>
            <a:chExt cx="4400800" cy="1951734"/>
          </a:xfrm>
        </p:grpSpPr>
        <p:grpSp>
          <p:nvGrpSpPr>
            <p:cNvPr id="284" name="Google Shape;284;p40"/>
            <p:cNvGrpSpPr/>
            <p:nvPr/>
          </p:nvGrpSpPr>
          <p:grpSpPr>
            <a:xfrm>
              <a:off x="4924300" y="3044850"/>
              <a:ext cx="4400800" cy="1951734"/>
              <a:chOff x="4924300" y="1825650"/>
              <a:chExt cx="4400800" cy="1951734"/>
            </a:xfrm>
          </p:grpSpPr>
          <p:grpSp>
            <p:nvGrpSpPr>
              <p:cNvPr id="285" name="Google Shape;285;p40"/>
              <p:cNvGrpSpPr/>
              <p:nvPr/>
            </p:nvGrpSpPr>
            <p:grpSpPr>
              <a:xfrm>
                <a:off x="4924300" y="1825650"/>
                <a:ext cx="4400800" cy="1951734"/>
                <a:chOff x="4924300" y="1825650"/>
                <a:chExt cx="4400800" cy="1951734"/>
              </a:xfrm>
            </p:grpSpPr>
            <p:grpSp>
              <p:nvGrpSpPr>
                <p:cNvPr id="286" name="Google Shape;286;p40"/>
                <p:cNvGrpSpPr/>
                <p:nvPr/>
              </p:nvGrpSpPr>
              <p:grpSpPr>
                <a:xfrm>
                  <a:off x="4924300" y="1825650"/>
                  <a:ext cx="4400800" cy="1951734"/>
                  <a:chOff x="4844500" y="1342000"/>
                  <a:chExt cx="4400800" cy="1951734"/>
                </a:xfrm>
              </p:grpSpPr>
              <p:grpSp>
                <p:nvGrpSpPr>
                  <p:cNvPr id="287" name="Google Shape;287;p40"/>
                  <p:cNvGrpSpPr/>
                  <p:nvPr/>
                </p:nvGrpSpPr>
                <p:grpSpPr>
                  <a:xfrm>
                    <a:off x="6489800" y="1342000"/>
                    <a:ext cx="2234373" cy="1834800"/>
                    <a:chOff x="3747025" y="2932950"/>
                    <a:chExt cx="2234373" cy="1834800"/>
                  </a:xfrm>
                </p:grpSpPr>
                <p:sp>
                  <p:nvSpPr>
                    <p:cNvPr id="288" name="Google Shape;288;p40"/>
                    <p:cNvSpPr/>
                    <p:nvPr/>
                  </p:nvSpPr>
                  <p:spPr>
                    <a:xfrm>
                      <a:off x="4203325" y="2932950"/>
                      <a:ext cx="902100" cy="1834800"/>
                    </a:xfrm>
                    <a:prstGeom prst="rect">
                      <a:avLst/>
                    </a:prstGeom>
                    <a:solidFill>
                      <a:srgbClr val="C9DAF8"/>
                    </a:solid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289" name="Google Shape;289;p40"/>
                    <p:cNvCxnSpPr/>
                    <p:nvPr/>
                  </p:nvCxnSpPr>
                  <p:spPr>
                    <a:xfrm>
                      <a:off x="3747025" y="3850349"/>
                      <a:ext cx="456300" cy="0"/>
                    </a:xfrm>
                    <a:prstGeom prst="straightConnector1">
                      <a:avLst/>
                    </a:prstGeom>
                    <a:noFill/>
                    <a:ln w="28575" cap="flat" cmpd="sng">
                      <a:solidFill>
                        <a:srgbClr val="000000"/>
                      </a:solidFill>
                      <a:prstDash val="solid"/>
                      <a:round/>
                      <a:headEnd type="none" w="med" len="med"/>
                      <a:tailEnd type="triangle" w="med" len="med"/>
                    </a:ln>
                  </p:spPr>
                </p:cxnSp>
                <p:cxnSp>
                  <p:nvCxnSpPr>
                    <p:cNvPr id="290" name="Google Shape;290;p40"/>
                    <p:cNvCxnSpPr/>
                    <p:nvPr/>
                  </p:nvCxnSpPr>
                  <p:spPr>
                    <a:xfrm>
                      <a:off x="5105350" y="3850350"/>
                      <a:ext cx="456300" cy="0"/>
                    </a:xfrm>
                    <a:prstGeom prst="straightConnector1">
                      <a:avLst/>
                    </a:prstGeom>
                    <a:noFill/>
                    <a:ln w="28575" cap="flat" cmpd="sng">
                      <a:solidFill>
                        <a:srgbClr val="000000"/>
                      </a:solidFill>
                      <a:prstDash val="solid"/>
                      <a:round/>
                      <a:headEnd type="none" w="med" len="med"/>
                      <a:tailEnd type="triangle" w="med" len="med"/>
                    </a:ln>
                  </p:spPr>
                </p:cxnSp>
                <p:pic>
                  <p:nvPicPr>
                    <p:cNvPr id="291" name="Google Shape;291;p40" title="[0,0,0,&quot;https://latex-staging.easygenerator.com/eqneditor/editor.php?latex=%5Chat%7By%7D#0&quot;]"/>
                    <p:cNvPicPr preferRelativeResize="0"/>
                    <p:nvPr/>
                  </p:nvPicPr>
                  <p:blipFill>
                    <a:blip r:embed="rId4">
                      <a:alphaModFix/>
                    </a:blip>
                    <a:stretch>
                      <a:fillRect/>
                    </a:stretch>
                  </p:blipFill>
                  <p:spPr>
                    <a:xfrm>
                      <a:off x="5778975" y="3592224"/>
                      <a:ext cx="202423" cy="393600"/>
                    </a:xfrm>
                    <a:prstGeom prst="rect">
                      <a:avLst/>
                    </a:prstGeom>
                    <a:noFill/>
                    <a:ln>
                      <a:noFill/>
                    </a:ln>
                  </p:spPr>
                </p:pic>
              </p:grpSp>
              <p:sp>
                <p:nvSpPr>
                  <p:cNvPr id="292" name="Google Shape;292;p40"/>
                  <p:cNvSpPr txBox="1"/>
                  <p:nvPr/>
                </p:nvSpPr>
                <p:spPr>
                  <a:xfrm>
                    <a:off x="4844500" y="2693600"/>
                    <a:ext cx="1865400" cy="600134"/>
                  </a:xfrm>
                  <a:prstGeom prst="rect">
                    <a:avLst/>
                  </a:prstGeom>
                  <a:noFill/>
                  <a:ln>
                    <a:noFill/>
                  </a:ln>
                </p:spPr>
                <p:txBody>
                  <a:bodyPr spcFirstLastPara="1" wrap="square" lIns="121900" tIns="121900" rIns="121900" bIns="121900" anchor="t" anchorCtr="0">
                    <a:spAutoFit/>
                  </a:bodyPr>
                  <a:lstStyle/>
                  <a:p>
                    <a:pPr algn="ctr">
                      <a:spcBef>
                        <a:spcPts val="0"/>
                      </a:spcBef>
                      <a:spcAft>
                        <a:spcPts val="0"/>
                      </a:spcAft>
                      <a:buClr>
                        <a:schemeClr val="dk1"/>
                      </a:buClr>
                      <a:buSzPts val="1100"/>
                    </a:pPr>
                    <a:r>
                      <a:rPr lang="en">
                        <a:latin typeface="Roboto Light"/>
                        <a:ea typeface="Roboto Light"/>
                        <a:cs typeface="Roboto Light"/>
                        <a:sym typeface="Roboto Light"/>
                      </a:rPr>
                      <a:t>single </a:t>
                    </a:r>
                    <a:r>
                      <a:rPr lang="en" b="1">
                        <a:latin typeface="Roboto"/>
                        <a:ea typeface="Roboto"/>
                        <a:cs typeface="Roboto"/>
                        <a:sym typeface="Roboto"/>
                      </a:rPr>
                      <a:t>observation</a:t>
                    </a:r>
                    <a:endParaRPr b="1">
                      <a:latin typeface="Roboto"/>
                      <a:ea typeface="Roboto"/>
                      <a:cs typeface="Roboto"/>
                      <a:sym typeface="Roboto"/>
                    </a:endParaRPr>
                  </a:p>
                  <a:p>
                    <a:pPr algn="ctr">
                      <a:spcBef>
                        <a:spcPts val="0"/>
                      </a:spcBef>
                      <a:spcAft>
                        <a:spcPts val="0"/>
                      </a:spcAft>
                    </a:pPr>
                    <a:r>
                      <a:rPr lang="en">
                        <a:latin typeface="Roboto Light"/>
                        <a:ea typeface="Roboto Light"/>
                        <a:cs typeface="Roboto Light"/>
                        <a:sym typeface="Roboto Light"/>
                      </a:rPr>
                      <a:t>(p features)</a:t>
                    </a:r>
                    <a:endParaRPr>
                      <a:latin typeface="Roboto Light"/>
                      <a:ea typeface="Roboto Light"/>
                      <a:cs typeface="Roboto Light"/>
                      <a:sym typeface="Roboto Light"/>
                    </a:endParaRPr>
                  </a:p>
                </p:txBody>
              </p:sp>
              <p:sp>
                <p:nvSpPr>
                  <p:cNvPr id="293" name="Google Shape;293;p40"/>
                  <p:cNvSpPr txBox="1"/>
                  <p:nvPr/>
                </p:nvSpPr>
                <p:spPr>
                  <a:xfrm>
                    <a:off x="7924700" y="2424863"/>
                    <a:ext cx="1320600" cy="600134"/>
                  </a:xfrm>
                  <a:prstGeom prst="rect">
                    <a:avLst/>
                  </a:prstGeom>
                  <a:noFill/>
                  <a:ln>
                    <a:noFill/>
                  </a:ln>
                </p:spPr>
                <p:txBody>
                  <a:bodyPr spcFirstLastPara="1" wrap="square" lIns="121900" tIns="121900" rIns="121900" bIns="121900" anchor="t" anchorCtr="0">
                    <a:spAutoFit/>
                  </a:bodyPr>
                  <a:lstStyle/>
                  <a:p>
                    <a:pPr algn="ctr">
                      <a:spcBef>
                        <a:spcPts val="0"/>
                      </a:spcBef>
                      <a:spcAft>
                        <a:spcPts val="0"/>
                      </a:spcAft>
                    </a:pPr>
                    <a:r>
                      <a:rPr lang="en">
                        <a:latin typeface="Roboto Light"/>
                        <a:ea typeface="Roboto Light"/>
                        <a:cs typeface="Roboto Light"/>
                        <a:sym typeface="Roboto Light"/>
                      </a:rPr>
                      <a:t>single</a:t>
                    </a:r>
                    <a:br>
                      <a:rPr lang="en">
                        <a:latin typeface="Roboto Light"/>
                        <a:ea typeface="Roboto Light"/>
                        <a:cs typeface="Roboto Light"/>
                        <a:sym typeface="Roboto Light"/>
                      </a:rPr>
                    </a:br>
                    <a:r>
                      <a:rPr lang="en">
                        <a:latin typeface="Roboto Light"/>
                        <a:ea typeface="Roboto Light"/>
                        <a:cs typeface="Roboto Light"/>
                        <a:sym typeface="Roboto Light"/>
                      </a:rPr>
                      <a:t>prediction</a:t>
                    </a:r>
                    <a:endParaRPr>
                      <a:latin typeface="Roboto Light"/>
                      <a:ea typeface="Roboto Light"/>
                      <a:cs typeface="Roboto Light"/>
                      <a:sym typeface="Roboto Light"/>
                    </a:endParaRPr>
                  </a:p>
                </p:txBody>
              </p:sp>
            </p:grpSp>
            <p:pic>
              <p:nvPicPr>
                <p:cNvPr id="294" name="Google Shape;294;p40" descr="\vec{x} = "/>
                <p:cNvPicPr preferRelativeResize="0"/>
                <p:nvPr/>
              </p:nvPicPr>
              <p:blipFill>
                <a:blip r:embed="rId5">
                  <a:alphaModFix/>
                </a:blip>
                <a:stretch>
                  <a:fillRect/>
                </a:stretch>
              </p:blipFill>
              <p:spPr>
                <a:xfrm>
                  <a:off x="5322900" y="2594384"/>
                  <a:ext cx="590339" cy="287500"/>
                </a:xfrm>
                <a:prstGeom prst="rect">
                  <a:avLst/>
                </a:prstGeom>
                <a:noFill/>
                <a:ln>
                  <a:noFill/>
                </a:ln>
              </p:spPr>
            </p:pic>
          </p:grpSp>
          <p:pic>
            <p:nvPicPr>
              <p:cNvPr id="295" name="Google Shape;295;p40" descr="\begin{bmatrix}&#10;\theta_0\\&#10;\theta_1\\&#10;\vdots\\&#10;\theta_p&#10;\end{bmatrix}"/>
              <p:cNvPicPr preferRelativeResize="0"/>
              <p:nvPr/>
            </p:nvPicPr>
            <p:blipFill>
              <a:blip r:embed="rId6">
                <a:alphaModFix/>
              </a:blip>
              <a:stretch>
                <a:fillRect/>
              </a:stretch>
            </p:blipFill>
            <p:spPr>
              <a:xfrm>
                <a:off x="7205625" y="1903275"/>
                <a:ext cx="548700" cy="1669733"/>
              </a:xfrm>
              <a:prstGeom prst="rect">
                <a:avLst/>
              </a:prstGeom>
              <a:noFill/>
              <a:ln>
                <a:noFill/>
              </a:ln>
            </p:spPr>
          </p:pic>
        </p:grpSp>
        <p:pic>
          <p:nvPicPr>
            <p:cNvPr id="296" name="Google Shape;296;p40" descr="\begin{bmatrix} x_1\\ \vdots\\ x_p\end{bmatrix}"/>
            <p:cNvPicPr preferRelativeResize="0"/>
            <p:nvPr/>
          </p:nvPicPr>
          <p:blipFill>
            <a:blip r:embed="rId7">
              <a:alphaModFix/>
            </a:blip>
            <a:stretch>
              <a:fillRect/>
            </a:stretch>
          </p:blipFill>
          <p:spPr>
            <a:xfrm>
              <a:off x="5968225" y="3397100"/>
              <a:ext cx="501446" cy="1072050"/>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1"/>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48"/>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Vector Notation</a:t>
            </a:r>
            <a:endParaRPr/>
          </a:p>
        </p:txBody>
      </p:sp>
      <p:sp>
        <p:nvSpPr>
          <p:cNvPr id="466" name="Google Shape;466;p48"/>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48</a:t>
            </a:fld>
            <a:endParaRPr/>
          </a:p>
        </p:txBody>
      </p:sp>
      <p:pic>
        <p:nvPicPr>
          <p:cNvPr id="467" name="Google Shape;467;p48" descr="{&quot;type&quot;:&quot;$$&quot;,&quot;font&quot;:{&quot;size&quot;:24,&quot;color&quot;:&quot;#000000&quot;,&quot;family&quot;:&quot;Arial&quot;},&quot;aid&quot;:null,&quot;backgroundColor&quot;:&quot;#FFFFFF&quot;,&quot;code&quot;:&quot;$$\\hat{y}=\\theta_{0}+\\theta_{1}x_{1}+\\theta_{2}x_{2}+\\dots+\\theta_{p}x_{p}$$&quot;,&quot;id&quot;:&quot;1&quot;,&quot;ts&quot;:1689042987025,&quot;cs&quot;:&quot;av5vNapEn9wmTOuWfTb//A==&quot;,&quot;size&quot;:{&quot;width&quot;:536.5,&quot;height&quot;:37.5}}"/>
          <p:cNvPicPr preferRelativeResize="0"/>
          <p:nvPr/>
        </p:nvPicPr>
        <p:blipFill>
          <a:blip r:embed="rId3">
            <a:alphaModFix/>
          </a:blip>
          <a:stretch>
            <a:fillRect/>
          </a:stretch>
        </p:blipFill>
        <p:spPr>
          <a:xfrm>
            <a:off x="266699" y="1023288"/>
            <a:ext cx="6813551" cy="476251"/>
          </a:xfrm>
          <a:prstGeom prst="rect">
            <a:avLst/>
          </a:prstGeom>
          <a:noFill/>
          <a:ln>
            <a:noFill/>
          </a:ln>
        </p:spPr>
      </p:pic>
      <p:sp>
        <p:nvSpPr>
          <p:cNvPr id="468" name="Google Shape;468;p48"/>
          <p:cNvSpPr/>
          <p:nvPr/>
        </p:nvSpPr>
        <p:spPr>
          <a:xfrm>
            <a:off x="7635700" y="814100"/>
            <a:ext cx="3996432" cy="2047536"/>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r>
              <a:rPr lang="en" sz="2133">
                <a:latin typeface="Roboto Light"/>
                <a:ea typeface="Roboto Light"/>
                <a:cs typeface="Roboto Light"/>
                <a:sym typeface="Roboto Light"/>
              </a:rPr>
              <a:t>We want to collect all the      ‘s into a single vector.</a:t>
            </a:r>
            <a:endParaRPr sz="2133">
              <a:latin typeface="Roboto Light"/>
              <a:ea typeface="Roboto Light"/>
              <a:cs typeface="Roboto Light"/>
              <a:sym typeface="Roboto Light"/>
            </a:endParaRPr>
          </a:p>
        </p:txBody>
      </p:sp>
      <p:pic>
        <p:nvPicPr>
          <p:cNvPr id="469" name="Google Shape;469;p48" descr="{&quot;aid&quot;:null,&quot;backgroundColor&quot;:&quot;#C9DAF8&quot;,&quot;code&quot;:&quot;$$\\theta_{i}$$&quot;,&quot;font&quot;:{&quot;family&quot;:&quot;Roboto&quot;,&quot;size&quot;:20,&quot;color&quot;:&quot;#000000&quot;},&quot;type&quot;:&quot;$$&quot;,&quot;id&quot;:&quot;15&quot;,&quot;ts&quot;:1689043184594,&quot;cs&quot;:&quot;FiMT1yqotiOjXVPu0MPunQ==&quot;,&quot;size&quot;:{&quot;width&quot;:17.666666666666668,&quot;height&quot;:23.333333333333332}}"/>
          <p:cNvPicPr preferRelativeResize="0"/>
          <p:nvPr/>
        </p:nvPicPr>
        <p:blipFill>
          <a:blip r:embed="rId4">
            <a:alphaModFix/>
          </a:blip>
          <a:stretch>
            <a:fillRect/>
          </a:stretch>
        </p:blipFill>
        <p:spPr>
          <a:xfrm>
            <a:off x="9142634" y="1689704"/>
            <a:ext cx="224367" cy="296333"/>
          </a:xfrm>
          <a:prstGeom prst="rect">
            <a:avLst/>
          </a:prstGeom>
          <a:noFill/>
          <a:ln>
            <a:noFill/>
          </a:ln>
        </p:spPr>
      </p:pic>
      <p:sp>
        <p:nvSpPr>
          <p:cNvPr id="470" name="Google Shape;470;p48"/>
          <p:cNvSpPr/>
          <p:nvPr/>
        </p:nvSpPr>
        <p:spPr>
          <a:xfrm rot="-5400000" flipH="1">
            <a:off x="4207767" y="-789967"/>
            <a:ext cx="610400" cy="4941600"/>
          </a:xfrm>
          <a:prstGeom prst="rightBrace">
            <a:avLst>
              <a:gd name="adj1" fmla="val 50000"/>
              <a:gd name="adj2" fmla="val 50080"/>
            </a:avLst>
          </a:prstGeom>
          <a:no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sp>
        <p:nvSpPr>
          <p:cNvPr id="471" name="Google Shape;471;p48"/>
          <p:cNvSpPr txBox="1"/>
          <p:nvPr/>
        </p:nvSpPr>
        <p:spPr>
          <a:xfrm>
            <a:off x="2407767" y="1986034"/>
            <a:ext cx="45760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a:latin typeface="Roboto Light"/>
                <a:ea typeface="Roboto Light"/>
                <a:cs typeface="Roboto Light"/>
                <a:sym typeface="Roboto Light"/>
              </a:rPr>
              <a:t>This part looks a little like a dot product…</a:t>
            </a:r>
            <a:endParaRPr>
              <a:latin typeface="Roboto Light"/>
              <a:ea typeface="Roboto Light"/>
              <a:cs typeface="Roboto Light"/>
              <a:sym typeface="Roboto Light"/>
            </a:endParaRPr>
          </a:p>
        </p:txBody>
      </p:sp>
      <p:pic>
        <p:nvPicPr>
          <p:cNvPr id="472" name="Google Shape;472;p48" descr="{&quot;id&quot;:&quot;1&quot;,&quot;aid&quot;:null,&quot;font&quot;:{&quot;color&quot;:&quot;#000000&quot;,&quot;family&quot;:&quot;Arial&quot;,&quot;size&quot;:24},&quot;code&quot;:&quot;$$=\\theta_{0}+\\begin{bmatrix}\n{\\theta_{1}}\\\\\n{\\theta_{2}}\\\\\n{\\vdots}\\\\\n{\\theta_{p}}\\\\\n\\end{bmatrix}\\cdot\\begin{bmatrix}\n{x_{1}}\\\\\n{x_{2}}\\\\\n{\\vdots}\\\\\n{x_{p}}\\\\\n\\end{bmatrix}$$&quot;,&quot;backgroundColor&quot;:&quot;#FFFFFF&quot;,&quot;type&quot;:&quot;$$&quot;,&quot;ts&quot;:1689043461295,&quot;cs&quot;:&quot;0phTLa3HK/1b9ETfA6pWmA==&quot;,&quot;size&quot;:{&quot;width&quot;:301.25,&quot;height&quot;:217.25000000000003}}"/>
          <p:cNvPicPr preferRelativeResize="0"/>
          <p:nvPr/>
        </p:nvPicPr>
        <p:blipFill>
          <a:blip r:embed="rId5">
            <a:alphaModFix/>
          </a:blip>
          <a:stretch>
            <a:fillRect/>
          </a:stretch>
        </p:blipFill>
        <p:spPr>
          <a:xfrm>
            <a:off x="529145" y="2631485"/>
            <a:ext cx="3825875" cy="2759075"/>
          </a:xfrm>
          <a:prstGeom prst="rect">
            <a:avLst/>
          </a:prstGeom>
          <a:noFill/>
          <a:ln>
            <a:noFill/>
          </a:ln>
        </p:spPr>
      </p:pic>
      <p:sp>
        <p:nvSpPr>
          <p:cNvPr id="473" name="Google Shape;473;p48"/>
          <p:cNvSpPr/>
          <p:nvPr/>
        </p:nvSpPr>
        <p:spPr>
          <a:xfrm>
            <a:off x="878233" y="3507933"/>
            <a:ext cx="666000" cy="1110000"/>
          </a:xfrm>
          <a:prstGeom prst="rect">
            <a:avLst/>
          </a:prstGeom>
          <a:noFill/>
          <a:ln w="2857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474" name="Google Shape;474;p48"/>
          <p:cNvCxnSpPr>
            <a:stCxn id="473" idx="2"/>
          </p:cNvCxnSpPr>
          <p:nvPr/>
        </p:nvCxnSpPr>
        <p:spPr>
          <a:xfrm>
            <a:off x="1211233" y="4617933"/>
            <a:ext cx="0" cy="690800"/>
          </a:xfrm>
          <a:prstGeom prst="straightConnector1">
            <a:avLst/>
          </a:prstGeom>
          <a:noFill/>
          <a:ln w="38100" cap="flat" cmpd="sng">
            <a:solidFill>
              <a:schemeClr val="accent4"/>
            </a:solidFill>
            <a:prstDash val="solid"/>
            <a:round/>
            <a:headEnd type="none" w="med" len="med"/>
            <a:tailEnd type="triangle" w="med" len="med"/>
          </a:ln>
        </p:spPr>
      </p:cxnSp>
      <p:sp>
        <p:nvSpPr>
          <p:cNvPr id="475" name="Google Shape;475;p48"/>
          <p:cNvSpPr txBox="1"/>
          <p:nvPr/>
        </p:nvSpPr>
        <p:spPr>
          <a:xfrm>
            <a:off x="249167" y="5390568"/>
            <a:ext cx="22080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😤What about this one???</a:t>
            </a:r>
            <a:endParaRPr sz="2133">
              <a:latin typeface="Roboto Light"/>
              <a:ea typeface="Roboto Light"/>
              <a:cs typeface="Roboto Light"/>
              <a:sym typeface="Roboto Light"/>
            </a:endParaRPr>
          </a:p>
        </p:txBody>
      </p:sp>
      <p:pic>
        <p:nvPicPr>
          <p:cNvPr id="476" name="Google Shape;476;p48" descr="{&quot;aid&quot;:null,&quot;id&quot;:&quot;1&quot;,&quot;type&quot;:&quot;$$&quot;,&quot;font&quot;:{&quot;color&quot;:&quot;#000000&quot;,&quot;family&quot;:&quot;Arial&quot;,&quot;size&quot;:24},&quot;backgroundColor&quot;:&quot;#FFFFFF&quot;,&quot;code&quot;:&quot;$$=\\theta_{0}\\cdot1+\\theta_{1}x_{1}+\\theta_{2}x_{2}+\\dots+\\theta_{p}x_{p}$$&quot;,&quot;ts&quot;:1689043687592,&quot;cs&quot;:&quot;TuJg6N3b4ssaSY+AlOhfeA==&quot;,&quot;size&quot;:{&quot;width&quot;:550,&quot;height&quot;:37.5}}"/>
          <p:cNvPicPr preferRelativeResize="0"/>
          <p:nvPr/>
        </p:nvPicPr>
        <p:blipFill>
          <a:blip r:embed="rId6">
            <a:alphaModFix/>
          </a:blip>
          <a:stretch>
            <a:fillRect/>
          </a:stretch>
        </p:blipFill>
        <p:spPr>
          <a:xfrm>
            <a:off x="4711100" y="3778747"/>
            <a:ext cx="6985000" cy="476251"/>
          </a:xfrm>
          <a:prstGeom prst="rect">
            <a:avLst/>
          </a:prstGeom>
          <a:noFill/>
          <a:ln>
            <a:noFill/>
          </a:ln>
        </p:spPr>
      </p:pic>
      <p:sp>
        <p:nvSpPr>
          <p:cNvPr id="477" name="Google Shape;477;p48"/>
          <p:cNvSpPr/>
          <p:nvPr/>
        </p:nvSpPr>
        <p:spPr>
          <a:xfrm>
            <a:off x="5701033" y="3507933"/>
            <a:ext cx="592000" cy="986400"/>
          </a:xfrm>
          <a:prstGeom prst="rect">
            <a:avLst/>
          </a:prstGeom>
          <a:solidFill>
            <a:srgbClr val="8DB0EF">
              <a:alpha val="41900"/>
            </a:srgbClr>
          </a:solidFill>
          <a:ln>
            <a:noFill/>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9"/>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Vector Notation</a:t>
            </a:r>
            <a:endParaRPr/>
          </a:p>
        </p:txBody>
      </p:sp>
      <p:sp>
        <p:nvSpPr>
          <p:cNvPr id="483" name="Google Shape;483;p49"/>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49</a:t>
            </a:fld>
            <a:endParaRPr/>
          </a:p>
        </p:txBody>
      </p:sp>
      <p:pic>
        <p:nvPicPr>
          <p:cNvPr id="484" name="Google Shape;484;p49" descr="{&quot;type&quot;:&quot;$$&quot;,&quot;font&quot;:{&quot;size&quot;:24,&quot;color&quot;:&quot;#000000&quot;,&quot;family&quot;:&quot;Arial&quot;},&quot;aid&quot;:null,&quot;backgroundColor&quot;:&quot;#FFFFFF&quot;,&quot;code&quot;:&quot;$$\\hat{y}=\\theta_{0}+\\theta_{1}x_{1}+\\theta_{2}x_{2}+\\dots+\\theta_{p}x_{p}$$&quot;,&quot;id&quot;:&quot;1&quot;,&quot;ts&quot;:1689042987025,&quot;cs&quot;:&quot;av5vNapEn9wmTOuWfTb//A==&quot;,&quot;size&quot;:{&quot;width&quot;:536.5,&quot;height&quot;:37.5}}"/>
          <p:cNvPicPr preferRelativeResize="0"/>
          <p:nvPr/>
        </p:nvPicPr>
        <p:blipFill>
          <a:blip r:embed="rId3">
            <a:alphaModFix/>
          </a:blip>
          <a:stretch>
            <a:fillRect/>
          </a:stretch>
        </p:blipFill>
        <p:spPr>
          <a:xfrm>
            <a:off x="166134" y="1035952"/>
            <a:ext cx="6813551" cy="476251"/>
          </a:xfrm>
          <a:prstGeom prst="rect">
            <a:avLst/>
          </a:prstGeom>
          <a:noFill/>
          <a:ln>
            <a:noFill/>
          </a:ln>
        </p:spPr>
      </p:pic>
      <p:pic>
        <p:nvPicPr>
          <p:cNvPr id="485" name="Google Shape;485;p49" descr="{&quot;aid&quot;:null,&quot;id&quot;:&quot;1&quot;,&quot;type&quot;:&quot;$$&quot;,&quot;font&quot;:{&quot;color&quot;:&quot;#000000&quot;,&quot;family&quot;:&quot;Arial&quot;,&quot;size&quot;:24},&quot;backgroundColor&quot;:&quot;#FFFFFF&quot;,&quot;code&quot;:&quot;$$=\\theta_{0}\\cdot1+\\theta_{1}x_{1}+\\theta_{2}x_{2}+\\dots+\\theta_{p}x_{p}$$&quot;,&quot;ts&quot;:1689043687592,&quot;cs&quot;:&quot;TuJg6N3b4ssaSY+AlOhfeA==&quot;,&quot;size&quot;:{&quot;width&quot;:550,&quot;height&quot;:37.5}}"/>
          <p:cNvPicPr preferRelativeResize="0"/>
          <p:nvPr/>
        </p:nvPicPr>
        <p:blipFill>
          <a:blip r:embed="rId4">
            <a:alphaModFix/>
          </a:blip>
          <a:stretch>
            <a:fillRect/>
          </a:stretch>
        </p:blipFill>
        <p:spPr>
          <a:xfrm>
            <a:off x="579067" y="1702280"/>
            <a:ext cx="6985000" cy="476251"/>
          </a:xfrm>
          <a:prstGeom prst="rect">
            <a:avLst/>
          </a:prstGeom>
          <a:noFill/>
          <a:ln>
            <a:noFill/>
          </a:ln>
        </p:spPr>
      </p:pic>
      <p:sp>
        <p:nvSpPr>
          <p:cNvPr id="486" name="Google Shape;486;p49"/>
          <p:cNvSpPr/>
          <p:nvPr/>
        </p:nvSpPr>
        <p:spPr>
          <a:xfrm>
            <a:off x="7635700" y="814100"/>
            <a:ext cx="3996432" cy="2047536"/>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r>
              <a:rPr lang="en" sz="2133">
                <a:latin typeface="Roboto Light"/>
                <a:ea typeface="Roboto Light"/>
                <a:cs typeface="Roboto Light"/>
                <a:sym typeface="Roboto Light"/>
              </a:rPr>
              <a:t>We want to collect all the      ‘s into a single vector.</a:t>
            </a:r>
            <a:endParaRPr sz="2133">
              <a:latin typeface="Roboto Light"/>
              <a:ea typeface="Roboto Light"/>
              <a:cs typeface="Roboto Light"/>
              <a:sym typeface="Roboto Light"/>
            </a:endParaRPr>
          </a:p>
        </p:txBody>
      </p:sp>
      <p:pic>
        <p:nvPicPr>
          <p:cNvPr id="487" name="Google Shape;487;p49" descr="{&quot;aid&quot;:null,&quot;backgroundColor&quot;:&quot;#C9DAF8&quot;,&quot;code&quot;:&quot;$$\\theta_{i}$$&quot;,&quot;font&quot;:{&quot;family&quot;:&quot;Roboto&quot;,&quot;size&quot;:20,&quot;color&quot;:&quot;#000000&quot;},&quot;type&quot;:&quot;$$&quot;,&quot;id&quot;:&quot;15&quot;,&quot;ts&quot;:1689043184594,&quot;cs&quot;:&quot;FiMT1yqotiOjXVPu0MPunQ==&quot;,&quot;size&quot;:{&quot;width&quot;:17.666666666666668,&quot;height&quot;:23.333333333333332}}"/>
          <p:cNvPicPr preferRelativeResize="0"/>
          <p:nvPr/>
        </p:nvPicPr>
        <p:blipFill>
          <a:blip r:embed="rId5">
            <a:alphaModFix/>
          </a:blip>
          <a:stretch>
            <a:fillRect/>
          </a:stretch>
        </p:blipFill>
        <p:spPr>
          <a:xfrm>
            <a:off x="9142634" y="1689704"/>
            <a:ext cx="224367" cy="296333"/>
          </a:xfrm>
          <a:prstGeom prst="rect">
            <a:avLst/>
          </a:prstGeom>
          <a:noFill/>
          <a:ln>
            <a:noFill/>
          </a:ln>
        </p:spPr>
      </p:pic>
      <p:pic>
        <p:nvPicPr>
          <p:cNvPr id="488" name="Google Shape;488;p49" descr="{&quot;id&quot;:&quot;1&quot;,&quot;code&quot;:&quot;$$=\\begin{bmatrix}\n{\\theta_{0}}\\\\\n{\\theta_{1}}\\\\\n{\\theta_{2}}\\\\\n{\\vdots}\\\\\n{\\theta_{p}}\\\\\n\\end{bmatrix}\\cdot\\begin{bmatrix}\n{1}\\\\\n{x_{1}}\\\\\n{x_{2}}\\\\\n{\\vdots}\\\\\n{x_{p}}\\\\\n\\end{bmatrix}$$&quot;,&quot;type&quot;:&quot;$$&quot;,&quot;aid&quot;:null,&quot;backgroundColor&quot;:&quot;#FFFFFF&quot;,&quot;font&quot;:{&quot;size&quot;:24,&quot;color&quot;:&quot;#000000&quot;,&quot;family&quot;:&quot;Arial&quot;},&quot;ts&quot;:1689043979485,&quot;cs&quot;:&quot;7nBzVcoOXRHXVjYANkcWMw==&quot;,&quot;size&quot;:{&quot;width&quot;:222.60000000000002,&quot;height&quot;:269.8}}"/>
          <p:cNvPicPr preferRelativeResize="0"/>
          <p:nvPr/>
        </p:nvPicPr>
        <p:blipFill>
          <a:blip r:embed="rId6">
            <a:alphaModFix/>
          </a:blip>
          <a:stretch>
            <a:fillRect/>
          </a:stretch>
        </p:blipFill>
        <p:spPr>
          <a:xfrm>
            <a:off x="579055" y="2836260"/>
            <a:ext cx="2827020" cy="3426460"/>
          </a:xfrm>
          <a:prstGeom prst="rect">
            <a:avLst/>
          </a:prstGeom>
          <a:noFill/>
          <a:ln>
            <a:noFill/>
          </a:ln>
        </p:spPr>
      </p:pic>
      <p:pic>
        <p:nvPicPr>
          <p:cNvPr id="489" name="Google Shape;489;p49" descr="{&quot;font&quot;:{&quot;size&quot;:24,&quot;color&quot;:&quot;#000000&quot;,&quot;family&quot;:&quot;Arial&quot;},&quot;aid&quot;:null,&quot;id&quot;:&quot;16&quot;,&quot;backgroundColor&quot;:&quot;#FFFFFF&quot;,&quot;type&quot;:&quot;$$&quot;,&quot;code&quot;:&quot;$$=x^{\\top}\\theta$$&quot;,&quot;ts&quot;:1689044151760,&quot;cs&quot;:&quot;8R1kBDGZxZBBn9Tj7dBxlg==&quot;,&quot;size&quot;:{&quot;width&quot;:99.16666666666667,&quot;height&quot;:33.666666666666664}}"/>
          <p:cNvPicPr preferRelativeResize="0"/>
          <p:nvPr/>
        </p:nvPicPr>
        <p:blipFill>
          <a:blip r:embed="rId7">
            <a:alphaModFix/>
          </a:blip>
          <a:stretch>
            <a:fillRect/>
          </a:stretch>
        </p:blipFill>
        <p:spPr>
          <a:xfrm>
            <a:off x="3715468" y="4335708"/>
            <a:ext cx="1259417" cy="427567"/>
          </a:xfrm>
          <a:prstGeom prst="rect">
            <a:avLst/>
          </a:prstGeom>
          <a:noFill/>
          <a:ln>
            <a:noFill/>
          </a:ln>
        </p:spPr>
      </p:pic>
      <p:cxnSp>
        <p:nvCxnSpPr>
          <p:cNvPr id="490" name="Google Shape;490;p49"/>
          <p:cNvCxnSpPr>
            <a:stCxn id="489" idx="2"/>
          </p:cNvCxnSpPr>
          <p:nvPr/>
        </p:nvCxnSpPr>
        <p:spPr>
          <a:xfrm rot="5400000">
            <a:off x="3488575" y="4681474"/>
            <a:ext cx="774800" cy="938400"/>
          </a:xfrm>
          <a:prstGeom prst="curvedConnector2">
            <a:avLst/>
          </a:prstGeom>
          <a:noFill/>
          <a:ln w="28575" cap="flat" cmpd="sng">
            <a:solidFill>
              <a:schemeClr val="accent4"/>
            </a:solidFill>
            <a:prstDash val="solid"/>
            <a:round/>
            <a:headEnd type="triangle" w="med" len="med"/>
            <a:tailEnd type="none" w="med" len="med"/>
          </a:ln>
        </p:spPr>
      </p:cxnSp>
      <p:sp>
        <p:nvSpPr>
          <p:cNvPr id="491" name="Google Shape;491;p49"/>
          <p:cNvSpPr/>
          <p:nvPr/>
        </p:nvSpPr>
        <p:spPr>
          <a:xfrm>
            <a:off x="1485023" y="4872141"/>
            <a:ext cx="3409733" cy="2233733"/>
          </a:xfrm>
          <a:custGeom>
            <a:avLst/>
            <a:gdLst/>
            <a:ahLst/>
            <a:cxnLst/>
            <a:rect l="l" t="t" r="r" b="b"/>
            <a:pathLst>
              <a:path w="102292" h="67012" extrusionOk="0">
                <a:moveTo>
                  <a:pt x="2518" y="46255"/>
                </a:moveTo>
                <a:cubicBezTo>
                  <a:pt x="3505" y="48845"/>
                  <a:pt x="-6733" y="59207"/>
                  <a:pt x="8438" y="61797"/>
                </a:cubicBezTo>
                <a:cubicBezTo>
                  <a:pt x="23609" y="64387"/>
                  <a:pt x="78251" y="72097"/>
                  <a:pt x="93546" y="61797"/>
                </a:cubicBezTo>
                <a:cubicBezTo>
                  <a:pt x="108841" y="51498"/>
                  <a:pt x="99097" y="10300"/>
                  <a:pt x="100207" y="0"/>
                </a:cubicBezTo>
              </a:path>
            </a:pathLst>
          </a:custGeom>
          <a:noFill/>
          <a:ln w="28575" cap="flat" cmpd="sng">
            <a:solidFill>
              <a:schemeClr val="accent4"/>
            </a:solidFill>
            <a:prstDash val="solid"/>
            <a:round/>
            <a:headEnd type="none" w="med" len="med"/>
            <a:tailEnd type="triangle" w="med" len="med"/>
          </a:ln>
        </p:spPr>
        <p:txBody>
          <a:bodyPr/>
          <a:lstStyle/>
          <a:p>
            <a:endParaRPr lang="en-US"/>
          </a:p>
        </p:txBody>
      </p:sp>
      <p:sp>
        <p:nvSpPr>
          <p:cNvPr id="492" name="Google Shape;492;p49"/>
          <p:cNvSpPr/>
          <p:nvPr/>
        </p:nvSpPr>
        <p:spPr>
          <a:xfrm>
            <a:off x="2646109" y="2861636"/>
            <a:ext cx="731600" cy="524800"/>
          </a:xfrm>
          <a:prstGeom prst="rect">
            <a:avLst/>
          </a:prstGeom>
          <a:solidFill>
            <a:srgbClr val="46A61C">
              <a:alpha val="22150"/>
            </a:srgbClr>
          </a:solidFill>
          <a:ln>
            <a:noFill/>
          </a:ln>
        </p:spPr>
        <p:txBody>
          <a:bodyPr spcFirstLastPara="1" wrap="square" lIns="121900" tIns="121900" rIns="121900" bIns="121900" anchor="ctr" anchorCtr="0">
            <a:noAutofit/>
          </a:bodyPr>
          <a:lstStyle/>
          <a:p>
            <a:pPr>
              <a:spcBef>
                <a:spcPts val="0"/>
              </a:spcBef>
              <a:spcAft>
                <a:spcPts val="0"/>
              </a:spcAft>
            </a:pPr>
            <a:endParaRPr/>
          </a:p>
        </p:txBody>
      </p:sp>
      <p:cxnSp>
        <p:nvCxnSpPr>
          <p:cNvPr id="493" name="Google Shape;493;p49"/>
          <p:cNvCxnSpPr/>
          <p:nvPr/>
        </p:nvCxnSpPr>
        <p:spPr>
          <a:xfrm rot="10800000" flipH="1">
            <a:off x="3406767" y="3119874"/>
            <a:ext cx="1155600" cy="2800"/>
          </a:xfrm>
          <a:prstGeom prst="straightConnector1">
            <a:avLst/>
          </a:prstGeom>
          <a:noFill/>
          <a:ln w="28575" cap="flat" cmpd="sng">
            <a:solidFill>
              <a:schemeClr val="accent5"/>
            </a:solidFill>
            <a:prstDash val="solid"/>
            <a:round/>
            <a:headEnd type="none" w="med" len="med"/>
            <a:tailEnd type="triangle" w="med" len="med"/>
          </a:ln>
        </p:spPr>
      </p:cxnSp>
      <p:sp>
        <p:nvSpPr>
          <p:cNvPr id="494" name="Google Shape;494;p49"/>
          <p:cNvSpPr txBox="1"/>
          <p:nvPr/>
        </p:nvSpPr>
        <p:spPr>
          <a:xfrm>
            <a:off x="4620484" y="2763241"/>
            <a:ext cx="1800800" cy="80017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a:latin typeface="Roboto Light"/>
                <a:ea typeface="Roboto Light"/>
                <a:cs typeface="Roboto Light"/>
                <a:sym typeface="Roboto Light"/>
              </a:rPr>
              <a:t>bias term, intercept term</a:t>
            </a:r>
            <a:endParaRPr>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0"/>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Matrix Notation</a:t>
            </a:r>
            <a:endParaRPr/>
          </a:p>
        </p:txBody>
      </p:sp>
      <p:sp>
        <p:nvSpPr>
          <p:cNvPr id="500" name="Google Shape;500;p5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50</a:t>
            </a:fld>
            <a:endParaRPr/>
          </a:p>
        </p:txBody>
      </p:sp>
      <p:pic>
        <p:nvPicPr>
          <p:cNvPr id="501" name="Google Shape;501;p50" descr="{&quot;backgroundColor&quot;:&quot;#FFFFFF&quot;,&quot;code&quot;:&quot;$$\\begin{cases}\n{\\hat{y}_{1}=\\theta_{0}+\\theta_{1}x_{11}+\\theta_{2}x_{12}+\\dots+\\theta_{p}x_{1p}}&amp;{}\\\\\n{\\hat{y}_{2}=\\theta_{0}+\\theta_{1}x_{21}+\\theta_{2}x_{22}+\\dots+\\theta_{p}x_{2p}}&amp;{}\\\\\n{\\vdots}&amp;{}\\\\\n{\\hat{y}_{n}=\\theta_{0}+\\theta_{1}x_{n1}+\\theta_{2}x_{n2}+\\dots+\\theta_{p}x_{np}}&amp;{}\\\\\n\\end{cases}$$&quot;,&quot;id&quot;:&quot;5&quot;,&quot;font&quot;:{&quot;size&quot;:20,&quot;family&quot;:&quot;Arial&quot;,&quot;color&quot;:&quot;#000000&quot;},&quot;aid&quot;:null,&quot;type&quot;:&quot;$$&quot;,&quot;ts&quot;:1688873490871,&quot;cs&quot;:&quot;5TgIKLKVS081Bn4hnFoCxw==&quot;,&quot;size&quot;:{&quot;width&quot;:525.5,&quot;height&quot;:166}}"/>
          <p:cNvPicPr preferRelativeResize="0"/>
          <p:nvPr/>
        </p:nvPicPr>
        <p:blipFill>
          <a:blip r:embed="rId3">
            <a:alphaModFix/>
          </a:blip>
          <a:stretch>
            <a:fillRect/>
          </a:stretch>
        </p:blipFill>
        <p:spPr>
          <a:xfrm>
            <a:off x="517967" y="1278543"/>
            <a:ext cx="6673851" cy="2108200"/>
          </a:xfrm>
          <a:prstGeom prst="rect">
            <a:avLst/>
          </a:prstGeom>
          <a:noFill/>
          <a:ln>
            <a:noFill/>
          </a:ln>
        </p:spPr>
      </p:pic>
      <p:pic>
        <p:nvPicPr>
          <p:cNvPr id="502" name="Google Shape;502;p50" descr="{&quot;id&quot;:&quot;17&quot;,&quot;code&quot;:&quot;\\begin{align*}\n{\\begin{cases}\n{\\hat{y}_{1}=x_{1}^{\\top}\\theta}&amp;{}\\\\\n{\\hat{y}_{2}=x_{2}^{\\top}\\theta}&amp;{}\\\\\n{\\vdots}&amp;{}\\\\\n{\\hat{y}_{n}=x_{n}^{\\top}\\theta}&amp;{}\\\\\n\\end{cases}}&amp;\\relempty{}\t\n\\end{align*}&quot;,&quot;type&quot;:&quot;align*&quot;,&quot;font&quot;:{&quot;size&quot;:20,&quot;family&quot;:&quot;Arial&quot;,&quot;color&quot;:&quot;#000000&quot;},&quot;backgroundColor&quot;:&quot;#FFFFFF&quot;,&quot;aid&quot;:null,&quot;ts&quot;:1689048944370,&quot;cs&quot;:&quot;d0Qid+qshoIbn3w8G8HUUA==&quot;,&quot;size&quot;:{&quot;width&quot;:147.8,&quot;height&quot;:171.79999999999998}}"/>
          <p:cNvPicPr preferRelativeResize="0"/>
          <p:nvPr/>
        </p:nvPicPr>
        <p:blipFill>
          <a:blip r:embed="rId4">
            <a:alphaModFix/>
          </a:blip>
          <a:stretch>
            <a:fillRect/>
          </a:stretch>
        </p:blipFill>
        <p:spPr>
          <a:xfrm>
            <a:off x="517967" y="3968301"/>
            <a:ext cx="1877060" cy="2181860"/>
          </a:xfrm>
          <a:prstGeom prst="rect">
            <a:avLst/>
          </a:prstGeom>
          <a:noFill/>
          <a:ln>
            <a:noFill/>
          </a:ln>
        </p:spPr>
      </p:pic>
      <p:sp>
        <p:nvSpPr>
          <p:cNvPr id="503" name="Google Shape;503;p50"/>
          <p:cNvSpPr txBox="1"/>
          <p:nvPr/>
        </p:nvSpPr>
        <p:spPr>
          <a:xfrm>
            <a:off x="2679067" y="3968310"/>
            <a:ext cx="89424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dirty="0">
                <a:latin typeface="Roboto Light"/>
                <a:ea typeface="Roboto Light"/>
                <a:cs typeface="Roboto Light"/>
                <a:sym typeface="Roboto Light"/>
              </a:rPr>
              <a:t>where                                                                                                is datapoint/observation 1 </a:t>
            </a:r>
            <a:endParaRPr dirty="0">
              <a:latin typeface="Roboto Light"/>
              <a:ea typeface="Roboto Light"/>
              <a:cs typeface="Roboto Light"/>
              <a:sym typeface="Roboto Light"/>
            </a:endParaRPr>
          </a:p>
        </p:txBody>
      </p:sp>
      <p:pic>
        <p:nvPicPr>
          <p:cNvPr id="504" name="Google Shape;504;p50" descr="{&quot;backgroundColor&quot;:&quot;#FFFFFF&quot;,&quot;code&quot;:&quot;$$x_{1}^{\\top}=\\begin{bmatrix}\n{1}&amp;{x_{11}}&amp;{x_{12}}&amp;{\\dots}&amp;{x_{1p}}\\\\\n\\end{bmatrix}$$&quot;,&quot;aid&quot;:null,&quot;type&quot;:&quot;$$&quot;,&quot;font&quot;:{&quot;size&quot;:20,&quot;color&quot;:&quot;#000000&quot;,&quot;family&quot;:&quot;Arial&quot;},&quot;id&quot;:&quot;18&quot;,&quot;ts&quot;:1689049341397,&quot;cs&quot;:&quot;FsewKntdxbejL5j2aqtcKA==&quot;,&quot;size&quot;:{&quot;width&quot;:393.3333333333333,&quot;height&quot;:36.333333333333336}}"/>
          <p:cNvPicPr preferRelativeResize="0"/>
          <p:nvPr/>
        </p:nvPicPr>
        <p:blipFill>
          <a:blip r:embed="rId5">
            <a:alphaModFix/>
          </a:blip>
          <a:stretch>
            <a:fillRect/>
          </a:stretch>
        </p:blipFill>
        <p:spPr>
          <a:xfrm>
            <a:off x="3598334" y="3968295"/>
            <a:ext cx="4995333" cy="461433"/>
          </a:xfrm>
          <a:prstGeom prst="rect">
            <a:avLst/>
          </a:prstGeom>
          <a:noFill/>
          <a:ln>
            <a:noFill/>
          </a:ln>
        </p:spPr>
      </p:pic>
      <p:sp>
        <p:nvSpPr>
          <p:cNvPr id="505" name="Google Shape;505;p50"/>
          <p:cNvSpPr txBox="1"/>
          <p:nvPr/>
        </p:nvSpPr>
        <p:spPr>
          <a:xfrm>
            <a:off x="2679067" y="4429744"/>
            <a:ext cx="89424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dirty="0">
                <a:latin typeface="Roboto Light"/>
                <a:ea typeface="Roboto Light"/>
                <a:cs typeface="Roboto Light"/>
                <a:sym typeface="Roboto Light"/>
              </a:rPr>
              <a:t>where                                                                                                is datapoint/observation 2 </a:t>
            </a:r>
            <a:endParaRPr dirty="0">
              <a:latin typeface="Roboto Light"/>
              <a:ea typeface="Roboto Light"/>
              <a:cs typeface="Roboto Light"/>
              <a:sym typeface="Roboto Light"/>
            </a:endParaRPr>
          </a:p>
        </p:txBody>
      </p:sp>
      <p:pic>
        <p:nvPicPr>
          <p:cNvPr id="506" name="Google Shape;506;p50" descr="{&quot;id&quot;:&quot;18&quot;,&quot;font&quot;:{&quot;size&quot;:20,&quot;color&quot;:&quot;#000000&quot;,&quot;family&quot;:&quot;Arial&quot;},&quot;aid&quot;:null,&quot;code&quot;:&quot;$$x_{2}^{\\top}=\\begin{bmatrix}\n{1}&amp;{x_{21}}&amp;{x_{22}}&amp;{\\dots}&amp;{x_{2p}}\\\\\n\\end{bmatrix}$$&quot;,&quot;backgroundColor&quot;:&quot;#FFFFFF&quot;,&quot;type&quot;:&quot;$$&quot;,&quot;ts&quot;:1689049445995,&quot;cs&quot;:&quot;ZFyTmDkbLRUdIG4f0tbU4g==&quot;,&quot;size&quot;:{&quot;width&quot;:393.3333333333333,&quot;height&quot;:36.333333333333336}}"/>
          <p:cNvPicPr preferRelativeResize="0"/>
          <p:nvPr/>
        </p:nvPicPr>
        <p:blipFill>
          <a:blip r:embed="rId6">
            <a:alphaModFix/>
          </a:blip>
          <a:stretch>
            <a:fillRect/>
          </a:stretch>
        </p:blipFill>
        <p:spPr>
          <a:xfrm>
            <a:off x="3598334" y="4429728"/>
            <a:ext cx="4995333" cy="461433"/>
          </a:xfrm>
          <a:prstGeom prst="rect">
            <a:avLst/>
          </a:prstGeom>
          <a:noFill/>
          <a:ln>
            <a:noFill/>
          </a:ln>
        </p:spPr>
      </p:pic>
      <p:sp>
        <p:nvSpPr>
          <p:cNvPr id="507" name="Google Shape;507;p50"/>
          <p:cNvSpPr txBox="1"/>
          <p:nvPr/>
        </p:nvSpPr>
        <p:spPr>
          <a:xfrm>
            <a:off x="2679067" y="5636510"/>
            <a:ext cx="89424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dirty="0">
                <a:latin typeface="Roboto Light"/>
                <a:ea typeface="Roboto Light"/>
                <a:cs typeface="Roboto Light"/>
                <a:sym typeface="Roboto Light"/>
              </a:rPr>
              <a:t>where                                                                                                is datapoint/observation n </a:t>
            </a:r>
            <a:endParaRPr dirty="0">
              <a:latin typeface="Roboto Light"/>
              <a:ea typeface="Roboto Light"/>
              <a:cs typeface="Roboto Light"/>
              <a:sym typeface="Roboto Light"/>
            </a:endParaRPr>
          </a:p>
        </p:txBody>
      </p:sp>
      <p:pic>
        <p:nvPicPr>
          <p:cNvPr id="508" name="Google Shape;508;p50" descr="{&quot;aid&quot;:null,&quot;type&quot;:&quot;$$&quot;,&quot;backgroundColor&quot;:&quot;#FFFFFF&quot;,&quot;font&quot;:{&quot;family&quot;:&quot;Arial&quot;,&quot;size&quot;:20,&quot;color&quot;:&quot;#000000&quot;},&quot;id&quot;:&quot;18&quot;,&quot;code&quot;:&quot;$$x_{n}^{\\top}=\\begin{bmatrix}\n{1}&amp;{x_{n1}}&amp;{x_{n2}}&amp;{\\dots}&amp;{x_{np}}\\\\\n\\end{bmatrix}$$&quot;,&quot;ts&quot;:1689049494459,&quot;cs&quot;:&quot;5d61a4AxT/ZRUhsg3lXBpA==&quot;,&quot;size&quot;:{&quot;width&quot;:400,&quot;height&quot;:36.333333333333336}}"/>
          <p:cNvPicPr preferRelativeResize="0"/>
          <p:nvPr/>
        </p:nvPicPr>
        <p:blipFill>
          <a:blip r:embed="rId7">
            <a:alphaModFix/>
          </a:blip>
          <a:stretch>
            <a:fillRect/>
          </a:stretch>
        </p:blipFill>
        <p:spPr>
          <a:xfrm>
            <a:off x="3598333" y="5640339"/>
            <a:ext cx="5080000" cy="4614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75" name="Google Shape;575;p53"/>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solidFill>
                  <a:schemeClr val="accent3"/>
                </a:solidFill>
              </a:rPr>
              <a:t>Matrix Notation</a:t>
            </a:r>
            <a:endParaRPr/>
          </a:p>
        </p:txBody>
      </p:sp>
      <p:sp>
        <p:nvSpPr>
          <p:cNvPr id="569" name="Google Shape;569;p53"/>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51</a:t>
            </a:fld>
            <a:endParaRPr/>
          </a:p>
        </p:txBody>
      </p:sp>
      <p:sp>
        <p:nvSpPr>
          <p:cNvPr id="570" name="Google Shape;570;p53"/>
          <p:cNvSpPr txBox="1"/>
          <p:nvPr/>
        </p:nvSpPr>
        <p:spPr>
          <a:xfrm rot="5400000">
            <a:off x="3088533" y="3401457"/>
            <a:ext cx="822000" cy="1066855"/>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5333">
                <a:latin typeface="Roboto Light"/>
                <a:ea typeface="Roboto Light"/>
                <a:cs typeface="Roboto Light"/>
                <a:sym typeface="Roboto Light"/>
              </a:rPr>
              <a:t>…</a:t>
            </a:r>
            <a:endParaRPr sz="5333">
              <a:latin typeface="Roboto Light"/>
              <a:ea typeface="Roboto Light"/>
              <a:cs typeface="Roboto Light"/>
              <a:sym typeface="Roboto Light"/>
            </a:endParaRPr>
          </a:p>
        </p:txBody>
      </p:sp>
      <p:pic>
        <p:nvPicPr>
          <p:cNvPr id="571" name="Google Shape;571;p53" title="[0,0,0,&quot;https://latex-staging.easygenerator.com/eqneditor/editor.php?latex=%5Cbegin%7Bbmatrix%7D%20%5Chat%7By%7D_1%20%5C%5C%20%5C%5C%20%5Chat%7By%7D_2%20%5C%5C%20%5C%5C%20%5Cvdots%20%5C%5C%20%5C%5C%20%20%5Chat%7By%7D_n%20%5Cend%7Bbmatrix%7D%20%3D%20#0&quot;]"/>
          <p:cNvPicPr preferRelativeResize="0"/>
          <p:nvPr/>
        </p:nvPicPr>
        <p:blipFill>
          <a:blip r:embed="rId3">
            <a:alphaModFix/>
          </a:blip>
          <a:stretch>
            <a:fillRect/>
          </a:stretch>
        </p:blipFill>
        <p:spPr>
          <a:xfrm>
            <a:off x="470837" y="1489467"/>
            <a:ext cx="1260033" cy="3675143"/>
          </a:xfrm>
          <a:prstGeom prst="rect">
            <a:avLst/>
          </a:prstGeom>
          <a:noFill/>
          <a:ln>
            <a:noFill/>
          </a:ln>
        </p:spPr>
      </p:pic>
      <p:sp>
        <p:nvSpPr>
          <p:cNvPr id="572" name="Google Shape;572;p53"/>
          <p:cNvSpPr txBox="1"/>
          <p:nvPr/>
        </p:nvSpPr>
        <p:spPr>
          <a:xfrm>
            <a:off x="1253317" y="5398001"/>
            <a:ext cx="4867600" cy="902643"/>
          </a:xfrm>
          <a:prstGeom prst="rect">
            <a:avLst/>
          </a:prstGeom>
          <a:noFill/>
          <a:ln>
            <a:noFill/>
          </a:ln>
        </p:spPr>
        <p:txBody>
          <a:bodyPr spcFirstLastPara="1" wrap="square" lIns="121900" tIns="121900" rIns="121900" bIns="121900" anchor="t" anchorCtr="0">
            <a:spAutoFit/>
          </a:bodyPr>
          <a:lstStyle/>
          <a:p>
            <a:pPr algn="ctr">
              <a:spcBef>
                <a:spcPts val="0"/>
              </a:spcBef>
              <a:spcAft>
                <a:spcPts val="0"/>
              </a:spcAft>
            </a:pPr>
            <a:r>
              <a:rPr lang="en" sz="2133" b="1">
                <a:latin typeface="Roboto"/>
                <a:ea typeface="Roboto"/>
                <a:cs typeface="Roboto"/>
                <a:sym typeface="Roboto"/>
              </a:rPr>
              <a:t>n</a:t>
            </a:r>
            <a:r>
              <a:rPr lang="en" sz="2133">
                <a:latin typeface="Roboto Light"/>
                <a:ea typeface="Roboto Light"/>
                <a:cs typeface="Roboto Light"/>
                <a:sym typeface="Roboto Light"/>
              </a:rPr>
              <a:t> row vectors, each</a:t>
            </a:r>
            <a:br>
              <a:rPr lang="en" sz="2133">
                <a:latin typeface="Roboto Light"/>
                <a:ea typeface="Roboto Light"/>
                <a:cs typeface="Roboto Light"/>
                <a:sym typeface="Roboto Light"/>
              </a:rPr>
            </a:br>
            <a:r>
              <a:rPr lang="en" sz="2133">
                <a:latin typeface="Roboto Light"/>
                <a:ea typeface="Roboto Light"/>
                <a:cs typeface="Roboto Light"/>
                <a:sym typeface="Roboto Light"/>
              </a:rPr>
              <a:t>with dimension </a:t>
            </a:r>
            <a:r>
              <a:rPr lang="en" sz="2133" b="1">
                <a:latin typeface="Roboto"/>
                <a:ea typeface="Roboto"/>
                <a:cs typeface="Roboto"/>
                <a:sym typeface="Roboto"/>
              </a:rPr>
              <a:t>(p+1)</a:t>
            </a:r>
            <a:endParaRPr sz="2133">
              <a:latin typeface="Roboto Light"/>
              <a:ea typeface="Roboto Light"/>
              <a:cs typeface="Roboto Light"/>
              <a:sym typeface="Roboto Light"/>
            </a:endParaRPr>
          </a:p>
        </p:txBody>
      </p:sp>
      <p:sp>
        <p:nvSpPr>
          <p:cNvPr id="573" name="Google Shape;573;p53"/>
          <p:cNvSpPr txBox="1"/>
          <p:nvPr/>
        </p:nvSpPr>
        <p:spPr>
          <a:xfrm>
            <a:off x="6758733" y="5398001"/>
            <a:ext cx="4804000" cy="1230874"/>
          </a:xfrm>
          <a:prstGeom prst="rect">
            <a:avLst/>
          </a:prstGeom>
          <a:solidFill>
            <a:schemeClr val="lt2"/>
          </a:solid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Vectorize predictions and parameters to encapsulate all n equations into a single matrix equation.</a:t>
            </a:r>
            <a:endParaRPr sz="2133">
              <a:latin typeface="Roboto Light"/>
              <a:ea typeface="Roboto Light"/>
              <a:cs typeface="Roboto Light"/>
              <a:sym typeface="Roboto Light"/>
            </a:endParaRPr>
          </a:p>
        </p:txBody>
      </p:sp>
      <p:pic>
        <p:nvPicPr>
          <p:cNvPr id="574" name="Google Shape;574;p53" title="[0,0,0,&quot;https://latex-staging.easygenerator.com/eqneditor/editor.php?latex=%5Ctheta#0&quot;]"/>
          <p:cNvPicPr preferRelativeResize="0"/>
          <p:nvPr/>
        </p:nvPicPr>
        <p:blipFill>
          <a:blip r:embed="rId4">
            <a:alphaModFix/>
          </a:blip>
          <a:stretch>
            <a:fillRect/>
          </a:stretch>
        </p:blipFill>
        <p:spPr>
          <a:xfrm>
            <a:off x="5896500" y="2930133"/>
            <a:ext cx="541680" cy="902800"/>
          </a:xfrm>
          <a:prstGeom prst="rect">
            <a:avLst/>
          </a:prstGeom>
          <a:noFill/>
          <a:ln>
            <a:noFill/>
          </a:ln>
        </p:spPr>
      </p:pic>
      <p:pic>
        <p:nvPicPr>
          <p:cNvPr id="576" name="Google Shape;576;p53"/>
          <p:cNvPicPr preferRelativeResize="0"/>
          <p:nvPr/>
        </p:nvPicPr>
        <p:blipFill rotWithShape="1">
          <a:blip r:embed="rId5">
            <a:alphaModFix/>
          </a:blip>
          <a:srcRect l="7252"/>
          <a:stretch/>
        </p:blipFill>
        <p:spPr>
          <a:xfrm>
            <a:off x="1730867" y="4693800"/>
            <a:ext cx="3633100" cy="507400"/>
          </a:xfrm>
          <a:prstGeom prst="rect">
            <a:avLst/>
          </a:prstGeom>
          <a:noFill/>
          <a:ln>
            <a:noFill/>
          </a:ln>
        </p:spPr>
      </p:pic>
      <p:pic>
        <p:nvPicPr>
          <p:cNvPr id="577" name="Google Shape;577;p53"/>
          <p:cNvPicPr preferRelativeResize="0"/>
          <p:nvPr/>
        </p:nvPicPr>
        <p:blipFill rotWithShape="1">
          <a:blip r:embed="rId6">
            <a:alphaModFix/>
          </a:blip>
          <a:srcRect l="7978"/>
          <a:stretch/>
        </p:blipFill>
        <p:spPr>
          <a:xfrm>
            <a:off x="1730867" y="1619100"/>
            <a:ext cx="3604435" cy="524800"/>
          </a:xfrm>
          <a:prstGeom prst="rect">
            <a:avLst/>
          </a:prstGeom>
          <a:noFill/>
          <a:ln>
            <a:noFill/>
          </a:ln>
        </p:spPr>
      </p:pic>
      <p:pic>
        <p:nvPicPr>
          <p:cNvPr id="578" name="Google Shape;578;p53"/>
          <p:cNvPicPr preferRelativeResize="0"/>
          <p:nvPr/>
        </p:nvPicPr>
        <p:blipFill rotWithShape="1">
          <a:blip r:embed="rId7">
            <a:alphaModFix/>
          </a:blip>
          <a:srcRect l="7978"/>
          <a:stretch/>
        </p:blipFill>
        <p:spPr>
          <a:xfrm>
            <a:off x="1759533" y="2661800"/>
            <a:ext cx="3604435" cy="524800"/>
          </a:xfrm>
          <a:prstGeom prst="rect">
            <a:avLst/>
          </a:prstGeom>
          <a:noFill/>
          <a:ln>
            <a:noFill/>
          </a:ln>
        </p:spPr>
      </p:pic>
      <p:sp>
        <p:nvSpPr>
          <p:cNvPr id="579" name="Google Shape;579;p53"/>
          <p:cNvSpPr/>
          <p:nvPr/>
        </p:nvSpPr>
        <p:spPr>
          <a:xfrm>
            <a:off x="1864467" y="1411533"/>
            <a:ext cx="3722800" cy="3940000"/>
          </a:xfrm>
          <a:prstGeom prst="rect">
            <a:avLst/>
          </a:prstGeom>
          <a:noFill/>
          <a:ln w="2857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93" name="Google Shape;593;p54"/>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solidFill>
                  <a:schemeClr val="accent3"/>
                </a:solidFill>
              </a:rPr>
              <a:t>Matrix Notation</a:t>
            </a:r>
            <a:endParaRPr/>
          </a:p>
        </p:txBody>
      </p:sp>
      <p:sp>
        <p:nvSpPr>
          <p:cNvPr id="584" name="Google Shape;584;p54"/>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52</a:t>
            </a:fld>
            <a:endParaRPr/>
          </a:p>
        </p:txBody>
      </p:sp>
      <p:pic>
        <p:nvPicPr>
          <p:cNvPr id="585" name="Google Shape;585;p54" title="[0,0,0,&quot;https://latex-staging.easygenerator.com/eqneditor/editor.php?latex=x%5ET_1%20%3D%20%5Cbegin%7Bbmatrix%7D%0A1%20%26%20x_%7B11%7D%20%26%20x_%7B12%7D%20%5Cdots%20%26%20x_%7B1p%7D%5C%5C%0A%5Cend%7Bbmatrix%7D#0&quot;]"/>
          <p:cNvPicPr preferRelativeResize="0"/>
          <p:nvPr/>
        </p:nvPicPr>
        <p:blipFill rotWithShape="1">
          <a:blip r:embed="rId3">
            <a:alphaModFix/>
          </a:blip>
          <a:srcRect l="20363"/>
          <a:stretch/>
        </p:blipFill>
        <p:spPr>
          <a:xfrm>
            <a:off x="1837967" y="1634067"/>
            <a:ext cx="3584568" cy="452700"/>
          </a:xfrm>
          <a:prstGeom prst="rect">
            <a:avLst/>
          </a:prstGeom>
          <a:noFill/>
          <a:ln>
            <a:noFill/>
          </a:ln>
        </p:spPr>
      </p:pic>
      <p:pic>
        <p:nvPicPr>
          <p:cNvPr id="586" name="Google Shape;586;p54" title="[0,0,0,&quot;https://latex-staging.easygenerator.com/eqneditor/editor.php?latex=x%5ET_2%20%3D%20%5Cbegin%7Bbmatrix%7D%0A1%20%26%20x_%7B22%7D%20%26%20x_%7B22%7D%20%26%20%5Cdots%20%26%20x_%7B2p%7D%5C%5C%0A%5Cend%7Bbmatrix%7D#0&quot;]"/>
          <p:cNvPicPr preferRelativeResize="0"/>
          <p:nvPr/>
        </p:nvPicPr>
        <p:blipFill rotWithShape="1">
          <a:blip r:embed="rId4">
            <a:alphaModFix/>
          </a:blip>
          <a:srcRect l="20363"/>
          <a:stretch/>
        </p:blipFill>
        <p:spPr>
          <a:xfrm>
            <a:off x="1892400" y="2714101"/>
            <a:ext cx="3584565" cy="425833"/>
          </a:xfrm>
          <a:prstGeom prst="rect">
            <a:avLst/>
          </a:prstGeom>
          <a:noFill/>
          <a:ln>
            <a:noFill/>
          </a:ln>
        </p:spPr>
      </p:pic>
      <p:pic>
        <p:nvPicPr>
          <p:cNvPr id="587" name="Google Shape;587;p54" title="[0,0,0,&quot;https://latex-staging.easygenerator.com/eqneditor/editor.php?latex=x%5ET_n%20%3D%20%5Cbegin%7Bbmatrix%7D%0A1%20%26%20x_%7Bn1%7D%20%26%20x_%7Bn2%7D%20%26%20%5Cdots%20%26%20x_%7Bnp%7D%5C%5C%0A%5Cend%7Bbmatrix%7D#0&quot;]"/>
          <p:cNvPicPr preferRelativeResize="0"/>
          <p:nvPr/>
        </p:nvPicPr>
        <p:blipFill rotWithShape="1">
          <a:blip r:embed="rId5">
            <a:alphaModFix/>
          </a:blip>
          <a:srcRect l="20363"/>
          <a:stretch/>
        </p:blipFill>
        <p:spPr>
          <a:xfrm>
            <a:off x="1894826" y="4706376"/>
            <a:ext cx="3584572" cy="417907"/>
          </a:xfrm>
          <a:prstGeom prst="rect">
            <a:avLst/>
          </a:prstGeom>
          <a:noFill/>
          <a:ln>
            <a:noFill/>
          </a:ln>
        </p:spPr>
      </p:pic>
      <p:sp>
        <p:nvSpPr>
          <p:cNvPr id="588" name="Google Shape;588;p54"/>
          <p:cNvSpPr txBox="1"/>
          <p:nvPr/>
        </p:nvSpPr>
        <p:spPr>
          <a:xfrm>
            <a:off x="1500067" y="5398001"/>
            <a:ext cx="4451600" cy="902643"/>
          </a:xfrm>
          <a:prstGeom prst="rect">
            <a:avLst/>
          </a:prstGeom>
          <a:noFill/>
          <a:ln>
            <a:noFill/>
          </a:ln>
        </p:spPr>
        <p:txBody>
          <a:bodyPr spcFirstLastPara="1" wrap="square" lIns="121900" tIns="121900" rIns="121900" bIns="121900" anchor="t" anchorCtr="0">
            <a:spAutoFit/>
          </a:bodyPr>
          <a:lstStyle/>
          <a:p>
            <a:pPr algn="ctr">
              <a:spcBef>
                <a:spcPts val="0"/>
              </a:spcBef>
              <a:spcAft>
                <a:spcPts val="0"/>
              </a:spcAft>
            </a:pPr>
            <a:r>
              <a:rPr lang="en" sz="2133" b="1">
                <a:solidFill>
                  <a:schemeClr val="accent3"/>
                </a:solidFill>
                <a:latin typeface="Roboto"/>
                <a:ea typeface="Roboto"/>
                <a:cs typeface="Roboto"/>
                <a:sym typeface="Roboto"/>
              </a:rPr>
              <a:t>Design matrix</a:t>
            </a:r>
            <a:r>
              <a:rPr lang="en" sz="2133" b="1">
                <a:latin typeface="Roboto"/>
                <a:ea typeface="Roboto"/>
                <a:cs typeface="Roboto"/>
                <a:sym typeface="Roboto"/>
              </a:rPr>
              <a:t> </a:t>
            </a:r>
            <a:r>
              <a:rPr lang="en" sz="2133">
                <a:latin typeface="Roboto Light"/>
                <a:ea typeface="Roboto Light"/>
                <a:cs typeface="Roboto Light"/>
                <a:sym typeface="Roboto Light"/>
              </a:rPr>
              <a:t>with</a:t>
            </a:r>
            <a:br>
              <a:rPr lang="en" sz="2133">
                <a:latin typeface="Roboto Light"/>
                <a:ea typeface="Roboto Light"/>
                <a:cs typeface="Roboto Light"/>
                <a:sym typeface="Roboto Light"/>
              </a:rPr>
            </a:br>
            <a:r>
              <a:rPr lang="en" sz="2133">
                <a:latin typeface="Roboto Light"/>
                <a:ea typeface="Roboto Light"/>
                <a:cs typeface="Roboto Light"/>
                <a:sym typeface="Roboto Light"/>
              </a:rPr>
              <a:t>dimensions n x (p + 1)</a:t>
            </a:r>
            <a:endParaRPr sz="2133">
              <a:latin typeface="Roboto Light"/>
              <a:ea typeface="Roboto Light"/>
              <a:cs typeface="Roboto Light"/>
              <a:sym typeface="Roboto Light"/>
            </a:endParaRPr>
          </a:p>
        </p:txBody>
      </p:sp>
      <p:sp>
        <p:nvSpPr>
          <p:cNvPr id="589" name="Google Shape;589;p54"/>
          <p:cNvSpPr txBox="1"/>
          <p:nvPr/>
        </p:nvSpPr>
        <p:spPr>
          <a:xfrm rot="5400000">
            <a:off x="3088533" y="3401457"/>
            <a:ext cx="822000" cy="1066855"/>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5333">
                <a:latin typeface="Roboto Light"/>
                <a:ea typeface="Roboto Light"/>
                <a:cs typeface="Roboto Light"/>
                <a:sym typeface="Roboto Light"/>
              </a:rPr>
              <a:t>…</a:t>
            </a:r>
            <a:endParaRPr sz="5333">
              <a:latin typeface="Roboto Light"/>
              <a:ea typeface="Roboto Light"/>
              <a:cs typeface="Roboto Light"/>
              <a:sym typeface="Roboto Light"/>
            </a:endParaRPr>
          </a:p>
        </p:txBody>
      </p:sp>
      <p:pic>
        <p:nvPicPr>
          <p:cNvPr id="590" name="Google Shape;590;p54" title="[0,0,0,&quot;https://latex-staging.easygenerator.com/eqneditor/editor.php?latex=%5Cbegin%7Bbmatrix%7D%20%5Chat%7By%7D_1%20%5C%5C%20%5C%5C%20%5Chat%7By%7D_2%20%5C%5C%20%5C%5C%20%5Cvdots%20%5C%5C%20%5C%5C%20%20%5Chat%7By%7D_n%20%5Cend%7Bbmatrix%7D%20%3D%20#0&quot;]"/>
          <p:cNvPicPr preferRelativeResize="0"/>
          <p:nvPr/>
        </p:nvPicPr>
        <p:blipFill>
          <a:blip r:embed="rId6">
            <a:alphaModFix/>
          </a:blip>
          <a:stretch>
            <a:fillRect/>
          </a:stretch>
        </p:blipFill>
        <p:spPr>
          <a:xfrm>
            <a:off x="470837" y="1489467"/>
            <a:ext cx="1260033" cy="3675143"/>
          </a:xfrm>
          <a:prstGeom prst="rect">
            <a:avLst/>
          </a:prstGeom>
          <a:noFill/>
          <a:ln>
            <a:noFill/>
          </a:ln>
        </p:spPr>
      </p:pic>
      <p:sp>
        <p:nvSpPr>
          <p:cNvPr id="591" name="Google Shape;591;p54"/>
          <p:cNvSpPr/>
          <p:nvPr/>
        </p:nvSpPr>
        <p:spPr>
          <a:xfrm>
            <a:off x="1864467" y="1411533"/>
            <a:ext cx="3722800" cy="3940000"/>
          </a:xfrm>
          <a:prstGeom prst="rect">
            <a:avLst/>
          </a:prstGeom>
          <a:solidFill>
            <a:schemeClr val="lt2"/>
          </a:solidFill>
          <a:ln w="2857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pic>
        <p:nvPicPr>
          <p:cNvPr id="592" name="Google Shape;592;p54" title="[0,0,0,&quot;https://latex-staging.easygenerator.com/eqneditor/editor.php?latex=%5Ctheta#0&quot;]"/>
          <p:cNvPicPr preferRelativeResize="0"/>
          <p:nvPr/>
        </p:nvPicPr>
        <p:blipFill>
          <a:blip r:embed="rId7">
            <a:alphaModFix/>
          </a:blip>
          <a:stretch>
            <a:fillRect/>
          </a:stretch>
        </p:blipFill>
        <p:spPr>
          <a:xfrm>
            <a:off x="5896500" y="2930133"/>
            <a:ext cx="541680" cy="902800"/>
          </a:xfrm>
          <a:prstGeom prst="rect">
            <a:avLst/>
          </a:prstGeom>
          <a:noFill/>
          <a:ln>
            <a:noFill/>
          </a:ln>
        </p:spPr>
      </p:pic>
      <p:pic>
        <p:nvPicPr>
          <p:cNvPr id="594" name="Google Shape;594;p54" descr="{&quot;type&quot;:&quot;$$&quot;,&quot;font&quot;:{&quot;color&quot;:&quot;#000000&quot;,&quot;size&quot;:96,&quot;family&quot;:&quot;Arial&quot;},&quot;id&quot;:&quot;27&quot;,&quot;backgroundColor&quot;:&quot;#FFFFFF&quot;,&quot;aid&quot;:null,&quot;code&quot;:&quot;$$\\mathbb{X}$$&quot;,&quot;ts&quot;:1689055310875,&quot;cs&quot;:&quot;Jlvhu29kKTDpqDQqO/KXgA==&quot;,&quot;size&quot;:{&quot;width&quot;:103.5,&quot;height&quot;:102.83333333333333}}"/>
          <p:cNvPicPr preferRelativeResize="0"/>
          <p:nvPr/>
        </p:nvPicPr>
        <p:blipFill>
          <a:blip r:embed="rId8">
            <a:alphaModFix/>
          </a:blip>
          <a:stretch>
            <a:fillRect/>
          </a:stretch>
        </p:blipFill>
        <p:spPr>
          <a:xfrm>
            <a:off x="3068633" y="2674033"/>
            <a:ext cx="1314451" cy="130598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8" name="Google Shape;658;p57"/>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We can express our linear model on our entire dataset as follows:</a:t>
            </a:r>
            <a:endParaRPr/>
          </a:p>
        </p:txBody>
      </p:sp>
      <p:sp>
        <p:nvSpPr>
          <p:cNvPr id="657" name="Google Shape;657;p57"/>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sz="3200" dirty="0">
                <a:solidFill>
                  <a:schemeClr val="accent3"/>
                </a:solidFill>
              </a:rPr>
              <a:t>The Multiple Linear Regression Model Using Matrix Notation</a:t>
            </a:r>
            <a:endParaRPr sz="3200" dirty="0"/>
          </a:p>
        </p:txBody>
      </p:sp>
      <p:sp>
        <p:nvSpPr>
          <p:cNvPr id="659" name="Google Shape;659;p57"/>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53</a:t>
            </a:fld>
            <a:endParaRPr/>
          </a:p>
        </p:txBody>
      </p:sp>
      <p:pic>
        <p:nvPicPr>
          <p:cNvPr id="660" name="Google Shape;660;p57" title="[0,0,0,&quot;https://latex-staging.easygenerator.com/eqneditor/editor.php?latex=%5Cbegin%7Bbmatrix%7D%20%5Chat%7By%7D_1%20%5C%5C%20%5Chat%7By%7D_2%20%5C%5C%20%5Chat%7By%7D_3%5C%5C%20%5Cvdots%20%5C%5C%20%5Chat%7By%7D_n%20%5Cend%7Bbmatrix%7D%20%3D%0B%5Cbegin%7Bbmatrix%7D%0A1%20%26%20x_%7B11%7D%20%26%20x_%7B12%7D%20%26%20%5Cdots%20%26%20x_%7B1p%7D%5C%5C%0A1%20%26%20x_%7B21%7D%20%26%20x_%7B22%7D%20%26%20%5Cdots%20%26%20x_%7B2p%7D%5C%5C%0A1%20%26%20x_%7B31%7D%20%26%20x_%7B32%7D%20%26%20%5Cdots%20%26%20x_%7B3p%7D%5C%5C%0B%5Cvdots%20%26%20%5Cvdots%20%26%20%5Cvdots%20%26%20%5Cvdots%20%26%20%5Cvdots%5C%5C%0A1%20%26%20x_%7Bn1%7D%20%26%20x_%7Bn2%7D%20%26%20%5Cdots%20%26%20x_%7Bnp%7D%5C%5C%0A%5Cend%7Bbmatrix%7D%0B%5Cbegin%7Bbmatrix%7D%20%5Ctheta_0%20%5C%5C%0A%5Ctheta_1%5C%5C%20%5Cvdots%20%5C%5C%20%5Ctheta_p%20%5Cend%7Bbmatrix%7D%20#0&quot;]"/>
          <p:cNvPicPr preferRelativeResize="0"/>
          <p:nvPr/>
        </p:nvPicPr>
        <p:blipFill>
          <a:blip r:embed="rId3">
            <a:alphaModFix/>
          </a:blip>
          <a:stretch>
            <a:fillRect/>
          </a:stretch>
        </p:blipFill>
        <p:spPr>
          <a:xfrm>
            <a:off x="2818728" y="1707704"/>
            <a:ext cx="5801900" cy="2417468"/>
          </a:xfrm>
          <a:prstGeom prst="rect">
            <a:avLst/>
          </a:prstGeom>
          <a:noFill/>
          <a:ln>
            <a:noFill/>
          </a:ln>
        </p:spPr>
      </p:pic>
      <p:grpSp>
        <p:nvGrpSpPr>
          <p:cNvPr id="661" name="Google Shape;661;p57"/>
          <p:cNvGrpSpPr/>
          <p:nvPr/>
        </p:nvGrpSpPr>
        <p:grpSpPr>
          <a:xfrm>
            <a:off x="2347400" y="4245134"/>
            <a:ext cx="7939768" cy="2284533"/>
            <a:chOff x="1760550" y="3183850"/>
            <a:chExt cx="5954826" cy="1713400"/>
          </a:xfrm>
        </p:grpSpPr>
        <p:sp>
          <p:nvSpPr>
            <p:cNvPr id="662" name="Google Shape;662;p57"/>
            <p:cNvSpPr/>
            <p:nvPr/>
          </p:nvSpPr>
          <p:spPr>
            <a:xfrm>
              <a:off x="2795825" y="3183850"/>
              <a:ext cx="3026100" cy="11100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grpSp>
          <p:nvGrpSpPr>
            <p:cNvPr id="663" name="Google Shape;663;p57"/>
            <p:cNvGrpSpPr/>
            <p:nvPr/>
          </p:nvGrpSpPr>
          <p:grpSpPr>
            <a:xfrm>
              <a:off x="1760550" y="3274825"/>
              <a:ext cx="5954826" cy="1622425"/>
              <a:chOff x="236550" y="3274825"/>
              <a:chExt cx="5954826" cy="1622425"/>
            </a:xfrm>
          </p:grpSpPr>
          <p:sp>
            <p:nvSpPr>
              <p:cNvPr id="664" name="Google Shape;664;p57"/>
              <p:cNvSpPr txBox="1"/>
              <p:nvPr/>
            </p:nvSpPr>
            <p:spPr>
              <a:xfrm>
                <a:off x="2455450" y="4256850"/>
                <a:ext cx="1757700" cy="43080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b="1">
                    <a:solidFill>
                      <a:schemeClr val="accent3"/>
                    </a:solidFill>
                    <a:latin typeface="Roboto"/>
                    <a:ea typeface="Roboto"/>
                    <a:cs typeface="Roboto"/>
                    <a:sym typeface="Roboto"/>
                  </a:rPr>
                  <a:t>Design matrix</a:t>
                </a:r>
                <a:endParaRPr sz="2133">
                  <a:solidFill>
                    <a:schemeClr val="dk1"/>
                  </a:solidFill>
                  <a:latin typeface="Roboto Light"/>
                  <a:ea typeface="Roboto Light"/>
                  <a:cs typeface="Roboto Light"/>
                  <a:sym typeface="Roboto Light"/>
                </a:endParaRPr>
              </a:p>
            </p:txBody>
          </p:sp>
          <p:sp>
            <p:nvSpPr>
              <p:cNvPr id="665" name="Google Shape;665;p57"/>
              <p:cNvSpPr txBox="1"/>
              <p:nvPr/>
            </p:nvSpPr>
            <p:spPr>
              <a:xfrm>
                <a:off x="236550" y="4256850"/>
                <a:ext cx="1883400" cy="430809"/>
              </a:xfrm>
              <a:prstGeom prst="rect">
                <a:avLst/>
              </a:prstGeom>
              <a:noFill/>
              <a:ln>
                <a:noFill/>
              </a:ln>
            </p:spPr>
            <p:txBody>
              <a:bodyPr spcFirstLastPara="1" wrap="square" lIns="121900" tIns="121900" rIns="121900" bIns="121900" anchor="t" anchorCtr="0">
                <a:spAutoFit/>
              </a:bodyPr>
              <a:lstStyle/>
              <a:p>
                <a:pPr algn="r">
                  <a:spcBef>
                    <a:spcPts val="0"/>
                  </a:spcBef>
                  <a:spcAft>
                    <a:spcPts val="0"/>
                  </a:spcAft>
                </a:pPr>
                <a:r>
                  <a:rPr lang="en" sz="2133" b="1">
                    <a:solidFill>
                      <a:schemeClr val="accent2"/>
                    </a:solidFill>
                    <a:latin typeface="Roboto"/>
                    <a:ea typeface="Roboto"/>
                    <a:cs typeface="Roboto"/>
                    <a:sym typeface="Roboto"/>
                  </a:rPr>
                  <a:t>Prediction vector</a:t>
                </a:r>
                <a:endParaRPr sz="2133">
                  <a:latin typeface="Roboto Light"/>
                  <a:ea typeface="Roboto Light"/>
                  <a:cs typeface="Roboto Light"/>
                  <a:sym typeface="Roboto Light"/>
                </a:endParaRPr>
              </a:p>
            </p:txBody>
          </p:sp>
          <p:sp>
            <p:nvSpPr>
              <p:cNvPr id="666" name="Google Shape;666;p57"/>
              <p:cNvSpPr txBox="1"/>
              <p:nvPr/>
            </p:nvSpPr>
            <p:spPr>
              <a:xfrm>
                <a:off x="4130976" y="4256850"/>
                <a:ext cx="2060400" cy="43080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b="1">
                    <a:solidFill>
                      <a:srgbClr val="FF00FF"/>
                    </a:solidFill>
                    <a:latin typeface="Roboto"/>
                    <a:ea typeface="Roboto"/>
                    <a:cs typeface="Roboto"/>
                    <a:sym typeface="Roboto"/>
                  </a:rPr>
                  <a:t>Parameter vector</a:t>
                </a:r>
                <a:endParaRPr sz="2133">
                  <a:latin typeface="Roboto Light"/>
                  <a:ea typeface="Roboto Light"/>
                  <a:cs typeface="Roboto Light"/>
                  <a:sym typeface="Roboto Light"/>
                </a:endParaRPr>
              </a:p>
            </p:txBody>
          </p:sp>
          <p:pic>
            <p:nvPicPr>
              <p:cNvPr id="667" name="Google Shape;667;p57" title="[0,0,0,&quot;https://latex-staging.easygenerator.com/eqneditor/editor.php?latex=%5Chat%7B%5Cmathbb%7BY%7D%7D%20%3D%20%5Cmathbb%7BX%7D%20%5Ctheta%20#0&quot;]"/>
              <p:cNvPicPr preferRelativeResize="0"/>
              <p:nvPr/>
            </p:nvPicPr>
            <p:blipFill>
              <a:blip r:embed="rId4">
                <a:alphaModFix/>
              </a:blip>
              <a:stretch>
                <a:fillRect/>
              </a:stretch>
            </p:blipFill>
            <p:spPr>
              <a:xfrm>
                <a:off x="1318371" y="3274825"/>
                <a:ext cx="2894775" cy="881019"/>
              </a:xfrm>
              <a:prstGeom prst="rect">
                <a:avLst/>
              </a:prstGeom>
              <a:noFill/>
              <a:ln>
                <a:noFill/>
              </a:ln>
            </p:spPr>
          </p:pic>
          <p:pic>
            <p:nvPicPr>
              <p:cNvPr id="668" name="Google Shape;668;p57" title="[0,0,0,&quot;https://latex-staging.easygenerator.com/eqneditor/editor.php?latex=%5Cin%5Cmathbb%7BR%7D%5E%7Bn%7D#0&quot;]"/>
              <p:cNvPicPr preferRelativeResize="0"/>
              <p:nvPr/>
            </p:nvPicPr>
            <p:blipFill rotWithShape="1">
              <a:blip r:embed="rId5">
                <a:alphaModFix/>
              </a:blip>
              <a:srcRect l="32998"/>
              <a:stretch/>
            </p:blipFill>
            <p:spPr>
              <a:xfrm>
                <a:off x="1179075" y="4647575"/>
                <a:ext cx="444500" cy="249675"/>
              </a:xfrm>
              <a:prstGeom prst="rect">
                <a:avLst/>
              </a:prstGeom>
              <a:noFill/>
              <a:ln>
                <a:noFill/>
              </a:ln>
            </p:spPr>
          </p:pic>
          <p:pic>
            <p:nvPicPr>
              <p:cNvPr id="669" name="Google Shape;669;p57" title="[0,0,0,&quot;https://latex-staging.easygenerator.com/eqneditor/editor.php?latex=%5Cin%5Cmathbb%7BR%7D%5E%7Bn%20%5Ctimes%20(p%20%2B%201)%7D#0&quot;]"/>
              <p:cNvPicPr preferRelativeResize="0"/>
              <p:nvPr/>
            </p:nvPicPr>
            <p:blipFill rotWithShape="1">
              <a:blip r:embed="rId6">
                <a:alphaModFix/>
              </a:blip>
              <a:srcRect l="18811"/>
              <a:stretch/>
            </p:blipFill>
            <p:spPr>
              <a:xfrm>
                <a:off x="2690700" y="4584525"/>
                <a:ext cx="1131725" cy="312725"/>
              </a:xfrm>
              <a:prstGeom prst="rect">
                <a:avLst/>
              </a:prstGeom>
              <a:noFill/>
              <a:ln>
                <a:noFill/>
              </a:ln>
            </p:spPr>
          </p:pic>
          <p:pic>
            <p:nvPicPr>
              <p:cNvPr id="670" name="Google Shape;670;p57" title="[0,0,0,&quot;https://latex-staging.easygenerator.com/eqneditor/editor.php?latex=%5Cin%5Cmathbb%7BR%7D%5E%7B(p%20%2B%201)%7D#0&quot;]"/>
              <p:cNvPicPr preferRelativeResize="0"/>
              <p:nvPr/>
            </p:nvPicPr>
            <p:blipFill rotWithShape="1">
              <a:blip r:embed="rId7">
                <a:alphaModFix/>
              </a:blip>
              <a:srcRect l="21703"/>
              <a:stretch/>
            </p:blipFill>
            <p:spPr>
              <a:xfrm>
                <a:off x="4643578" y="4584525"/>
                <a:ext cx="846475" cy="312725"/>
              </a:xfrm>
              <a:prstGeom prst="rect">
                <a:avLst/>
              </a:prstGeom>
              <a:noFill/>
              <a:ln>
                <a:noFill/>
              </a:ln>
            </p:spPr>
          </p:pic>
        </p:grpSp>
      </p:grpSp>
      <p:grpSp>
        <p:nvGrpSpPr>
          <p:cNvPr id="671" name="Google Shape;671;p57"/>
          <p:cNvGrpSpPr/>
          <p:nvPr/>
        </p:nvGrpSpPr>
        <p:grpSpPr>
          <a:xfrm>
            <a:off x="9766651" y="4205001"/>
            <a:ext cx="2343600" cy="1560277"/>
            <a:chOff x="7324988" y="3306150"/>
            <a:chExt cx="1757700" cy="1170208"/>
          </a:xfrm>
        </p:grpSpPr>
        <p:sp>
          <p:nvSpPr>
            <p:cNvPr id="672" name="Google Shape;672;p57"/>
            <p:cNvSpPr txBox="1"/>
            <p:nvPr/>
          </p:nvSpPr>
          <p:spPr>
            <a:xfrm>
              <a:off x="7324988" y="3306150"/>
              <a:ext cx="1757700" cy="923156"/>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Note that our </a:t>
              </a:r>
              <a:r>
                <a:rPr lang="en" sz="2133" b="1">
                  <a:latin typeface="Roboto"/>
                  <a:ea typeface="Roboto"/>
                  <a:cs typeface="Roboto"/>
                  <a:sym typeface="Roboto"/>
                </a:rPr>
                <a:t>true output</a:t>
              </a:r>
              <a:r>
                <a:rPr lang="en" sz="2133">
                  <a:latin typeface="Roboto Light"/>
                  <a:ea typeface="Roboto Light"/>
                  <a:cs typeface="Roboto Light"/>
                  <a:sym typeface="Roboto Light"/>
                </a:rPr>
                <a:t> is also a vector:</a:t>
              </a:r>
              <a:endParaRPr sz="2133">
                <a:latin typeface="Roboto Light"/>
                <a:ea typeface="Roboto Light"/>
                <a:cs typeface="Roboto Light"/>
                <a:sym typeface="Roboto Light"/>
              </a:endParaRPr>
            </a:p>
          </p:txBody>
        </p:sp>
        <p:pic>
          <p:nvPicPr>
            <p:cNvPr id="673" name="Google Shape;673;p57" title="[0,0,0,&quot;https://latex-staging.easygenerator.com/eqneditor/editor.php?latex=%5Cmathbb%7BY%7D%20%5Cin%20%5Cmathbb%7BR%7D%5En#0&quot;]"/>
            <p:cNvPicPr preferRelativeResize="0"/>
            <p:nvPr/>
          </p:nvPicPr>
          <p:blipFill>
            <a:blip r:embed="rId8">
              <a:alphaModFix/>
            </a:blip>
            <a:stretch>
              <a:fillRect/>
            </a:stretch>
          </p:blipFill>
          <p:spPr>
            <a:xfrm>
              <a:off x="7564996" y="4163633"/>
              <a:ext cx="1277687" cy="312725"/>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2" name="Google Shape;832;p66"/>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We can rewrite mean squared error as a squared L2 norm: </a:t>
            </a:r>
            <a:endParaRPr/>
          </a:p>
        </p:txBody>
      </p:sp>
      <p:sp>
        <p:nvSpPr>
          <p:cNvPr id="831" name="Google Shape;831;p66"/>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dirty="0">
                <a:solidFill>
                  <a:schemeClr val="accent3"/>
                </a:solidFill>
              </a:rPr>
              <a:t>Mean Squared Error with L2 Norms</a:t>
            </a:r>
            <a:endParaRPr dirty="0"/>
          </a:p>
        </p:txBody>
      </p:sp>
      <p:sp>
        <p:nvSpPr>
          <p:cNvPr id="833" name="Google Shape;833;p66"/>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54</a:t>
            </a:fld>
            <a:endParaRPr/>
          </a:p>
        </p:txBody>
      </p:sp>
      <p:pic>
        <p:nvPicPr>
          <p:cNvPr id="834" name="Google Shape;834;p66" title="[0,0,0,&quot;https://latex-staging.easygenerator.com/eqneditor/editor.php?latex=R(%5Ctheta)%20%3D%20%5Cfrac%7B1%7D%7Bn%7D%20%5Csum%5Climits_%7Bi%3D1%7D%5En%20(y_i%20-%20%5Chat%7By_i%7D)%5E2#0&quot;]"/>
          <p:cNvPicPr preferRelativeResize="0"/>
          <p:nvPr/>
        </p:nvPicPr>
        <p:blipFill>
          <a:blip r:embed="rId3">
            <a:alphaModFix/>
          </a:blip>
          <a:stretch>
            <a:fillRect/>
          </a:stretch>
        </p:blipFill>
        <p:spPr>
          <a:xfrm>
            <a:off x="3864634" y="1670525"/>
            <a:ext cx="3697565" cy="857067"/>
          </a:xfrm>
          <a:prstGeom prst="rect">
            <a:avLst/>
          </a:prstGeom>
          <a:noFill/>
          <a:ln>
            <a:noFill/>
          </a:ln>
        </p:spPr>
      </p:pic>
      <p:pic>
        <p:nvPicPr>
          <p:cNvPr id="835" name="Google Shape;835;p66" title="[0,0,0,&quot;https://latex-staging.easygenerator.com/eqneditor/editor.php?latex=%3D%20%5Cfrac%7B1%7D%7Bn%7D%20%7C%7C%20%5Cmathbb%7BY%7D%20-%20%5Chat%7B%5Cmathbb%7BY%7D%7D%7C%7C%5E2_2#0&quot;]"/>
          <p:cNvPicPr preferRelativeResize="0"/>
          <p:nvPr/>
        </p:nvPicPr>
        <p:blipFill>
          <a:blip r:embed="rId4">
            <a:alphaModFix/>
          </a:blip>
          <a:stretch>
            <a:fillRect/>
          </a:stretch>
        </p:blipFill>
        <p:spPr>
          <a:xfrm>
            <a:off x="4791044" y="2649861"/>
            <a:ext cx="2106576" cy="730000"/>
          </a:xfrm>
          <a:prstGeom prst="rect">
            <a:avLst/>
          </a:prstGeom>
          <a:noFill/>
          <a:ln>
            <a:noFill/>
          </a:ln>
        </p:spPr>
      </p:pic>
      <p:grpSp>
        <p:nvGrpSpPr>
          <p:cNvPr id="836" name="Google Shape;836;p66"/>
          <p:cNvGrpSpPr/>
          <p:nvPr/>
        </p:nvGrpSpPr>
        <p:grpSpPr>
          <a:xfrm>
            <a:off x="549810" y="3915931"/>
            <a:ext cx="8482467" cy="1682633"/>
            <a:chOff x="107050" y="2576000"/>
            <a:chExt cx="6361850" cy="1261975"/>
          </a:xfrm>
        </p:grpSpPr>
        <p:sp>
          <p:nvSpPr>
            <p:cNvPr id="837" name="Google Shape;837;p66"/>
            <p:cNvSpPr txBox="1"/>
            <p:nvPr/>
          </p:nvSpPr>
          <p:spPr>
            <a:xfrm>
              <a:off x="107050" y="2576000"/>
              <a:ext cx="3401700" cy="507753"/>
            </a:xfrm>
            <a:prstGeom prst="rect">
              <a:avLst/>
            </a:prstGeom>
            <a:noFill/>
            <a:ln>
              <a:noFill/>
            </a:ln>
          </p:spPr>
          <p:txBody>
            <a:bodyPr spcFirstLastPara="1" wrap="square" lIns="121900" tIns="121900" rIns="121900" bIns="121900" anchor="t" anchorCtr="0">
              <a:spAutoFit/>
            </a:bodyPr>
            <a:lstStyle/>
            <a:p>
              <a:pPr>
                <a:spcBef>
                  <a:spcPts val="800"/>
                </a:spcBef>
                <a:spcAft>
                  <a:spcPts val="0"/>
                </a:spcAft>
              </a:pPr>
              <a:r>
                <a:rPr lang="en" sz="2133">
                  <a:solidFill>
                    <a:schemeClr val="dk1"/>
                  </a:solidFill>
                  <a:latin typeface="Roboto Light"/>
                  <a:ea typeface="Roboto Light"/>
                  <a:cs typeface="Roboto Light"/>
                  <a:sym typeface="Roboto Light"/>
                </a:rPr>
                <a:t>With our linear model                  :</a:t>
              </a:r>
              <a:endParaRPr>
                <a:latin typeface="Roboto Light"/>
                <a:ea typeface="Roboto Light"/>
                <a:cs typeface="Roboto Light"/>
                <a:sym typeface="Roboto Light"/>
              </a:endParaRPr>
            </a:p>
          </p:txBody>
        </p:sp>
        <p:sp>
          <p:nvSpPr>
            <p:cNvPr id="838" name="Google Shape;838;p66"/>
            <p:cNvSpPr/>
            <p:nvPr/>
          </p:nvSpPr>
          <p:spPr>
            <a:xfrm>
              <a:off x="2403600" y="2987175"/>
              <a:ext cx="4065300" cy="850800"/>
            </a:xfrm>
            <a:prstGeom prst="rect">
              <a:avLst/>
            </a:prstGeom>
            <a:solidFill>
              <a:schemeClr val="lt2"/>
            </a:solidFill>
            <a:ln>
              <a:noFill/>
            </a:ln>
          </p:spPr>
          <p:txBody>
            <a:bodyPr spcFirstLastPara="1" wrap="square" lIns="121900" tIns="121900" rIns="121900" bIns="121900" anchor="ctr" anchorCtr="0">
              <a:noAutofit/>
            </a:bodyPr>
            <a:lstStyle/>
            <a:p>
              <a:pPr>
                <a:spcBef>
                  <a:spcPts val="0"/>
                </a:spcBef>
                <a:spcAft>
                  <a:spcPts val="0"/>
                </a:spcAft>
              </a:pPr>
              <a:endParaRPr/>
            </a:p>
          </p:txBody>
        </p:sp>
        <p:pic>
          <p:nvPicPr>
            <p:cNvPr id="839" name="Google Shape;839;p66" title="[0,0,0,&quot;https://latex-staging.easygenerator.com/eqneditor/editor.php?latex=R(%5Ctheta)%20%3D%20%5Cfrac%7B1%7D%7Bn%7D%20%7C%7C%20%5Cmathbb%7BY%7D%20-%20%5Cmathbb%7BX%7D%5Ctheta%7C%7C%5E2_2#0&quot;]"/>
            <p:cNvPicPr preferRelativeResize="0"/>
            <p:nvPr/>
          </p:nvPicPr>
          <p:blipFill>
            <a:blip r:embed="rId5">
              <a:alphaModFix/>
            </a:blip>
            <a:stretch>
              <a:fillRect/>
            </a:stretch>
          </p:blipFill>
          <p:spPr>
            <a:xfrm>
              <a:off x="2458925" y="3142025"/>
              <a:ext cx="3816846" cy="547500"/>
            </a:xfrm>
            <a:prstGeom prst="rect">
              <a:avLst/>
            </a:prstGeom>
            <a:noFill/>
            <a:ln>
              <a:noFill/>
            </a:ln>
          </p:spPr>
        </p:pic>
        <p:pic>
          <p:nvPicPr>
            <p:cNvPr id="840" name="Google Shape;840;p66" title="[0,0,0,&quot;https://latex-staging.easygenerator.com/eqneditor/editor.php?latex=%5Chat%7B%5Cmathbb%7BY%7D%7D%20%3D%20%5Cmathbb%7BX%7D%20%5Ctheta%20#0&quot;]"/>
            <p:cNvPicPr preferRelativeResize="0"/>
            <p:nvPr/>
          </p:nvPicPr>
          <p:blipFill>
            <a:blip r:embed="rId6">
              <a:alphaModFix/>
            </a:blip>
            <a:stretch>
              <a:fillRect/>
            </a:stretch>
          </p:blipFill>
          <p:spPr>
            <a:xfrm>
              <a:off x="2132777" y="2668637"/>
              <a:ext cx="765700" cy="233039"/>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3D978C-63E8-3CBE-5E49-4CDE9D8D4945}"/>
              </a:ext>
            </a:extLst>
          </p:cNvPr>
          <p:cNvSpPr>
            <a:spLocks noGrp="1"/>
          </p:cNvSpPr>
          <p:nvPr>
            <p:ph type="title"/>
          </p:nvPr>
        </p:nvSpPr>
        <p:spPr/>
        <p:txBody>
          <a:bodyPr/>
          <a:lstStyle/>
          <a:p>
            <a:r>
              <a:rPr lang="en-US" dirty="0"/>
              <a:t>Back to GD</a:t>
            </a:r>
          </a:p>
        </p:txBody>
      </p:sp>
      <p:sp>
        <p:nvSpPr>
          <p:cNvPr id="6" name="Text Placeholder 5">
            <a:extLst>
              <a:ext uri="{FF2B5EF4-FFF2-40B4-BE49-F238E27FC236}">
                <a16:creationId xmlns:a16="http://schemas.microsoft.com/office/drawing/2014/main" id="{7B64951F-B404-B762-14FE-DED26A92CE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65E5CC-E78D-DC8B-BD59-DD927BE78649}"/>
              </a:ext>
            </a:extLst>
          </p:cNvPr>
          <p:cNvSpPr>
            <a:spLocks noGrp="1"/>
          </p:cNvSpPr>
          <p:nvPr>
            <p:ph type="sldNum" sz="quarter" idx="12"/>
          </p:nvPr>
        </p:nvSpPr>
        <p:spPr/>
        <p:txBody>
          <a:bodyPr/>
          <a:lstStyle/>
          <a:p>
            <a:fld id="{89D00882-420D-446F-B065-6675A463A27F}" type="slidenum">
              <a:rPr lang="en-US" smtClean="0"/>
              <a:pPr/>
              <a:t>55</a:t>
            </a:fld>
            <a:endParaRPr lang="en-US"/>
          </a:p>
        </p:txBody>
      </p:sp>
    </p:spTree>
    <p:extLst>
      <p:ext uri="{BB962C8B-B14F-4D97-AF65-F5344CB8AC3E}">
        <p14:creationId xmlns:p14="http://schemas.microsoft.com/office/powerpoint/2010/main" val="14242950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pic>
        <p:nvPicPr>
          <p:cNvPr id="746" name="Google Shape;746;p86"/>
          <p:cNvPicPr preferRelativeResize="0"/>
          <p:nvPr/>
        </p:nvPicPr>
        <p:blipFill>
          <a:blip r:embed="rId3">
            <a:alphaModFix/>
          </a:blip>
          <a:stretch>
            <a:fillRect/>
          </a:stretch>
        </p:blipFill>
        <p:spPr>
          <a:xfrm>
            <a:off x="618968" y="2542664"/>
            <a:ext cx="5477031" cy="4026957"/>
          </a:xfrm>
          <a:prstGeom prst="rect">
            <a:avLst/>
          </a:prstGeom>
          <a:noFill/>
          <a:ln>
            <a:noFill/>
          </a:ln>
        </p:spPr>
      </p:pic>
      <p:sp>
        <p:nvSpPr>
          <p:cNvPr id="747" name="Google Shape;747;p86"/>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US">
                <a:solidFill>
                  <a:schemeClr val="accent3"/>
                </a:solidFill>
              </a:rPr>
              <a:t>Models in 2D or Higher</a:t>
            </a:r>
            <a:endParaRPr lang="en-US"/>
          </a:p>
        </p:txBody>
      </p:sp>
      <p:sp>
        <p:nvSpPr>
          <p:cNvPr id="749" name="Google Shape;749;p86"/>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smtClean="0"/>
              <a:pPr/>
              <a:t>56</a:t>
            </a:fld>
            <a:endParaRPr lang="en"/>
          </a:p>
        </p:txBody>
      </p:sp>
      <p:sp>
        <p:nvSpPr>
          <p:cNvPr id="748" name="Google Shape;748;p86"/>
          <p:cNvSpPr txBox="1">
            <a:spLocks noGrp="1"/>
          </p:cNvSpPr>
          <p:nvPr>
            <p:ph type="body" idx="4294967295"/>
          </p:nvPr>
        </p:nvSpPr>
        <p:spPr>
          <a:xfrm>
            <a:off x="0" y="536575"/>
            <a:ext cx="11360150" cy="1247775"/>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With multiple parameters to optimize, we consider a </a:t>
            </a:r>
            <a:r>
              <a:rPr lang="en" b="1" dirty="0">
                <a:latin typeface="Roboto"/>
                <a:ea typeface="Roboto"/>
                <a:cs typeface="Roboto"/>
                <a:sym typeface="Roboto"/>
              </a:rPr>
              <a:t>loss surface</a:t>
            </a:r>
            <a:endParaRPr b="1" dirty="0">
              <a:latin typeface="Roboto"/>
              <a:ea typeface="Roboto"/>
              <a:cs typeface="Roboto"/>
              <a:sym typeface="Roboto"/>
            </a:endParaRPr>
          </a:p>
          <a:p>
            <a:r>
              <a:rPr lang="en" dirty="0"/>
              <a:t>What is the model’s loss for a particular </a:t>
            </a:r>
            <a:r>
              <a:rPr lang="en" i="1" dirty="0"/>
              <a:t>combination</a:t>
            </a:r>
            <a:r>
              <a:rPr lang="en" dirty="0"/>
              <a:t> of possible parameter values?</a:t>
            </a:r>
            <a:endParaRPr dirty="0"/>
          </a:p>
        </p:txBody>
      </p:sp>
      <p:sp>
        <p:nvSpPr>
          <p:cNvPr id="750" name="Google Shape;750;p86"/>
          <p:cNvSpPr/>
          <p:nvPr/>
        </p:nvSpPr>
        <p:spPr>
          <a:xfrm rot="-3188232">
            <a:off x="5500460" y="5127018"/>
            <a:ext cx="645440" cy="658000"/>
          </a:xfrm>
          <a:prstGeom prst="rect">
            <a:avLst/>
          </a:prstGeom>
          <a:solidFill>
            <a:schemeClr val="lt1"/>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751" name="Google Shape;751;p86"/>
          <p:cNvSpPr/>
          <p:nvPr/>
        </p:nvSpPr>
        <p:spPr>
          <a:xfrm>
            <a:off x="2592501" y="5565111"/>
            <a:ext cx="645200" cy="658000"/>
          </a:xfrm>
          <a:prstGeom prst="rect">
            <a:avLst/>
          </a:prstGeom>
          <a:solidFill>
            <a:schemeClr val="lt1"/>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752" name="Google Shape;752;p86"/>
          <p:cNvSpPr/>
          <p:nvPr/>
        </p:nvSpPr>
        <p:spPr>
          <a:xfrm>
            <a:off x="1011984" y="4128170"/>
            <a:ext cx="645200" cy="658000"/>
          </a:xfrm>
          <a:prstGeom prst="rect">
            <a:avLst/>
          </a:prstGeom>
          <a:solidFill>
            <a:schemeClr val="lt1"/>
          </a:solidFill>
          <a:ln>
            <a:noFill/>
          </a:ln>
        </p:spPr>
        <p:txBody>
          <a:bodyPr spcFirstLastPara="1" wrap="square" lIns="121900" tIns="121900" rIns="121900" bIns="121900" anchor="ctr" anchorCtr="0">
            <a:noAutofit/>
          </a:bodyPr>
          <a:lstStyle/>
          <a:p>
            <a:pPr>
              <a:spcBef>
                <a:spcPts val="0"/>
              </a:spcBef>
              <a:spcAft>
                <a:spcPts val="0"/>
              </a:spcAft>
            </a:pPr>
            <a:endParaRPr/>
          </a:p>
        </p:txBody>
      </p:sp>
      <p:pic>
        <p:nvPicPr>
          <p:cNvPr id="753" name="Google Shape;753;p86" descr="{&quot;backgroundColor&quot;:&quot;#FFFFFF&quot;,&quot;code&quot;:&quot;$\\theta_{0}$&quot;,&quot;aid&quot;:null,&quot;font&quot;:{&quot;size&quot;:12,&quot;color&quot;:&quot;#000000&quot;,&quot;family&quot;:&quot;Arial&quot;},&quot;id&quot;:&quot;13&quot;,&quot;type&quot;:&quot;$&quot;,&quot;ts&quot;:1688763280249,&quot;cs&quot;:&quot;PLd7zOYKE5pDeNSKie01XA==&quot;,&quot;size&quot;:{&quot;width&quot;:14.5,&quot;height&quot;:16.5}}"/>
          <p:cNvPicPr preferRelativeResize="0"/>
          <p:nvPr/>
        </p:nvPicPr>
        <p:blipFill>
          <a:blip r:embed="rId4">
            <a:alphaModFix/>
          </a:blip>
          <a:stretch>
            <a:fillRect/>
          </a:stretch>
        </p:blipFill>
        <p:spPr>
          <a:xfrm>
            <a:off x="2849852" y="5999844"/>
            <a:ext cx="262433" cy="298633"/>
          </a:xfrm>
          <a:prstGeom prst="rect">
            <a:avLst/>
          </a:prstGeom>
          <a:noFill/>
          <a:ln>
            <a:noFill/>
          </a:ln>
        </p:spPr>
      </p:pic>
      <p:pic>
        <p:nvPicPr>
          <p:cNvPr id="754" name="Google Shape;754;p86" descr="{&quot;font&quot;:{&quot;size&quot;:12,&quot;family&quot;:&quot;Arial&quot;,&quot;color&quot;:&quot;#000000&quot;},&quot;type&quot;:&quot;$$&quot;,&quot;backgroundColor&quot;:&quot;#FFFFFF&quot;,&quot;id&quot;:&quot;14&quot;,&quot;code&quot;:&quot;$$\\theta_{1}$$&quot;,&quot;aid&quot;:null,&quot;backgroundColorModified&quot;:false,&quot;ts&quot;:1688763299248,&quot;cs&quot;:&quot;OXfaw8ES1A9zFoEQ0rWpjw==&quot;,&quot;size&quot;:{&quot;width&quot;:14,&quot;height&quot;:16.166666666666668}}"/>
          <p:cNvPicPr preferRelativeResize="0"/>
          <p:nvPr/>
        </p:nvPicPr>
        <p:blipFill>
          <a:blip r:embed="rId5">
            <a:alphaModFix/>
          </a:blip>
          <a:stretch>
            <a:fillRect/>
          </a:stretch>
        </p:blipFill>
        <p:spPr>
          <a:xfrm>
            <a:off x="5619852" y="5426847"/>
            <a:ext cx="262433" cy="303072"/>
          </a:xfrm>
          <a:prstGeom prst="rect">
            <a:avLst/>
          </a:prstGeom>
          <a:noFill/>
          <a:ln>
            <a:noFill/>
          </a:ln>
        </p:spPr>
      </p:pic>
      <p:pic>
        <p:nvPicPr>
          <p:cNvPr id="755" name="Google Shape;755;p86" descr="{&quot;code&quot;:&quot;$$\\text{MSE(}\\theta_{0},\\,\\theta_{1}\\text{)}$$&quot;,&quot;aid&quot;:null,&quot;type&quot;:&quot;$$&quot;,&quot;id&quot;:&quot;15&quot;,&quot;backgroundColorModified&quot;:false,&quot;font&quot;:{&quot;family&quot;:&quot;Arial&quot;,&quot;color&quot;:&quot;#000000&quot;,&quot;size&quot;:15},&quot;backgroundColor&quot;:&quot;#FFFFFF&quot;,&quot;ts&quot;:1688763350188,&quot;cs&quot;:&quot;uFb1YP80uRC/T4SKiu+Xqw==&quot;,&quot;size&quot;:{&quot;width&quot;:122.8991527559055,&quot;height&quot;:23.863523884514436}}"/>
          <p:cNvPicPr preferRelativeResize="0"/>
          <p:nvPr/>
        </p:nvPicPr>
        <p:blipFill>
          <a:blip r:embed="rId6">
            <a:alphaModFix/>
          </a:blip>
          <a:stretch>
            <a:fillRect/>
          </a:stretch>
        </p:blipFill>
        <p:spPr>
          <a:xfrm>
            <a:off x="142734" y="2561379"/>
            <a:ext cx="1538001" cy="298633"/>
          </a:xfrm>
          <a:prstGeom prst="rect">
            <a:avLst/>
          </a:prstGeom>
          <a:noFill/>
          <a:ln>
            <a:noFill/>
          </a:ln>
        </p:spPr>
      </p:pic>
      <p:pic>
        <p:nvPicPr>
          <p:cNvPr id="756" name="Google Shape;756;p86"/>
          <p:cNvPicPr preferRelativeResize="0"/>
          <p:nvPr/>
        </p:nvPicPr>
        <p:blipFill>
          <a:blip r:embed="rId7">
            <a:alphaModFix/>
          </a:blip>
          <a:stretch>
            <a:fillRect/>
          </a:stretch>
        </p:blipFill>
        <p:spPr>
          <a:xfrm>
            <a:off x="6692235" y="2862673"/>
            <a:ext cx="4811299" cy="3189024"/>
          </a:xfrm>
          <a:prstGeom prst="rect">
            <a:avLst/>
          </a:prstGeom>
          <a:noFill/>
          <a:ln>
            <a:noFill/>
          </a:ln>
        </p:spPr>
      </p:pic>
      <p:pic>
        <p:nvPicPr>
          <p:cNvPr id="757" name="Google Shape;757;p86" descr="{&quot;font&quot;:{&quot;size&quot;:12,&quot;family&quot;:&quot;Arial&quot;,&quot;color&quot;:&quot;#000000&quot;},&quot;type&quot;:&quot;$$&quot;,&quot;backgroundColor&quot;:&quot;#FFFFFF&quot;,&quot;id&quot;:&quot;14&quot;,&quot;code&quot;:&quot;$$\\theta_{1}$$&quot;,&quot;aid&quot;:null,&quot;backgroundColorModified&quot;:false,&quot;ts&quot;:1688763299248,&quot;cs&quot;:&quot;OXfaw8ES1A9zFoEQ0rWpjw==&quot;,&quot;size&quot;:{&quot;width&quot;:14,&quot;height&quot;:16.166666666666668}}"/>
          <p:cNvPicPr preferRelativeResize="0"/>
          <p:nvPr/>
        </p:nvPicPr>
        <p:blipFill>
          <a:blip r:embed="rId5">
            <a:alphaModFix/>
          </a:blip>
          <a:stretch>
            <a:fillRect/>
          </a:stretch>
        </p:blipFill>
        <p:spPr>
          <a:xfrm>
            <a:off x="11596652" y="4128181"/>
            <a:ext cx="262433" cy="303072"/>
          </a:xfrm>
          <a:prstGeom prst="rect">
            <a:avLst/>
          </a:prstGeom>
          <a:noFill/>
          <a:ln>
            <a:noFill/>
          </a:ln>
        </p:spPr>
      </p:pic>
      <p:pic>
        <p:nvPicPr>
          <p:cNvPr id="758" name="Google Shape;758;p86" descr="{&quot;backgroundColor&quot;:&quot;#FFFFFF&quot;,&quot;code&quot;:&quot;$\\theta_{0}$&quot;,&quot;aid&quot;:null,&quot;font&quot;:{&quot;size&quot;:12,&quot;color&quot;:&quot;#000000&quot;,&quot;family&quot;:&quot;Arial&quot;},&quot;id&quot;:&quot;13&quot;,&quot;type&quot;:&quot;$&quot;,&quot;ts&quot;:1688763280249,&quot;cs&quot;:&quot;PLd7zOYKE5pDeNSKie01XA==&quot;,&quot;size&quot;:{&quot;width&quot;:14.5,&quot;height&quot;:16.5}}"/>
          <p:cNvPicPr preferRelativeResize="0"/>
          <p:nvPr/>
        </p:nvPicPr>
        <p:blipFill>
          <a:blip r:embed="rId4">
            <a:alphaModFix/>
          </a:blip>
          <a:stretch>
            <a:fillRect/>
          </a:stretch>
        </p:blipFill>
        <p:spPr>
          <a:xfrm>
            <a:off x="9081552" y="6091295"/>
            <a:ext cx="262433" cy="298633"/>
          </a:xfrm>
          <a:prstGeom prst="rect">
            <a:avLst/>
          </a:prstGeom>
          <a:noFill/>
          <a:ln>
            <a:noFill/>
          </a:ln>
        </p:spPr>
      </p:pic>
      <p:sp>
        <p:nvSpPr>
          <p:cNvPr id="759" name="Google Shape;759;p86"/>
          <p:cNvSpPr txBox="1"/>
          <p:nvPr/>
        </p:nvSpPr>
        <p:spPr>
          <a:xfrm>
            <a:off x="6966784" y="2391078"/>
            <a:ext cx="4288800" cy="523180"/>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a:latin typeface="Roboto Light"/>
                <a:ea typeface="Roboto Light"/>
                <a:cs typeface="Roboto Light"/>
                <a:sym typeface="Roboto Light"/>
              </a:rPr>
              <a:t>A bird’s eye view from above:</a:t>
            </a:r>
            <a:endParaRPr>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87"/>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The Gradient Vector</a:t>
            </a:r>
            <a:endParaRPr/>
          </a:p>
        </p:txBody>
      </p:sp>
      <p:sp>
        <p:nvSpPr>
          <p:cNvPr id="766" name="Google Shape;766;p87"/>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57</a:t>
            </a:fld>
            <a:endParaRPr/>
          </a:p>
        </p:txBody>
      </p:sp>
      <p:sp>
        <p:nvSpPr>
          <p:cNvPr id="765" name="Google Shape;765;p87"/>
          <p:cNvSpPr txBox="1">
            <a:spLocks noGrp="1"/>
          </p:cNvSpPr>
          <p:nvPr>
            <p:ph type="body" idx="4294967295"/>
          </p:nvPr>
        </p:nvSpPr>
        <p:spPr>
          <a:xfrm>
            <a:off x="-2133" y="919792"/>
            <a:ext cx="11360150" cy="1952625"/>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sz="2400" dirty="0"/>
              <a:t>As before, the derivative of the loss function tells us the best way towards the minimum value</a:t>
            </a:r>
            <a:endParaRPr sz="2400" dirty="0"/>
          </a:p>
          <a:p>
            <a:pPr marL="0" indent="0">
              <a:buNone/>
            </a:pPr>
            <a:endParaRPr sz="2400" dirty="0"/>
          </a:p>
          <a:p>
            <a:pPr marL="0" indent="0">
              <a:buNone/>
            </a:pPr>
            <a:r>
              <a:rPr lang="en" sz="2400" dirty="0"/>
              <a:t>On a 2D (or higher) surface, the best way to go down (gradient) is described by a </a:t>
            </a:r>
            <a:r>
              <a:rPr lang="en" sz="2400" i="1" dirty="0"/>
              <a:t>vector</a:t>
            </a:r>
            <a:endParaRPr sz="2400" i="1" dirty="0"/>
          </a:p>
        </p:txBody>
      </p:sp>
      <p:sp>
        <p:nvSpPr>
          <p:cNvPr id="774" name="Google Shape;774;p87"/>
          <p:cNvSpPr txBox="1"/>
          <p:nvPr/>
        </p:nvSpPr>
        <p:spPr>
          <a:xfrm>
            <a:off x="5677942" y="3141794"/>
            <a:ext cx="50536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For the </a:t>
            </a:r>
            <a:r>
              <a:rPr lang="en" sz="2133" i="1" dirty="0">
                <a:latin typeface="Roboto Light"/>
                <a:ea typeface="Roboto Light"/>
                <a:cs typeface="Roboto Light"/>
                <a:sym typeface="Roboto Light"/>
              </a:rPr>
              <a:t>vector</a:t>
            </a:r>
            <a:r>
              <a:rPr lang="en" sz="2133" dirty="0">
                <a:latin typeface="Roboto Light"/>
                <a:ea typeface="Roboto Light"/>
                <a:cs typeface="Roboto Light"/>
                <a:sym typeface="Roboto Light"/>
              </a:rPr>
              <a:t> of parameter values</a:t>
            </a:r>
            <a:endParaRPr sz="2133" dirty="0">
              <a:latin typeface="Roboto Light"/>
              <a:ea typeface="Roboto Light"/>
              <a:cs typeface="Roboto Light"/>
              <a:sym typeface="Roboto Light"/>
            </a:endParaRPr>
          </a:p>
        </p:txBody>
      </p:sp>
      <p:sp>
        <p:nvSpPr>
          <p:cNvPr id="775" name="Google Shape;775;p87"/>
          <p:cNvSpPr txBox="1"/>
          <p:nvPr/>
        </p:nvSpPr>
        <p:spPr>
          <a:xfrm>
            <a:off x="5782227" y="4801227"/>
            <a:ext cx="50536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Take the </a:t>
            </a:r>
            <a:r>
              <a:rPr lang="en" sz="2133" i="1" dirty="0">
                <a:latin typeface="Roboto Light"/>
                <a:ea typeface="Roboto Light"/>
                <a:cs typeface="Roboto Light"/>
                <a:sym typeface="Roboto Light"/>
              </a:rPr>
              <a:t>partial derivative</a:t>
            </a:r>
            <a:r>
              <a:rPr lang="en" sz="2133" dirty="0">
                <a:latin typeface="Roboto Light"/>
                <a:ea typeface="Roboto Light"/>
                <a:cs typeface="Roboto Light"/>
                <a:sym typeface="Roboto Light"/>
              </a:rPr>
              <a:t> of loss with respect to each parameter  </a:t>
            </a:r>
            <a:endParaRPr sz="2133" dirty="0">
              <a:latin typeface="Roboto Light"/>
              <a:ea typeface="Roboto Light"/>
              <a:cs typeface="Roboto Light"/>
              <a:sym typeface="Roboto Light"/>
            </a:endParaRPr>
          </a:p>
        </p:txBody>
      </p:sp>
      <p:pic>
        <p:nvPicPr>
          <p:cNvPr id="776" name="Google Shape;776;p87" descr="{&quot;aid&quot;:null,&quot;code&quot;:&quot;$$\\vec{\\theta}=\\begin{bmatrix}\n{\\theta_{0}}\\\\\n{\\theta_{1}}\\\\\n\\end{bmatrix}$$&quot;,&quot;type&quot;:&quot;$$&quot;,&quot;font&quot;:{&quot;size&quot;:14,&quot;color&quot;:&quot;#000000&quot;,&quot;family&quot;:&quot;Arial&quot;},&quot;backgroundColor&quot;:&quot;#FFFFFF&quot;,&quot;backgroundColorModified&quot;:false,&quot;id&quot;:&quot;16&quot;,&quot;ts&quot;:1688765621757,&quot;cs&quot;:&quot;1ttzzIAG+mBBXrYwZ7m4pQ==&quot;,&quot;size&quot;:{&quot;width&quot;:77.66666666666667,&quot;height&quot;:52.666666666666664}}"/>
          <p:cNvPicPr preferRelativeResize="0"/>
          <p:nvPr/>
        </p:nvPicPr>
        <p:blipFill>
          <a:blip r:embed="rId3">
            <a:alphaModFix/>
          </a:blip>
          <a:stretch>
            <a:fillRect/>
          </a:stretch>
        </p:blipFill>
        <p:spPr>
          <a:xfrm>
            <a:off x="10017811" y="3155201"/>
            <a:ext cx="986367" cy="668867"/>
          </a:xfrm>
          <a:prstGeom prst="rect">
            <a:avLst/>
          </a:prstGeom>
          <a:noFill/>
          <a:ln>
            <a:noFill/>
          </a:ln>
        </p:spPr>
      </p:pic>
      <p:grpSp>
        <p:nvGrpSpPr>
          <p:cNvPr id="9" name="Group 8">
            <a:extLst>
              <a:ext uri="{FF2B5EF4-FFF2-40B4-BE49-F238E27FC236}">
                <a16:creationId xmlns:a16="http://schemas.microsoft.com/office/drawing/2014/main" id="{5A460471-460C-1E18-3295-A7638C5D722F}"/>
              </a:ext>
            </a:extLst>
          </p:cNvPr>
          <p:cNvGrpSpPr/>
          <p:nvPr/>
        </p:nvGrpSpPr>
        <p:grpSpPr>
          <a:xfrm>
            <a:off x="340799" y="3015225"/>
            <a:ext cx="4699245" cy="3585600"/>
            <a:chOff x="340799" y="3015225"/>
            <a:chExt cx="4699245" cy="3585600"/>
          </a:xfrm>
        </p:grpSpPr>
        <p:pic>
          <p:nvPicPr>
            <p:cNvPr id="2" name="Google Shape;767;p87">
              <a:extLst>
                <a:ext uri="{FF2B5EF4-FFF2-40B4-BE49-F238E27FC236}">
                  <a16:creationId xmlns:a16="http://schemas.microsoft.com/office/drawing/2014/main" id="{4CA2E86D-AB82-89D2-A265-578DD749D69D}"/>
                </a:ext>
              </a:extLst>
            </p:cNvPr>
            <p:cNvPicPr preferRelativeResize="0"/>
            <p:nvPr/>
          </p:nvPicPr>
          <p:blipFill>
            <a:blip r:embed="rId4">
              <a:alphaModFix/>
            </a:blip>
            <a:stretch>
              <a:fillRect/>
            </a:stretch>
          </p:blipFill>
          <p:spPr>
            <a:xfrm>
              <a:off x="340799" y="3015225"/>
              <a:ext cx="4699245" cy="3585600"/>
            </a:xfrm>
            <a:prstGeom prst="rect">
              <a:avLst/>
            </a:prstGeom>
            <a:noFill/>
            <a:ln>
              <a:noFill/>
            </a:ln>
          </p:spPr>
        </p:pic>
        <p:sp>
          <p:nvSpPr>
            <p:cNvPr id="3" name="Google Shape;768;p87">
              <a:extLst>
                <a:ext uri="{FF2B5EF4-FFF2-40B4-BE49-F238E27FC236}">
                  <a16:creationId xmlns:a16="http://schemas.microsoft.com/office/drawing/2014/main" id="{0F2A0FBA-7A4C-89C1-0CFA-C1EB1DEF5EF9}"/>
                </a:ext>
              </a:extLst>
            </p:cNvPr>
            <p:cNvSpPr/>
            <p:nvPr/>
          </p:nvSpPr>
          <p:spPr>
            <a:xfrm>
              <a:off x="3048649" y="4759225"/>
              <a:ext cx="355500" cy="337800"/>
            </a:xfrm>
            <a:prstGeom prst="star5">
              <a:avLst>
                <a:gd name="adj" fmla="val 19098"/>
                <a:gd name="hf" fmla="val 105146"/>
                <a:gd name="vf" fmla="val 110557"/>
              </a:avLst>
            </a:prstGeom>
            <a:solidFill>
              <a:srgbClr val="FF000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 name="Google Shape;769;p87">
              <a:extLst>
                <a:ext uri="{FF2B5EF4-FFF2-40B4-BE49-F238E27FC236}">
                  <a16:creationId xmlns:a16="http://schemas.microsoft.com/office/drawing/2014/main" id="{A20DBA5D-FE10-9070-D097-7291167D53A9}"/>
                </a:ext>
              </a:extLst>
            </p:cNvPr>
            <p:cNvCxnSpPr/>
            <p:nvPr/>
          </p:nvCxnSpPr>
          <p:spPr>
            <a:xfrm flipH="1">
              <a:off x="3080844" y="4972524"/>
              <a:ext cx="161700" cy="297300"/>
            </a:xfrm>
            <a:prstGeom prst="straightConnector1">
              <a:avLst/>
            </a:prstGeom>
            <a:noFill/>
            <a:ln w="19050" cap="flat" cmpd="sng">
              <a:solidFill>
                <a:srgbClr val="FFFFFF"/>
              </a:solidFill>
              <a:prstDash val="solid"/>
              <a:round/>
              <a:headEnd type="none" w="med" len="med"/>
              <a:tailEnd type="triangle" w="med" len="med"/>
            </a:ln>
          </p:spPr>
        </p:cxnSp>
        <p:cxnSp>
          <p:nvCxnSpPr>
            <p:cNvPr id="5" name="Google Shape;770;p87">
              <a:extLst>
                <a:ext uri="{FF2B5EF4-FFF2-40B4-BE49-F238E27FC236}">
                  <a16:creationId xmlns:a16="http://schemas.microsoft.com/office/drawing/2014/main" id="{67AF8562-583B-2418-98FE-65F082379588}"/>
                </a:ext>
              </a:extLst>
            </p:cNvPr>
            <p:cNvCxnSpPr/>
            <p:nvPr/>
          </p:nvCxnSpPr>
          <p:spPr>
            <a:xfrm flipH="1">
              <a:off x="2974769" y="5170149"/>
              <a:ext cx="161700" cy="297300"/>
            </a:xfrm>
            <a:prstGeom prst="straightConnector1">
              <a:avLst/>
            </a:prstGeom>
            <a:noFill/>
            <a:ln w="19050" cap="flat" cmpd="sng">
              <a:solidFill>
                <a:srgbClr val="FFFFFF"/>
              </a:solidFill>
              <a:prstDash val="solid"/>
              <a:round/>
              <a:headEnd type="none" w="med" len="med"/>
              <a:tailEnd type="triangle" w="med" len="med"/>
            </a:ln>
          </p:spPr>
        </p:cxnSp>
        <p:cxnSp>
          <p:nvCxnSpPr>
            <p:cNvPr id="6" name="Google Shape;771;p87">
              <a:extLst>
                <a:ext uri="{FF2B5EF4-FFF2-40B4-BE49-F238E27FC236}">
                  <a16:creationId xmlns:a16="http://schemas.microsoft.com/office/drawing/2014/main" id="{4FAC8232-182B-9337-8D74-F695B1C4AB8F}"/>
                </a:ext>
              </a:extLst>
            </p:cNvPr>
            <p:cNvCxnSpPr/>
            <p:nvPr/>
          </p:nvCxnSpPr>
          <p:spPr>
            <a:xfrm flipH="1">
              <a:off x="2880482" y="5354849"/>
              <a:ext cx="161700" cy="297300"/>
            </a:xfrm>
            <a:prstGeom prst="straightConnector1">
              <a:avLst/>
            </a:prstGeom>
            <a:noFill/>
            <a:ln w="19050" cap="flat" cmpd="sng">
              <a:solidFill>
                <a:srgbClr val="FFFFFF"/>
              </a:solidFill>
              <a:prstDash val="solid"/>
              <a:round/>
              <a:headEnd type="none" w="med" len="med"/>
              <a:tailEnd type="triangle" w="med" len="med"/>
            </a:ln>
          </p:spPr>
        </p:cxnSp>
        <p:cxnSp>
          <p:nvCxnSpPr>
            <p:cNvPr id="7" name="Google Shape;772;p87">
              <a:extLst>
                <a:ext uri="{FF2B5EF4-FFF2-40B4-BE49-F238E27FC236}">
                  <a16:creationId xmlns:a16="http://schemas.microsoft.com/office/drawing/2014/main" id="{70EF4A63-1E46-AE32-7CE7-8F53EF029364}"/>
                </a:ext>
              </a:extLst>
            </p:cNvPr>
            <p:cNvCxnSpPr/>
            <p:nvPr/>
          </p:nvCxnSpPr>
          <p:spPr>
            <a:xfrm>
              <a:off x="2925899" y="5573400"/>
              <a:ext cx="90600" cy="271500"/>
            </a:xfrm>
            <a:prstGeom prst="straightConnector1">
              <a:avLst/>
            </a:prstGeom>
            <a:noFill/>
            <a:ln w="19050" cap="flat" cmpd="sng">
              <a:solidFill>
                <a:srgbClr val="FFFFFF"/>
              </a:solidFill>
              <a:prstDash val="solid"/>
              <a:round/>
              <a:headEnd type="none" w="med" len="med"/>
              <a:tailEnd type="triangle" w="med" len="med"/>
            </a:ln>
          </p:spPr>
        </p:cxnSp>
        <p:cxnSp>
          <p:nvCxnSpPr>
            <p:cNvPr id="8" name="Google Shape;773;p87">
              <a:extLst>
                <a:ext uri="{FF2B5EF4-FFF2-40B4-BE49-F238E27FC236}">
                  <a16:creationId xmlns:a16="http://schemas.microsoft.com/office/drawing/2014/main" id="{021CFD37-40B5-D670-0EB9-D4D0AA180A5D}"/>
                </a:ext>
              </a:extLst>
            </p:cNvPr>
            <p:cNvCxnSpPr/>
            <p:nvPr/>
          </p:nvCxnSpPr>
          <p:spPr>
            <a:xfrm>
              <a:off x="3018732" y="5775949"/>
              <a:ext cx="282000" cy="204600"/>
            </a:xfrm>
            <a:prstGeom prst="straightConnector1">
              <a:avLst/>
            </a:prstGeom>
            <a:noFill/>
            <a:ln w="19050" cap="flat" cmpd="sng">
              <a:solidFill>
                <a:srgbClr val="FFFFFF"/>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3" name="Google Shape;783;p88"/>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For an equation with multiple variables, we take a </a:t>
            </a:r>
            <a:r>
              <a:rPr lang="en" b="1">
                <a:latin typeface="Roboto"/>
                <a:ea typeface="Roboto"/>
                <a:cs typeface="Roboto"/>
                <a:sym typeface="Roboto"/>
              </a:rPr>
              <a:t>partial derivative</a:t>
            </a:r>
            <a:r>
              <a:rPr lang="en"/>
              <a:t> by differentiating with respect to just one variable at a time.</a:t>
            </a:r>
            <a:endParaRPr/>
          </a:p>
        </p:txBody>
      </p:sp>
      <p:sp>
        <p:nvSpPr>
          <p:cNvPr id="782" name="Google Shape;782;p88"/>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A Math Aside: Partial Derivatives</a:t>
            </a:r>
            <a:endParaRPr/>
          </a:p>
        </p:txBody>
      </p:sp>
      <p:sp>
        <p:nvSpPr>
          <p:cNvPr id="784" name="Google Shape;784;p88"/>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58</a:t>
            </a:fld>
            <a:endParaRPr/>
          </a:p>
        </p:txBody>
      </p:sp>
      <p:sp>
        <p:nvSpPr>
          <p:cNvPr id="785" name="Google Shape;785;p88"/>
          <p:cNvSpPr txBox="1"/>
          <p:nvPr/>
        </p:nvSpPr>
        <p:spPr>
          <a:xfrm>
            <a:off x="266699" y="2102312"/>
            <a:ext cx="103624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Intuitively: how does the function change if we vary one variable, while holding the others constant?</a:t>
            </a:r>
            <a:endParaRPr sz="2133" dirty="0">
              <a:latin typeface="Roboto Light"/>
              <a:ea typeface="Roboto Light"/>
              <a:cs typeface="Roboto Light"/>
              <a:sym typeface="Roboto Light"/>
            </a:endParaRPr>
          </a:p>
        </p:txBody>
      </p:sp>
      <p:pic>
        <p:nvPicPr>
          <p:cNvPr id="786" name="Google Shape;786;p88" descr="{&quot;aid&quot;:null,&quot;backgroundColor&quot;:&quot;#FFFFFF&quot;,&quot;font&quot;:{&quot;size&quot;:19.5,&quot;family&quot;:&quot;Arial&quot;,&quot;color&quot;:&quot;#000000&quot;},&quot;backgroundColorModified&quot;:false,&quot;id&quot;:&quot;18&quot;,&quot;type&quot;:&quot;$$&quot;,&quot;code&quot;:&quot;$$f\\left(x,y\\right)=3x^{2}+y$$&quot;,&quot;ts&quot;:1688764338919,&quot;cs&quot;:&quot;IDaHlXfM0zCs6YtktN0sOQ==&quot;,&quot;size&quot;:{&quot;width&quot;:227.1785826771654,&quot;height&quot;:35.259852755905506}}"/>
          <p:cNvPicPr preferRelativeResize="0"/>
          <p:nvPr/>
        </p:nvPicPr>
        <p:blipFill>
          <a:blip r:embed="rId3">
            <a:alphaModFix/>
          </a:blip>
          <a:stretch>
            <a:fillRect/>
          </a:stretch>
        </p:blipFill>
        <p:spPr>
          <a:xfrm>
            <a:off x="429167" y="3887333"/>
            <a:ext cx="2885168" cy="447800"/>
          </a:xfrm>
          <a:prstGeom prst="rect">
            <a:avLst/>
          </a:prstGeom>
          <a:noFill/>
          <a:ln>
            <a:noFill/>
          </a:ln>
        </p:spPr>
      </p:pic>
      <p:sp>
        <p:nvSpPr>
          <p:cNvPr id="787" name="Google Shape;787;p88"/>
          <p:cNvSpPr txBox="1"/>
          <p:nvPr/>
        </p:nvSpPr>
        <p:spPr>
          <a:xfrm>
            <a:off x="4608733" y="2807401"/>
            <a:ext cx="39776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Take the partial derivative wrt x: treat y as a constant</a:t>
            </a:r>
            <a:endParaRPr sz="2133">
              <a:latin typeface="Roboto Light"/>
              <a:ea typeface="Roboto Light"/>
              <a:cs typeface="Roboto Light"/>
              <a:sym typeface="Roboto Light"/>
            </a:endParaRPr>
          </a:p>
        </p:txBody>
      </p:sp>
      <p:sp>
        <p:nvSpPr>
          <p:cNvPr id="788" name="Google Shape;788;p88"/>
          <p:cNvSpPr txBox="1"/>
          <p:nvPr/>
        </p:nvSpPr>
        <p:spPr>
          <a:xfrm>
            <a:off x="4608733" y="4680934"/>
            <a:ext cx="41456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Take the partial derivative wrt y: treat x as a constant</a:t>
            </a:r>
            <a:endParaRPr sz="2133">
              <a:latin typeface="Roboto Light"/>
              <a:ea typeface="Roboto Light"/>
              <a:cs typeface="Roboto Light"/>
              <a:sym typeface="Roboto Light"/>
            </a:endParaRPr>
          </a:p>
        </p:txBody>
      </p:sp>
      <p:pic>
        <p:nvPicPr>
          <p:cNvPr id="789" name="Google Shape;789;p88" descr="{&quot;backgroundColorModified&quot;:false,&quot;backgroundColor&quot;:&quot;#FFFFFF&quot;,&quot;code&quot;:&quot;$$\\frac{\\partial f}{\\partial x}=6x$$&quot;,&quot;id&quot;:&quot;19&quot;,&quot;font&quot;:{&quot;color&quot;:&quot;#000000&quot;,&quot;family&quot;:&quot;Roboto&quot;,&quot;size&quot;:19.5},&quot;aid&quot;:null,&quot;type&quot;:&quot;$$&quot;,&quot;ts&quot;:1688764379575,&quot;cs&quot;:&quot;9p1tUIhbaQNqM/WNN6iCEg==&quot;,&quot;size&quot;:{&quot;width&quot;:103.32024986876638,&quot;height&quot;:56.89761968503939}}"/>
          <p:cNvPicPr preferRelativeResize="0"/>
          <p:nvPr/>
        </p:nvPicPr>
        <p:blipFill>
          <a:blip r:embed="rId4">
            <a:alphaModFix/>
          </a:blip>
          <a:stretch>
            <a:fillRect/>
          </a:stretch>
        </p:blipFill>
        <p:spPr>
          <a:xfrm>
            <a:off x="8981434" y="2856507"/>
            <a:ext cx="1312167" cy="722600"/>
          </a:xfrm>
          <a:prstGeom prst="rect">
            <a:avLst/>
          </a:prstGeom>
          <a:noFill/>
          <a:ln>
            <a:noFill/>
          </a:ln>
        </p:spPr>
      </p:pic>
      <p:pic>
        <p:nvPicPr>
          <p:cNvPr id="790" name="Google Shape;790;p88" descr="{&quot;code&quot;:&quot;$$\\frac{\\partial f}{\\partial y}=1$$&quot;,&quot;backgroundColorModified&quot;:false,&quot;font&quot;:{&quot;family&quot;:&quot;Roboto&quot;,&quot;size&quot;:15.5,&quot;color&quot;:&quot;#000000&quot;},&quot;id&quot;:&quot;20&quot;,&quot;type&quot;:&quot;$$&quot;,&quot;backgroundColor&quot;:&quot;#FFFFFF&quot;,&quot;aid&quot;:null,&quot;ts&quot;:1688764406729,&quot;cs&quot;:&quot;6ZJS4S7KToaW81Ytx2dfRQ==&quot;,&quot;size&quot;:{&quot;width&quot;:79.76552020997379,&quot;height&quot;:56.89758950131233}}"/>
          <p:cNvPicPr preferRelativeResize="0"/>
          <p:nvPr/>
        </p:nvPicPr>
        <p:blipFill>
          <a:blip r:embed="rId5">
            <a:alphaModFix/>
          </a:blip>
          <a:stretch>
            <a:fillRect/>
          </a:stretch>
        </p:blipFill>
        <p:spPr>
          <a:xfrm>
            <a:off x="8981434" y="4680933"/>
            <a:ext cx="1013023" cy="722600"/>
          </a:xfrm>
          <a:prstGeom prst="rect">
            <a:avLst/>
          </a:prstGeom>
          <a:noFill/>
          <a:ln>
            <a:noFill/>
          </a:ln>
        </p:spPr>
      </p:pic>
      <p:cxnSp>
        <p:nvCxnSpPr>
          <p:cNvPr id="791" name="Google Shape;791;p88"/>
          <p:cNvCxnSpPr>
            <a:endCxn id="787" idx="1"/>
          </p:cNvCxnSpPr>
          <p:nvPr/>
        </p:nvCxnSpPr>
        <p:spPr>
          <a:xfrm flipV="1">
            <a:off x="3619133" y="3258723"/>
            <a:ext cx="989600" cy="696478"/>
          </a:xfrm>
          <a:prstGeom prst="curvedConnector3">
            <a:avLst>
              <a:gd name="adj1" fmla="val 50000"/>
            </a:avLst>
          </a:prstGeom>
          <a:noFill/>
          <a:ln w="28575" cap="flat" cmpd="sng">
            <a:solidFill>
              <a:schemeClr val="accent3"/>
            </a:solidFill>
            <a:prstDash val="solid"/>
            <a:round/>
            <a:headEnd type="none" w="med" len="med"/>
            <a:tailEnd type="triangle" w="med" len="med"/>
          </a:ln>
        </p:spPr>
      </p:cxnSp>
      <p:cxnSp>
        <p:nvCxnSpPr>
          <p:cNvPr id="792" name="Google Shape;792;p88"/>
          <p:cNvCxnSpPr/>
          <p:nvPr/>
        </p:nvCxnSpPr>
        <p:spPr>
          <a:xfrm>
            <a:off x="3619133" y="4398800"/>
            <a:ext cx="989600" cy="696400"/>
          </a:xfrm>
          <a:prstGeom prst="curvedConnector3">
            <a:avLst>
              <a:gd name="adj1" fmla="val 50000"/>
            </a:avLst>
          </a:prstGeom>
          <a:noFill/>
          <a:ln w="28575" cap="flat" cmpd="sng">
            <a:solidFill>
              <a:schemeClr val="accent3"/>
            </a:solidFill>
            <a:prstDash val="solid"/>
            <a:round/>
            <a:headEnd type="none" w="med" len="med"/>
            <a:tailEnd type="triangle" w="med" len="med"/>
          </a:ln>
        </p:spPr>
      </p:cxnSp>
      <p:sp>
        <p:nvSpPr>
          <p:cNvPr id="793" name="Google Shape;793;p88"/>
          <p:cNvSpPr txBox="1"/>
          <p:nvPr/>
        </p:nvSpPr>
        <p:spPr>
          <a:xfrm>
            <a:off x="9678600" y="5742733"/>
            <a:ext cx="2654400" cy="80017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a:latin typeface="Roboto Light"/>
                <a:ea typeface="Roboto Light"/>
                <a:cs typeface="Roboto Light"/>
                <a:sym typeface="Roboto Light"/>
              </a:rPr>
              <a:t>This symbol means “partial derivative”</a:t>
            </a:r>
            <a:endParaRPr>
              <a:latin typeface="Roboto Light"/>
              <a:ea typeface="Roboto Light"/>
              <a:cs typeface="Roboto Light"/>
              <a:sym typeface="Roboto Light"/>
            </a:endParaRPr>
          </a:p>
        </p:txBody>
      </p:sp>
      <p:cxnSp>
        <p:nvCxnSpPr>
          <p:cNvPr id="794" name="Google Shape;794;p88"/>
          <p:cNvCxnSpPr>
            <a:stCxn id="793" idx="1"/>
          </p:cNvCxnSpPr>
          <p:nvPr/>
        </p:nvCxnSpPr>
        <p:spPr>
          <a:xfrm rot="10800000">
            <a:off x="9121000" y="5469533"/>
            <a:ext cx="557600" cy="673290"/>
          </a:xfrm>
          <a:prstGeom prst="curvedConnector2">
            <a:avLst/>
          </a:prstGeom>
          <a:noFill/>
          <a:ln w="2857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89"/>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The Gradient Vector</a:t>
            </a:r>
            <a:endParaRPr/>
          </a:p>
        </p:txBody>
      </p:sp>
      <p:sp>
        <p:nvSpPr>
          <p:cNvPr id="800" name="Google Shape;800;p89"/>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59</a:t>
            </a:fld>
            <a:endParaRPr/>
          </a:p>
        </p:txBody>
      </p:sp>
      <p:pic>
        <p:nvPicPr>
          <p:cNvPr id="801" name="Google Shape;801;p89"/>
          <p:cNvPicPr preferRelativeResize="0"/>
          <p:nvPr/>
        </p:nvPicPr>
        <p:blipFill>
          <a:blip r:embed="rId3">
            <a:alphaModFix/>
          </a:blip>
          <a:stretch>
            <a:fillRect/>
          </a:stretch>
        </p:blipFill>
        <p:spPr>
          <a:xfrm>
            <a:off x="193967" y="2030567"/>
            <a:ext cx="6265660" cy="4780800"/>
          </a:xfrm>
          <a:prstGeom prst="rect">
            <a:avLst/>
          </a:prstGeom>
          <a:noFill/>
          <a:ln>
            <a:noFill/>
          </a:ln>
        </p:spPr>
      </p:pic>
      <p:sp>
        <p:nvSpPr>
          <p:cNvPr id="802" name="Google Shape;802;p89"/>
          <p:cNvSpPr/>
          <p:nvPr/>
        </p:nvSpPr>
        <p:spPr>
          <a:xfrm>
            <a:off x="3804433" y="4355900"/>
            <a:ext cx="474000" cy="450400"/>
          </a:xfrm>
          <a:prstGeom prst="star5">
            <a:avLst>
              <a:gd name="adj" fmla="val 19098"/>
              <a:gd name="hf" fmla="val 105146"/>
              <a:gd name="vf" fmla="val 110557"/>
            </a:avLst>
          </a:prstGeom>
          <a:solidFill>
            <a:srgbClr val="FF0000"/>
          </a:solidFill>
          <a:ln w="9525"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cxnSp>
        <p:nvCxnSpPr>
          <p:cNvPr id="803" name="Google Shape;803;p89"/>
          <p:cNvCxnSpPr/>
          <p:nvPr/>
        </p:nvCxnSpPr>
        <p:spPr>
          <a:xfrm flipH="1">
            <a:off x="3683760" y="4640299"/>
            <a:ext cx="379200" cy="656800"/>
          </a:xfrm>
          <a:prstGeom prst="straightConnector1">
            <a:avLst/>
          </a:prstGeom>
          <a:noFill/>
          <a:ln w="19050" cap="flat" cmpd="sng">
            <a:solidFill>
              <a:srgbClr val="FFFFFF"/>
            </a:solidFill>
            <a:prstDash val="solid"/>
            <a:round/>
            <a:headEnd type="none" w="med" len="med"/>
            <a:tailEnd type="triangle" w="med" len="med"/>
          </a:ln>
        </p:spPr>
      </p:cxnSp>
      <p:sp>
        <p:nvSpPr>
          <p:cNvPr id="804" name="Google Shape;804;p89"/>
          <p:cNvSpPr txBox="1"/>
          <p:nvPr/>
        </p:nvSpPr>
        <p:spPr>
          <a:xfrm>
            <a:off x="35133" y="948794"/>
            <a:ext cx="50536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For the </a:t>
            </a:r>
            <a:r>
              <a:rPr lang="en" sz="2133" i="1" dirty="0">
                <a:latin typeface="Roboto Light"/>
                <a:ea typeface="Roboto Light"/>
                <a:cs typeface="Roboto Light"/>
                <a:sym typeface="Roboto Light"/>
              </a:rPr>
              <a:t>vector</a:t>
            </a:r>
            <a:r>
              <a:rPr lang="en" sz="2133" dirty="0">
                <a:latin typeface="Roboto Light"/>
                <a:ea typeface="Roboto Light"/>
                <a:cs typeface="Roboto Light"/>
                <a:sym typeface="Roboto Light"/>
              </a:rPr>
              <a:t> of parameter values</a:t>
            </a:r>
            <a:endParaRPr sz="2133" dirty="0">
              <a:latin typeface="Roboto Light"/>
              <a:ea typeface="Roboto Light"/>
              <a:cs typeface="Roboto Light"/>
              <a:sym typeface="Roboto Light"/>
            </a:endParaRPr>
          </a:p>
        </p:txBody>
      </p:sp>
      <p:sp>
        <p:nvSpPr>
          <p:cNvPr id="805" name="Google Shape;805;p89"/>
          <p:cNvSpPr txBox="1"/>
          <p:nvPr/>
        </p:nvSpPr>
        <p:spPr>
          <a:xfrm>
            <a:off x="32417" y="1689255"/>
            <a:ext cx="102172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Take the </a:t>
            </a:r>
            <a:r>
              <a:rPr lang="en" sz="2133" i="1">
                <a:latin typeface="Roboto Light"/>
                <a:ea typeface="Roboto Light"/>
                <a:cs typeface="Roboto Light"/>
                <a:sym typeface="Roboto Light"/>
              </a:rPr>
              <a:t>partial derivative</a:t>
            </a:r>
            <a:r>
              <a:rPr lang="en" sz="2133">
                <a:latin typeface="Roboto Light"/>
                <a:ea typeface="Roboto Light"/>
                <a:cs typeface="Roboto Light"/>
                <a:sym typeface="Roboto Light"/>
              </a:rPr>
              <a:t> of loss with respect to each parameter:          ,</a:t>
            </a:r>
            <a:endParaRPr sz="2133">
              <a:latin typeface="Roboto Light"/>
              <a:ea typeface="Roboto Light"/>
              <a:cs typeface="Roboto Light"/>
              <a:sym typeface="Roboto Light"/>
            </a:endParaRPr>
          </a:p>
        </p:txBody>
      </p:sp>
      <p:sp>
        <p:nvSpPr>
          <p:cNvPr id="806" name="Google Shape;806;p89"/>
          <p:cNvSpPr txBox="1"/>
          <p:nvPr/>
        </p:nvSpPr>
        <p:spPr>
          <a:xfrm>
            <a:off x="7048867" y="2735201"/>
            <a:ext cx="3734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The </a:t>
            </a:r>
            <a:r>
              <a:rPr lang="en" sz="2133" b="1">
                <a:latin typeface="Roboto"/>
                <a:ea typeface="Roboto"/>
                <a:cs typeface="Roboto"/>
                <a:sym typeface="Roboto"/>
              </a:rPr>
              <a:t>gradient vector</a:t>
            </a:r>
            <a:r>
              <a:rPr lang="en" sz="2133">
                <a:latin typeface="Roboto Light"/>
                <a:ea typeface="Roboto Light"/>
                <a:cs typeface="Roboto Light"/>
                <a:sym typeface="Roboto Light"/>
              </a:rPr>
              <a:t> is </a:t>
            </a:r>
            <a:endParaRPr sz="2133">
              <a:latin typeface="Roboto Light"/>
              <a:ea typeface="Roboto Light"/>
              <a:cs typeface="Roboto Light"/>
              <a:sym typeface="Roboto Light"/>
            </a:endParaRPr>
          </a:p>
        </p:txBody>
      </p:sp>
      <p:pic>
        <p:nvPicPr>
          <p:cNvPr id="807" name="Google Shape;807;p89" descr="{&quot;id&quot;:&quot;16&quot;,&quot;font&quot;:{&quot;size&quot;:14,&quot;color&quot;:&quot;#000000&quot;,&quot;family&quot;:&quot;Arial&quot;},&quot;backgroundColorModified&quot;:false,&quot;code&quot;:&quot;$$\\vec{\\theta}=\\begin{bmatrix}\n{\\theta_{0}}\\\\\n{\\theta_{1}}\\\\\n\\end{bmatrix}$$&quot;,&quot;aid&quot;:null,&quot;type&quot;:&quot;$$&quot;,&quot;backgroundColor&quot;:&quot;#FFFFFF&quot;,&quot;ts&quot;:1688765657265,&quot;cs&quot;:&quot;eYgLNNr/NVcYeUhTevRbLQ==&quot;,&quot;size&quot;:{&quot;width&quot;:77.66666666666667,&quot;height&quot;:52.66666666666666}}"/>
          <p:cNvPicPr preferRelativeResize="0"/>
          <p:nvPr/>
        </p:nvPicPr>
        <p:blipFill>
          <a:blip r:embed="rId4">
            <a:alphaModFix/>
          </a:blip>
          <a:stretch>
            <a:fillRect/>
          </a:stretch>
        </p:blipFill>
        <p:spPr>
          <a:xfrm>
            <a:off x="4399166" y="1020388"/>
            <a:ext cx="986367" cy="668867"/>
          </a:xfrm>
          <a:prstGeom prst="rect">
            <a:avLst/>
          </a:prstGeom>
          <a:noFill/>
          <a:ln>
            <a:noFill/>
          </a:ln>
        </p:spPr>
      </p:pic>
      <p:pic>
        <p:nvPicPr>
          <p:cNvPr id="808" name="Google Shape;808;p89" descr="{&quot;code&quot;:&quot;$$\\frac{\\partial L}{\\partial\\theta_{0}}$$&quot;,&quot;font&quot;:{&quot;family&quot;:&quot;Roboto&quot;,&quot;color&quot;:&quot;#000000&quot;,&quot;size&quot;:16},&quot;backgroundColorModified&quot;:false,&quot;id&quot;:&quot;21&quot;,&quot;backgroundColor&quot;:&quot;#FFFFFF&quot;,&quot;type&quot;:&quot;$$&quot;,&quot;aid&quot;:null,&quot;ts&quot;:1688764630131,&quot;cs&quot;:&quot;GGLg7Rv0sKeJzQTO/KMRIg==&quot;,&quot;size&quot;:{&quot;width&quot;:35.666666666666664,&quot;height&quot;:48.5}}"/>
          <p:cNvPicPr preferRelativeResize="0"/>
          <p:nvPr/>
        </p:nvPicPr>
        <p:blipFill>
          <a:blip r:embed="rId5">
            <a:alphaModFix/>
          </a:blip>
          <a:stretch>
            <a:fillRect/>
          </a:stretch>
        </p:blipFill>
        <p:spPr>
          <a:xfrm>
            <a:off x="8122333" y="1701742"/>
            <a:ext cx="452967" cy="615951"/>
          </a:xfrm>
          <a:prstGeom prst="rect">
            <a:avLst/>
          </a:prstGeom>
          <a:noFill/>
          <a:ln>
            <a:noFill/>
          </a:ln>
        </p:spPr>
      </p:pic>
      <p:pic>
        <p:nvPicPr>
          <p:cNvPr id="809" name="Google Shape;809;p89" descr="{&quot;id&quot;:&quot;22&quot;,&quot;backgroundColorModified&quot;:false,&quot;backgroundColor&quot;:&quot;#FFFFFF&quot;,&quot;code&quot;:&quot;$$\\frac{\\partial L}{\\partial\\theta_{1}}$$&quot;,&quot;type&quot;:&quot;$$&quot;,&quot;aid&quot;:null,&quot;font&quot;:{&quot;size&quot;:16,&quot;family&quot;:&quot;Roboto&quot;,&quot;color&quot;:&quot;#000000&quot;},&quot;ts&quot;:1688764653604,&quot;cs&quot;:&quot;oze79MCPJrxfcmoiUNX84g==&quot;,&quot;size&quot;:{&quot;width&quot;:41,&quot;height&quot;:55.833333333333336}}"/>
          <p:cNvPicPr preferRelativeResize="0"/>
          <p:nvPr/>
        </p:nvPicPr>
        <p:blipFill>
          <a:blip r:embed="rId6">
            <a:alphaModFix/>
          </a:blip>
          <a:stretch>
            <a:fillRect/>
          </a:stretch>
        </p:blipFill>
        <p:spPr>
          <a:xfrm>
            <a:off x="8872100" y="1701295"/>
            <a:ext cx="452967" cy="616859"/>
          </a:xfrm>
          <a:prstGeom prst="rect">
            <a:avLst/>
          </a:prstGeom>
          <a:noFill/>
          <a:ln>
            <a:noFill/>
          </a:ln>
        </p:spPr>
      </p:pic>
      <p:pic>
        <p:nvPicPr>
          <p:cNvPr id="810" name="Google Shape;810;p89" descr="{&quot;type&quot;:&quot;$$&quot;,&quot;backgroundColorModified&quot;:false,&quot;code&quot;:&quot;$$\\nabla_{\\vec{\\theta}}L=\\begin{bmatrix}\n{\\frac{\\partial L}{\\partial\\theta_{0}}}\\\\\n{\\frac{\\partial L}{\\partial\\theta_{1}}}\\\\\n\\end{bmatrix}$$&quot;,&quot;aid&quot;:null,&quot;backgroundColor&quot;:&quot;#FFFFFF&quot;,&quot;font&quot;:{&quot;color&quot;:&quot;#000000&quot;,&quot;family&quot;:&quot;Roboto&quot;,&quot;size&quot;:18.5},&quot;id&quot;:&quot;16&quot;,&quot;ts&quot;:1688765758502,&quot;cs&quot;:&quot;e+QZar4lf4hxaCKPJGfe2g==&quot;,&quot;size&quot;:{&quot;width&quot;:140.66666666666666,&quot;height&quot;:77.83333333333333}}"/>
          <p:cNvPicPr preferRelativeResize="0"/>
          <p:nvPr/>
        </p:nvPicPr>
        <p:blipFill>
          <a:blip r:embed="rId7">
            <a:alphaModFix/>
          </a:blip>
          <a:stretch>
            <a:fillRect/>
          </a:stretch>
        </p:blipFill>
        <p:spPr>
          <a:xfrm>
            <a:off x="8122333" y="3335870"/>
            <a:ext cx="1786467" cy="988484"/>
          </a:xfrm>
          <a:prstGeom prst="rect">
            <a:avLst/>
          </a:prstGeom>
          <a:noFill/>
          <a:ln>
            <a:noFill/>
          </a:ln>
        </p:spPr>
      </p:pic>
      <p:sp>
        <p:nvSpPr>
          <p:cNvPr id="811" name="Google Shape;811;p89"/>
          <p:cNvSpPr txBox="1"/>
          <p:nvPr/>
        </p:nvSpPr>
        <p:spPr>
          <a:xfrm>
            <a:off x="7160368" y="4875668"/>
            <a:ext cx="4124000" cy="902643"/>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           always points in the downhill direction of the surface.</a:t>
            </a:r>
            <a:endParaRPr sz="2133">
              <a:latin typeface="Roboto Light"/>
              <a:ea typeface="Roboto Light"/>
              <a:cs typeface="Roboto Light"/>
              <a:sym typeface="Roboto Light"/>
            </a:endParaRPr>
          </a:p>
        </p:txBody>
      </p:sp>
      <p:pic>
        <p:nvPicPr>
          <p:cNvPr id="812" name="Google Shape;812;p89" descr="{&quot;backgroundColor&quot;:&quot;#FFFFFF&quot;,&quot;id&quot;:&quot;23&quot;,&quot;code&quot;:&quot;$$-\\nabla_{\\vec{\\theta}}L$$&quot;,&quot;backgroundColorModified&quot;:false,&quot;font&quot;:{&quot;size&quot;:14,&quot;color&quot;:&quot;#000000&quot;,&quot;family&quot;:&quot;Arial&quot;},&quot;type&quot;:&quot;$$&quot;,&quot;aid&quot;:null,&quot;ts&quot;:1688765793201,&quot;cs&quot;:&quot;CsumcuXp7wwylYfmiII6hw==&quot;,&quot;size&quot;:{&quot;width&quot;:57.833333333333336,&quot;height&quot;:24}}"/>
          <p:cNvPicPr preferRelativeResize="0"/>
          <p:nvPr/>
        </p:nvPicPr>
        <p:blipFill>
          <a:blip r:embed="rId8">
            <a:alphaModFix/>
          </a:blip>
          <a:stretch>
            <a:fillRect/>
          </a:stretch>
        </p:blipFill>
        <p:spPr>
          <a:xfrm>
            <a:off x="7160378" y="5070223"/>
            <a:ext cx="734484" cy="30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90"/>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Gradient Descent in Multiple Dimensions</a:t>
            </a:r>
            <a:endParaRPr/>
          </a:p>
        </p:txBody>
      </p:sp>
      <p:sp>
        <p:nvSpPr>
          <p:cNvPr id="819" name="Google Shape;819;p9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60</a:t>
            </a:fld>
            <a:endParaRPr/>
          </a:p>
        </p:txBody>
      </p:sp>
      <p:sp>
        <p:nvSpPr>
          <p:cNvPr id="818" name="Google Shape;818;p90"/>
          <p:cNvSpPr txBox="1">
            <a:spLocks noGrp="1"/>
          </p:cNvSpPr>
          <p:nvPr>
            <p:ph type="body" idx="4294967295"/>
          </p:nvPr>
        </p:nvSpPr>
        <p:spPr>
          <a:xfrm>
            <a:off x="57751" y="1094840"/>
            <a:ext cx="11360150" cy="693738"/>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Recall our 1D update rule:</a:t>
            </a:r>
            <a:endParaRPr dirty="0"/>
          </a:p>
        </p:txBody>
      </p:sp>
      <p:pic>
        <p:nvPicPr>
          <p:cNvPr id="820" name="Google Shape;820;p90" descr="{&quot;id&quot;:&quot;4&quot;,&quot;font&quot;:{&quot;color&quot;:&quot;#000000&quot;,&quot;family&quot;:&quot;Arial&quot;,&quot;size&quot;:23},&quot;code&quot;:&quot;$\\theta^{\\left(t+1\\right)}=\\theta^{\\left(t\\right)}-\\alpha\\frac{d}{d\\theta}L\\left(\\theta^{\\left(t\\right)}\\right)$&quot;,&quot;type&quot;:&quot;$&quot;,&quot;backgroundColor&quot;:&quot;#FFFFFF&quot;,&quot;backgroundColorModified&quot;:false,&quot;aid&quot;:null,&quot;ts&quot;:1688693145053,&quot;cs&quot;:&quot;m7M9H8CSEa9Weg9mgX58fg==&quot;,&quot;size&quot;:{&quot;width&quot;:382.3333333333333,&quot;height&quot;:45.00000000000002}}"/>
          <p:cNvPicPr preferRelativeResize="0"/>
          <p:nvPr/>
        </p:nvPicPr>
        <p:blipFill>
          <a:blip r:embed="rId3">
            <a:alphaModFix/>
          </a:blip>
          <a:stretch>
            <a:fillRect/>
          </a:stretch>
        </p:blipFill>
        <p:spPr>
          <a:xfrm>
            <a:off x="5212075" y="1380459"/>
            <a:ext cx="4855633" cy="571500"/>
          </a:xfrm>
          <a:prstGeom prst="rect">
            <a:avLst/>
          </a:prstGeom>
          <a:noFill/>
          <a:ln>
            <a:noFill/>
          </a:ln>
        </p:spPr>
      </p:pic>
      <p:sp>
        <p:nvSpPr>
          <p:cNvPr id="821" name="Google Shape;821;p90"/>
          <p:cNvSpPr txBox="1"/>
          <p:nvPr/>
        </p:nvSpPr>
        <p:spPr>
          <a:xfrm>
            <a:off x="103400" y="2391167"/>
            <a:ext cx="111540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Now, for models with multiple parameters, we work in terms of vectors:</a:t>
            </a:r>
            <a:endParaRPr sz="2133">
              <a:latin typeface="Roboto Light"/>
              <a:ea typeface="Roboto Light"/>
              <a:cs typeface="Roboto Light"/>
              <a:sym typeface="Roboto Light"/>
            </a:endParaRPr>
          </a:p>
        </p:txBody>
      </p:sp>
      <p:pic>
        <p:nvPicPr>
          <p:cNvPr id="822" name="Google Shape;822;p90" descr="{&quot;code&quot;:&quot;$\\vec{\\theta}^{\\left(t+1\\right)}=\\,\\,\\,\\,\\,\\vec{\\theta}^{\\left(t\\right)}\\,-\\alpha\\nabla _{\\vec{\\theta}}L\\left(\\vec{\\theta}^{\\left(t\\right)}\\right)$&quot;,&quot;backgroundColor&quot;:&quot;#FFFFFF&quot;,&quot;id&quot;:&quot;4&quot;,&quot;type&quot;:&quot;$&quot;,&quot;font&quot;:{&quot;family&quot;:&quot;Arial&quot;,&quot;color&quot;:&quot;#000000&quot;,&quot;size&quot;:21},&quot;aid&quot;:null,&quot;backgroundColorModified&quot;:false,&quot;ts&quot;:1688766096389,&quot;cs&quot;:&quot;mJe42TxdNQrxDeo4S+9uBg==&quot;,&quot;size&quot;:{&quot;width&quot;:414.00000000000006,&quot;height&quot;:79}}"/>
          <p:cNvPicPr preferRelativeResize="0"/>
          <p:nvPr/>
        </p:nvPicPr>
        <p:blipFill>
          <a:blip r:embed="rId4">
            <a:alphaModFix/>
          </a:blip>
          <a:stretch>
            <a:fillRect/>
          </a:stretch>
        </p:blipFill>
        <p:spPr>
          <a:xfrm>
            <a:off x="3668199" y="5530285"/>
            <a:ext cx="5257800" cy="1003300"/>
          </a:xfrm>
          <a:prstGeom prst="rect">
            <a:avLst/>
          </a:prstGeom>
          <a:noFill/>
          <a:ln>
            <a:noFill/>
          </a:ln>
        </p:spPr>
      </p:pic>
      <p:pic>
        <p:nvPicPr>
          <p:cNvPr id="823" name="Google Shape;823;p90" descr="{&quot;code&quot;:&quot;$$\\begin{bmatrix}\n{\\theta_{0}^{\\left(t+1\\right)}}\\\\\n{\\theta_{1}^{\\left(t+1\\right)}}\\\\\n{\\vdots}\\\\\n\\end{bmatrix}\\,=\\,\\,\\begin{bmatrix}\n{\\theta_{0}^{\\left(t\\right)}}\\\\\n{\\theta_{1}^{\\left(t\\right)}}\\\\\n{\\vdots}\\\\\n\\end{bmatrix}\\,\\,-\\,\\,\\alpha\\begin{bmatrix}\n{\\frac{\\partial L}{\\partial\\theta_{0}}}\\\\\n{\\frac{\\partial L}{\\partial\\theta_{1}}}\\\\\n{\\vdots}\\\\\n\\end{bmatrix}$$&quot;,&quot;backgroundColor&quot;:&quot;#FFFFFF&quot;,&quot;aid&quot;:null,&quot;id&quot;:&quot;16&quot;,&quot;backgroundColorModified&quot;:false,&quot;type&quot;:&quot;$$&quot;,&quot;font&quot;:{&quot;size&quot;:18.5,&quot;family&quot;:&quot;Roboto&quot;,&quot;color&quot;:&quot;#000000&quot;},&quot;ts&quot;:1688766052430,&quot;cs&quot;:&quot;4MrOGAibJtSodhQe5sNmwA==&quot;,&quot;size&quot;:{&quot;width&quot;:318.75,&quot;height&quot;:127.25}}"/>
          <p:cNvPicPr preferRelativeResize="0"/>
          <p:nvPr/>
        </p:nvPicPr>
        <p:blipFill>
          <a:blip r:embed="rId5">
            <a:alphaModFix/>
          </a:blip>
          <a:stretch>
            <a:fillRect/>
          </a:stretch>
        </p:blipFill>
        <p:spPr>
          <a:xfrm>
            <a:off x="3591767" y="3189252"/>
            <a:ext cx="4048125" cy="1616075"/>
          </a:xfrm>
          <a:prstGeom prst="rect">
            <a:avLst/>
          </a:prstGeom>
          <a:noFill/>
          <a:ln>
            <a:noFill/>
          </a:ln>
        </p:spPr>
      </p:pic>
      <p:sp>
        <p:nvSpPr>
          <p:cNvPr id="824" name="Google Shape;824;p90"/>
          <p:cNvSpPr txBox="1"/>
          <p:nvPr/>
        </p:nvSpPr>
        <p:spPr>
          <a:xfrm>
            <a:off x="142733" y="4955501"/>
            <a:ext cx="50236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Written in a more compact form:</a:t>
            </a:r>
            <a:endParaRPr sz="2133">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91"/>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Gradient Descent Update Rule</a:t>
            </a:r>
            <a:endParaRPr/>
          </a:p>
        </p:txBody>
      </p:sp>
      <p:sp>
        <p:nvSpPr>
          <p:cNvPr id="830" name="Google Shape;830;p91"/>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61</a:t>
            </a:fld>
            <a:endParaRPr/>
          </a:p>
        </p:txBody>
      </p:sp>
      <p:sp>
        <p:nvSpPr>
          <p:cNvPr id="831" name="Google Shape;831;p91"/>
          <p:cNvSpPr txBox="1"/>
          <p:nvPr/>
        </p:nvSpPr>
        <p:spPr>
          <a:xfrm>
            <a:off x="123133" y="978227"/>
            <a:ext cx="11360800" cy="800179"/>
          </a:xfrm>
          <a:prstGeom prst="rect">
            <a:avLst/>
          </a:prstGeom>
          <a:noFill/>
          <a:ln>
            <a:noFill/>
          </a:ln>
        </p:spPr>
        <p:txBody>
          <a:bodyPr spcFirstLastPara="1" wrap="square" lIns="121900" tIns="121900" rIns="121900" bIns="121900" anchor="t" anchorCtr="0">
            <a:noAutofit/>
          </a:bodyPr>
          <a:lstStyle/>
          <a:p>
            <a:pPr>
              <a:spcBef>
                <a:spcPts val="800"/>
              </a:spcBef>
              <a:spcAft>
                <a:spcPts val="0"/>
              </a:spcAft>
            </a:pPr>
            <a:r>
              <a:rPr lang="en" sz="2133" dirty="0">
                <a:solidFill>
                  <a:srgbClr val="000000"/>
                </a:solidFill>
                <a:latin typeface="Roboto Light"/>
                <a:ea typeface="Roboto Light"/>
                <a:cs typeface="Roboto Light"/>
                <a:sym typeface="Roboto Light"/>
              </a:rPr>
              <a:t>Gradient descent algorithm: nudge θ in negative gradient direction until θ converges.</a:t>
            </a: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solidFill>
                <a:srgbClr val="000000"/>
              </a:solidFill>
              <a:latin typeface="Roboto Light"/>
              <a:ea typeface="Roboto Light"/>
              <a:cs typeface="Roboto Light"/>
              <a:sym typeface="Roboto Light"/>
            </a:endParaRPr>
          </a:p>
          <a:p>
            <a:pPr>
              <a:spcBef>
                <a:spcPts val="800"/>
              </a:spcBef>
              <a:spcAft>
                <a:spcPts val="0"/>
              </a:spcAft>
            </a:pPr>
            <a:r>
              <a:rPr lang="en" sz="2133" dirty="0">
                <a:solidFill>
                  <a:srgbClr val="000000"/>
                </a:solidFill>
                <a:latin typeface="Roboto Light"/>
                <a:ea typeface="Roboto Light"/>
                <a:cs typeface="Roboto Light"/>
                <a:sym typeface="Roboto Light"/>
              </a:rPr>
              <a:t>For a model with multiple parameters:</a:t>
            </a: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solidFill>
                <a:srgbClr val="000000"/>
              </a:solidFill>
              <a:latin typeface="Roboto Light"/>
              <a:ea typeface="Roboto Light"/>
              <a:cs typeface="Roboto Light"/>
              <a:sym typeface="Roboto Light"/>
            </a:endParaRPr>
          </a:p>
          <a:p>
            <a:pPr>
              <a:spcBef>
                <a:spcPts val="800"/>
              </a:spcBef>
              <a:spcAft>
                <a:spcPts val="0"/>
              </a:spcAft>
            </a:pPr>
            <a:endParaRPr sz="2133" dirty="0">
              <a:latin typeface="Roboto Light"/>
              <a:ea typeface="Roboto Light"/>
              <a:cs typeface="Roboto Light"/>
              <a:sym typeface="Roboto Light"/>
            </a:endParaRPr>
          </a:p>
          <a:p>
            <a:pPr>
              <a:spcBef>
                <a:spcPts val="800"/>
              </a:spcBef>
              <a:spcAft>
                <a:spcPts val="0"/>
              </a:spcAft>
            </a:pPr>
            <a:endParaRPr sz="2133" dirty="0">
              <a:latin typeface="Roboto Light"/>
              <a:ea typeface="Roboto Light"/>
              <a:cs typeface="Roboto Light"/>
              <a:sym typeface="Roboto Light"/>
            </a:endParaRPr>
          </a:p>
          <a:p>
            <a:pPr>
              <a:spcBef>
                <a:spcPts val="800"/>
              </a:spcBef>
              <a:spcAft>
                <a:spcPts val="0"/>
              </a:spcAft>
            </a:pPr>
            <a:r>
              <a:rPr lang="en" sz="2133" dirty="0">
                <a:solidFill>
                  <a:srgbClr val="000000"/>
                </a:solidFill>
                <a:latin typeface="Roboto Light"/>
                <a:ea typeface="Roboto Light"/>
                <a:cs typeface="Roboto Light"/>
                <a:sym typeface="Roboto Light"/>
              </a:rPr>
              <a:t>θ: Model weights		</a:t>
            </a:r>
            <a:r>
              <a:rPr lang="en" sz="2133" b="1" dirty="0">
                <a:solidFill>
                  <a:srgbClr val="000000"/>
                </a:solidFill>
                <a:latin typeface="Roboto"/>
                <a:ea typeface="Roboto"/>
                <a:cs typeface="Roboto"/>
                <a:sym typeface="Roboto"/>
              </a:rPr>
              <a:t>L</a:t>
            </a:r>
            <a:r>
              <a:rPr lang="en" sz="2133" dirty="0">
                <a:solidFill>
                  <a:srgbClr val="000000"/>
                </a:solidFill>
                <a:latin typeface="Roboto Light"/>
                <a:ea typeface="Roboto Light"/>
                <a:cs typeface="Roboto Light"/>
                <a:sym typeface="Roboto Light"/>
              </a:rPr>
              <a:t>: loss function</a:t>
            </a:r>
            <a:endParaRPr sz="2133" dirty="0">
              <a:solidFill>
                <a:srgbClr val="000000"/>
              </a:solidFill>
              <a:latin typeface="Roboto Light"/>
              <a:ea typeface="Roboto Light"/>
              <a:cs typeface="Roboto Light"/>
              <a:sym typeface="Roboto Light"/>
            </a:endParaRPr>
          </a:p>
          <a:p>
            <a:pPr>
              <a:spcBef>
                <a:spcPts val="800"/>
              </a:spcBef>
              <a:spcAft>
                <a:spcPts val="0"/>
              </a:spcAft>
            </a:pPr>
            <a:r>
              <a:rPr lang="en" sz="2133" dirty="0">
                <a:solidFill>
                  <a:srgbClr val="000000"/>
                </a:solidFill>
                <a:latin typeface="Roboto Light"/>
                <a:ea typeface="Roboto Light"/>
                <a:cs typeface="Roboto Light"/>
                <a:sym typeface="Roboto Light"/>
              </a:rPr>
              <a:t>⍺: Learning rate  (ours is constant; other techniques have ⍺ decrease over time)</a:t>
            </a:r>
            <a:endParaRPr sz="2133" dirty="0">
              <a:solidFill>
                <a:srgbClr val="000000"/>
              </a:solidFill>
              <a:latin typeface="Roboto Light"/>
              <a:ea typeface="Roboto Light"/>
              <a:cs typeface="Roboto Light"/>
              <a:sym typeface="Roboto Light"/>
            </a:endParaRPr>
          </a:p>
        </p:txBody>
      </p:sp>
      <p:sp>
        <p:nvSpPr>
          <p:cNvPr id="832" name="Google Shape;832;p91"/>
          <p:cNvSpPr/>
          <p:nvPr/>
        </p:nvSpPr>
        <p:spPr>
          <a:xfrm>
            <a:off x="2654333" y="2715533"/>
            <a:ext cx="6298400" cy="1195200"/>
          </a:xfrm>
          <a:prstGeom prst="rect">
            <a:avLst/>
          </a:prstGeom>
          <a:solidFill>
            <a:srgbClr val="FCE5CD"/>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833" name="Google Shape;833;p91"/>
          <p:cNvSpPr txBox="1"/>
          <p:nvPr/>
        </p:nvSpPr>
        <p:spPr>
          <a:xfrm>
            <a:off x="11296611" y="6217623"/>
            <a:ext cx="731600" cy="524800"/>
          </a:xfrm>
          <a:prstGeom prst="rect">
            <a:avLst/>
          </a:prstGeom>
          <a:noFill/>
          <a:ln>
            <a:noFill/>
          </a:ln>
        </p:spPr>
        <p:txBody>
          <a:bodyPr spcFirstLastPara="1" wrap="square" lIns="121900" tIns="121900" rIns="121900" bIns="121900" anchor="ctr" anchorCtr="0">
            <a:noAutofit/>
          </a:bodyPr>
          <a:lstStyle/>
          <a:p>
            <a:pPr algn="r">
              <a:spcBef>
                <a:spcPts val="0"/>
              </a:spcBef>
              <a:spcAft>
                <a:spcPts val="0"/>
              </a:spcAft>
            </a:pPr>
            <a:fld id="{00000000-1234-1234-1234-123412341234}" type="slidenum">
              <a:rPr lang="en" sz="1333">
                <a:solidFill>
                  <a:srgbClr val="000000"/>
                </a:solidFill>
                <a:latin typeface="Roboto"/>
                <a:ea typeface="Roboto"/>
                <a:cs typeface="Roboto"/>
                <a:sym typeface="Roboto"/>
              </a:rPr>
              <a:pPr algn="r">
                <a:spcBef>
                  <a:spcPts val="0"/>
                </a:spcBef>
                <a:spcAft>
                  <a:spcPts val="0"/>
                </a:spcAft>
              </a:pPr>
              <a:t>61</a:t>
            </a:fld>
            <a:endParaRPr sz="1333">
              <a:solidFill>
                <a:srgbClr val="000000"/>
              </a:solidFill>
              <a:latin typeface="Roboto"/>
              <a:ea typeface="Roboto"/>
              <a:cs typeface="Roboto"/>
              <a:sym typeface="Roboto"/>
            </a:endParaRPr>
          </a:p>
        </p:txBody>
      </p:sp>
      <p:sp>
        <p:nvSpPr>
          <p:cNvPr id="834" name="Google Shape;834;p91"/>
          <p:cNvSpPr txBox="1"/>
          <p:nvPr/>
        </p:nvSpPr>
        <p:spPr>
          <a:xfrm>
            <a:off x="2295600" y="4143801"/>
            <a:ext cx="25624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Next value for </a:t>
            </a:r>
            <a:r>
              <a:rPr lang="en" sz="2133"/>
              <a:t>θ</a:t>
            </a:r>
            <a:r>
              <a:rPr lang="en" sz="2133">
                <a:latin typeface="Roboto Light"/>
                <a:ea typeface="Roboto Light"/>
                <a:cs typeface="Roboto Light"/>
                <a:sym typeface="Roboto Light"/>
              </a:rPr>
              <a:t> </a:t>
            </a:r>
            <a:endParaRPr sz="2133">
              <a:latin typeface="Roboto Light"/>
              <a:ea typeface="Roboto Light"/>
              <a:cs typeface="Roboto Light"/>
              <a:sym typeface="Roboto Light"/>
            </a:endParaRPr>
          </a:p>
        </p:txBody>
      </p:sp>
      <p:sp>
        <p:nvSpPr>
          <p:cNvPr id="835" name="Google Shape;835;p91"/>
          <p:cNvSpPr txBox="1"/>
          <p:nvPr/>
        </p:nvSpPr>
        <p:spPr>
          <a:xfrm>
            <a:off x="5920367" y="1707767"/>
            <a:ext cx="3420000" cy="80017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a:latin typeface="Roboto Light"/>
                <a:ea typeface="Roboto Light"/>
                <a:cs typeface="Roboto Light"/>
                <a:sym typeface="Roboto Light"/>
              </a:rPr>
              <a:t>gradient of the loss function evaluated at current θ </a:t>
            </a:r>
            <a:endParaRPr>
              <a:latin typeface="Roboto Light"/>
              <a:ea typeface="Roboto Light"/>
              <a:cs typeface="Roboto Light"/>
              <a:sym typeface="Roboto Light"/>
            </a:endParaRPr>
          </a:p>
        </p:txBody>
      </p:sp>
      <p:cxnSp>
        <p:nvCxnSpPr>
          <p:cNvPr id="836" name="Google Shape;836;p91"/>
          <p:cNvCxnSpPr/>
          <p:nvPr/>
        </p:nvCxnSpPr>
        <p:spPr>
          <a:xfrm rot="10800000">
            <a:off x="3426833" y="3523000"/>
            <a:ext cx="0" cy="788400"/>
          </a:xfrm>
          <a:prstGeom prst="straightConnector1">
            <a:avLst/>
          </a:prstGeom>
          <a:noFill/>
          <a:ln w="28575" cap="flat" cmpd="sng">
            <a:solidFill>
              <a:srgbClr val="6AA84F"/>
            </a:solidFill>
            <a:prstDash val="solid"/>
            <a:round/>
            <a:headEnd type="none" w="med" len="med"/>
            <a:tailEnd type="triangle" w="med" len="med"/>
          </a:ln>
        </p:spPr>
      </p:cxnSp>
      <p:sp>
        <p:nvSpPr>
          <p:cNvPr id="837" name="Google Shape;837;p91"/>
          <p:cNvSpPr/>
          <p:nvPr/>
        </p:nvSpPr>
        <p:spPr>
          <a:xfrm rot="-5400000">
            <a:off x="7114233" y="1536933"/>
            <a:ext cx="312800" cy="2044400"/>
          </a:xfrm>
          <a:prstGeom prst="rightBrace">
            <a:avLst>
              <a:gd name="adj1" fmla="val 50000"/>
              <a:gd name="adj2" fmla="val 50000"/>
            </a:avLst>
          </a:prstGeom>
          <a:noFill/>
          <a:ln w="28575"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pic>
        <p:nvPicPr>
          <p:cNvPr id="838" name="Google Shape;838;p91" descr="{&quot;type&quot;:&quot;$&quot;,&quot;backgroundColorModified&quot;:false,&quot;font&quot;:{&quot;family&quot;:&quot;Arial&quot;,&quot;size&quot;:21,&quot;color&quot;:&quot;#000000&quot;},&quot;code&quot;:&quot;$\\vec{\\theta}^{\\left(t+1\\right)}=\\vec{\\theta}^{\\left(t\\right)}-\\alpha\\nabla _{\\vec{\\theta}}L\\left(\\vec{\\theta}^{\\left(t\\right)}\\right)$&quot;,&quot;backgroundColor&quot;:&quot;#FFFFFF&quot;,&quot;id&quot;:&quot;4&quot;,&quot;aid&quot;:null,&quot;ts&quot;:1688766243816,&quot;cs&quot;:&quot;uTcVLVOjJMd6DXdkdDVwsg==&quot;,&quot;size&quot;:{&quot;width&quot;:381.3333333333333,&quot;height&quot;:79}}"/>
          <p:cNvPicPr preferRelativeResize="0"/>
          <p:nvPr/>
        </p:nvPicPr>
        <p:blipFill>
          <a:blip r:embed="rId3">
            <a:alphaModFix/>
          </a:blip>
          <a:stretch>
            <a:fillRect/>
          </a:stretch>
        </p:blipFill>
        <p:spPr>
          <a:xfrm>
            <a:off x="3339032" y="2834518"/>
            <a:ext cx="4842933" cy="1003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5D24CD-8C51-2746-1735-0D609179F8E9}"/>
              </a:ext>
            </a:extLst>
          </p:cNvPr>
          <p:cNvSpPr>
            <a:spLocks noGrp="1"/>
          </p:cNvSpPr>
          <p:nvPr>
            <p:ph idx="1"/>
          </p:nvPr>
        </p:nvSpPr>
        <p:spPr>
          <a:xfrm>
            <a:off x="266700" y="990601"/>
            <a:ext cx="11658601" cy="5553073"/>
          </a:xfrm>
        </p:spPr>
        <p:txBody>
          <a:bodyPr/>
          <a:lstStyle/>
          <a:p>
            <a:pPr lvl="0"/>
            <a:r>
              <a:rPr lang="en-US" dirty="0"/>
              <a:t>Optimization: where are we?</a:t>
            </a:r>
          </a:p>
          <a:p>
            <a:pPr lvl="0"/>
            <a:r>
              <a:rPr lang="en-US" dirty="0"/>
              <a:t>Minimizing an arbitrary 1D function</a:t>
            </a:r>
          </a:p>
          <a:p>
            <a:pPr lvl="0"/>
            <a:r>
              <a:rPr lang="en-US" dirty="0"/>
              <a:t>Gradient descent on a 1D model</a:t>
            </a:r>
          </a:p>
          <a:p>
            <a:pPr lvl="0"/>
            <a:r>
              <a:rPr lang="en-US" dirty="0"/>
              <a:t>Gradient descent on high-dimensional models</a:t>
            </a:r>
          </a:p>
          <a:p>
            <a:pPr lvl="0"/>
            <a:r>
              <a:rPr lang="en-US" b="1" dirty="0"/>
              <a:t>Batch, mini-batch, and stochastic gradient descent</a:t>
            </a:r>
          </a:p>
          <a:p>
            <a:endParaRPr lang="en-US" dirty="0"/>
          </a:p>
        </p:txBody>
      </p:sp>
      <p:sp>
        <p:nvSpPr>
          <p:cNvPr id="3" name="Title 2">
            <a:extLst>
              <a:ext uri="{FF2B5EF4-FFF2-40B4-BE49-F238E27FC236}">
                <a16:creationId xmlns:a16="http://schemas.microsoft.com/office/drawing/2014/main" id="{3579A3D2-B889-D5DA-4301-E7FE3CF4C15A}"/>
              </a:ext>
            </a:extLst>
          </p:cNvPr>
          <p:cNvSpPr>
            <a:spLocks noGrp="1"/>
          </p:cNvSpPr>
          <p:nvPr>
            <p:ph type="title"/>
          </p:nvPr>
        </p:nvSpPr>
        <p:spPr>
          <a:xfrm>
            <a:off x="266699" y="20819"/>
            <a:ext cx="11658601" cy="969781"/>
          </a:xfrm>
        </p:spPr>
        <p:txBody>
          <a:bodyPr/>
          <a:lstStyle/>
          <a:p>
            <a:r>
              <a:rPr lang="en-US" dirty="0"/>
              <a:t>Agenda</a:t>
            </a:r>
          </a:p>
        </p:txBody>
      </p:sp>
      <p:sp>
        <p:nvSpPr>
          <p:cNvPr id="4" name="Slide Number Placeholder 3">
            <a:extLst>
              <a:ext uri="{FF2B5EF4-FFF2-40B4-BE49-F238E27FC236}">
                <a16:creationId xmlns:a16="http://schemas.microsoft.com/office/drawing/2014/main" id="{F1A699C0-22B6-D7D9-CE7D-DE9BB3A292F1}"/>
              </a:ext>
            </a:extLst>
          </p:cNvPr>
          <p:cNvSpPr>
            <a:spLocks noGrp="1"/>
          </p:cNvSpPr>
          <p:nvPr>
            <p:ph type="sldNum" sz="quarter" idx="12"/>
          </p:nvPr>
        </p:nvSpPr>
        <p:spPr>
          <a:xfrm>
            <a:off x="11694319" y="6600825"/>
            <a:ext cx="497680" cy="257176"/>
          </a:xfrm>
        </p:spPr>
        <p:txBody>
          <a:bodyPr/>
          <a:lstStyle/>
          <a:p>
            <a:fld id="{89D00882-420D-446F-B065-6675A463A27F}" type="slidenum">
              <a:rPr lang="en-US" smtClean="0"/>
              <a:pPr/>
              <a:t>62</a:t>
            </a:fld>
            <a:endParaRPr lang="en-US"/>
          </a:p>
        </p:txBody>
      </p:sp>
    </p:spTree>
    <p:extLst>
      <p:ext uri="{BB962C8B-B14F-4D97-AF65-F5344CB8AC3E}">
        <p14:creationId xmlns:p14="http://schemas.microsoft.com/office/powerpoint/2010/main" val="7202678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2" name="Google Shape;852;p93"/>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We have just derived </a:t>
            </a:r>
            <a:r>
              <a:rPr lang="en" b="1">
                <a:latin typeface="Roboto"/>
                <a:ea typeface="Roboto"/>
                <a:cs typeface="Roboto"/>
                <a:sym typeface="Roboto"/>
              </a:rPr>
              <a:t>batch gradient descent.</a:t>
            </a:r>
            <a:endParaRPr/>
          </a:p>
          <a:p>
            <a:r>
              <a:rPr lang="en"/>
              <a:t>We used our </a:t>
            </a:r>
            <a:r>
              <a:rPr lang="en" i="1"/>
              <a:t>entire</a:t>
            </a:r>
            <a:r>
              <a:rPr lang="en"/>
              <a:t> dataset (as one big batch) to compute gradients </a:t>
            </a:r>
            <a:endParaRPr/>
          </a:p>
          <a:p>
            <a:pPr>
              <a:spcBef>
                <a:spcPts val="0"/>
              </a:spcBef>
            </a:pPr>
            <a:r>
              <a:rPr lang="en"/>
              <a:t>Recall the derivative of MSE for our 1D model – involves working with </a:t>
            </a:r>
            <a:r>
              <a:rPr lang="en" i="1"/>
              <a:t>all </a:t>
            </a:r>
            <a:r>
              <a:rPr lang="en"/>
              <a:t>n datapoints</a:t>
            </a:r>
            <a:endParaRPr/>
          </a:p>
        </p:txBody>
      </p:sp>
      <p:sp>
        <p:nvSpPr>
          <p:cNvPr id="851" name="Google Shape;851;p93"/>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Batch Gradient Descent</a:t>
            </a:r>
            <a:endParaRPr/>
          </a:p>
        </p:txBody>
      </p:sp>
      <p:sp>
        <p:nvSpPr>
          <p:cNvPr id="853" name="Google Shape;853;p93"/>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63</a:t>
            </a:fld>
            <a:endParaRPr/>
          </a:p>
        </p:txBody>
      </p:sp>
      <p:pic>
        <p:nvPicPr>
          <p:cNvPr id="854" name="Google Shape;854;p93" descr="{&quot;backgroundColor&quot;:&quot;#FFFFFF&quot;,&quot;font&quot;:{&quot;color&quot;:&quot;#000000&quot;,&quot;size&quot;:12.5,&quot;family&quot;:&quot;Roboto&quot;},&quot;id&quot;:&quot;10&quot;,&quot;backgroundColorModified&quot;:false,&quot;aid&quot;:null,&quot;type&quot;:&quot;$$&quot;,&quot;code&quot;:&quot;$$\\frac{d}{d\\theta_{1}}L\\left(\\theta_{1}^{\\left(t\\right)}\\right)=\\frac{-2}{n}\\sum_{i=1}^{n}\\left(y_{i}-\\theta_{1}^{\\left(t\\right)}x_{i}\\right)x_{i}$$&quot;,&quot;ts&quot;:1688745279604,&quot;cs&quot;:&quot;ielzoDVvOY+jpV6CjD2vHw==&quot;,&quot;size&quot;:{&quot;width&quot;:266.2,&quot;height&quot;:43.399999999999984}}"/>
          <p:cNvPicPr preferRelativeResize="0"/>
          <p:nvPr/>
        </p:nvPicPr>
        <p:blipFill>
          <a:blip r:embed="rId3">
            <a:alphaModFix/>
          </a:blip>
          <a:stretch>
            <a:fillRect/>
          </a:stretch>
        </p:blipFill>
        <p:spPr>
          <a:xfrm>
            <a:off x="3297468" y="2673054"/>
            <a:ext cx="3380740" cy="551180"/>
          </a:xfrm>
          <a:prstGeom prst="rect">
            <a:avLst/>
          </a:prstGeom>
          <a:noFill/>
          <a:ln>
            <a:noFill/>
          </a:ln>
        </p:spPr>
      </p:pic>
      <p:sp>
        <p:nvSpPr>
          <p:cNvPr id="855" name="Google Shape;855;p93"/>
          <p:cNvSpPr txBox="1"/>
          <p:nvPr/>
        </p:nvSpPr>
        <p:spPr>
          <a:xfrm>
            <a:off x="142733" y="3224234"/>
            <a:ext cx="11218000" cy="1559104"/>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Using all datapoints is often impractical when our dataset is large.</a:t>
            </a:r>
            <a:endParaRPr sz="2133">
              <a:latin typeface="Roboto Light"/>
              <a:ea typeface="Roboto Light"/>
              <a:cs typeface="Roboto Light"/>
              <a:sym typeface="Roboto Light"/>
            </a:endParaRPr>
          </a:p>
          <a:p>
            <a:pPr>
              <a:spcBef>
                <a:spcPts val="0"/>
              </a:spcBef>
              <a:spcAft>
                <a:spcPts val="0"/>
              </a:spcAft>
            </a:pPr>
            <a:endParaRPr sz="2133">
              <a:latin typeface="Roboto Light"/>
              <a:ea typeface="Roboto Light"/>
              <a:cs typeface="Roboto Light"/>
              <a:sym typeface="Roboto Light"/>
            </a:endParaRPr>
          </a:p>
          <a:p>
            <a:pPr>
              <a:spcBef>
                <a:spcPts val="0"/>
              </a:spcBef>
              <a:spcAft>
                <a:spcPts val="0"/>
              </a:spcAft>
            </a:pPr>
            <a:r>
              <a:rPr lang="en" sz="2133">
                <a:latin typeface="Roboto Light"/>
                <a:ea typeface="Roboto Light"/>
                <a:cs typeface="Roboto Light"/>
                <a:sym typeface="Roboto Light"/>
              </a:rPr>
              <a:t>Computing each gradient will take a long time; gradient descent will converge slowly because each individual update is slow.</a:t>
            </a:r>
            <a:endParaRPr sz="2133">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94"/>
          <p:cNvSpPr/>
          <p:nvPr/>
        </p:nvSpPr>
        <p:spPr>
          <a:xfrm>
            <a:off x="183333" y="3150367"/>
            <a:ext cx="11743200" cy="2053200"/>
          </a:xfrm>
          <a:prstGeom prst="rect">
            <a:avLst/>
          </a:prstGeom>
          <a:solidFill>
            <a:schemeClr val="accent1"/>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862" name="Google Shape;862;p94"/>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An alternative: use only a </a:t>
            </a:r>
            <a:r>
              <a:rPr lang="en" i="1"/>
              <a:t>subset</a:t>
            </a:r>
            <a:r>
              <a:rPr lang="en"/>
              <a:t> of the full dataset at each update. </a:t>
            </a:r>
            <a:endParaRPr/>
          </a:p>
          <a:p>
            <a:pPr marL="0" indent="0">
              <a:buNone/>
            </a:pPr>
            <a:r>
              <a:rPr lang="en"/>
              <a:t>Estimate the true gradient of the loss surface using just this subset of the data.</a:t>
            </a:r>
            <a:endParaRPr/>
          </a:p>
        </p:txBody>
      </p:sp>
      <p:sp>
        <p:nvSpPr>
          <p:cNvPr id="861" name="Google Shape;861;p94"/>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Mini-batch </a:t>
            </a:r>
            <a:r>
              <a:rPr lang="en">
                <a:solidFill>
                  <a:schemeClr val="accent3"/>
                </a:solidFill>
              </a:rPr>
              <a:t>Gradient Descent</a:t>
            </a:r>
            <a:endParaRPr/>
          </a:p>
        </p:txBody>
      </p:sp>
      <p:sp>
        <p:nvSpPr>
          <p:cNvPr id="863" name="Google Shape;863;p94"/>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64</a:t>
            </a:fld>
            <a:endParaRPr/>
          </a:p>
        </p:txBody>
      </p:sp>
      <p:sp>
        <p:nvSpPr>
          <p:cNvPr id="864" name="Google Shape;864;p94"/>
          <p:cNvSpPr txBox="1"/>
          <p:nvPr/>
        </p:nvSpPr>
        <p:spPr>
          <a:xfrm>
            <a:off x="180933" y="3150367"/>
            <a:ext cx="11284400" cy="1887336"/>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In mini-batch GD:</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first x% of the data. Update the parameter guesses.</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next x% of the data. Update the parameter guesses.</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last x% of the data. Update the parameter guesses.</a:t>
            </a:r>
            <a:endParaRPr sz="2133">
              <a:latin typeface="Roboto Light"/>
              <a:ea typeface="Roboto Light"/>
              <a:cs typeface="Roboto Light"/>
              <a:sym typeface="Roboto Light"/>
            </a:endParaRPr>
          </a:p>
        </p:txBody>
      </p:sp>
      <p:sp>
        <p:nvSpPr>
          <p:cNvPr id="865" name="Google Shape;865;p94"/>
          <p:cNvSpPr txBox="1"/>
          <p:nvPr/>
        </p:nvSpPr>
        <p:spPr>
          <a:xfrm>
            <a:off x="10835600" y="3856767"/>
            <a:ext cx="1450400" cy="80017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b="1">
                <a:solidFill>
                  <a:srgbClr val="0B5394"/>
                </a:solidFill>
                <a:latin typeface="Roboto"/>
                <a:ea typeface="Roboto"/>
                <a:cs typeface="Roboto"/>
                <a:sym typeface="Roboto"/>
              </a:rPr>
              <a:t>Training Epoch</a:t>
            </a:r>
            <a:endParaRPr b="1">
              <a:solidFill>
                <a:srgbClr val="0B5394"/>
              </a:solidFill>
              <a:latin typeface="Roboto"/>
              <a:ea typeface="Roboto"/>
              <a:cs typeface="Roboto"/>
              <a:sym typeface="Roboto"/>
            </a:endParaRPr>
          </a:p>
        </p:txBody>
      </p:sp>
      <p:sp>
        <p:nvSpPr>
          <p:cNvPr id="866" name="Google Shape;866;p94"/>
          <p:cNvSpPr/>
          <p:nvPr/>
        </p:nvSpPr>
        <p:spPr>
          <a:xfrm>
            <a:off x="10470400" y="3615567"/>
            <a:ext cx="365200" cy="1303200"/>
          </a:xfrm>
          <a:prstGeom prst="rightBrace">
            <a:avLst>
              <a:gd name="adj1" fmla="val 50000"/>
              <a:gd name="adj2" fmla="val 50000"/>
            </a:avLst>
          </a:prstGeom>
          <a:noFill/>
          <a:ln w="28575"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sp>
        <p:nvSpPr>
          <p:cNvPr id="867" name="Google Shape;867;p94"/>
          <p:cNvSpPr txBox="1"/>
          <p:nvPr/>
        </p:nvSpPr>
        <p:spPr>
          <a:xfrm>
            <a:off x="198333" y="1949534"/>
            <a:ext cx="9867600" cy="574412"/>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b="1">
                <a:latin typeface="Roboto"/>
                <a:ea typeface="Roboto"/>
                <a:cs typeface="Roboto"/>
                <a:sym typeface="Roboto"/>
              </a:rPr>
              <a:t>Batch size: </a:t>
            </a:r>
            <a:r>
              <a:rPr lang="en" sz="2133">
                <a:latin typeface="Roboto Light"/>
                <a:ea typeface="Roboto Light"/>
                <a:cs typeface="Roboto Light"/>
                <a:sym typeface="Roboto Light"/>
              </a:rPr>
              <a:t>the number of datapoints to use in each subset</a:t>
            </a:r>
            <a:endParaRPr sz="2133">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95"/>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Mini-batch </a:t>
            </a:r>
            <a:r>
              <a:rPr lang="en">
                <a:solidFill>
                  <a:schemeClr val="accent3"/>
                </a:solidFill>
              </a:rPr>
              <a:t>Gradient Descent</a:t>
            </a:r>
            <a:endParaRPr/>
          </a:p>
        </p:txBody>
      </p:sp>
      <p:sp>
        <p:nvSpPr>
          <p:cNvPr id="873" name="Google Shape;873;p95"/>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65</a:t>
            </a:fld>
            <a:endParaRPr/>
          </a:p>
        </p:txBody>
      </p:sp>
      <p:sp>
        <p:nvSpPr>
          <p:cNvPr id="874" name="Google Shape;874;p95"/>
          <p:cNvSpPr txBox="1"/>
          <p:nvPr/>
        </p:nvSpPr>
        <p:spPr>
          <a:xfrm>
            <a:off x="145300" y="3584934"/>
            <a:ext cx="11016000" cy="1230874"/>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In a single training epoch, we use every datapoint in the data once. </a:t>
            </a:r>
            <a:endParaRPr sz="2133">
              <a:latin typeface="Roboto Light"/>
              <a:ea typeface="Roboto Light"/>
              <a:cs typeface="Roboto Light"/>
              <a:sym typeface="Roboto Light"/>
            </a:endParaRPr>
          </a:p>
          <a:p>
            <a:pPr>
              <a:spcBef>
                <a:spcPts val="0"/>
              </a:spcBef>
              <a:spcAft>
                <a:spcPts val="0"/>
              </a:spcAft>
            </a:pPr>
            <a:endParaRPr sz="2133">
              <a:latin typeface="Roboto Light"/>
              <a:ea typeface="Roboto Light"/>
              <a:cs typeface="Roboto Light"/>
              <a:sym typeface="Roboto Light"/>
            </a:endParaRPr>
          </a:p>
          <a:p>
            <a:pPr>
              <a:spcBef>
                <a:spcPts val="0"/>
              </a:spcBef>
              <a:spcAft>
                <a:spcPts val="0"/>
              </a:spcAft>
            </a:pPr>
            <a:r>
              <a:rPr lang="en" sz="2133">
                <a:latin typeface="Roboto Light"/>
                <a:ea typeface="Roboto Light"/>
                <a:cs typeface="Roboto Light"/>
                <a:sym typeface="Roboto Light"/>
              </a:rPr>
              <a:t>We then perform several training epochs until we are satisfied.</a:t>
            </a:r>
            <a:endParaRPr sz="2133">
              <a:latin typeface="Roboto Light"/>
              <a:ea typeface="Roboto Light"/>
              <a:cs typeface="Roboto Light"/>
              <a:sym typeface="Roboto Light"/>
            </a:endParaRPr>
          </a:p>
        </p:txBody>
      </p:sp>
      <p:sp>
        <p:nvSpPr>
          <p:cNvPr id="875" name="Google Shape;875;p95"/>
          <p:cNvSpPr/>
          <p:nvPr/>
        </p:nvSpPr>
        <p:spPr>
          <a:xfrm>
            <a:off x="115100" y="1110867"/>
            <a:ext cx="11743200" cy="2053200"/>
          </a:xfrm>
          <a:prstGeom prst="rect">
            <a:avLst/>
          </a:prstGeom>
          <a:solidFill>
            <a:schemeClr val="accent1"/>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876" name="Google Shape;876;p95"/>
          <p:cNvSpPr txBox="1"/>
          <p:nvPr/>
        </p:nvSpPr>
        <p:spPr>
          <a:xfrm>
            <a:off x="112700" y="1110867"/>
            <a:ext cx="11284400" cy="1887336"/>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In mini-batch GD:</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first x% of the data. Update the parameter guesses.</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next x% of the data. Update the parameter guesses.</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last x% of the data. Update the parameter guesses.</a:t>
            </a:r>
            <a:endParaRPr sz="2133">
              <a:latin typeface="Roboto Light"/>
              <a:ea typeface="Roboto Light"/>
              <a:cs typeface="Roboto Light"/>
              <a:sym typeface="Roboto Light"/>
            </a:endParaRPr>
          </a:p>
        </p:txBody>
      </p:sp>
      <p:sp>
        <p:nvSpPr>
          <p:cNvPr id="877" name="Google Shape;877;p95"/>
          <p:cNvSpPr txBox="1"/>
          <p:nvPr/>
        </p:nvSpPr>
        <p:spPr>
          <a:xfrm>
            <a:off x="10767367" y="1817267"/>
            <a:ext cx="1450400" cy="80017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b="1">
                <a:solidFill>
                  <a:srgbClr val="0B5394"/>
                </a:solidFill>
                <a:latin typeface="Roboto"/>
                <a:ea typeface="Roboto"/>
                <a:cs typeface="Roboto"/>
                <a:sym typeface="Roboto"/>
              </a:rPr>
              <a:t>Training Epoch</a:t>
            </a:r>
            <a:endParaRPr b="1">
              <a:solidFill>
                <a:srgbClr val="0B5394"/>
              </a:solidFill>
              <a:latin typeface="Roboto"/>
              <a:ea typeface="Roboto"/>
              <a:cs typeface="Roboto"/>
              <a:sym typeface="Roboto"/>
            </a:endParaRPr>
          </a:p>
        </p:txBody>
      </p:sp>
      <p:sp>
        <p:nvSpPr>
          <p:cNvPr id="878" name="Google Shape;878;p95"/>
          <p:cNvSpPr/>
          <p:nvPr/>
        </p:nvSpPr>
        <p:spPr>
          <a:xfrm>
            <a:off x="10402167" y="1576067"/>
            <a:ext cx="365200" cy="1303200"/>
          </a:xfrm>
          <a:prstGeom prst="rightBrace">
            <a:avLst>
              <a:gd name="adj1" fmla="val 50000"/>
              <a:gd name="adj2" fmla="val 50000"/>
            </a:avLst>
          </a:prstGeom>
          <a:noFill/>
          <a:ln w="28575"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4" name="Google Shape;884;p96"/>
          <p:cNvSpPr txBox="1">
            <a:spLocks noGrp="1"/>
          </p:cNvSpPr>
          <p:nvPr>
            <p:ph idx="1"/>
          </p:nvPr>
        </p:nvSpPr>
        <p:spPr/>
        <p:txBody>
          <a:bodyPr spcFirstLastPara="1" vert="horz" wrap="square" lIns="121900" tIns="121900" rIns="121900" bIns="121900" numCol="1" anchor="t" anchorCtr="0" compatLnSpc="1">
            <a:prstTxWarp prst="textNoShape">
              <a:avLst/>
            </a:prstTxWarp>
            <a:noAutofit/>
          </a:bodyPr>
          <a:lstStyle/>
          <a:p>
            <a:r>
              <a:rPr lang="en-US" dirty="0"/>
              <a:t>In the most extreme case, we may perform gradient descent with a batch size of just one datapoint – this is called </a:t>
            </a:r>
            <a:r>
              <a:rPr lang="en-US" dirty="0">
                <a:sym typeface="Roboto"/>
              </a:rPr>
              <a:t>stochastic gradient descent</a:t>
            </a:r>
            <a:r>
              <a:rPr lang="en-US" dirty="0"/>
              <a:t>.</a:t>
            </a:r>
          </a:p>
          <a:p>
            <a:r>
              <a:rPr lang="en-US" dirty="0"/>
              <a:t>Works surprisingly well in practice! Averaging across several epochs gives a similar result as directly computing the true gradient on all the data. </a:t>
            </a:r>
          </a:p>
        </p:txBody>
      </p:sp>
      <p:sp>
        <p:nvSpPr>
          <p:cNvPr id="883" name="Google Shape;883;p96"/>
          <p:cNvSpPr txBox="1">
            <a:spLocks noGrp="1"/>
          </p:cNvSpPr>
          <p:nvPr>
            <p:ph type="title"/>
          </p:nvPr>
        </p:nvSpPr>
        <p:spPr/>
        <p:txBody>
          <a:bodyPr spcFirstLastPara="1" vert="horz" wrap="square" lIns="121900" tIns="121900" rIns="121900" bIns="121900" numCol="1" anchor="t" anchorCtr="0" compatLnSpc="1">
            <a:prstTxWarp prst="textNoShape">
              <a:avLst/>
            </a:prstTxWarp>
            <a:noAutofit/>
          </a:bodyPr>
          <a:lstStyle/>
          <a:p>
            <a:r>
              <a:rPr lang="en-US"/>
              <a:t>Stochastic Gradient Descent</a:t>
            </a:r>
          </a:p>
        </p:txBody>
      </p:sp>
      <p:sp>
        <p:nvSpPr>
          <p:cNvPr id="885" name="Google Shape;885;p96"/>
          <p:cNvSpPr txBox="1">
            <a:spLocks noGrp="1"/>
          </p:cNvSpPr>
          <p:nvPr>
            <p:ph type="sldNum" sz="quarter" idx="12"/>
          </p:nvPr>
        </p:nvSpPr>
        <p:spPr/>
        <p:txBody>
          <a:bodyPr spcFirstLastPara="1" vert="horz" wrap="square" lIns="121900" tIns="121900" rIns="121900" bIns="121900" rtlCol="0" anchor="ctr" anchorCtr="0">
            <a:noAutofit/>
          </a:bodyPr>
          <a:lstStyle/>
          <a:p>
            <a:fld id="{00000000-1234-1234-1234-123412341234}" type="slidenum">
              <a:rPr lang="en"/>
              <a:pPr/>
              <a:t>66</a:t>
            </a:fld>
            <a:endParaRPr lang="en"/>
          </a:p>
        </p:txBody>
      </p:sp>
      <p:sp>
        <p:nvSpPr>
          <p:cNvPr id="886" name="Google Shape;886;p96"/>
          <p:cNvSpPr/>
          <p:nvPr/>
        </p:nvSpPr>
        <p:spPr>
          <a:xfrm>
            <a:off x="183333" y="3150367"/>
            <a:ext cx="11743200" cy="2053200"/>
          </a:xfrm>
          <a:prstGeom prst="rect">
            <a:avLst/>
          </a:prstGeom>
          <a:solidFill>
            <a:schemeClr val="accent1"/>
          </a:solidFill>
          <a:ln>
            <a:noFill/>
          </a:ln>
        </p:spPr>
        <p:txBody>
          <a:bodyPr spcFirstLastPara="1" wrap="square" lIns="121900" tIns="121900" rIns="121900" bIns="121900" anchor="ctr" anchorCtr="0">
            <a:noAutofit/>
          </a:bodyPr>
          <a:lstStyle/>
          <a:p>
            <a:pPr>
              <a:spcBef>
                <a:spcPts val="0"/>
              </a:spcBef>
              <a:spcAft>
                <a:spcPts val="0"/>
              </a:spcAft>
            </a:pPr>
            <a:endParaRPr/>
          </a:p>
        </p:txBody>
      </p:sp>
      <p:sp>
        <p:nvSpPr>
          <p:cNvPr id="887" name="Google Shape;887;p96"/>
          <p:cNvSpPr txBox="1"/>
          <p:nvPr/>
        </p:nvSpPr>
        <p:spPr>
          <a:xfrm>
            <a:off x="180933" y="3150367"/>
            <a:ext cx="11284400" cy="1887336"/>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a:latin typeface="Roboto Light"/>
                <a:ea typeface="Roboto Light"/>
                <a:cs typeface="Roboto Light"/>
                <a:sym typeface="Roboto Light"/>
              </a:rPr>
              <a:t>In stochastic GD:</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first datapoint. Update the parameter guesses.</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next datapoint. Update the parameter guesses.</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a:t>
            </a:r>
            <a:endParaRPr sz="2133">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a:latin typeface="Roboto Light"/>
                <a:ea typeface="Roboto Light"/>
                <a:cs typeface="Roboto Light"/>
                <a:sym typeface="Roboto Light"/>
              </a:rPr>
              <a:t>Compute the gradient on the last datapoint. Update the parameter guesses.</a:t>
            </a:r>
            <a:endParaRPr sz="2133">
              <a:latin typeface="Roboto Light"/>
              <a:ea typeface="Roboto Light"/>
              <a:cs typeface="Roboto Light"/>
              <a:sym typeface="Roboto Light"/>
            </a:endParaRPr>
          </a:p>
        </p:txBody>
      </p:sp>
      <p:sp>
        <p:nvSpPr>
          <p:cNvPr id="888" name="Google Shape;888;p96"/>
          <p:cNvSpPr txBox="1"/>
          <p:nvPr/>
        </p:nvSpPr>
        <p:spPr>
          <a:xfrm>
            <a:off x="10415700" y="3856767"/>
            <a:ext cx="1450400" cy="800179"/>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b="1">
                <a:solidFill>
                  <a:srgbClr val="0B5394"/>
                </a:solidFill>
                <a:latin typeface="Roboto"/>
                <a:ea typeface="Roboto"/>
                <a:cs typeface="Roboto"/>
                <a:sym typeface="Roboto"/>
              </a:rPr>
              <a:t>Training Epoch</a:t>
            </a:r>
            <a:endParaRPr b="1">
              <a:solidFill>
                <a:srgbClr val="0B5394"/>
              </a:solidFill>
              <a:latin typeface="Roboto"/>
              <a:ea typeface="Roboto"/>
              <a:cs typeface="Roboto"/>
              <a:sym typeface="Roboto"/>
            </a:endParaRPr>
          </a:p>
        </p:txBody>
      </p:sp>
      <p:sp>
        <p:nvSpPr>
          <p:cNvPr id="889" name="Google Shape;889;p96"/>
          <p:cNvSpPr/>
          <p:nvPr/>
        </p:nvSpPr>
        <p:spPr>
          <a:xfrm>
            <a:off x="9961933" y="3615567"/>
            <a:ext cx="365200" cy="1303200"/>
          </a:xfrm>
          <a:prstGeom prst="rightBrace">
            <a:avLst>
              <a:gd name="adj1" fmla="val 50000"/>
              <a:gd name="adj2" fmla="val 50000"/>
            </a:avLst>
          </a:prstGeom>
          <a:noFill/>
          <a:ln w="28575"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8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98"/>
          <p:cNvSpPr txBox="1">
            <a:spLocks noGrp="1"/>
          </p:cNvSpPr>
          <p:nvPr>
            <p:ph type="title"/>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algn="l"/>
            <a:r>
              <a:rPr lang="en"/>
              <a:t>Comparing GD Techniques</a:t>
            </a:r>
            <a:endParaRPr/>
          </a:p>
        </p:txBody>
      </p:sp>
      <p:sp>
        <p:nvSpPr>
          <p:cNvPr id="904" name="Google Shape;904;p98"/>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67</a:t>
            </a:fld>
            <a:endParaRPr/>
          </a:p>
        </p:txBody>
      </p:sp>
      <p:sp>
        <p:nvSpPr>
          <p:cNvPr id="905" name="Google Shape;905;p98"/>
          <p:cNvSpPr txBox="1"/>
          <p:nvPr/>
        </p:nvSpPr>
        <p:spPr>
          <a:xfrm>
            <a:off x="426307" y="1066084"/>
            <a:ext cx="4858800" cy="1559104"/>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Batch gradient descent: </a:t>
            </a:r>
            <a:endParaRPr sz="2133" dirty="0">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dirty="0">
                <a:latin typeface="Roboto Light"/>
                <a:ea typeface="Roboto Light"/>
                <a:cs typeface="Roboto Light"/>
                <a:sym typeface="Roboto Light"/>
              </a:rPr>
              <a:t>Computes the true gradient</a:t>
            </a:r>
            <a:endParaRPr sz="2133" dirty="0">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dirty="0">
                <a:latin typeface="Roboto Light"/>
                <a:ea typeface="Roboto Light"/>
                <a:cs typeface="Roboto Light"/>
                <a:sym typeface="Roboto Light"/>
              </a:rPr>
              <a:t>Always descends towards the true minimum of loss</a:t>
            </a:r>
            <a:endParaRPr sz="2133" dirty="0">
              <a:latin typeface="Roboto Light"/>
              <a:ea typeface="Roboto Light"/>
              <a:cs typeface="Roboto Light"/>
              <a:sym typeface="Roboto Light"/>
            </a:endParaRPr>
          </a:p>
        </p:txBody>
      </p:sp>
      <p:sp>
        <p:nvSpPr>
          <p:cNvPr id="906" name="Google Shape;906;p98"/>
          <p:cNvSpPr txBox="1"/>
          <p:nvPr/>
        </p:nvSpPr>
        <p:spPr>
          <a:xfrm>
            <a:off x="6166168" y="1066084"/>
            <a:ext cx="5906000" cy="1559104"/>
          </a:xfrm>
          <a:prstGeom prst="rect">
            <a:avLst/>
          </a:prstGeom>
          <a:noFill/>
          <a:ln>
            <a:noFill/>
          </a:ln>
        </p:spPr>
        <p:txBody>
          <a:bodyPr spcFirstLastPara="1" wrap="square" lIns="121900" tIns="121900" rIns="121900" bIns="121900" anchor="t" anchorCtr="0">
            <a:spAutoFit/>
          </a:bodyPr>
          <a:lstStyle/>
          <a:p>
            <a:pPr>
              <a:spcBef>
                <a:spcPts val="0"/>
              </a:spcBef>
              <a:spcAft>
                <a:spcPts val="0"/>
              </a:spcAft>
            </a:pPr>
            <a:r>
              <a:rPr lang="en" sz="2133" dirty="0">
                <a:latin typeface="Roboto Light"/>
                <a:ea typeface="Roboto Light"/>
                <a:cs typeface="Roboto Light"/>
                <a:sym typeface="Roboto Light"/>
              </a:rPr>
              <a:t>Mini-batch/stochastic gradient descent: </a:t>
            </a:r>
            <a:endParaRPr sz="2133" dirty="0">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i="1" dirty="0">
                <a:latin typeface="Roboto Light"/>
                <a:ea typeface="Roboto Light"/>
                <a:cs typeface="Roboto Light"/>
                <a:sym typeface="Roboto Light"/>
              </a:rPr>
              <a:t>Approximates</a:t>
            </a:r>
            <a:r>
              <a:rPr lang="en" sz="2133" dirty="0">
                <a:latin typeface="Roboto Light"/>
                <a:ea typeface="Roboto Light"/>
                <a:cs typeface="Roboto Light"/>
                <a:sym typeface="Roboto Light"/>
              </a:rPr>
              <a:t> the true gradient</a:t>
            </a:r>
            <a:endParaRPr sz="2133" dirty="0">
              <a:latin typeface="Roboto Light"/>
              <a:ea typeface="Roboto Light"/>
              <a:cs typeface="Roboto Light"/>
              <a:sym typeface="Roboto Light"/>
            </a:endParaRPr>
          </a:p>
          <a:p>
            <a:pPr marL="609585" indent="-440256">
              <a:spcBef>
                <a:spcPts val="0"/>
              </a:spcBef>
              <a:spcAft>
                <a:spcPts val="0"/>
              </a:spcAft>
              <a:buSzPts val="1600"/>
              <a:buFont typeface="Roboto Light"/>
              <a:buChar char="●"/>
            </a:pPr>
            <a:r>
              <a:rPr lang="en" sz="2133" dirty="0">
                <a:latin typeface="Roboto Light"/>
                <a:ea typeface="Roboto Light"/>
                <a:cs typeface="Roboto Light"/>
                <a:sym typeface="Roboto Light"/>
              </a:rPr>
              <a:t>May not descend towards the true minimum with each update</a:t>
            </a:r>
            <a:endParaRPr sz="2133" dirty="0">
              <a:latin typeface="Roboto Light"/>
              <a:ea typeface="Roboto Light"/>
              <a:cs typeface="Roboto Light"/>
              <a:sym typeface="Roboto Light"/>
            </a:endParaRPr>
          </a:p>
        </p:txBody>
      </p:sp>
      <p:pic>
        <p:nvPicPr>
          <p:cNvPr id="907" name="Google Shape;907;p98"/>
          <p:cNvPicPr preferRelativeResize="0"/>
          <p:nvPr/>
        </p:nvPicPr>
        <p:blipFill rotWithShape="1">
          <a:blip r:embed="rId3">
            <a:alphaModFix/>
          </a:blip>
          <a:srcRect r="21216"/>
          <a:stretch/>
        </p:blipFill>
        <p:spPr>
          <a:xfrm>
            <a:off x="345285" y="2886980"/>
            <a:ext cx="4652733" cy="3950201"/>
          </a:xfrm>
          <a:prstGeom prst="rect">
            <a:avLst/>
          </a:prstGeom>
          <a:noFill/>
          <a:ln>
            <a:noFill/>
          </a:ln>
        </p:spPr>
      </p:pic>
      <p:pic>
        <p:nvPicPr>
          <p:cNvPr id="908" name="Google Shape;908;p98"/>
          <p:cNvPicPr preferRelativeResize="0"/>
          <p:nvPr/>
        </p:nvPicPr>
        <p:blipFill>
          <a:blip r:embed="rId4">
            <a:alphaModFix/>
          </a:blip>
          <a:stretch>
            <a:fillRect/>
          </a:stretch>
        </p:blipFill>
        <p:spPr>
          <a:xfrm>
            <a:off x="5788454" y="2886982"/>
            <a:ext cx="5905865" cy="39501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i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2"/>
        </a:lnRef>
        <a:fillRef idx="2">
          <a:schemeClr val="accent2"/>
        </a:fillRef>
        <a:effectRef idx="1">
          <a:schemeClr val="accent2"/>
        </a:effectRef>
        <a:fontRef idx="minor">
          <a:schemeClr val="dk1"/>
        </a:fontRef>
      </a:style>
    </a:spDef>
    <a:lnDef>
      <a:spPr>
        <a:ln w="1905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ig data template.pptx" id="{20A2C686-B26B-470E-A460-CDE7F6DF3BDB}" vid="{FEDE971F-BDA7-4940-B809-146585AB44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Big data template</Template>
  <TotalTime>20783</TotalTime>
  <Words>2515</Words>
  <Application>Microsoft Office PowerPoint</Application>
  <PresentationFormat>Widescreen</PresentationFormat>
  <Paragraphs>410</Paragraphs>
  <Slides>67</Slides>
  <Notes>56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67</vt:i4>
      </vt:variant>
    </vt:vector>
  </HeadingPairs>
  <TitlesOfParts>
    <vt:vector size="76" baseType="lpstr">
      <vt:lpstr>Arial</vt:lpstr>
      <vt:lpstr>Calibri</vt:lpstr>
      <vt:lpstr>Consolas</vt:lpstr>
      <vt:lpstr>Courier New</vt:lpstr>
      <vt:lpstr>Roboto</vt:lpstr>
      <vt:lpstr>Roboto Light</vt:lpstr>
      <vt:lpstr>Times New Roman</vt:lpstr>
      <vt:lpstr>Wingdings</vt:lpstr>
      <vt:lpstr>Main</vt:lpstr>
      <vt:lpstr>Gradient Descent for Linear Regression (Simple and Multiple)</vt:lpstr>
      <vt:lpstr>Our goals for this lecture</vt:lpstr>
      <vt:lpstr>Agenda</vt:lpstr>
      <vt:lpstr>Agenda</vt:lpstr>
      <vt:lpstr>What We’ve Done</vt:lpstr>
      <vt:lpstr>Where We’re Going</vt:lpstr>
      <vt:lpstr>Our Roadmap</vt:lpstr>
      <vt:lpstr>Minimizing an arbitrary 1D function</vt:lpstr>
      <vt:lpstr>An Arbitrary Function</vt:lpstr>
      <vt:lpstr>An Arbitrary Function </vt:lpstr>
      <vt:lpstr>Finding the Minimum</vt:lpstr>
      <vt:lpstr>Finding the Minimum</vt:lpstr>
      <vt:lpstr>Finding the Minimum </vt:lpstr>
      <vt:lpstr>Finding the Minimum </vt:lpstr>
      <vt:lpstr>Finding the Minimum </vt:lpstr>
      <vt:lpstr>Finding the Minimum </vt:lpstr>
      <vt:lpstr>Finding the Minimum </vt:lpstr>
      <vt:lpstr>Finding the Minimum </vt:lpstr>
      <vt:lpstr>Slopes Tell Us Where to Go</vt:lpstr>
      <vt:lpstr>Slopes Tell Us Where to Go</vt:lpstr>
      <vt:lpstr>Algorithm Attempt #1</vt:lpstr>
      <vt:lpstr>Algorithm Attempt #1 </vt:lpstr>
      <vt:lpstr>Algorithm Attempt #1</vt:lpstr>
      <vt:lpstr>Algorithm Attempt #1</vt:lpstr>
      <vt:lpstr>Algorithm Attempt #1</vt:lpstr>
      <vt:lpstr>Algorithm Attempt #1</vt:lpstr>
      <vt:lpstr>Introducing a Learning Rate</vt:lpstr>
      <vt:lpstr>Algorithm Attempt #2</vt:lpstr>
      <vt:lpstr>Convexity</vt:lpstr>
      <vt:lpstr>Convexity</vt:lpstr>
      <vt:lpstr>Convexity</vt:lpstr>
      <vt:lpstr>Agenda</vt:lpstr>
      <vt:lpstr>From Arbitrary Functions to Loss Functions</vt:lpstr>
      <vt:lpstr>From Arbitrary Functions to Loss Functions</vt:lpstr>
      <vt:lpstr>From Arbitrary Functions to Loss Functions</vt:lpstr>
      <vt:lpstr>Gradient Descent on the tips Dataset </vt:lpstr>
      <vt:lpstr>Gradient Descent on the tips Dataset </vt:lpstr>
      <vt:lpstr>Gradient Descent on the tips Dataset</vt:lpstr>
      <vt:lpstr>Gradient Descent on the tips Dataset</vt:lpstr>
      <vt:lpstr>Gradient Descent on the tips Dataset</vt:lpstr>
      <vt:lpstr>MSE is Convex!</vt:lpstr>
      <vt:lpstr>Agenda</vt:lpstr>
      <vt:lpstr>Models in 2D or Higher</vt:lpstr>
      <vt:lpstr>Multiple Linear Regression</vt:lpstr>
      <vt:lpstr>Multiple Linear Regression</vt:lpstr>
      <vt:lpstr>From SLR to Multiple linear regression</vt:lpstr>
      <vt:lpstr>Multiple Linear Regression</vt:lpstr>
      <vt:lpstr>Vector Notation</vt:lpstr>
      <vt:lpstr>Vector Notation</vt:lpstr>
      <vt:lpstr>Matrix Notation</vt:lpstr>
      <vt:lpstr>Matrix Notation</vt:lpstr>
      <vt:lpstr>Matrix Notation</vt:lpstr>
      <vt:lpstr>The Multiple Linear Regression Model Using Matrix Notation</vt:lpstr>
      <vt:lpstr>Mean Squared Error with L2 Norms</vt:lpstr>
      <vt:lpstr>Back to GD</vt:lpstr>
      <vt:lpstr>Models in 2D or Higher</vt:lpstr>
      <vt:lpstr>The Gradient Vector</vt:lpstr>
      <vt:lpstr>A Math Aside: Partial Derivatives</vt:lpstr>
      <vt:lpstr>The Gradient Vector</vt:lpstr>
      <vt:lpstr>Gradient Descent in Multiple Dimensions</vt:lpstr>
      <vt:lpstr>Gradient Descent Update Rule</vt:lpstr>
      <vt:lpstr>Agenda</vt:lpstr>
      <vt:lpstr>Batch Gradient Descent</vt:lpstr>
      <vt:lpstr>Mini-batch Gradient Descent</vt:lpstr>
      <vt:lpstr>Mini-batch Gradient Descent</vt:lpstr>
      <vt:lpstr>Stochastic Gradient Descent</vt:lpstr>
      <vt:lpstr>Comparing GD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 Models in Natural Language Processing</dc:title>
  <dc:creator>Yadollah Yaghoobzadeh</dc:creator>
  <cp:lastModifiedBy>Yadollah Yaghoobzadeh</cp:lastModifiedBy>
  <cp:revision>333</cp:revision>
  <dcterms:created xsi:type="dcterms:W3CDTF">2021-09-22T08:38:12Z</dcterms:created>
  <dcterms:modified xsi:type="dcterms:W3CDTF">2026-04-30T14:11:04Z</dcterms:modified>
</cp:coreProperties>
</file>