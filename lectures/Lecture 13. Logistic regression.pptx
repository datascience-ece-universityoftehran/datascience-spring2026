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367" r:id="rId2"/>
    <p:sldId id="258" r:id="rId3"/>
    <p:sldId id="259" r:id="rId4"/>
    <p:sldId id="368" r:id="rId5"/>
    <p:sldId id="261" r:id="rId6"/>
    <p:sldId id="262" r:id="rId7"/>
    <p:sldId id="263" r:id="rId8"/>
    <p:sldId id="264" r:id="rId9"/>
    <p:sldId id="265" r:id="rId10"/>
    <p:sldId id="266" r:id="rId11"/>
    <p:sldId id="369" r:id="rId12"/>
    <p:sldId id="268" r:id="rId13"/>
    <p:sldId id="269" r:id="rId14"/>
    <p:sldId id="281" r:id="rId15"/>
    <p:sldId id="282" r:id="rId16"/>
    <p:sldId id="283" r:id="rId17"/>
    <p:sldId id="284" r:id="rId18"/>
    <p:sldId id="375" r:id="rId19"/>
    <p:sldId id="394" r:id="rId20"/>
    <p:sldId id="395" r:id="rId21"/>
    <p:sldId id="290" r:id="rId22"/>
    <p:sldId id="291" r:id="rId23"/>
    <p:sldId id="292" r:id="rId24"/>
    <p:sldId id="293" r:id="rId25"/>
    <p:sldId id="299" r:id="rId26"/>
    <p:sldId id="300" r:id="rId27"/>
    <p:sldId id="301" r:id="rId28"/>
    <p:sldId id="302" r:id="rId29"/>
    <p:sldId id="303" r:id="rId30"/>
    <p:sldId id="304" r:id="rId31"/>
    <p:sldId id="306" r:id="rId32"/>
    <p:sldId id="406" r:id="rId33"/>
    <p:sldId id="318" r:id="rId34"/>
    <p:sldId id="373" r:id="rId35"/>
    <p:sldId id="321" r:id="rId36"/>
    <p:sldId id="322" r:id="rId37"/>
    <p:sldId id="376" r:id="rId38"/>
    <p:sldId id="377" r:id="rId39"/>
    <p:sldId id="378" r:id="rId40"/>
    <p:sldId id="379" r:id="rId41"/>
    <p:sldId id="380" r:id="rId42"/>
    <p:sldId id="381" r:id="rId43"/>
    <p:sldId id="289" r:id="rId44"/>
    <p:sldId id="383" r:id="rId45"/>
    <p:sldId id="384" r:id="rId46"/>
    <p:sldId id="385" r:id="rId47"/>
    <p:sldId id="386" r:id="rId48"/>
    <p:sldId id="294" r:id="rId49"/>
    <p:sldId id="407" r:id="rId50"/>
    <p:sldId id="296" r:id="rId51"/>
    <p:sldId id="408" r:id="rId52"/>
    <p:sldId id="298" r:id="rId53"/>
    <p:sldId id="387" r:id="rId54"/>
    <p:sldId id="388" r:id="rId55"/>
    <p:sldId id="389" r:id="rId56"/>
    <p:sldId id="390" r:id="rId57"/>
    <p:sldId id="391" r:id="rId58"/>
    <p:sldId id="305" r:id="rId59"/>
    <p:sldId id="393" r:id="rId60"/>
    <p:sldId id="410" r:id="rId61"/>
    <p:sldId id="307" r:id="rId62"/>
    <p:sldId id="308" r:id="rId63"/>
    <p:sldId id="409" r:id="rId6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222" autoAdjust="0"/>
    <p:restoredTop sz="94057" autoAdjust="0"/>
  </p:normalViewPr>
  <p:slideViewPr>
    <p:cSldViewPr snapToGrid="0">
      <p:cViewPr varScale="1">
        <p:scale>
          <a:sx n="80" d="100"/>
          <a:sy n="80" d="100"/>
        </p:scale>
        <p:origin x="69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BCF4C8A5-4EFD-48D4-A279-DF8EAA161267}"/>
    <pc:docChg chg="custSel delSld modSld modMainMaster">
      <pc:chgData name="Yadollah Yaghoobzadeh" userId="6e47bfdd41a25f50" providerId="LiveId" clId="{BCF4C8A5-4EFD-48D4-A279-DF8EAA161267}" dt="2026-05-11T12:03:43.975" v="5" actId="478"/>
      <pc:docMkLst>
        <pc:docMk/>
      </pc:docMkLst>
      <pc:sldChg chg="delSp modSp mod">
        <pc:chgData name="Yadollah Yaghoobzadeh" userId="6e47bfdd41a25f50" providerId="LiveId" clId="{BCF4C8A5-4EFD-48D4-A279-DF8EAA161267}" dt="2026-05-11T12:03:43.975" v="5" actId="478"/>
        <pc:sldMkLst>
          <pc:docMk/>
          <pc:sldMk cId="0" sldId="284"/>
        </pc:sldMkLst>
        <pc:spChg chg="del mod">
          <ac:chgData name="Yadollah Yaghoobzadeh" userId="6e47bfdd41a25f50" providerId="LiveId" clId="{BCF4C8A5-4EFD-48D4-A279-DF8EAA161267}" dt="2026-05-11T12:03:43.975" v="5" actId="478"/>
          <ac:spMkLst>
            <pc:docMk/>
            <pc:sldMk cId="0" sldId="284"/>
            <ac:spMk id="554" creationId="{00000000-0000-0000-0000-000000000000}"/>
          </ac:spMkLst>
        </pc:spChg>
      </pc:sldChg>
      <pc:sldChg chg="del">
        <pc:chgData name="Yadollah Yaghoobzadeh" userId="6e47bfdd41a25f50" providerId="LiveId" clId="{BCF4C8A5-4EFD-48D4-A279-DF8EAA161267}" dt="2026-05-10T05:37:16.698" v="2" actId="47"/>
        <pc:sldMkLst>
          <pc:docMk/>
          <pc:sldMk cId="0" sldId="288"/>
        </pc:sldMkLst>
      </pc:sldChg>
      <pc:sldChg chg="mod modShow">
        <pc:chgData name="Yadollah Yaghoobzadeh" userId="6e47bfdd41a25f50" providerId="LiveId" clId="{BCF4C8A5-4EFD-48D4-A279-DF8EAA161267}" dt="2026-05-10T05:49:35.377" v="3" actId="729"/>
        <pc:sldMkLst>
          <pc:docMk/>
          <pc:sldMk cId="0" sldId="298"/>
        </pc:sldMkLst>
      </pc:sldChg>
      <pc:sldMasterChg chg="modSldLayout">
        <pc:chgData name="Yadollah Yaghoobzadeh" userId="6e47bfdd41a25f50" providerId="LiveId" clId="{BCF4C8A5-4EFD-48D4-A279-DF8EAA161267}" dt="2026-05-08T17:28:00.678" v="1" actId="20577"/>
        <pc:sldMasterMkLst>
          <pc:docMk/>
          <pc:sldMasterMk cId="592030485" sldId="2147483660"/>
        </pc:sldMasterMkLst>
        <pc:sldLayoutChg chg="modSp mod">
          <pc:chgData name="Yadollah Yaghoobzadeh" userId="6e47bfdd41a25f50" providerId="LiveId" clId="{BCF4C8A5-4EFD-48D4-A279-DF8EAA161267}" dt="2026-05-08T17:28:00.678" v="1" actId="20577"/>
          <pc:sldLayoutMkLst>
            <pc:docMk/>
            <pc:sldMasterMk cId="592030485" sldId="2147483660"/>
            <pc:sldLayoutMk cId="108745479" sldId="2147483661"/>
          </pc:sldLayoutMkLst>
          <pc:spChg chg="mod">
            <ac:chgData name="Yadollah Yaghoobzadeh" userId="6e47bfdd41a25f50" providerId="LiveId" clId="{BCF4C8A5-4EFD-48D4-A279-DF8EAA161267}" dt="2026-05-08T17:28:00.678" v="1" actId="20577"/>
            <ac:spMkLst>
              <pc:docMk/>
              <pc:sldMasterMk cId="592030485" sldId="2147483660"/>
              <pc:sldLayoutMk cId="108745479" sldId="2147483661"/>
              <ac:spMk id="3" creationId="{589C87D7-4FFF-3090-7978-ACE9D0723D25}"/>
            </ac:spMkLst>
          </pc:spChg>
        </pc:sldLayoutChg>
      </pc:sldMasterChg>
    </pc:docChg>
  </pc:docChgLst>
  <pc:docChgLst>
    <pc:chgData name="Yadollah Yaghoobzadeh" userId="6e47bfdd41a25f50" providerId="LiveId" clId="{4D6F3601-74A2-4964-8137-6BEC672D6219}"/>
    <pc:docChg chg="undo custSel addSld delSld modSld modMainMaster">
      <pc:chgData name="Yadollah Yaghoobzadeh" userId="6e47bfdd41a25f50" providerId="LiveId" clId="{4D6F3601-74A2-4964-8137-6BEC672D6219}" dt="2025-04-27T09:23:49.718" v="55" actId="729"/>
      <pc:docMkLst>
        <pc:docMk/>
      </pc:docMkLst>
      <pc:sldChg chg="del">
        <pc:chgData name="Yadollah Yaghoobzadeh" userId="6e47bfdd41a25f50" providerId="LiveId" clId="{4D6F3601-74A2-4964-8137-6BEC672D6219}" dt="2025-04-22T10:43:43.313" v="0" actId="47"/>
        <pc:sldMkLst>
          <pc:docMk/>
          <pc:sldMk cId="0" sldId="270"/>
        </pc:sldMkLst>
      </pc:sldChg>
      <pc:sldChg chg="del">
        <pc:chgData name="Yadollah Yaghoobzadeh" userId="6e47bfdd41a25f50" providerId="LiveId" clId="{4D6F3601-74A2-4964-8137-6BEC672D6219}" dt="2025-04-22T10:43:44.067" v="1" actId="47"/>
        <pc:sldMkLst>
          <pc:docMk/>
          <pc:sldMk cId="0" sldId="271"/>
        </pc:sldMkLst>
      </pc:sldChg>
      <pc:sldChg chg="del">
        <pc:chgData name="Yadollah Yaghoobzadeh" userId="6e47bfdd41a25f50" providerId="LiveId" clId="{4D6F3601-74A2-4964-8137-6BEC672D6219}" dt="2025-04-22T10:43:45.124" v="2" actId="47"/>
        <pc:sldMkLst>
          <pc:docMk/>
          <pc:sldMk cId="0" sldId="272"/>
        </pc:sldMkLst>
      </pc:sldChg>
      <pc:sldChg chg="del">
        <pc:chgData name="Yadollah Yaghoobzadeh" userId="6e47bfdd41a25f50" providerId="LiveId" clId="{4D6F3601-74A2-4964-8137-6BEC672D6219}" dt="2025-04-22T10:43:46.530" v="3" actId="47"/>
        <pc:sldMkLst>
          <pc:docMk/>
          <pc:sldMk cId="0" sldId="273"/>
        </pc:sldMkLst>
      </pc:sldChg>
      <pc:sldChg chg="del">
        <pc:chgData name="Yadollah Yaghoobzadeh" userId="6e47bfdd41a25f50" providerId="LiveId" clId="{4D6F3601-74A2-4964-8137-6BEC672D6219}" dt="2025-04-22T10:43:47.970" v="4" actId="47"/>
        <pc:sldMkLst>
          <pc:docMk/>
          <pc:sldMk cId="0" sldId="274"/>
        </pc:sldMkLst>
      </pc:sldChg>
      <pc:sldChg chg="del">
        <pc:chgData name="Yadollah Yaghoobzadeh" userId="6e47bfdd41a25f50" providerId="LiveId" clId="{4D6F3601-74A2-4964-8137-6BEC672D6219}" dt="2025-04-22T10:43:50.904" v="5" actId="47"/>
        <pc:sldMkLst>
          <pc:docMk/>
          <pc:sldMk cId="0" sldId="275"/>
        </pc:sldMkLst>
      </pc:sldChg>
      <pc:sldChg chg="del">
        <pc:chgData name="Yadollah Yaghoobzadeh" userId="6e47bfdd41a25f50" providerId="LiveId" clId="{4D6F3601-74A2-4964-8137-6BEC672D6219}" dt="2025-04-22T10:43:51.647" v="6" actId="47"/>
        <pc:sldMkLst>
          <pc:docMk/>
          <pc:sldMk cId="0" sldId="276"/>
        </pc:sldMkLst>
      </pc:sldChg>
      <pc:sldChg chg="del">
        <pc:chgData name="Yadollah Yaghoobzadeh" userId="6e47bfdd41a25f50" providerId="LiveId" clId="{4D6F3601-74A2-4964-8137-6BEC672D6219}" dt="2025-04-22T10:43:52.742" v="7" actId="47"/>
        <pc:sldMkLst>
          <pc:docMk/>
          <pc:sldMk cId="0" sldId="277"/>
        </pc:sldMkLst>
      </pc:sldChg>
      <pc:sldChg chg="del">
        <pc:chgData name="Yadollah Yaghoobzadeh" userId="6e47bfdd41a25f50" providerId="LiveId" clId="{4D6F3601-74A2-4964-8137-6BEC672D6219}" dt="2025-04-22T10:43:56.080" v="8" actId="47"/>
        <pc:sldMkLst>
          <pc:docMk/>
          <pc:sldMk cId="0" sldId="278"/>
        </pc:sldMkLst>
      </pc:sldChg>
      <pc:sldChg chg="del">
        <pc:chgData name="Yadollah Yaghoobzadeh" userId="6e47bfdd41a25f50" providerId="LiveId" clId="{4D6F3601-74A2-4964-8137-6BEC672D6219}" dt="2025-04-22T10:43:57.027" v="9" actId="47"/>
        <pc:sldMkLst>
          <pc:docMk/>
          <pc:sldMk cId="0" sldId="280"/>
        </pc:sldMkLst>
      </pc:sldChg>
      <pc:sldChg chg="delSp modSp mod">
        <pc:chgData name="Yadollah Yaghoobzadeh" userId="6e47bfdd41a25f50" providerId="LiveId" clId="{4D6F3601-74A2-4964-8137-6BEC672D6219}" dt="2025-04-22T10:44:19.523" v="27" actId="478"/>
        <pc:sldMkLst>
          <pc:docMk/>
          <pc:sldMk cId="0" sldId="281"/>
        </pc:sldMkLst>
        <pc:spChg chg="mod">
          <ac:chgData name="Yadollah Yaghoobzadeh" userId="6e47bfdd41a25f50" providerId="LiveId" clId="{4D6F3601-74A2-4964-8137-6BEC672D6219}" dt="2025-04-22T10:44:16.561" v="26" actId="20577"/>
          <ac:spMkLst>
            <pc:docMk/>
            <pc:sldMk cId="0" sldId="281"/>
            <ac:spMk id="497" creationId="{00000000-0000-0000-0000-000000000000}"/>
          </ac:spMkLst>
        </pc:spChg>
      </pc:sldChg>
      <pc:sldChg chg="modSp mod">
        <pc:chgData name="Yadollah Yaghoobzadeh" userId="6e47bfdd41a25f50" providerId="LiveId" clId="{4D6F3601-74A2-4964-8137-6BEC672D6219}" dt="2025-04-22T10:44:32.511" v="38" actId="20577"/>
        <pc:sldMkLst>
          <pc:docMk/>
          <pc:sldMk cId="0" sldId="282"/>
        </pc:sldMkLst>
        <pc:spChg chg="mod">
          <ac:chgData name="Yadollah Yaghoobzadeh" userId="6e47bfdd41a25f50" providerId="LiveId" clId="{4D6F3601-74A2-4964-8137-6BEC672D6219}" dt="2025-04-22T10:44:32.511" v="38" actId="20577"/>
          <ac:spMkLst>
            <pc:docMk/>
            <pc:sldMk cId="0" sldId="282"/>
            <ac:spMk id="512" creationId="{00000000-0000-0000-0000-000000000000}"/>
          </ac:spMkLst>
        </pc:spChg>
      </pc:sldChg>
      <pc:sldChg chg="modSp mod">
        <pc:chgData name="Yadollah Yaghoobzadeh" userId="6e47bfdd41a25f50" providerId="LiveId" clId="{4D6F3601-74A2-4964-8137-6BEC672D6219}" dt="2025-04-22T10:44:55.279" v="42" actId="20577"/>
        <pc:sldMkLst>
          <pc:docMk/>
          <pc:sldMk cId="0" sldId="288"/>
        </pc:sldMkLst>
        <pc:spChg chg="mod">
          <ac:chgData name="Yadollah Yaghoobzadeh" userId="6e47bfdd41a25f50" providerId="LiveId" clId="{4D6F3601-74A2-4964-8137-6BEC672D6219}" dt="2025-04-22T10:44:55.279" v="42" actId="20577"/>
          <ac:spMkLst>
            <pc:docMk/>
            <pc:sldMk cId="0" sldId="288"/>
            <ac:spMk id="611" creationId="{00000000-0000-0000-0000-000000000000}"/>
          </ac:spMkLst>
        </pc:spChg>
      </pc:sldChg>
      <pc:sldChg chg="mod modShow">
        <pc:chgData name="Yadollah Yaghoobzadeh" userId="6e47bfdd41a25f50" providerId="LiveId" clId="{4D6F3601-74A2-4964-8137-6BEC672D6219}" dt="2025-04-27T09:23:49.718" v="55" actId="729"/>
        <pc:sldMkLst>
          <pc:docMk/>
          <pc:sldMk cId="0" sldId="307"/>
        </pc:sldMkLst>
      </pc:sldChg>
      <pc:sldChg chg="mod modShow">
        <pc:chgData name="Yadollah Yaghoobzadeh" userId="6e47bfdd41a25f50" providerId="LiveId" clId="{4D6F3601-74A2-4964-8137-6BEC672D6219}" dt="2025-04-27T09:23:49.718" v="55" actId="729"/>
        <pc:sldMkLst>
          <pc:docMk/>
          <pc:sldMk cId="0" sldId="308"/>
        </pc:sldMkLst>
      </pc:sldChg>
      <pc:sldChg chg="del">
        <pc:chgData name="Yadollah Yaghoobzadeh" userId="6e47bfdd41a25f50" providerId="LiveId" clId="{4D6F3601-74A2-4964-8137-6BEC672D6219}" dt="2025-04-22T10:53:43.756" v="44" actId="47"/>
        <pc:sldMkLst>
          <pc:docMk/>
          <pc:sldMk cId="0" sldId="312"/>
        </pc:sldMkLst>
      </pc:sldChg>
      <pc:sldChg chg="del">
        <pc:chgData name="Yadollah Yaghoobzadeh" userId="6e47bfdd41a25f50" providerId="LiveId" clId="{4D6F3601-74A2-4964-8137-6BEC672D6219}" dt="2025-04-22T10:53:47.380" v="46" actId="47"/>
        <pc:sldMkLst>
          <pc:docMk/>
          <pc:sldMk cId="0" sldId="314"/>
        </pc:sldMkLst>
      </pc:sldChg>
      <pc:sldChg chg="mod modShow">
        <pc:chgData name="Yadollah Yaghoobzadeh" userId="6e47bfdd41a25f50" providerId="LiveId" clId="{4D6F3601-74A2-4964-8137-6BEC672D6219}" dt="2025-04-22T10:55:15.110" v="52" actId="729"/>
        <pc:sldMkLst>
          <pc:docMk/>
          <pc:sldMk cId="0" sldId="318"/>
        </pc:sldMkLst>
      </pc:sldChg>
      <pc:sldChg chg="mod modShow">
        <pc:chgData name="Yadollah Yaghoobzadeh" userId="6e47bfdd41a25f50" providerId="LiveId" clId="{4D6F3601-74A2-4964-8137-6BEC672D6219}" dt="2025-04-22T10:55:15.110" v="52" actId="729"/>
        <pc:sldMkLst>
          <pc:docMk/>
          <pc:sldMk cId="0" sldId="321"/>
        </pc:sldMkLst>
      </pc:sldChg>
      <pc:sldChg chg="mod modShow">
        <pc:chgData name="Yadollah Yaghoobzadeh" userId="6e47bfdd41a25f50" providerId="LiveId" clId="{4D6F3601-74A2-4964-8137-6BEC672D6219}" dt="2025-04-22T10:55:15.110" v="52" actId="729"/>
        <pc:sldMkLst>
          <pc:docMk/>
          <pc:sldMk cId="3903945742" sldId="373"/>
        </pc:sldMkLst>
      </pc:sldChg>
      <pc:sldChg chg="del">
        <pc:chgData name="Yadollah Yaghoobzadeh" userId="6e47bfdd41a25f50" providerId="LiveId" clId="{4D6F3601-74A2-4964-8137-6BEC672D6219}" dt="2025-04-22T10:53:38.772" v="43" actId="47"/>
        <pc:sldMkLst>
          <pc:docMk/>
          <pc:sldMk cId="0" sldId="397"/>
        </pc:sldMkLst>
      </pc:sldChg>
      <pc:sldChg chg="del">
        <pc:chgData name="Yadollah Yaghoobzadeh" userId="6e47bfdd41a25f50" providerId="LiveId" clId="{4D6F3601-74A2-4964-8137-6BEC672D6219}" dt="2025-04-22T10:53:38.772" v="43" actId="47"/>
        <pc:sldMkLst>
          <pc:docMk/>
          <pc:sldMk cId="0" sldId="398"/>
        </pc:sldMkLst>
      </pc:sldChg>
      <pc:sldChg chg="del">
        <pc:chgData name="Yadollah Yaghoobzadeh" userId="6e47bfdd41a25f50" providerId="LiveId" clId="{4D6F3601-74A2-4964-8137-6BEC672D6219}" dt="2025-04-22T10:53:38.772" v="43" actId="47"/>
        <pc:sldMkLst>
          <pc:docMk/>
          <pc:sldMk cId="0" sldId="399"/>
        </pc:sldMkLst>
      </pc:sldChg>
      <pc:sldChg chg="del">
        <pc:chgData name="Yadollah Yaghoobzadeh" userId="6e47bfdd41a25f50" providerId="LiveId" clId="{4D6F3601-74A2-4964-8137-6BEC672D6219}" dt="2025-04-22T10:53:59.274" v="47" actId="47"/>
        <pc:sldMkLst>
          <pc:docMk/>
          <pc:sldMk cId="0" sldId="400"/>
        </pc:sldMkLst>
      </pc:sldChg>
      <pc:sldChg chg="del">
        <pc:chgData name="Yadollah Yaghoobzadeh" userId="6e47bfdd41a25f50" providerId="LiveId" clId="{4D6F3601-74A2-4964-8137-6BEC672D6219}" dt="2025-04-22T10:53:38.772" v="43" actId="47"/>
        <pc:sldMkLst>
          <pc:docMk/>
          <pc:sldMk cId="184782143" sldId="401"/>
        </pc:sldMkLst>
      </pc:sldChg>
      <pc:sldChg chg="del">
        <pc:chgData name="Yadollah Yaghoobzadeh" userId="6e47bfdd41a25f50" providerId="LiveId" clId="{4D6F3601-74A2-4964-8137-6BEC672D6219}" dt="2025-04-22T10:53:46.084" v="45" actId="47"/>
        <pc:sldMkLst>
          <pc:docMk/>
          <pc:sldMk cId="3290512107" sldId="402"/>
        </pc:sldMkLst>
      </pc:sldChg>
      <pc:sldChg chg="del">
        <pc:chgData name="Yadollah Yaghoobzadeh" userId="6e47bfdd41a25f50" providerId="LiveId" clId="{4D6F3601-74A2-4964-8137-6BEC672D6219}" dt="2025-04-22T10:54:00.657" v="48" actId="47"/>
        <pc:sldMkLst>
          <pc:docMk/>
          <pc:sldMk cId="1531655515" sldId="403"/>
        </pc:sldMkLst>
      </pc:sldChg>
      <pc:sldChg chg="del">
        <pc:chgData name="Yadollah Yaghoobzadeh" userId="6e47bfdd41a25f50" providerId="LiveId" clId="{4D6F3601-74A2-4964-8137-6BEC672D6219}" dt="2025-04-22T10:54:13.291" v="49" actId="47"/>
        <pc:sldMkLst>
          <pc:docMk/>
          <pc:sldMk cId="2147769334" sldId="404"/>
        </pc:sldMkLst>
      </pc:sldChg>
      <pc:sldChg chg="add del mod modShow">
        <pc:chgData name="Yadollah Yaghoobzadeh" userId="6e47bfdd41a25f50" providerId="LiveId" clId="{4D6F3601-74A2-4964-8137-6BEC672D6219}" dt="2025-04-22T10:55:15.110" v="52" actId="729"/>
        <pc:sldMkLst>
          <pc:docMk/>
          <pc:sldMk cId="4042374425" sldId="406"/>
        </pc:sldMkLst>
      </pc:sldChg>
      <pc:sldChg chg="mod modShow">
        <pc:chgData name="Yadollah Yaghoobzadeh" userId="6e47bfdd41a25f50" providerId="LiveId" clId="{4D6F3601-74A2-4964-8137-6BEC672D6219}" dt="2025-04-27T09:23:49.718" v="55" actId="729"/>
        <pc:sldMkLst>
          <pc:docMk/>
          <pc:sldMk cId="2197318260" sldId="409"/>
        </pc:sldMkLst>
      </pc:sldChg>
      <pc:sldMasterChg chg="modSldLayout">
        <pc:chgData name="Yadollah Yaghoobzadeh" userId="6e47bfdd41a25f50" providerId="LiveId" clId="{4D6F3601-74A2-4964-8137-6BEC672D6219}" dt="2025-04-22T12:20:44.194" v="54" actId="20577"/>
        <pc:sldMasterMkLst>
          <pc:docMk/>
          <pc:sldMasterMk cId="592030485" sldId="2147483660"/>
        </pc:sldMasterMkLst>
        <pc:sldLayoutChg chg="modSp mod">
          <pc:chgData name="Yadollah Yaghoobzadeh" userId="6e47bfdd41a25f50" providerId="LiveId" clId="{4D6F3601-74A2-4964-8137-6BEC672D6219}" dt="2025-04-22T12:20:44.194" v="54" actId="20577"/>
          <pc:sldLayoutMkLst>
            <pc:docMk/>
            <pc:sldMasterMk cId="592030485" sldId="2147483660"/>
            <pc:sldLayoutMk cId="108745479" sldId="2147483661"/>
          </pc:sldLayoutMkLst>
          <pc:spChg chg="mod">
            <ac:chgData name="Yadollah Yaghoobzadeh" userId="6e47bfdd41a25f50" providerId="LiveId" clId="{4D6F3601-74A2-4964-8137-6BEC672D6219}" dt="2025-04-22T12:20:44.194" v="54" actId="20577"/>
            <ac:spMkLst>
              <pc:docMk/>
              <pc:sldMasterMk cId="592030485" sldId="2147483660"/>
              <pc:sldLayoutMk cId="108745479" sldId="2147483661"/>
              <ac:spMk id="3" creationId="{589C87D7-4FFF-3090-7978-ACE9D0723D2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a783e68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5a783e68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40aa66f2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d40aa66f2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40aa66f2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d40aa66f2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157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5a783e685f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5a783e685f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5a783e685f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5a783e685f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5a783e685f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5a783e685f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5a783e685f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5a783e685f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a783e685f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5a783e685f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a783e685f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a783e685f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d40aa66f2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1d40aa66f2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720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a783e685f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5a783e685f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a783e685f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5a783e685f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5abc9d592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5abc9d592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5abc9d592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25abc9d592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5abc9d592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5abc9d592d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5abc9d592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5abc9d592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e516fa5c56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e516fa5c56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2855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2444cd400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2444cd400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e516fa5c56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e516fa5c56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8d5d20953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8d5d209535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8d5d20953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8d5d20953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8d5d20953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8d5d20953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8d5d209535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8d5d209535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1b087317f4_0_1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1b087317f4_0_1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1b087317f4_0_1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1b087317f4_0_1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5b46f4bf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5b46f4bf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1b087317f4_0_1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1b087317f4_0_1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1b087317f4_0_1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1b087317f4_0_1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1b087317f4_0_1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1b087317f4_0_1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2c553d56b5_1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2c553d56b5_1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2c553d56b5_1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2c553d56b5_1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3809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2c553d56b5_1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2c553d56b5_1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2c553d56b5_1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2c553d56b5_1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49713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2c553d56b5_1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2c553d56b5_1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2c553d56b5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2c553d56b5_1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5bc29f4bc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5bc29f4bc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2444cd4007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2444cd4007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12444cd4007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12444cd4007_0_1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2444cd4007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2444cd4007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2444cd4007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2444cd4007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0885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5bc29f4bc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5bc29f4bc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5bc29f4bc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5bc29f4bc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2444cd4007_0_1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2444cd4007_0_1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captures the accuracy of the model when it is positive. Higher precision models are often more likely to predict that true things are negative (higher false negative rate).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captures the ability of the model to predict true on all the true examples. Higher recall runs the risk of predicting true on false examples.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12444cd4007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12444cd4007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captures the accuracy of the model when it is positive. Higher precision models are often more likely to predict that true things are negative (higher false negative rate).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captures the ability of the model to predict true on all the true examples. Higher recall runs the risk of predicting true on false examples.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2444cd4007_0_1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2444cd4007_0_1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Precision captures the accuracy of the model when it is positive. Higher precision models are often more likely to predict that true things are negative (higher false negative rate).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 captures the ability of the model to predict true on all the true examples. Higher recall runs the risk of predicting true on false examples.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2444cd4007_0_1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2444cd4007_0_1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2444cd4007_0_1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2444cd4007_0_1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2444cd4007_0_1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12444cd4007_0_1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3333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2444cd4007_0_1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2444cd4007_0_1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2444cd4007_0_1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2444cd4007_0_1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23141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5bc29f4bc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5bc29f4bcd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5bc29f4bc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5bc29f4bc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5bc29f4bc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5bc29f4bc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2444cd4007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2444cd4007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5bc29f4bc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5bc29f4bc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5bc29f4bc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5bc29f4bc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2444cd4007_0_2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12444cd4007_0_2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5bc29f4bc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5bc29f4bcd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5bc29f4bcd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5bc29f4bcd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5bc29f4bc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5bc29f4bcd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5bc29f4bc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5bc29f4bcd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037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  <p:pic>
        <p:nvPicPr>
          <p:cNvPr id="10" name="Picture 2" descr="Image result for دانشگاه تهران">
            <a:extLst>
              <a:ext uri="{FF2B5EF4-FFF2-40B4-BE49-F238E27FC236}">
                <a16:creationId xmlns:a16="http://schemas.microsoft.com/office/drawing/2014/main" id="{9E7CB819-1140-D440-A5AE-83AC42085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دانشکده فنی لوگو">
            <a:extLst>
              <a:ext uri="{FF2B5EF4-FFF2-40B4-BE49-F238E27FC236}">
                <a16:creationId xmlns:a16="http://schemas.microsoft.com/office/drawing/2014/main" id="{820363BF-D45A-BC4C-8A96-854FBD06A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555965" y="4828847"/>
            <a:ext cx="40527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>
                <a:latin typeface="+mj-lt"/>
              </a:rPr>
              <a:t>Spring 1405</a:t>
            </a:r>
            <a:endParaRPr lang="en-US" sz="2400" b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30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604823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653718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48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46295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E57EE-75D5-2866-0019-1BBEFF4D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/>
          <a:lstStyle>
            <a:lvl1pPr algn="ctr">
              <a:defRPr sz="11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7D44E6-A90F-113B-3256-810C6209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Roadmap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Google Shape;34;p5"/>
          <p:cNvSpPr txBox="1"/>
          <p:nvPr/>
        </p:nvSpPr>
        <p:spPr>
          <a:xfrm>
            <a:off x="237233" y="5424000"/>
            <a:ext cx="5544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Lecture 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21</a:t>
            </a:r>
            <a:r>
              <a:rPr lang="en" sz="2133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, Data 100 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Fall 2023</a:t>
            </a:r>
            <a:endParaRPr sz="2133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75791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 1">
  <p:cSld name="Wide Puzzle Solution 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277927" y="4560101"/>
            <a:ext cx="2498400" cy="127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Summary So Far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1" name="Google Shape;161;p24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4" name="Google Shape;164;p24"/>
          <p:cNvSpPr txBox="1"/>
          <p:nvPr/>
        </p:nvSpPr>
        <p:spPr>
          <a:xfrm>
            <a:off x="11448800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6212506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4278"/>
          <a:stretch/>
        </p:blipFill>
        <p:spPr>
          <a:xfrm>
            <a:off x="11371418" y="1"/>
            <a:ext cx="808967" cy="774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163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 3">
  <p:cSld name="Wide Puzzle Solution 3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277927" y="4560101"/>
            <a:ext cx="2498400" cy="127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Summary So Far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body" idx="1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81" name="Google Shape;181;p26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2" name="Google Shape;18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4" name="Google Shape;184;p26"/>
          <p:cNvSpPr txBox="1"/>
          <p:nvPr/>
        </p:nvSpPr>
        <p:spPr>
          <a:xfrm>
            <a:off x="11448800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6212506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 rotWithShape="1">
          <a:blip r:embed="rId3">
            <a:alphaModFix/>
          </a:blip>
          <a:srcRect b="4278"/>
          <a:stretch/>
        </p:blipFill>
        <p:spPr>
          <a:xfrm>
            <a:off x="11371418" y="1"/>
            <a:ext cx="808967" cy="774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649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129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1_Roadma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416500" y="536264"/>
            <a:ext cx="5333200" cy="56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37233" y="2671067"/>
            <a:ext cx="5384000" cy="271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355967" y="5398900"/>
            <a:ext cx="5384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237233" y="5424000"/>
            <a:ext cx="5544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8563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Demo slide lef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539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23233" y="536267"/>
            <a:ext cx="57364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6096000" y="0"/>
            <a:ext cx="6096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7"/>
          <p:cNvCxnSpPr/>
          <p:nvPr/>
        </p:nvCxnSpPr>
        <p:spPr>
          <a:xfrm>
            <a:off x="6223241" y="536280"/>
            <a:ext cx="58028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" name="Google Shape;52;p7"/>
          <p:cNvSpPr txBox="1"/>
          <p:nvPr/>
        </p:nvSpPr>
        <p:spPr>
          <a:xfrm>
            <a:off x="11410117" y="7636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1149817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3">
            <a:alphaModFix/>
          </a:blip>
          <a:srcRect b="3799"/>
          <a:stretch/>
        </p:blipFill>
        <p:spPr>
          <a:xfrm>
            <a:off x="11360801" y="0"/>
            <a:ext cx="830300" cy="798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1874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142725" y="536267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4" name="Google Shape;24;p4"/>
          <p:cNvCxnSpPr/>
          <p:nvPr/>
        </p:nvCxnSpPr>
        <p:spPr>
          <a:xfrm>
            <a:off x="127241" y="536280"/>
            <a:ext cx="1187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b="4269"/>
          <a:stretch/>
        </p:blipFill>
        <p:spPr>
          <a:xfrm>
            <a:off x="11314200" y="0"/>
            <a:ext cx="877800" cy="8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11460400" y="8187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1600133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76089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Wide Puzz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0" y="-167"/>
            <a:ext cx="3702000" cy="68580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ubTitle" idx="1"/>
          </p:nvPr>
        </p:nvSpPr>
        <p:spPr>
          <a:xfrm>
            <a:off x="300600" y="5257867"/>
            <a:ext cx="3267200" cy="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2"/>
          </p:nvPr>
        </p:nvSpPr>
        <p:spPr>
          <a:xfrm>
            <a:off x="3916467" y="536267"/>
            <a:ext cx="8043200" cy="5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1219170" lvl="1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828754" lvl="2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2438339" lvl="3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3047924" lvl="4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3657509" lvl="5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4267093" lvl="6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4876678" lvl="7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5486263" lvl="8" indent="-440256" rtl="0">
              <a:spcBef>
                <a:spcPts val="8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3702000" y="0"/>
            <a:ext cx="849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3916467" y="536267"/>
            <a:ext cx="81096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644637"/>
            <a:ext cx="609600" cy="21336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2" name="Google Shape;62;p8"/>
          <p:cNvSpPr txBox="1"/>
          <p:nvPr/>
        </p:nvSpPr>
        <p:spPr>
          <a:xfrm>
            <a:off x="277920" y="4560101"/>
            <a:ext cx="54956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33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4561"/>
          <a:stretch/>
        </p:blipFill>
        <p:spPr>
          <a:xfrm>
            <a:off x="11296600" y="0"/>
            <a:ext cx="877800" cy="83775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11460400" y="818701"/>
            <a:ext cx="731600" cy="20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>
                <a:latin typeface="Roboto Light"/>
                <a:ea typeface="Roboto Light"/>
                <a:cs typeface="Roboto Light"/>
                <a:sym typeface="Roboto Light"/>
              </a:rPr>
              <a:t>2615163</a:t>
            </a:r>
            <a:endParaRPr sz="1333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21075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5" r:id="rId3"/>
    <p:sldLayoutId id="2147483691" r:id="rId4"/>
    <p:sldLayoutId id="2147483664" r:id="rId5"/>
    <p:sldLayoutId id="2147483665" r:id="rId6"/>
    <p:sldLayoutId id="2147483677" r:id="rId7"/>
    <p:sldLayoutId id="2147483678" r:id="rId8"/>
    <p:sldLayoutId id="2147483679" r:id="rId9"/>
    <p:sldLayoutId id="2147483684" r:id="rId10"/>
    <p:sldLayoutId id="2147483688" r:id="rId11"/>
    <p:sldLayoutId id="2147483690" r:id="rId12"/>
    <p:sldLayoutId id="2147483693" r:id="rId13"/>
    <p:sldLayoutId id="2147483694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gif"/><Relationship Id="rId5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5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wXbZ6QnQmA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linear_model.LogisticRegression.html#sklearn.linear_model.LogisticRegression.score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21.png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1.png"/><Relationship Id="rId4" Type="http://schemas.openxmlformats.org/officeDocument/2006/relationships/image" Target="../media/image7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recision_and_recall" TargetMode="External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4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81.png"/><Relationship Id="rId4" Type="http://schemas.openxmlformats.org/officeDocument/2006/relationships/image" Target="../media/image8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4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8.png"/><Relationship Id="rId5" Type="http://schemas.openxmlformats.org/officeDocument/2006/relationships/image" Target="../media/image81.png"/><Relationship Id="rId10" Type="http://schemas.openxmlformats.org/officeDocument/2006/relationships/image" Target="../media/image87.png"/><Relationship Id="rId4" Type="http://schemas.openxmlformats.org/officeDocument/2006/relationships/image" Target="../media/image85.png"/><Relationship Id="rId9" Type="http://schemas.openxmlformats.org/officeDocument/2006/relationships/image" Target="../media/image8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hyperlink" Target="https://en.wikipedia.org/wiki/Harmonic_mean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Classification:</a:t>
            </a:r>
            <a:br>
              <a:rPr lang="en-US" dirty="0"/>
            </a:br>
            <a:r>
              <a:rPr lang="en-US" dirty="0"/>
              <a:t>Logistic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AD516-9370-3827-DF97-F8B64741380B}"/>
              </a:ext>
            </a:extLst>
          </p:cNvPr>
          <p:cNvSpPr txBox="1"/>
          <p:nvPr/>
        </p:nvSpPr>
        <p:spPr>
          <a:xfrm>
            <a:off x="76993" y="6200775"/>
            <a:ext cx="54017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From: </a:t>
            </a:r>
          </a:p>
          <a:p>
            <a:r>
              <a:rPr lang="nn-NO" sz="1100" dirty="0">
                <a:latin typeface="+mn-lt"/>
                <a:ea typeface="Roboto Medium"/>
                <a:cs typeface="Roboto Medium"/>
                <a:sym typeface="Roboto Medium"/>
              </a:rPr>
              <a:t>DS100 UC Berkeley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Moving away from linear regression – it’s time for a new type of model</a:t>
            </a:r>
            <a:endParaRPr/>
          </a:p>
          <a:p>
            <a:r>
              <a:rPr lang="en"/>
              <a:t>Introduce a new task: classification</a:t>
            </a:r>
            <a:endParaRPr/>
          </a:p>
          <a:p>
            <a:pPr>
              <a:spcBef>
                <a:spcPts val="0"/>
              </a:spcBef>
            </a:pPr>
            <a:r>
              <a:rPr lang="en"/>
              <a:t>Deriving a new model to handle this task</a:t>
            </a:r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Goals for this Lecture</a:t>
            </a:r>
            <a:endParaRPr/>
          </a:p>
        </p:txBody>
      </p:sp>
      <p:sp>
        <p:nvSpPr>
          <p:cNvPr id="188" name="Google Shape;188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86736F-C413-9150-AFD9-405B7C22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Regression vs. Classification</a:t>
            </a:r>
          </a:p>
          <a:p>
            <a:r>
              <a:rPr lang="en-US" dirty="0"/>
              <a:t>The Logistic Regression Model</a:t>
            </a:r>
          </a:p>
          <a:p>
            <a:r>
              <a:rPr lang="en-US" dirty="0"/>
              <a:t>Cross-Entropy Loss</a:t>
            </a:r>
          </a:p>
          <a:p>
            <a:endParaRPr lang="en-US"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95" name="Google Shape;195;p29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86736F-C413-9150-AFD9-405B7C22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Regression vs. Classification</a:t>
            </a:r>
          </a:p>
          <a:p>
            <a:r>
              <a:rPr lang="en-US" dirty="0"/>
              <a:t>The Logistic Regression Model</a:t>
            </a:r>
          </a:p>
          <a:p>
            <a:r>
              <a:rPr lang="en-US" dirty="0"/>
              <a:t>Cross-Entropy Loss</a:t>
            </a:r>
          </a:p>
          <a:p>
            <a:endParaRPr lang="en-US"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95" name="Google Shape;195;p29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7682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Beyond Regression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pic>
        <p:nvPicPr>
          <p:cNvPr id="212" name="Google Shape;212;p31"/>
          <p:cNvPicPr preferRelativeResize="0"/>
          <p:nvPr/>
        </p:nvPicPr>
        <p:blipFill rotWithShape="1">
          <a:blip r:embed="rId3">
            <a:alphaModFix/>
          </a:blip>
          <a:srcRect t="2190"/>
          <a:stretch/>
        </p:blipFill>
        <p:spPr>
          <a:xfrm>
            <a:off x="1752600" y="1310640"/>
            <a:ext cx="8785860" cy="5090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Beyond Regression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3">
            <a:alphaModFix/>
          </a:blip>
          <a:srcRect t="2190"/>
          <a:stretch/>
        </p:blipFill>
        <p:spPr>
          <a:xfrm>
            <a:off x="2227500" y="2138267"/>
            <a:ext cx="7596197" cy="41309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6842848" y="5299051"/>
            <a:ext cx="1442400" cy="789600"/>
          </a:xfrm>
          <a:prstGeom prst="rect">
            <a:avLst/>
          </a:prstGeom>
          <a:solidFill>
            <a:srgbClr val="C9DAF8">
              <a:alpha val="76580"/>
            </a:srgb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6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Next weeks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8526349" y="5299051"/>
            <a:ext cx="1442400" cy="789600"/>
          </a:xfrm>
          <a:prstGeom prst="rect">
            <a:avLst/>
          </a:prstGeom>
          <a:solidFill>
            <a:srgbClr val="C9DAF8">
              <a:alpha val="76580"/>
            </a:srgb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6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Next weeks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5304400" y="4328900"/>
            <a:ext cx="1442400" cy="789600"/>
          </a:xfrm>
          <a:prstGeom prst="rect">
            <a:avLst/>
          </a:prstGeom>
          <a:solidFill>
            <a:srgbClr val="B7B7B7">
              <a:alpha val="765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2618833" y="5479600"/>
            <a:ext cx="5316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solidFill>
                  <a:schemeClr val="dk1"/>
                </a:solidFill>
              </a:rPr>
              <a:t>✅</a:t>
            </a:r>
            <a:endParaRPr sz="3733"/>
          </a:p>
        </p:txBody>
      </p:sp>
      <p:sp>
        <p:nvSpPr>
          <p:cNvPr id="225" name="Google Shape;225;p32"/>
          <p:cNvSpPr txBox="1"/>
          <p:nvPr/>
        </p:nvSpPr>
        <p:spPr>
          <a:xfrm>
            <a:off x="3862000" y="5299051"/>
            <a:ext cx="1442400" cy="789600"/>
          </a:xfrm>
          <a:prstGeom prst="rect">
            <a:avLst/>
          </a:prstGeom>
          <a:solidFill>
            <a:srgbClr val="C9DAF8">
              <a:alpha val="76580"/>
            </a:srgbClr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sz="667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This week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/>
          <p:nvPr/>
        </p:nvSpPr>
        <p:spPr>
          <a:xfrm>
            <a:off x="205200" y="2260800"/>
            <a:ext cx="11781600" cy="61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In regression, we use unbounded numeric features to predict an </a:t>
            </a:r>
            <a:r>
              <a:rPr lang="en" i="1" dirty="0"/>
              <a:t>unbounded numeric output.</a:t>
            </a:r>
            <a:endParaRPr i="1" dirty="0"/>
          </a:p>
        </p:txBody>
      </p:sp>
      <p:sp>
        <p:nvSpPr>
          <p:cNvPr id="231" name="Google Shape;231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So Far: Regression</a:t>
            </a: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234" name="Google Shape;234;p33"/>
          <p:cNvSpPr txBox="1"/>
          <p:nvPr/>
        </p:nvSpPr>
        <p:spPr>
          <a:xfrm>
            <a:off x="771867" y="3389433"/>
            <a:ext cx="27836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Input: numeric features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4712633" y="3389433"/>
            <a:ext cx="33644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Model: linear combination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8280800" y="3401267"/>
            <a:ext cx="40132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Output: numeric prediction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8510667" y="2062500"/>
            <a:ext cx="2457600" cy="903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pSp>
        <p:nvGrpSpPr>
          <p:cNvPr id="238" name="Google Shape;238;p33"/>
          <p:cNvGrpSpPr/>
          <p:nvPr/>
        </p:nvGrpSpPr>
        <p:grpSpPr>
          <a:xfrm>
            <a:off x="8404367" y="2301799"/>
            <a:ext cx="2624533" cy="615513"/>
            <a:chOff x="3153850" y="1372600"/>
            <a:chExt cx="1968400" cy="461635"/>
          </a:xfrm>
        </p:grpSpPr>
        <p:cxnSp>
          <p:nvCxnSpPr>
            <p:cNvPr id="239" name="Google Shape;239;p33"/>
            <p:cNvCxnSpPr/>
            <p:nvPr/>
          </p:nvCxnSpPr>
          <p:spPr>
            <a:xfrm rot="10800000" flipH="1">
              <a:off x="3359225" y="1446425"/>
              <a:ext cx="1519200" cy="168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40" name="Google Shape;240;p33"/>
            <p:cNvSpPr txBox="1"/>
            <p:nvPr/>
          </p:nvSpPr>
          <p:spPr>
            <a:xfrm>
              <a:off x="4692950" y="1372600"/>
              <a:ext cx="4293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∞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33"/>
            <p:cNvSpPr txBox="1"/>
            <p:nvPr/>
          </p:nvSpPr>
          <p:spPr>
            <a:xfrm>
              <a:off x="3153850" y="1372600"/>
              <a:ext cx="5487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-∞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2" name="Google Shape;242;p33"/>
          <p:cNvSpPr/>
          <p:nvPr/>
        </p:nvSpPr>
        <p:spPr>
          <a:xfrm>
            <a:off x="9637833" y="2343432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243" name="Google Shape;243;p33" descr="{&quot;id&quot;:&quot;3&quot;,&quot;backgroundColorModified&quot;:false,&quot;code&quot;:&quot;$$\\hat{y}$$&quot;,&quot;backgroundColor&quot;:&quot;#FFFFFF&quot;,&quot;font&quot;:{&quot;size&quot;:14,&quot;color&quot;:&quot;#000000&quot;,&quot;family&quot;:&quot;Roboto&quot;},&quot;type&quot;:&quot;$$&quot;,&quot;aid&quot;:null,&quot;ts&quot;:1689796120408,&quot;cs&quot;:&quot;BktveKmFQy315iVARSJSsg==&quot;,&quot;size&quot;:{&quot;width&quot;:9.166666666666666,&quot;height&quot;:16.666666666666668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8824" y="2052420"/>
            <a:ext cx="116417" cy="21166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/>
          <p:nvPr/>
        </p:nvSpPr>
        <p:spPr>
          <a:xfrm>
            <a:off x="205200" y="3658151"/>
            <a:ext cx="8916000" cy="1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"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"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Examples: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goal difference from turnover %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tip from total bill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mpg from hp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45" name="Google Shape;245;p33" descr="{&quot;code&quot;:&quot;$$x^{\\top}\\theta$$&quot;,&quot;backgroundColor&quot;:&quot;#FFFFFF&quot;,&quot;id&quot;:&quot;2&quot;,&quot;backgroundColorModified&quot;:false,&quot;font&quot;:{&quot;family&quot;:&quot;Arial&quot;,&quot;size&quot;:34,&quot;color&quot;:&quot;#000000&quot;},&quot;type&quot;:&quot;$$&quot;,&quot;aid&quot;:null,&quot;ts&quot;:1689879881332,&quot;cs&quot;:&quot;FtFjHHfaUh/ZkkFaoOzvhg==&quot;,&quot;size&quot;:{&quot;width&quot;:73.67605669291336,&quot;height&quot;:41.322828083989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150" y="2306200"/>
            <a:ext cx="935685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353" y="2145085"/>
            <a:ext cx="3793464" cy="134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/>
          <p:nvPr/>
        </p:nvSpPr>
        <p:spPr>
          <a:xfrm>
            <a:off x="103200" y="3522767"/>
            <a:ext cx="12088800" cy="61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3" name="Google Shape;253;p3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In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classification</a:t>
            </a:r>
            <a:r>
              <a:rPr lang="en"/>
              <a:t>, we use unbounded numeric features to predict a </a:t>
            </a:r>
            <a:r>
              <a:rPr lang="en" i="1"/>
              <a:t>categorical class.</a:t>
            </a:r>
            <a:endParaRPr i="1"/>
          </a:p>
        </p:txBody>
      </p:sp>
      <p:sp>
        <p:nvSpPr>
          <p:cNvPr id="252" name="Google Shape;25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Now: Classification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255" name="Google Shape;255;p34"/>
          <p:cNvSpPr txBox="1"/>
          <p:nvPr/>
        </p:nvSpPr>
        <p:spPr>
          <a:xfrm>
            <a:off x="0" y="5744533"/>
            <a:ext cx="98188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An aside: we will use logistic “regression” to perform a </a:t>
            </a:r>
            <a:r>
              <a:rPr lang="en" i="1">
                <a:latin typeface="Roboto Light"/>
                <a:ea typeface="Roboto Light"/>
                <a:cs typeface="Roboto Light"/>
                <a:sym typeface="Roboto Light"/>
              </a:rPr>
              <a:t>classification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 task. Here, “regression” refers to the type of model, not the task being performed.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669867" y="4651400"/>
            <a:ext cx="27836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Input: numeric features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4204900" y="4495367"/>
            <a:ext cx="33196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Model:</a:t>
            </a:r>
            <a:r>
              <a:rPr lang="en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combination transformed by non-linear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sigmoid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8077200" y="4663233"/>
            <a:ext cx="2457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Decision rule</a:t>
            </a:r>
            <a:endParaRPr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1720400" y="1510600"/>
            <a:ext cx="8916000" cy="19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Examples: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</a:t>
            </a:r>
            <a:r>
              <a:rPr lang="en" sz="2133" i="1" dirty="0">
                <a:latin typeface="Roboto Light"/>
                <a:ea typeface="Roboto Light"/>
                <a:cs typeface="Roboto Light"/>
                <a:sym typeface="Roboto Light"/>
              </a:rPr>
              <a:t>which team won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 from turnover %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</a:t>
            </a:r>
            <a:r>
              <a:rPr lang="en" sz="2133" i="1" dirty="0">
                <a:latin typeface="Roboto Light"/>
                <a:ea typeface="Roboto Light"/>
                <a:cs typeface="Roboto Light"/>
                <a:sym typeface="Roboto Light"/>
              </a:rPr>
              <a:t>day of week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 from total bill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Predict </a:t>
            </a:r>
            <a:r>
              <a:rPr lang="en" sz="2133" i="1" dirty="0">
                <a:latin typeface="Roboto Light"/>
                <a:ea typeface="Roboto Light"/>
                <a:cs typeface="Roboto Light"/>
                <a:sym typeface="Roboto Light"/>
              </a:rPr>
              <a:t>model of car 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from hp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10381333" y="4663233"/>
            <a:ext cx="2457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Output: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4"/>
          <p:cNvSpPr txBox="1"/>
          <p:nvPr/>
        </p:nvSpPr>
        <p:spPr>
          <a:xfrm>
            <a:off x="7496133" y="3330100"/>
            <a:ext cx="2783600" cy="106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000">
                <a:latin typeface="Roboto Light"/>
                <a:ea typeface="Roboto Light"/>
                <a:cs typeface="Roboto Light"/>
                <a:sym typeface="Roboto Light"/>
              </a:rPr>
              <a:t>Win?</a:t>
            </a:r>
            <a:endParaRPr sz="200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If p &gt; 0.5: predict a win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Other: predict a loss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62" name="Google Shape;262;p34" descr="{&quot;id&quot;:&quot;2&quot;,&quot;backgroundColor&quot;:&quot;#FFFFFF&quot;,&quot;backgroundColorModified&quot;:false,&quot;aid&quot;:null,&quot;font&quot;:{&quot;family&quot;:&quot;Arial&quot;,&quot;color&quot;:&quot;#000000&quot;,&quot;size&quot;:24},&quot;type&quot;:&quot;$$&quot;,&quot;code&quot;:&quot;$$p=\\sigma\\left(x^{\\top}\\theta\\right)$$&quot;,&quot;ts&quot;:1690395018984,&quot;cs&quot;:&quot;qrox0pBi2eBqBg8E+Lzo+Q==&quot;,&quot;size&quot;:{&quot;width&quot;:180.83333333333334,&quot;height&quot;:46.333333333333336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845" y="3544616"/>
            <a:ext cx="2296584" cy="58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36400" y="3330092"/>
            <a:ext cx="1067200" cy="10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64" y="3109565"/>
            <a:ext cx="3793464" cy="134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We are interested in predicting some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categorical</a:t>
            </a:r>
            <a:r>
              <a:rPr lang="en" dirty="0">
                <a:solidFill>
                  <a:schemeClr val="accent3"/>
                </a:solidFill>
              </a:rPr>
              <a:t>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variable</a:t>
            </a:r>
            <a:r>
              <a:rPr lang="en" dirty="0"/>
              <a:t>, or </a:t>
            </a: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r>
              <a:rPr lang="en" dirty="0"/>
              <a:t>, </a:t>
            </a:r>
            <a:r>
              <a:rPr lang="en" sz="2667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dirty="0"/>
              <a:t>.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"/>
              <a:t>Binary classification</a:t>
            </a:r>
            <a:endParaRPr/>
          </a:p>
          <a:p>
            <a:r>
              <a:rPr lang="en" dirty="0"/>
              <a:t>Two classes</a:t>
            </a:r>
            <a:endParaRPr dirty="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Responses</a:t>
            </a:r>
            <a:r>
              <a:rPr lang="en" dirty="0"/>
              <a:t> </a:t>
            </a:r>
            <a:r>
              <a:rPr lang="en" sz="2667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dirty="0"/>
              <a:t> are either 0 or 1</a:t>
            </a:r>
            <a:endParaRPr dirty="0"/>
          </a:p>
        </p:txBody>
      </p:sp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Kinds of Classification</a:t>
            </a:r>
            <a:endParaRPr/>
          </a:p>
        </p:txBody>
      </p:sp>
      <p:sp>
        <p:nvSpPr>
          <p:cNvPr id="270" name="Google Shape;270;p3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272" name="Google Shape;272;p35"/>
          <p:cNvSpPr/>
          <p:nvPr/>
        </p:nvSpPr>
        <p:spPr>
          <a:xfrm>
            <a:off x="5132200" y="2024972"/>
            <a:ext cx="1854000" cy="748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win or lose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7146599" y="2024967"/>
            <a:ext cx="1962400" cy="7488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disease or no disease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9269400" y="2024968"/>
            <a:ext cx="1854000" cy="7488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spam or ham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7367750" y="5270957"/>
            <a:ext cx="4176000" cy="114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Our new goal: predict a 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binary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 output (y_hat = 0 or y_hat = 1) given inputted numeric features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6" name="Google Shape;276;p35"/>
          <p:cNvSpPr txBox="1"/>
          <p:nvPr/>
        </p:nvSpPr>
        <p:spPr>
          <a:xfrm>
            <a:off x="253933" y="3237367"/>
            <a:ext cx="11106800" cy="1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"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Multiclass classification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Many classes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Examples: Image labeling (Pishi, Thor, Hera), next word in a sentence, etc.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253933" y="4887473"/>
            <a:ext cx="6732267" cy="15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Structured prediction tasks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Multiple related classification predictions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Examples: Translation, voice recognition, etc.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 rotWithShape="1">
          <a:blip r:embed="rId3">
            <a:alphaModFix/>
          </a:blip>
          <a:srcRect b="15347"/>
          <a:stretch/>
        </p:blipFill>
        <p:spPr>
          <a:xfrm>
            <a:off x="7545012" y="3237367"/>
            <a:ext cx="2128357" cy="761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81033" y="3213400"/>
            <a:ext cx="16256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The Modeling Process</a:t>
            </a:r>
            <a:endParaRPr dirty="0"/>
          </a:p>
        </p:txBody>
      </p:sp>
      <p:sp>
        <p:nvSpPr>
          <p:cNvPr id="285" name="Google Shape;285;p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286" name="Google Shape;286;p36"/>
          <p:cNvSpPr/>
          <p:nvPr/>
        </p:nvSpPr>
        <p:spPr>
          <a:xfrm>
            <a:off x="188000" y="2827400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2. Choose a loss function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188000" y="4111567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3. Fit the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8" name="Google Shape;288;p36"/>
          <p:cNvSpPr/>
          <p:nvPr/>
        </p:nvSpPr>
        <p:spPr>
          <a:xfrm>
            <a:off x="188000" y="5395733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4. Evaluate model performance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188000" y="1543233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0" name="Google Shape;290;p36"/>
          <p:cNvGrpSpPr/>
          <p:nvPr/>
        </p:nvGrpSpPr>
        <p:grpSpPr>
          <a:xfrm>
            <a:off x="3743417" y="985586"/>
            <a:ext cx="2899600" cy="574412"/>
            <a:chOff x="2456575" y="437825"/>
            <a:chExt cx="2174700" cy="430809"/>
          </a:xfrm>
        </p:grpSpPr>
        <p:sp>
          <p:nvSpPr>
            <p:cNvPr id="291" name="Google Shape;291;p36"/>
            <p:cNvSpPr txBox="1"/>
            <p:nvPr/>
          </p:nvSpPr>
          <p:spPr>
            <a:xfrm>
              <a:off x="2456575" y="437825"/>
              <a:ext cx="2174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Regression </a:t>
              </a:r>
              <a:r>
                <a:rPr lang="en" sz="2133" dirty="0">
                  <a:latin typeface="Roboto Light"/>
                  <a:ea typeface="Roboto Light"/>
                  <a:cs typeface="Roboto Light"/>
                  <a:sym typeface="Roboto Light"/>
                </a:rPr>
                <a:t>(               )</a:t>
              </a:r>
              <a:endParaRPr sz="2133"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92" name="Google Shape;292;p36" title="[0,0,0,&quot;https://www.codecogs.com/eqnedit.php?latex=y%5Cin%20%5Cmathbb%7BR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2450" y="528809"/>
              <a:ext cx="676249" cy="249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36"/>
          <p:cNvGrpSpPr/>
          <p:nvPr/>
        </p:nvGrpSpPr>
        <p:grpSpPr>
          <a:xfrm>
            <a:off x="7788184" y="1061545"/>
            <a:ext cx="3641600" cy="574412"/>
            <a:chOff x="5993538" y="796159"/>
            <a:chExt cx="2731200" cy="430809"/>
          </a:xfrm>
        </p:grpSpPr>
        <p:sp>
          <p:nvSpPr>
            <p:cNvPr id="294" name="Google Shape;294;p36"/>
            <p:cNvSpPr txBox="1"/>
            <p:nvPr/>
          </p:nvSpPr>
          <p:spPr>
            <a:xfrm>
              <a:off x="5993538" y="796159"/>
              <a:ext cx="27312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Classification</a:t>
              </a:r>
              <a:r>
                <a:rPr lang="en" sz="2133" dirty="0">
                  <a:latin typeface="Roboto Light"/>
                  <a:ea typeface="Roboto Light"/>
                  <a:cs typeface="Roboto Light"/>
                  <a:sym typeface="Roboto Light"/>
                </a:rPr>
                <a:t> (                      )</a:t>
              </a:r>
              <a:endParaRPr sz="2133"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95" name="Google Shape;295;p36" title="[0,0,0,&quot;https://www.codecogs.com/eqnedit.php?latex=%20y%20%5Cin%20%5C%7B%200%2C%201%20%5C%7D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1155" y="857670"/>
              <a:ext cx="1003601" cy="249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6" name="Google Shape;296;p36"/>
          <p:cNvCxnSpPr/>
          <p:nvPr/>
        </p:nvCxnSpPr>
        <p:spPr>
          <a:xfrm>
            <a:off x="7215600" y="896833"/>
            <a:ext cx="0" cy="5684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7" name="Google Shape;297;p36" title="[0,0,0,&quot;https://www.codecogs.com/eqnedit.php?latex=%5Chat%7By%7D%20%3D%20f_%7B%5Ctheta%7D(x)%20%3D%20x%5ET%5Ctheta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9130" y="2117950"/>
            <a:ext cx="2545533" cy="41633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6"/>
          <p:cNvSpPr txBox="1"/>
          <p:nvPr/>
        </p:nvSpPr>
        <p:spPr>
          <a:xfrm>
            <a:off x="3176617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3194384" y="5656734"/>
            <a:ext cx="346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R</a:t>
            </a:r>
            <a:r>
              <a:rPr lang="en" sz="2133" baseline="30000"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, Residuals, etc.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0" name="Google Shape;300;p36"/>
          <p:cNvSpPr txBox="1"/>
          <p:nvPr/>
        </p:nvSpPr>
        <p:spPr>
          <a:xfrm>
            <a:off x="3415417" y="2997933"/>
            <a:ext cx="29888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Squared Loss or Absolute Loss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35274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Linear Regression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8737400" y="1899067"/>
            <a:ext cx="1897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8737400" y="3162201"/>
            <a:ext cx="1897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8286800" y="5496233"/>
            <a:ext cx="2798800" cy="8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(next lecture)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7952984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86736F-C413-9150-AFD9-405B7C22C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Regression vs. Classification</a:t>
            </a:r>
          </a:p>
          <a:p>
            <a:r>
              <a:rPr lang="en-US" b="1" dirty="0"/>
              <a:t>The Logistic Regression Model</a:t>
            </a:r>
          </a:p>
          <a:p>
            <a:r>
              <a:rPr lang="en-US" dirty="0"/>
              <a:t>Cross-Entropy Loss</a:t>
            </a:r>
          </a:p>
          <a:p>
            <a:endParaRPr lang="en-US" dirty="0"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95" name="Google Shape;195;p29"/>
          <p:cNvSpPr txBox="1">
            <a:spLocks noGrp="1"/>
          </p:cNvSpPr>
          <p:nvPr>
            <p:ph type="sldNum" sz="quarter" idx="12"/>
          </p:nvPr>
        </p:nvSpPr>
        <p:spPr/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37442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The 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games</a:t>
            </a:r>
            <a:r>
              <a:rPr lang="en" sz="2400" dirty="0"/>
              <a:t> dataset describes the win/loss results of basketball teams.</a:t>
            </a:r>
            <a:endParaRPr sz="2400" dirty="0"/>
          </a:p>
        </p:txBody>
      </p:sp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games</a:t>
            </a:r>
            <a:r>
              <a:rPr lang="en"/>
              <a:t> Dataset</a:t>
            </a:r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pic>
        <p:nvPicPr>
          <p:cNvPr id="320" name="Google Shape;3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101" y="2259352"/>
            <a:ext cx="8066668" cy="334263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8"/>
          <p:cNvSpPr txBox="1"/>
          <p:nvPr/>
        </p:nvSpPr>
        <p:spPr>
          <a:xfrm>
            <a:off x="9288400" y="3070800"/>
            <a:ext cx="2740000" cy="13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Difference in field goal success rate between teams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5359767" y="6107633"/>
            <a:ext cx="4232400" cy="7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If a team won their game, we say they are in “Class 1”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323" name="Google Shape;323;p38"/>
          <p:cNvCxnSpPr/>
          <p:nvPr/>
        </p:nvCxnSpPr>
        <p:spPr>
          <a:xfrm flipH="1">
            <a:off x="8832567" y="3952533"/>
            <a:ext cx="1656800" cy="653600"/>
          </a:xfrm>
          <a:prstGeom prst="curvedConnector3">
            <a:avLst>
              <a:gd name="adj1" fmla="val 9174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4" name="Google Shape;324;p38"/>
          <p:cNvCxnSpPr/>
          <p:nvPr/>
        </p:nvCxnSpPr>
        <p:spPr>
          <a:xfrm rot="10800000">
            <a:off x="7115300" y="5601733"/>
            <a:ext cx="0" cy="550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Why Not Least Squares Linear Regression?</a:t>
            </a:r>
            <a:endParaRPr/>
          </a:p>
        </p:txBody>
      </p:sp>
      <p:sp>
        <p:nvSpPr>
          <p:cNvPr id="330" name="Google Shape;330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13</a:t>
            </a:fld>
            <a:endParaRPr/>
          </a:p>
        </p:txBody>
      </p:sp>
      <p:sp>
        <p:nvSpPr>
          <p:cNvPr id="331" name="Google Shape;331;p39"/>
          <p:cNvSpPr txBox="1"/>
          <p:nvPr/>
        </p:nvSpPr>
        <p:spPr>
          <a:xfrm>
            <a:off x="185207" y="1039217"/>
            <a:ext cx="8043200" cy="13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>
              <a:spcBef>
                <a:spcPts val="800"/>
              </a:spcBef>
              <a:spcAft>
                <a:spcPts val="0"/>
              </a:spcAft>
            </a:pPr>
            <a:r>
              <a:rPr lang="en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I suppose it is tempting, if the only tool you have is a hammer, to treat everything as if it were a nail. </a:t>
            </a:r>
            <a:r>
              <a:rPr lang="en" sz="1733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– Abraham Maslow, </a:t>
            </a:r>
            <a:r>
              <a:rPr lang="en" sz="1733" i="1" dirty="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The Psychology of Science</a:t>
            </a:r>
            <a:endParaRPr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395807" y="5329200"/>
            <a:ext cx="7622000" cy="15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Problems: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The output     can be outside the label range {0, 1}.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Some outputs can’t be interpreted: what does a class of “-2.3” mean?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34" name="Google Shape;334;p39" title="[0,0,0,&quot;https://www.codecogs.com/eqnedit.php?latex=%5Chat%7By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439" y="5836133"/>
            <a:ext cx="132400" cy="25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667" y="2093551"/>
            <a:ext cx="4733300" cy="361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Logistic Regression Model</a:t>
            </a:r>
            <a:endParaRPr dirty="0"/>
          </a:p>
        </p:txBody>
      </p:sp>
      <p:sp>
        <p:nvSpPr>
          <p:cNvPr id="499" name="Google Shape;499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  <p:pic>
        <p:nvPicPr>
          <p:cNvPr id="500" name="Google Shape;500;p51" descr="{&quot;backgroundColor&quot;:&quot;#FFFFFF&quot;,&quot;code&quot;:&quot;$P\\left(\\giventhat{Y=1}{x}\\right)=\\frac{1}{1+e^{-x^{\\top}\\theta}}=\\frac{1}{1+e^{-\\left(\\theta_{0}+\\theta_{1}x_{1}+...+\\theta_{p}x_{p}\\right)}}$&quot;,&quot;aid&quot;:null,&quot;type&quot;:&quot;$&quot;,&quot;font&quot;:{&quot;size&quot;:20.5,&quot;color&quot;:&quot;#000000&quot;,&quot;family&quot;:&quot;Arial&quot;},&quot;id&quot;:&quot;9&quot;,&quot;ts&quot;:1689879242707,&quot;cs&quot;:&quot;G1xPTsYOCLo2TcrCgdPAyQ==&quot;,&quot;size&quot;:{&quot;width&quot;:569.9081874015748,&quot;height&quot;:46.84777086614174}}"/>
          <p:cNvPicPr preferRelativeResize="0"/>
          <p:nvPr/>
        </p:nvPicPr>
        <p:blipFill rotWithShape="1">
          <a:blip r:embed="rId3">
            <a:alphaModFix/>
          </a:blip>
          <a:srcRect r="43921"/>
          <a:stretch/>
        </p:blipFill>
        <p:spPr>
          <a:xfrm>
            <a:off x="6354467" y="2698641"/>
            <a:ext cx="4058899" cy="594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1" descr="{&quot;backgroundColor&quot;:&quot;#FFFFFF&quot;,&quot;code&quot;:&quot;$P\\left(\\giventhat{Y=1}{x}\\right)=\\frac{1}{1+e^{-x^{\\top}\\theta}}=\\frac{1}{1+e^{-\\left(\\theta_{0}+\\theta_{1}x_{1}+...+\\theta_{p}x_{p}\\right)}}$&quot;,&quot;aid&quot;:null,&quot;type&quot;:&quot;$&quot;,&quot;font&quot;:{&quot;size&quot;:20.5,&quot;color&quot;:&quot;#000000&quot;,&quot;family&quot;:&quot;Arial&quot;},&quot;id&quot;:&quot;9&quot;,&quot;ts&quot;:1689879248528,&quot;cs&quot;:&quot;jvP+VDYu+z5AJTBkPvO5Pg==&quot;,&quot;size&quot;:{&quot;width&quot;:569.9081874015748,&quot;height&quot;:46.84777086614174}}"/>
          <p:cNvPicPr preferRelativeResize="0"/>
          <p:nvPr/>
        </p:nvPicPr>
        <p:blipFill rotWithShape="1">
          <a:blip r:embed="rId3">
            <a:alphaModFix/>
          </a:blip>
          <a:srcRect l="56001"/>
          <a:stretch/>
        </p:blipFill>
        <p:spPr>
          <a:xfrm>
            <a:off x="8680334" y="3534774"/>
            <a:ext cx="3184500" cy="594967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1"/>
          <p:cNvSpPr txBox="1"/>
          <p:nvPr/>
        </p:nvSpPr>
        <p:spPr>
          <a:xfrm>
            <a:off x="6248033" y="3909867"/>
            <a:ext cx="5412000" cy="1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03" name="Google Shape;503;p51"/>
          <p:cNvSpPr txBox="1"/>
          <p:nvPr/>
        </p:nvSpPr>
        <p:spPr>
          <a:xfrm>
            <a:off x="6044833" y="4453607"/>
            <a:ext cx="56168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To predict a probability: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Compute a linear combination of the features,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Apply the </a:t>
            </a: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sigmoid function</a:t>
            </a:r>
            <a:endParaRPr sz="21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4" name="Google Shape;504;p51" descr="{&quot;backgroundColorModified&quot;:false,&quot;font&quot;:{&quot;size&quot;:16,&quot;color&quot;:&quot;#000000&quot;,&quot;family&quot;:&quot;Roboto&quot;},&quot;code&quot;:&quot;$$x^{\\top}\\theta$$&quot;,&quot;type&quot;:&quot;$$&quot;,&quot;aid&quot;:null,&quot;id&quot;:&quot;10&quot;,&quot;backgroundColor&quot;:&quot;#FFFFFF&quot;,&quot;ts&quot;:1689880141595,&quot;cs&quot;:&quot;NIoXaPFOPXS3gAKTtnaJRQ==&quot;,&quot;size&quot;:{&quot;width&quot;:34.666666666666664,&quot;height&quot;:19.5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0965" y="5220915"/>
            <a:ext cx="440267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1" descr="{&quot;font&quot;:{&quot;family&quot;:&quot;Roboto&quot;,&quot;size&quot;:9.5,&quot;color&quot;:&quot;#000000&quot;},&quot;id&quot;:&quot;11&quot;,&quot;code&quot;:&quot;$$\\sigma\\left(x^{\\top}\\theta\\right)$$&quot;,&quot;backgroundColor&quot;:&quot;#FFFFFF&quot;,&quot;aid&quot;:null,&quot;type&quot;:&quot;$$&quot;,&quot;backgroundColorModified&quot;:false,&quot;ts&quot;:1689880238193,&quot;cs&quot;:&quot;4QYNic3bZnt0iBFtzeGu0g==&quot;,&quot;size&quot;:{&quot;width&quot;:46.44651522309709,&quot;height&quot;:19.501294488188968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10597" y="5546759"/>
            <a:ext cx="605538" cy="40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201" y="2170107"/>
            <a:ext cx="5638436" cy="4319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Sigmoid Function</a:t>
            </a:r>
            <a:endParaRPr/>
          </a:p>
        </p:txBody>
      </p:sp>
      <p:sp>
        <p:nvSpPr>
          <p:cNvPr id="513" name="Google Shape;513;p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512" name="Google Shape;512;p52"/>
          <p:cNvSpPr txBox="1">
            <a:spLocks noGrp="1"/>
          </p:cNvSpPr>
          <p:nvPr>
            <p:ph type="body" idx="4294967295"/>
          </p:nvPr>
        </p:nvSpPr>
        <p:spPr>
          <a:xfrm>
            <a:off x="0" y="988075"/>
            <a:ext cx="11360150" cy="109855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800" dirty="0"/>
              <a:t>The S-shaped curve is formally known as the </a:t>
            </a:r>
            <a:r>
              <a:rPr lang="en" sz="2800" b="1" dirty="0">
                <a:latin typeface="Roboto"/>
                <a:ea typeface="Roboto"/>
                <a:cs typeface="Roboto"/>
                <a:sym typeface="Roboto"/>
              </a:rPr>
              <a:t>sigmoid function</a:t>
            </a:r>
            <a:r>
              <a:rPr lang="en" sz="2800" dirty="0"/>
              <a:t>. </a:t>
            </a:r>
            <a:endParaRPr sz="2800" dirty="0"/>
          </a:p>
        </p:txBody>
      </p:sp>
      <p:sp>
        <p:nvSpPr>
          <p:cNvPr id="514" name="Google Shape;514;p52"/>
          <p:cNvSpPr/>
          <p:nvPr/>
        </p:nvSpPr>
        <p:spPr>
          <a:xfrm>
            <a:off x="2137933" y="2270784"/>
            <a:ext cx="2901600" cy="1126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515" name="Google Shape;515;p52" title="[0,0,0,&quot;https://www.codecogs.com/eqnedit.php?latex=%5Csigma(t)%20%3D%20%5Cfrac%7B1%7D%7B1%20%2B%20e%5E%7B-t%7D%7D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401" y="2373867"/>
            <a:ext cx="2599100" cy="900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2562" y="1747750"/>
            <a:ext cx="3780105" cy="234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2" title="[0,0,0,&quot;https://www.codecogs.com/eqnedit.php?latex=0%20%3C%20%5Csigma(t)%20%3C%201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7301" y="4813049"/>
            <a:ext cx="1764167" cy="33923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2"/>
          <p:cNvSpPr txBox="1"/>
          <p:nvPr/>
        </p:nvSpPr>
        <p:spPr>
          <a:xfrm>
            <a:off x="8934933" y="4264518"/>
            <a:ext cx="1093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Range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519" name="Google Shape;519;p52"/>
          <p:cNvGrpSpPr/>
          <p:nvPr/>
        </p:nvGrpSpPr>
        <p:grpSpPr>
          <a:xfrm>
            <a:off x="715767" y="4264518"/>
            <a:ext cx="10373499" cy="2124761"/>
            <a:chOff x="384425" y="2664988"/>
            <a:chExt cx="7780124" cy="1593571"/>
          </a:xfrm>
        </p:grpSpPr>
        <p:pic>
          <p:nvPicPr>
            <p:cNvPr id="520" name="Google Shape;520;p52" title="[0,0,0,&quot;https://www.codecogs.com/eqnedit.php?latex=%5Cfrac%7Bd%7D%7Bdt%7D%20%5Csigma(t)%20%3D%20%5Csigma(t)%20(1%20-%20%5Csigma(t))%20%3D%20%5Csigma(t)%20%5Csigma(-t)%20#0&quot;]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81550" y="3855450"/>
              <a:ext cx="2982999" cy="4031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52" title="[0,0,0,&quot;https://www.codecogs.com/eqnedit.php?latex=1%20-%20%5Csigma(t)%20%3D%20%5Cfrac%7Be%5E%7B-t%7D%7D%7B1%20%2B%20e%5E%7B-t%7D%7D%20%3D%20%5Csigma%20(-t)#0&quot;]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08525" y="2973150"/>
              <a:ext cx="2324102" cy="44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2" name="Google Shape;522;p52"/>
            <p:cNvSpPr txBox="1"/>
            <p:nvPr/>
          </p:nvSpPr>
          <p:spPr>
            <a:xfrm>
              <a:off x="384425" y="2887600"/>
              <a:ext cx="10431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Reflection/ Symmetry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523" name="Google Shape;523;p52" title="[0,0,0,&quot;https://www.codecogs.com/eqnedit.php?latex=%20t%20%3D%20%5Csigma%5E%7B-1%7D(p)%20%3D%20%5Clog%20%5Cleft(%20%5Cfrac%7Bp%7D%7B1%20-%20p%7D%5Cright)%20#0&quot;]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508525" y="3686500"/>
              <a:ext cx="2006601" cy="44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52"/>
            <p:cNvSpPr txBox="1"/>
            <p:nvPr/>
          </p:nvSpPr>
          <p:spPr>
            <a:xfrm>
              <a:off x="4646125" y="2664988"/>
              <a:ext cx="819900" cy="39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Domain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525" name="Google Shape;525;p52" title="[0,0,0,&quot;https://www.codecogs.com/eqnedit.php?latex=-%5Cinfty%20%3C%20t%20%3C%20%5Cinfty%20#0&quot;]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939450" y="3126412"/>
              <a:ext cx="1323116" cy="154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6" name="Google Shape;526;p52"/>
            <p:cNvSpPr txBox="1"/>
            <p:nvPr/>
          </p:nvSpPr>
          <p:spPr>
            <a:xfrm>
              <a:off x="4646125" y="3497200"/>
              <a:ext cx="1124100" cy="39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Derivative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27" name="Google Shape;527;p52"/>
            <p:cNvSpPr txBox="1"/>
            <p:nvPr/>
          </p:nvSpPr>
          <p:spPr>
            <a:xfrm>
              <a:off x="384425" y="3708650"/>
              <a:ext cx="1124100" cy="392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Inverse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cxnSp>
        <p:nvCxnSpPr>
          <p:cNvPr id="528" name="Google Shape;528;p52"/>
          <p:cNvCxnSpPr/>
          <p:nvPr/>
        </p:nvCxnSpPr>
        <p:spPr>
          <a:xfrm>
            <a:off x="516867" y="4140533"/>
            <a:ext cx="110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sz="3200" dirty="0"/>
              <a:t>The Sigmoid Converts Numerical Features to Probabilities</a:t>
            </a:r>
            <a:endParaRPr sz="3200" dirty="0"/>
          </a:p>
        </p:txBody>
      </p:sp>
      <p:sp>
        <p:nvSpPr>
          <p:cNvPr id="534" name="Google Shape;534;p5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16</a:t>
            </a:fld>
            <a:endParaRPr/>
          </a:p>
        </p:txBody>
      </p:sp>
      <p:sp>
        <p:nvSpPr>
          <p:cNvPr id="535" name="Google Shape;535;p53"/>
          <p:cNvSpPr/>
          <p:nvPr/>
        </p:nvSpPr>
        <p:spPr>
          <a:xfrm>
            <a:off x="103200" y="1490767"/>
            <a:ext cx="12088800" cy="61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36" name="Google Shape;536;p53"/>
          <p:cNvSpPr txBox="1"/>
          <p:nvPr/>
        </p:nvSpPr>
        <p:spPr>
          <a:xfrm>
            <a:off x="669867" y="3280224"/>
            <a:ext cx="27836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Input: numeric features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7" name="Google Shape;537;p53"/>
          <p:cNvSpPr txBox="1"/>
          <p:nvPr/>
        </p:nvSpPr>
        <p:spPr>
          <a:xfrm>
            <a:off x="4204900" y="3124191"/>
            <a:ext cx="3319600" cy="13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Model:</a:t>
            </a:r>
            <a:r>
              <a:rPr lang="en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combination transformed by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activation function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53"/>
          <p:cNvSpPr txBox="1"/>
          <p:nvPr/>
        </p:nvSpPr>
        <p:spPr>
          <a:xfrm>
            <a:off x="8077200" y="2631233"/>
            <a:ext cx="2457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Decision rule</a:t>
            </a:r>
            <a:endParaRPr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9" name="Google Shape;539;p53"/>
          <p:cNvSpPr txBox="1"/>
          <p:nvPr/>
        </p:nvSpPr>
        <p:spPr>
          <a:xfrm>
            <a:off x="10381333" y="2631233"/>
            <a:ext cx="2457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Output: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53"/>
          <p:cNvSpPr txBox="1"/>
          <p:nvPr/>
        </p:nvSpPr>
        <p:spPr>
          <a:xfrm>
            <a:off x="2427800" y="4664257"/>
            <a:ext cx="6993200" cy="204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In logistic regression, the sigmoid transforms a linear combination of numerical features into a </a:t>
            </a: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probability.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41" name="Google Shape;541;p53"/>
          <p:cNvCxnSpPr/>
          <p:nvPr/>
        </p:nvCxnSpPr>
        <p:spPr>
          <a:xfrm>
            <a:off x="5680400" y="3976224"/>
            <a:ext cx="0" cy="62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2" name="Google Shape;542;p53"/>
          <p:cNvSpPr/>
          <p:nvPr/>
        </p:nvSpPr>
        <p:spPr>
          <a:xfrm>
            <a:off x="7374200" y="1429191"/>
            <a:ext cx="4712800" cy="2280400"/>
          </a:xfrm>
          <a:prstGeom prst="rect">
            <a:avLst/>
          </a:prstGeom>
          <a:solidFill>
            <a:srgbClr val="B7B7B7">
              <a:alpha val="424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544" name="Google Shape;544;p53" descr="{&quot;id&quot;:&quot;11&quot;,&quot;backgroundColor&quot;:&quot;#FFFFFF&quot;,&quot;type&quot;:&quot;$$&quot;,&quot;backgroundColorModified&quot;:false,&quot;code&quot;:&quot;$$p=\\sigma\\left(x^{\\top}\\theta\\right)$$&quot;,&quot;aid&quot;:null,&quot;font&quot;:{&quot;color&quot;:&quot;#000000&quot;,&quot;size&quot;:24.5,&quot;family&quot;:&quot;Roboto&quot;},&quot;ts&quot;:1690395344742,&quot;cs&quot;:&quot;0ODC4OWsANpXOyHGOiPVLA==&quot;,&quot;size&quot;:{&quot;width&quot;:160.66347506561684,&quot;height&quot;:41.3228262467191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185" y="5692989"/>
            <a:ext cx="2040427" cy="5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3" descr="{&quot;id&quot;:&quot;2&quot;,&quot;backgroundColor&quot;:&quot;#FFFFFF&quot;,&quot;backgroundColorModified&quot;:false,&quot;aid&quot;:null,&quot;font&quot;:{&quot;family&quot;:&quot;Arial&quot;,&quot;color&quot;:&quot;#000000&quot;,&quot;size&quot;:24},&quot;type&quot;:&quot;$$&quot;,&quot;code&quot;:&quot;$$p=\\sigma\\left(x^{\\top}\\theta\\right)$$&quot;,&quot;ts&quot;:1690395018984,&quot;cs&quot;:&quot;qrox0pBi2eBqBg8E+Lzo+Q==&quot;,&quot;size&quot;:{&quot;width&quot;:180.83333333333334,&quot;height&quot;:46.333333333333336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1663" y="2165190"/>
            <a:ext cx="2296584" cy="588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24633" y="1298092"/>
            <a:ext cx="1067200" cy="10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3"/>
          <p:cNvSpPr txBox="1"/>
          <p:nvPr/>
        </p:nvSpPr>
        <p:spPr>
          <a:xfrm>
            <a:off x="7430667" y="1298117"/>
            <a:ext cx="2783600" cy="106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000">
                <a:latin typeface="Roboto Light"/>
                <a:ea typeface="Roboto Light"/>
                <a:cs typeface="Roboto Light"/>
                <a:sym typeface="Roboto Light"/>
              </a:rPr>
              <a:t>Win?</a:t>
            </a:r>
            <a:endParaRPr sz="200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If p &gt; 0.5: predict a win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Other: predict a loss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48" name="Google Shape;548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797" y="1822323"/>
            <a:ext cx="3793464" cy="1340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Formalizing the Logistic Regression Model</a:t>
            </a:r>
            <a:endParaRPr/>
          </a:p>
        </p:txBody>
      </p:sp>
      <p:sp>
        <p:nvSpPr>
          <p:cNvPr id="555" name="Google Shape;555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pic>
        <p:nvPicPr>
          <p:cNvPr id="556" name="Google Shape;556;p54" title="[0,0,0,&quot;https://www.codecogs.com/eqnedit.php?latex=%5Chat%7BP%7D_%7B%5Ctheta%7D(Y%20%3D%201%20%7C%20x)%20%3D%20%5Cfrac%7B1%7D%7B1%20%2B%20e%5E%7B-x%5ET%20%5Ctheta%7D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267" y="2673700"/>
            <a:ext cx="4080787" cy="82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54"/>
          <p:cNvGrpSpPr/>
          <p:nvPr/>
        </p:nvGrpSpPr>
        <p:grpSpPr>
          <a:xfrm>
            <a:off x="5701067" y="3558884"/>
            <a:ext cx="2637800" cy="1129979"/>
            <a:chOff x="4352000" y="2378450"/>
            <a:chExt cx="1978350" cy="847484"/>
          </a:xfrm>
        </p:grpSpPr>
        <p:sp>
          <p:nvSpPr>
            <p:cNvPr id="558" name="Google Shape;558;p54"/>
            <p:cNvSpPr txBox="1"/>
            <p:nvPr/>
          </p:nvSpPr>
          <p:spPr>
            <a:xfrm>
              <a:off x="4390550" y="2625800"/>
              <a:ext cx="19398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Logistic function </a:t>
              </a: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𝜎(  ) </a:t>
              </a: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at the value  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59" name="Google Shape;559;p54"/>
            <p:cNvSpPr/>
            <p:nvPr/>
          </p:nvSpPr>
          <p:spPr>
            <a:xfrm rot="-5400000">
              <a:off x="4870550" y="1859900"/>
              <a:ext cx="207900" cy="12450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pic>
          <p:nvPicPr>
            <p:cNvPr id="560" name="Google Shape;560;p54" title="[0,0,0,&quot;https://www.codecogs.com/eqnedit.php?latex=x%5ET%5Ctheta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433684" y="2944596"/>
              <a:ext cx="271150" cy="1555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1" name="Google Shape;561;p54"/>
          <p:cNvGrpSpPr/>
          <p:nvPr/>
        </p:nvGrpSpPr>
        <p:grpSpPr>
          <a:xfrm>
            <a:off x="1556200" y="3525851"/>
            <a:ext cx="3658400" cy="1163012"/>
            <a:chOff x="1243350" y="2353675"/>
            <a:chExt cx="2743800" cy="872259"/>
          </a:xfrm>
        </p:grpSpPr>
        <p:sp>
          <p:nvSpPr>
            <p:cNvPr id="562" name="Google Shape;562;p54"/>
            <p:cNvSpPr txBox="1"/>
            <p:nvPr/>
          </p:nvSpPr>
          <p:spPr>
            <a:xfrm>
              <a:off x="1243350" y="2625800"/>
              <a:ext cx="27438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latin typeface="Roboto Light"/>
                  <a:ea typeface="Roboto Light"/>
                  <a:cs typeface="Roboto Light"/>
                  <a:sym typeface="Roboto Light"/>
                </a:rPr>
                <a:t>Estimated probability that given the features x, the </a:t>
              </a: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response is 1</a:t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563" name="Google Shape;563;p54"/>
            <p:cNvSpPr/>
            <p:nvPr/>
          </p:nvSpPr>
          <p:spPr>
            <a:xfrm rot="-5400000">
              <a:off x="3100600" y="1712275"/>
              <a:ext cx="207900" cy="14907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</p:grpSp>
      <p:grpSp>
        <p:nvGrpSpPr>
          <p:cNvPr id="564" name="Google Shape;564;p54"/>
          <p:cNvGrpSpPr/>
          <p:nvPr/>
        </p:nvGrpSpPr>
        <p:grpSpPr>
          <a:xfrm>
            <a:off x="240301" y="4664968"/>
            <a:ext cx="11312833" cy="1818867"/>
            <a:chOff x="180225" y="3498725"/>
            <a:chExt cx="8484625" cy="1364150"/>
          </a:xfrm>
        </p:grpSpPr>
        <p:sp>
          <p:nvSpPr>
            <p:cNvPr id="565" name="Google Shape;565;p54"/>
            <p:cNvSpPr/>
            <p:nvPr/>
          </p:nvSpPr>
          <p:spPr>
            <a:xfrm>
              <a:off x="2635575" y="3961750"/>
              <a:ext cx="3611100" cy="77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566" name="Google Shape;566;p54"/>
            <p:cNvSpPr/>
            <p:nvPr/>
          </p:nvSpPr>
          <p:spPr>
            <a:xfrm>
              <a:off x="6515950" y="3841075"/>
              <a:ext cx="2148900" cy="102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>
                  <a:latin typeface="Roboto Light"/>
                  <a:ea typeface="Roboto Light"/>
                  <a:cs typeface="Roboto Light"/>
                  <a:sym typeface="Roboto Light"/>
                </a:rPr>
                <a:t>Looks like linear regression. Now wrapped with 𝞼( )!</a:t>
              </a:r>
              <a:endParaRPr sz="2133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567" name="Google Shape;567;p54" title="[0,0,0,&quot;https://www.codecogs.com/eqnedit.php?latex=%5Chat%7BP%7D_%7B%5Ctheta%7D(Y%20%3D%201%7Cx)%20%3D%20%5Csigma(x%5ET%5Ctheta)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06562" y="4064425"/>
              <a:ext cx="3441699" cy="44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8" name="Google Shape;568;p54"/>
            <p:cNvSpPr txBox="1"/>
            <p:nvPr/>
          </p:nvSpPr>
          <p:spPr>
            <a:xfrm>
              <a:off x="180225" y="3498725"/>
              <a:ext cx="6735000" cy="507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800"/>
                </a:spcBef>
                <a:spcAft>
                  <a:spcPts val="0"/>
                </a:spcAft>
              </a:pPr>
              <a:r>
                <a:rPr lang="en" sz="2133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The logistic regression model is most commonly written as follows:</a:t>
              </a:r>
              <a:endParaRPr/>
            </a:p>
          </p:txBody>
        </p:sp>
        <p:sp>
          <p:nvSpPr>
            <p:cNvPr id="569" name="Google Shape;569;p54"/>
            <p:cNvSpPr txBox="1"/>
            <p:nvPr/>
          </p:nvSpPr>
          <p:spPr>
            <a:xfrm>
              <a:off x="1846500" y="3982525"/>
              <a:ext cx="677700" cy="738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4800">
                  <a:latin typeface="Roboto Light"/>
                  <a:ea typeface="Roboto Light"/>
                  <a:cs typeface="Roboto Light"/>
                  <a:sym typeface="Roboto Light"/>
                </a:rPr>
                <a:t>🎉</a:t>
              </a:r>
              <a:endParaRPr sz="48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Decision Boundaries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4294967295"/>
          </p:nvPr>
        </p:nvSpPr>
        <p:spPr>
          <a:xfrm>
            <a:off x="0" y="923149"/>
            <a:ext cx="11360150" cy="142398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A </a:t>
            </a:r>
            <a:r>
              <a:rPr lang="en" sz="24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decision boundary</a:t>
            </a:r>
            <a:r>
              <a:rPr lang="en" sz="2400" dirty="0"/>
              <a:t> describes the “line” the splits the data into classes based on its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features</a:t>
            </a:r>
            <a:r>
              <a:rPr lang="en" sz="2400" dirty="0"/>
              <a:t>.</a:t>
            </a:r>
            <a:endParaRPr sz="2400" dirty="0"/>
          </a:p>
          <a:p>
            <a:r>
              <a:rPr lang="en" sz="2400" dirty="0"/>
              <a:t>For logistic regression, the decision boundary is a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hyperplane</a:t>
            </a:r>
            <a:r>
              <a:rPr lang="en" sz="2400" dirty="0"/>
              <a:t>: a linear combination of the features in p-dimensions.</a:t>
            </a:r>
            <a:endParaRPr sz="2400" dirty="0"/>
          </a:p>
        </p:txBody>
      </p:sp>
      <p:pic>
        <p:nvPicPr>
          <p:cNvPr id="256" name="Google Shape;25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3867" y="2532281"/>
            <a:ext cx="5603965" cy="402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" y="3878580"/>
            <a:ext cx="4732268" cy="1033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4"/>
          <p:cNvSpPr txBox="1"/>
          <p:nvPr/>
        </p:nvSpPr>
        <p:spPr>
          <a:xfrm>
            <a:off x="254000" y="6485513"/>
            <a:ext cx="5275200" cy="4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1 feature: decision boundary is a 1D point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6089851" y="6485513"/>
            <a:ext cx="5275200" cy="4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2 features: decision boundary is a 2D line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60" name="Google Shape;260;p34"/>
          <p:cNvCxnSpPr/>
          <p:nvPr/>
        </p:nvCxnSpPr>
        <p:spPr>
          <a:xfrm>
            <a:off x="7783433" y="3474780"/>
            <a:ext cx="1702800" cy="2341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34"/>
          <p:cNvSpPr/>
          <p:nvPr/>
        </p:nvSpPr>
        <p:spPr>
          <a:xfrm>
            <a:off x="2675567" y="3815700"/>
            <a:ext cx="197600" cy="1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262" name="Google Shape;262;p34"/>
          <p:cNvCxnSpPr/>
          <p:nvPr/>
        </p:nvCxnSpPr>
        <p:spPr>
          <a:xfrm>
            <a:off x="2812367" y="3581180"/>
            <a:ext cx="147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3" name="Google Shape;263;p34"/>
          <p:cNvSpPr txBox="1"/>
          <p:nvPr/>
        </p:nvSpPr>
        <p:spPr>
          <a:xfrm>
            <a:off x="2675567" y="2733513"/>
            <a:ext cx="2853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This side of boundary: predict 1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64" name="Google Shape;264;p34"/>
          <p:cNvCxnSpPr/>
          <p:nvPr/>
        </p:nvCxnSpPr>
        <p:spPr>
          <a:xfrm rot="10800000" flipH="1">
            <a:off x="9309167" y="4903813"/>
            <a:ext cx="906400" cy="53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5" name="Google Shape;265;p34"/>
          <p:cNvSpPr txBox="1"/>
          <p:nvPr/>
        </p:nvSpPr>
        <p:spPr>
          <a:xfrm>
            <a:off x="9653267" y="5084980"/>
            <a:ext cx="22348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This side of boundary: predict 1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40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/>
        </p:nvSpPr>
        <p:spPr>
          <a:xfrm>
            <a:off x="437635" y="1818652"/>
            <a:ext cx="94648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If there is one feature, look for a point that separates the classes.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sp>
        <p:nvSpPr>
          <p:cNvPr id="301" name="Google Shape;301;p38"/>
          <p:cNvSpPr txBox="1">
            <a:spLocks noGrp="1"/>
          </p:cNvSpPr>
          <p:nvPr>
            <p:ph type="body" idx="4294967295"/>
          </p:nvPr>
        </p:nvSpPr>
        <p:spPr>
          <a:xfrm>
            <a:off x="243566" y="871843"/>
            <a:ext cx="10763250" cy="100171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A classification dataset is said to be </a:t>
            </a:r>
            <a:r>
              <a:rPr lang="en" sz="24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linearly separable</a:t>
            </a:r>
            <a:r>
              <a:rPr lang="en" sz="2400" dirty="0"/>
              <a:t> if there exists a hyperplane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among input features x</a:t>
            </a:r>
            <a:r>
              <a:rPr lang="en" sz="2400" dirty="0"/>
              <a:t> that separates the two classes y.</a:t>
            </a:r>
            <a:endParaRPr sz="2400" dirty="0"/>
          </a:p>
        </p:txBody>
      </p:sp>
      <p:sp>
        <p:nvSpPr>
          <p:cNvPr id="300" name="Google Shape;30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Linear Separability</a:t>
            </a:r>
            <a:endParaRPr/>
          </a:p>
        </p:txBody>
      </p:sp>
      <p:sp>
        <p:nvSpPr>
          <p:cNvPr id="303" name="Google Shape;303;p38"/>
          <p:cNvSpPr txBox="1"/>
          <p:nvPr/>
        </p:nvSpPr>
        <p:spPr>
          <a:xfrm>
            <a:off x="2473155" y="2073601"/>
            <a:ext cx="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833" y="2593109"/>
            <a:ext cx="4017728" cy="7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302" y="2562067"/>
            <a:ext cx="4017733" cy="823103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8"/>
          <p:cNvSpPr/>
          <p:nvPr/>
        </p:nvSpPr>
        <p:spPr>
          <a:xfrm>
            <a:off x="2621267" y="2790317"/>
            <a:ext cx="197600" cy="1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8016304" y="2073601"/>
            <a:ext cx="1842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not 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/>
        </p:nvSpPr>
        <p:spPr>
          <a:xfrm>
            <a:off x="180820" y="1870320"/>
            <a:ext cx="94648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If there is one feature, look for a point that separates the classes.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sp>
        <p:nvSpPr>
          <p:cNvPr id="314" name="Google Shape;314;p39"/>
          <p:cNvSpPr txBox="1">
            <a:spLocks noGrp="1"/>
          </p:cNvSpPr>
          <p:nvPr>
            <p:ph type="body" idx="4294967295"/>
          </p:nvPr>
        </p:nvSpPr>
        <p:spPr>
          <a:xfrm>
            <a:off x="183311" y="827243"/>
            <a:ext cx="10763250" cy="1001713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A classification dataset is said to be </a:t>
            </a:r>
            <a:r>
              <a:rPr lang="en" sz="24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linearly separable</a:t>
            </a:r>
            <a:r>
              <a:rPr lang="en" sz="2400" dirty="0"/>
              <a:t> if there exists a hyperplane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among input features x</a:t>
            </a:r>
            <a:r>
              <a:rPr lang="en" sz="2400" dirty="0"/>
              <a:t> that separates the two classes y.</a:t>
            </a:r>
            <a:endParaRPr sz="2400"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Linear Separability</a:t>
            </a:r>
            <a:endParaRPr/>
          </a:p>
        </p:txBody>
      </p:sp>
      <p:sp>
        <p:nvSpPr>
          <p:cNvPr id="316" name="Google Shape;316;p39"/>
          <p:cNvSpPr txBox="1"/>
          <p:nvPr/>
        </p:nvSpPr>
        <p:spPr>
          <a:xfrm>
            <a:off x="2473155" y="2073601"/>
            <a:ext cx="137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833" y="2593109"/>
            <a:ext cx="4017728" cy="7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302" y="2562067"/>
            <a:ext cx="4017733" cy="8231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/>
          <p:nvPr/>
        </p:nvSpPr>
        <p:spPr>
          <a:xfrm>
            <a:off x="2621267" y="2790317"/>
            <a:ext cx="197600" cy="1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0" name="Google Shape;320;p39"/>
          <p:cNvSpPr txBox="1"/>
          <p:nvPr/>
        </p:nvSpPr>
        <p:spPr>
          <a:xfrm>
            <a:off x="8016304" y="2073601"/>
            <a:ext cx="1842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not 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6583" y="3980304"/>
            <a:ext cx="4027700" cy="2655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9687" y="3980292"/>
            <a:ext cx="4027711" cy="2655633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9"/>
          <p:cNvSpPr txBox="1"/>
          <p:nvPr/>
        </p:nvSpPr>
        <p:spPr>
          <a:xfrm>
            <a:off x="142733" y="4104734"/>
            <a:ext cx="33568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If there are two features, look for a line that separates the classes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6251251" y="5587865"/>
            <a:ext cx="1376000" cy="523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" name="Google Shape;325;p39"/>
          <p:cNvCxnSpPr/>
          <p:nvPr/>
        </p:nvCxnSpPr>
        <p:spPr>
          <a:xfrm>
            <a:off x="4073067" y="4847500"/>
            <a:ext cx="3599200" cy="68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6" name="Google Shape;326;p39"/>
          <p:cNvSpPr txBox="1"/>
          <p:nvPr/>
        </p:nvSpPr>
        <p:spPr>
          <a:xfrm>
            <a:off x="10085000" y="5542958"/>
            <a:ext cx="1740400" cy="523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not separable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Regression vs. Classification</a:t>
            </a:r>
          </a:p>
          <a:p>
            <a:r>
              <a:rPr lang="en-US" dirty="0"/>
              <a:t>The Logistic Regression Model</a:t>
            </a:r>
            <a:endParaRPr lang="en-US" dirty="0">
              <a:sym typeface="Roboto"/>
            </a:endParaRPr>
          </a:p>
          <a:p>
            <a:r>
              <a:rPr lang="en-US" b="1" dirty="0">
                <a:sym typeface="Roboto"/>
              </a:rPr>
              <a:t>Cross-Entropy Loss</a:t>
            </a:r>
          </a:p>
        </p:txBody>
      </p:sp>
      <p:sp>
        <p:nvSpPr>
          <p:cNvPr id="635" name="Google Shape;635;p60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Cross-Entropy Loss</a:t>
            </a:r>
          </a:p>
        </p:txBody>
      </p:sp>
      <p:sp>
        <p:nvSpPr>
          <p:cNvPr id="633" name="Google Shape;633;p60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641" name="Google Shape;641;p6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sp>
        <p:nvSpPr>
          <p:cNvPr id="642" name="Google Shape;642;p61"/>
          <p:cNvSpPr/>
          <p:nvPr/>
        </p:nvSpPr>
        <p:spPr>
          <a:xfrm>
            <a:off x="188000" y="2827400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2. Choose a loss function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3" name="Google Shape;643;p61"/>
          <p:cNvSpPr/>
          <p:nvPr/>
        </p:nvSpPr>
        <p:spPr>
          <a:xfrm>
            <a:off x="188000" y="4111567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3. Fit the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4" name="Google Shape;644;p61"/>
          <p:cNvSpPr/>
          <p:nvPr/>
        </p:nvSpPr>
        <p:spPr>
          <a:xfrm>
            <a:off x="188000" y="53957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4. Evaluate model performance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45" name="Google Shape;645;p61"/>
          <p:cNvSpPr/>
          <p:nvPr/>
        </p:nvSpPr>
        <p:spPr>
          <a:xfrm>
            <a:off x="188000" y="1543233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1. Choose a model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6" name="Google Shape;646;p61"/>
          <p:cNvGrpSpPr/>
          <p:nvPr/>
        </p:nvGrpSpPr>
        <p:grpSpPr>
          <a:xfrm>
            <a:off x="3775300" y="583767"/>
            <a:ext cx="2899600" cy="574412"/>
            <a:chOff x="2456575" y="437825"/>
            <a:chExt cx="2174700" cy="430809"/>
          </a:xfrm>
        </p:grpSpPr>
        <p:sp>
          <p:nvSpPr>
            <p:cNvPr id="647" name="Google Shape;647;p61"/>
            <p:cNvSpPr txBox="1"/>
            <p:nvPr/>
          </p:nvSpPr>
          <p:spPr>
            <a:xfrm>
              <a:off x="2456575" y="437825"/>
              <a:ext cx="2174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Regression</a:t>
              </a:r>
              <a:r>
                <a:rPr lang="en" sz="2133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               )</a:t>
              </a:r>
              <a:endParaRPr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648" name="Google Shape;648;p61" title="[0,0,0,&quot;https://www.codecogs.com/eqnedit.php?latex=y%5Cin%20%5Cmathbb%7BR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2450" y="528809"/>
              <a:ext cx="676249" cy="249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9" name="Google Shape;649;p61" title="[0,0,0,&quot;https://www.codecogs.com/eqnedit.php?latex=%5Chat%7By%7D%20%3D%20f_%7B%5Ctheta%7D(x)%20%3D%20x%5ET%5Ctheta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2330" y="2117950"/>
            <a:ext cx="2545533" cy="41633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1"/>
          <p:cNvSpPr txBox="1"/>
          <p:nvPr/>
        </p:nvSpPr>
        <p:spPr>
          <a:xfrm>
            <a:off x="3379817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1" name="Google Shape;651;p61"/>
          <p:cNvSpPr txBox="1"/>
          <p:nvPr/>
        </p:nvSpPr>
        <p:spPr>
          <a:xfrm>
            <a:off x="3397584" y="5656734"/>
            <a:ext cx="346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</a:t>
            </a:r>
            <a:r>
              <a:rPr lang="en" sz="2133" baseline="300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Residuals, etc.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2" name="Google Shape;652;p61"/>
          <p:cNvSpPr txBox="1"/>
          <p:nvPr/>
        </p:nvSpPr>
        <p:spPr>
          <a:xfrm>
            <a:off x="3618617" y="2997933"/>
            <a:ext cx="29888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Squared Loss or Absolute Loss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3" name="Google Shape;653;p61"/>
          <p:cNvSpPr txBox="1"/>
          <p:nvPr/>
        </p:nvSpPr>
        <p:spPr>
          <a:xfrm>
            <a:off x="37306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Regression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4" name="Google Shape;654;p61"/>
          <p:cNvSpPr txBox="1"/>
          <p:nvPr/>
        </p:nvSpPr>
        <p:spPr>
          <a:xfrm>
            <a:off x="8737400" y="3161934"/>
            <a:ext cx="18976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5" name="Google Shape;655;p61"/>
          <p:cNvSpPr txBox="1"/>
          <p:nvPr/>
        </p:nvSpPr>
        <p:spPr>
          <a:xfrm>
            <a:off x="2537667" y="1239700"/>
            <a:ext cx="856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sz="34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6" name="Google Shape;656;p61"/>
          <p:cNvSpPr/>
          <p:nvPr/>
        </p:nvSpPr>
        <p:spPr>
          <a:xfrm>
            <a:off x="3889167" y="2044867"/>
            <a:ext cx="2654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57" name="Google Shape;657;p61"/>
          <p:cNvSpPr/>
          <p:nvPr/>
        </p:nvSpPr>
        <p:spPr>
          <a:xfrm>
            <a:off x="5354267" y="667133"/>
            <a:ext cx="982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pSp>
        <p:nvGrpSpPr>
          <p:cNvPr id="658" name="Google Shape;658;p61"/>
          <p:cNvGrpSpPr/>
          <p:nvPr/>
        </p:nvGrpSpPr>
        <p:grpSpPr>
          <a:xfrm>
            <a:off x="7952998" y="583767"/>
            <a:ext cx="3672941" cy="574412"/>
            <a:chOff x="6117149" y="437825"/>
            <a:chExt cx="2754706" cy="430809"/>
          </a:xfrm>
        </p:grpSpPr>
        <p:sp>
          <p:nvSpPr>
            <p:cNvPr id="659" name="Google Shape;659;p61"/>
            <p:cNvSpPr txBox="1"/>
            <p:nvPr/>
          </p:nvSpPr>
          <p:spPr>
            <a:xfrm>
              <a:off x="6117149" y="437825"/>
              <a:ext cx="2754706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 dirty="0">
                  <a:latin typeface="Roboto Light"/>
                  <a:ea typeface="Roboto Light"/>
                  <a:cs typeface="Roboto Light"/>
                  <a:sym typeface="Roboto Light"/>
                </a:rPr>
                <a:t>Classification</a:t>
              </a:r>
              <a:r>
                <a:rPr lang="en" sz="2133" dirty="0">
                  <a:latin typeface="Roboto Light"/>
                  <a:ea typeface="Roboto Light"/>
                  <a:cs typeface="Roboto Light"/>
                  <a:sym typeface="Roboto Light"/>
                </a:rPr>
                <a:t> (                     )</a:t>
              </a:r>
              <a:endParaRPr sz="2133"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660" name="Google Shape;660;p61" title="[0,0,0,&quot;https://www.codecogs.com/eqnedit.php?latex=%20y%20%5Cin%20%5C%7B%200%2C%201%20%5C%7D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9725" y="526721"/>
              <a:ext cx="1003601" cy="249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61" name="Google Shape;661;p61"/>
          <p:cNvCxnSpPr/>
          <p:nvPr/>
        </p:nvCxnSpPr>
        <p:spPr>
          <a:xfrm>
            <a:off x="7012400" y="896833"/>
            <a:ext cx="0" cy="5684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2" name="Google Shape;662;p61"/>
          <p:cNvSpPr txBox="1"/>
          <p:nvPr/>
        </p:nvSpPr>
        <p:spPr>
          <a:xfrm>
            <a:off x="8286800" y="5496233"/>
            <a:ext cx="2798800" cy="8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(next time)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3" name="Google Shape;663;p61"/>
          <p:cNvSpPr txBox="1"/>
          <p:nvPr/>
        </p:nvSpPr>
        <p:spPr>
          <a:xfrm>
            <a:off x="7952984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64" name="Google Shape;664;p61"/>
          <p:cNvSpPr txBox="1"/>
          <p:nvPr/>
        </p:nvSpPr>
        <p:spPr>
          <a:xfrm>
            <a:off x="81917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Logistic Regression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65" name="Google Shape;665;p61" title="[0,0,0,&quot;https://www.codecogs.com/eqnedit.php?latex=%5Chat%7BP%7D_%7B%5Ctheta%7D(Y%20%3D%201%7Cx)%20%3D%20%5Csigma(x%5ET%5Ctheta)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6534" y="2101084"/>
            <a:ext cx="3212201" cy="414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p62"/>
          <p:cNvGrpSpPr/>
          <p:nvPr/>
        </p:nvGrpSpPr>
        <p:grpSpPr>
          <a:xfrm>
            <a:off x="7953000" y="583767"/>
            <a:ext cx="3466400" cy="902643"/>
            <a:chOff x="6117150" y="437825"/>
            <a:chExt cx="2599800" cy="676982"/>
          </a:xfrm>
        </p:grpSpPr>
        <p:sp>
          <p:nvSpPr>
            <p:cNvPr id="671" name="Google Shape;671;p62"/>
            <p:cNvSpPr txBox="1"/>
            <p:nvPr/>
          </p:nvSpPr>
          <p:spPr>
            <a:xfrm>
              <a:off x="6117150" y="437825"/>
              <a:ext cx="2599800" cy="676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latin typeface="Roboto Light"/>
                  <a:ea typeface="Roboto Light"/>
                  <a:cs typeface="Roboto Light"/>
                  <a:sym typeface="Roboto Light"/>
                </a:rPr>
                <a:t>Classification</a:t>
              </a:r>
              <a:r>
                <a:rPr lang="en" sz="2133">
                  <a:latin typeface="Roboto Light"/>
                  <a:ea typeface="Roboto Light"/>
                  <a:cs typeface="Roboto Light"/>
                  <a:sym typeface="Roboto Light"/>
                </a:rPr>
                <a:t> (                     )</a:t>
              </a:r>
              <a:endParaRPr sz="2133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672" name="Google Shape;672;p62" title="[0,0,0,&quot;https://www.codecogs.com/eqnedit.php?latex=%20y%20%5Cin%20%5C%7B%200%2C%201%20%5C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29725" y="526721"/>
              <a:ext cx="1003601" cy="249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73" name="Google Shape;673;p62"/>
          <p:cNvCxnSpPr/>
          <p:nvPr/>
        </p:nvCxnSpPr>
        <p:spPr>
          <a:xfrm>
            <a:off x="7012400" y="896833"/>
            <a:ext cx="0" cy="5684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62"/>
          <p:cNvSpPr txBox="1"/>
          <p:nvPr/>
        </p:nvSpPr>
        <p:spPr>
          <a:xfrm>
            <a:off x="8286800" y="5496233"/>
            <a:ext cx="2798800" cy="8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(next time)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5" name="Google Shape;675;p62"/>
          <p:cNvSpPr txBox="1"/>
          <p:nvPr/>
        </p:nvSpPr>
        <p:spPr>
          <a:xfrm>
            <a:off x="7952984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6" name="Google Shape;676;p62"/>
          <p:cNvSpPr txBox="1"/>
          <p:nvPr/>
        </p:nvSpPr>
        <p:spPr>
          <a:xfrm>
            <a:off x="81917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Logistic Regression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77" name="Google Shape;677;p62" title="[0,0,0,&quot;https://www.codecogs.com/eqnedit.php?latex=%5Chat%7BP%7D_%7B%5Ctheta%7D(Y%20%3D%201%7Cx)%20%3D%20%5Csigma(x%5ET%5Ctheta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6534" y="2101084"/>
            <a:ext cx="3212201" cy="414867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The Modeling Process</a:t>
            </a:r>
            <a:endParaRPr/>
          </a:p>
        </p:txBody>
      </p:sp>
      <p:sp>
        <p:nvSpPr>
          <p:cNvPr id="679" name="Google Shape;679;p6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  <p:sp>
        <p:nvSpPr>
          <p:cNvPr id="680" name="Google Shape;680;p62"/>
          <p:cNvSpPr/>
          <p:nvPr/>
        </p:nvSpPr>
        <p:spPr>
          <a:xfrm>
            <a:off x="188000" y="2827400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2. Choose a loss function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62"/>
          <p:cNvSpPr/>
          <p:nvPr/>
        </p:nvSpPr>
        <p:spPr>
          <a:xfrm>
            <a:off x="188000" y="4111567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3. Fit the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2" name="Google Shape;682;p62"/>
          <p:cNvSpPr/>
          <p:nvPr/>
        </p:nvSpPr>
        <p:spPr>
          <a:xfrm>
            <a:off x="188000" y="53957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4. Evaluate model performance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3" name="Google Shape;683;p62"/>
          <p:cNvSpPr/>
          <p:nvPr/>
        </p:nvSpPr>
        <p:spPr>
          <a:xfrm>
            <a:off x="188000" y="15432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1. Choose a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84" name="Google Shape;684;p62"/>
          <p:cNvGrpSpPr/>
          <p:nvPr/>
        </p:nvGrpSpPr>
        <p:grpSpPr>
          <a:xfrm>
            <a:off x="3775300" y="583767"/>
            <a:ext cx="2899600" cy="574412"/>
            <a:chOff x="2456575" y="437825"/>
            <a:chExt cx="2174700" cy="430809"/>
          </a:xfrm>
        </p:grpSpPr>
        <p:sp>
          <p:nvSpPr>
            <p:cNvPr id="685" name="Google Shape;685;p62"/>
            <p:cNvSpPr txBox="1"/>
            <p:nvPr/>
          </p:nvSpPr>
          <p:spPr>
            <a:xfrm>
              <a:off x="2456575" y="437825"/>
              <a:ext cx="2174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Regression</a:t>
              </a:r>
              <a:r>
                <a:rPr lang="en" sz="2133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               )</a:t>
              </a:r>
              <a:endParaRPr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686" name="Google Shape;686;p62" title="[0,0,0,&quot;https://www.codecogs.com/eqnedit.php?latex=y%5Cin%20%5Cmathbb%7BR%7D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92450" y="528809"/>
              <a:ext cx="676249" cy="249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7" name="Google Shape;687;p62" title="[0,0,0,&quot;https://www.codecogs.com/eqnedit.php?latex=%5Chat%7By%7D%20%3D%20f_%7B%5Ctheta%7D(x)%20%3D%20x%5ET%5Ctheta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2330" y="2117950"/>
            <a:ext cx="2545533" cy="416333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2"/>
          <p:cNvSpPr txBox="1"/>
          <p:nvPr/>
        </p:nvSpPr>
        <p:spPr>
          <a:xfrm>
            <a:off x="3379817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9" name="Google Shape;689;p62"/>
          <p:cNvSpPr txBox="1"/>
          <p:nvPr/>
        </p:nvSpPr>
        <p:spPr>
          <a:xfrm>
            <a:off x="3397584" y="5656734"/>
            <a:ext cx="346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</a:t>
            </a:r>
            <a:r>
              <a:rPr lang="en" sz="2133" baseline="300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Residuals, etc.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0" name="Google Shape;690;p62"/>
          <p:cNvSpPr txBox="1"/>
          <p:nvPr/>
        </p:nvSpPr>
        <p:spPr>
          <a:xfrm>
            <a:off x="3618617" y="2997933"/>
            <a:ext cx="29888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Squared Loss or Absolute Loss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1" name="Google Shape;691;p62"/>
          <p:cNvSpPr txBox="1"/>
          <p:nvPr/>
        </p:nvSpPr>
        <p:spPr>
          <a:xfrm>
            <a:off x="37306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Regression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2" name="Google Shape;692;p62"/>
          <p:cNvSpPr txBox="1"/>
          <p:nvPr/>
        </p:nvSpPr>
        <p:spPr>
          <a:xfrm>
            <a:off x="2537667" y="1239700"/>
            <a:ext cx="856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sz="34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3889167" y="2044867"/>
            <a:ext cx="2654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4" name="Google Shape;694;p62"/>
          <p:cNvSpPr/>
          <p:nvPr/>
        </p:nvSpPr>
        <p:spPr>
          <a:xfrm>
            <a:off x="5354267" y="667133"/>
            <a:ext cx="982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95" name="Google Shape;695;p62"/>
          <p:cNvSpPr/>
          <p:nvPr/>
        </p:nvSpPr>
        <p:spPr>
          <a:xfrm>
            <a:off x="7893000" y="2956633"/>
            <a:ext cx="3586400" cy="975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/>
              <a:t>Can squared loss still work?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/>
          <p:nvPr/>
        </p:nvSpPr>
        <p:spPr>
          <a:xfrm>
            <a:off x="4947400" y="4450467"/>
            <a:ext cx="280000" cy="336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01" name="Google Shape;701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Toy Dataset: L2 Loss</a:t>
            </a:r>
            <a:endParaRPr/>
          </a:p>
        </p:txBody>
      </p:sp>
      <p:sp>
        <p:nvSpPr>
          <p:cNvPr id="702" name="Google Shape;702;p6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24</a:t>
            </a:fld>
            <a:endParaRPr/>
          </a:p>
        </p:txBody>
      </p:sp>
      <p:sp>
        <p:nvSpPr>
          <p:cNvPr id="703" name="Google Shape;703;p63"/>
          <p:cNvSpPr txBox="1"/>
          <p:nvPr/>
        </p:nvSpPr>
        <p:spPr>
          <a:xfrm>
            <a:off x="3916465" y="3429001"/>
            <a:ext cx="3977200" cy="68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Mean Squared Error: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04" name="Google Shape;704;p63"/>
          <p:cNvSpPr/>
          <p:nvPr/>
        </p:nvSpPr>
        <p:spPr>
          <a:xfrm>
            <a:off x="4018067" y="5394733"/>
            <a:ext cx="2710800" cy="95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/>
              <a:t>The MSE loss surface for logistic regression has many issues!</a:t>
            </a:r>
            <a:endParaRPr/>
          </a:p>
        </p:txBody>
      </p:sp>
      <p:pic>
        <p:nvPicPr>
          <p:cNvPr id="705" name="Google Shape;705;p63" title="[0,0,0,&quot;https://www.codecogs.com/eqnedit.php?latex=%5Chat%7BP%7D_%7B%5Ctheta%7D(Y%20%3D%201%7Cx)%20%3D%20%5Csigma(x%5ET%5Cthet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068" y="1150167"/>
            <a:ext cx="3212201" cy="41486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63"/>
          <p:cNvSpPr txBox="1"/>
          <p:nvPr/>
        </p:nvSpPr>
        <p:spPr>
          <a:xfrm>
            <a:off x="3916465" y="606433"/>
            <a:ext cx="3212400" cy="68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Logistic Regression model:</a:t>
            </a:r>
            <a:endParaRPr dirty="0"/>
          </a:p>
        </p:txBody>
      </p:sp>
      <p:sp>
        <p:nvSpPr>
          <p:cNvPr id="707" name="Google Shape;707;p63"/>
          <p:cNvSpPr txBox="1"/>
          <p:nvPr/>
        </p:nvSpPr>
        <p:spPr>
          <a:xfrm>
            <a:off x="3916465" y="1847600"/>
            <a:ext cx="3212400" cy="966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1333"/>
              </a:spcAft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Assume no intercept.</a:t>
            </a:r>
            <a:b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 x, θ both scalars.</a:t>
            </a:r>
            <a:endParaRPr/>
          </a:p>
        </p:txBody>
      </p:sp>
      <p:cxnSp>
        <p:nvCxnSpPr>
          <p:cNvPr id="708" name="Google Shape;708;p63"/>
          <p:cNvCxnSpPr/>
          <p:nvPr/>
        </p:nvCxnSpPr>
        <p:spPr>
          <a:xfrm>
            <a:off x="3964633" y="3308333"/>
            <a:ext cx="7936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9" name="Google Shape;709;p63"/>
          <p:cNvSpPr txBox="1"/>
          <p:nvPr/>
        </p:nvSpPr>
        <p:spPr>
          <a:xfrm>
            <a:off x="6841667" y="5288867"/>
            <a:ext cx="529200" cy="10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5333">
                <a:latin typeface="Roboto Light"/>
                <a:ea typeface="Roboto Light"/>
                <a:cs typeface="Roboto Light"/>
                <a:sym typeface="Roboto Light"/>
              </a:rPr>
              <a:t>⚠️</a:t>
            </a:r>
            <a:endParaRPr sz="53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10" name="Google Shape;71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3718" y="1031769"/>
            <a:ext cx="837825" cy="205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7001" y="947134"/>
            <a:ext cx="3421201" cy="2345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2800" y="3739225"/>
            <a:ext cx="3888000" cy="2738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63" title="[0,0,0,&quot;https://www.codecogs.com/eqnedit.php?latex=R(%5Ctheta)%20%3D%20%2B%20%5Cfrac%7B1%7D%7Bn%7D%20%5Csum_%7Bi%3D1%7D%5En%20%5Cleft(%20y_i%20%20-%20%5Csigma(x_i%5ET%20%5Ctheta)%20%5Cright)%5E2%20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76467" y="4218770"/>
            <a:ext cx="3887999" cy="824727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3"/>
          <p:cNvSpPr txBox="1"/>
          <p:nvPr/>
        </p:nvSpPr>
        <p:spPr>
          <a:xfrm>
            <a:off x="4910233" y="4378167"/>
            <a:ext cx="317200" cy="53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69"/>
          <p:cNvGrpSpPr/>
          <p:nvPr/>
        </p:nvGrpSpPr>
        <p:grpSpPr>
          <a:xfrm>
            <a:off x="7952999" y="583767"/>
            <a:ext cx="3741317" cy="902643"/>
            <a:chOff x="6117150" y="437825"/>
            <a:chExt cx="2599800" cy="676982"/>
          </a:xfrm>
        </p:grpSpPr>
        <p:sp>
          <p:nvSpPr>
            <p:cNvPr id="789" name="Google Shape;789;p69"/>
            <p:cNvSpPr txBox="1"/>
            <p:nvPr/>
          </p:nvSpPr>
          <p:spPr>
            <a:xfrm>
              <a:off x="6117150" y="437825"/>
              <a:ext cx="2599800" cy="6769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latin typeface="Roboto Light"/>
                  <a:ea typeface="Roboto Light"/>
                  <a:cs typeface="Roboto Light"/>
                  <a:sym typeface="Roboto Light"/>
                </a:rPr>
                <a:t>Classification</a:t>
              </a:r>
              <a:r>
                <a:rPr lang="en" sz="2133">
                  <a:latin typeface="Roboto Light"/>
                  <a:ea typeface="Roboto Light"/>
                  <a:cs typeface="Roboto Light"/>
                  <a:sym typeface="Roboto Light"/>
                </a:rPr>
                <a:t> (                     )</a:t>
              </a:r>
              <a:endParaRPr sz="2133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790" name="Google Shape;790;p69" title="[0,0,0,&quot;https://www.codecogs.com/eqnedit.php?latex=%20y%20%5Cin%20%5C%7B%200%2C%201%20%5C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29725" y="526721"/>
              <a:ext cx="1003601" cy="249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791" name="Google Shape;791;p69"/>
          <p:cNvCxnSpPr/>
          <p:nvPr/>
        </p:nvCxnSpPr>
        <p:spPr>
          <a:xfrm>
            <a:off x="7012400" y="896833"/>
            <a:ext cx="0" cy="5684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2" name="Google Shape;792;p69"/>
          <p:cNvSpPr txBox="1"/>
          <p:nvPr/>
        </p:nvSpPr>
        <p:spPr>
          <a:xfrm>
            <a:off x="8286800" y="5496233"/>
            <a:ext cx="2798800" cy="8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(next time)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3" name="Google Shape;793;p69"/>
          <p:cNvSpPr txBox="1"/>
          <p:nvPr/>
        </p:nvSpPr>
        <p:spPr>
          <a:xfrm>
            <a:off x="7952984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4" name="Google Shape;794;p69"/>
          <p:cNvSpPr txBox="1"/>
          <p:nvPr/>
        </p:nvSpPr>
        <p:spPr>
          <a:xfrm>
            <a:off x="81917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Logistic Regression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95" name="Google Shape;795;p69" title="[0,0,0,&quot;https://www.codecogs.com/eqnedit.php?latex=%5Chat%7BP%7D_%7B%5Ctheta%7D(Y%20%3D%201%7Cx)%20%3D%20%5Csigma(x%5ET%5Ctheta)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6534" y="2101084"/>
            <a:ext cx="3212201" cy="414867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Choosing a Different Loss Function</a:t>
            </a:r>
            <a:endParaRPr/>
          </a:p>
        </p:txBody>
      </p:sp>
      <p:sp>
        <p:nvSpPr>
          <p:cNvPr id="797" name="Google Shape;797;p6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sp>
        <p:nvSpPr>
          <p:cNvPr id="798" name="Google Shape;798;p69"/>
          <p:cNvSpPr/>
          <p:nvPr/>
        </p:nvSpPr>
        <p:spPr>
          <a:xfrm>
            <a:off x="188000" y="2827400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2. Choose a loss function</a:t>
            </a:r>
            <a:endParaRPr sz="2133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9"/>
          <p:cNvSpPr/>
          <p:nvPr/>
        </p:nvSpPr>
        <p:spPr>
          <a:xfrm>
            <a:off x="188000" y="4111567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3. Fit the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0" name="Google Shape;800;p69"/>
          <p:cNvSpPr/>
          <p:nvPr/>
        </p:nvSpPr>
        <p:spPr>
          <a:xfrm>
            <a:off x="188000" y="53957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4. Evaluate model performance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1" name="Google Shape;801;p69"/>
          <p:cNvSpPr/>
          <p:nvPr/>
        </p:nvSpPr>
        <p:spPr>
          <a:xfrm>
            <a:off x="188000" y="15432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1. Choose a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802" name="Google Shape;802;p69"/>
          <p:cNvGrpSpPr/>
          <p:nvPr/>
        </p:nvGrpSpPr>
        <p:grpSpPr>
          <a:xfrm>
            <a:off x="3775300" y="583767"/>
            <a:ext cx="2899600" cy="574412"/>
            <a:chOff x="2456575" y="437825"/>
            <a:chExt cx="2174700" cy="430809"/>
          </a:xfrm>
        </p:grpSpPr>
        <p:sp>
          <p:nvSpPr>
            <p:cNvPr id="803" name="Google Shape;803;p69"/>
            <p:cNvSpPr txBox="1"/>
            <p:nvPr/>
          </p:nvSpPr>
          <p:spPr>
            <a:xfrm>
              <a:off x="2456575" y="437825"/>
              <a:ext cx="2174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Regression</a:t>
              </a:r>
              <a:r>
                <a:rPr lang="en" sz="2133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               )</a:t>
              </a:r>
              <a:endParaRPr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804" name="Google Shape;804;p69" title="[0,0,0,&quot;https://www.codecogs.com/eqnedit.php?latex=y%5Cin%20%5Cmathbb%7BR%7D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92450" y="528809"/>
              <a:ext cx="676249" cy="2491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5" name="Google Shape;805;p69" title="[0,0,0,&quot;https://www.codecogs.com/eqnedit.php?latex=%5Chat%7By%7D%20%3D%20f_%7B%5Ctheta%7D(x)%20%3D%20x%5ET%5Ctheta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2330" y="2117950"/>
            <a:ext cx="2545533" cy="416333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9"/>
          <p:cNvSpPr txBox="1"/>
          <p:nvPr/>
        </p:nvSpPr>
        <p:spPr>
          <a:xfrm>
            <a:off x="3379817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7" name="Google Shape;807;p69"/>
          <p:cNvSpPr txBox="1"/>
          <p:nvPr/>
        </p:nvSpPr>
        <p:spPr>
          <a:xfrm>
            <a:off x="3397584" y="5656734"/>
            <a:ext cx="346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</a:t>
            </a:r>
            <a:r>
              <a:rPr lang="en" sz="2133" baseline="300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Residuals, etc.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8" name="Google Shape;808;p69"/>
          <p:cNvSpPr txBox="1"/>
          <p:nvPr/>
        </p:nvSpPr>
        <p:spPr>
          <a:xfrm>
            <a:off x="3618617" y="2997933"/>
            <a:ext cx="29888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Squared Loss or Absolute Loss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37306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Regression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0" name="Google Shape;810;p69"/>
          <p:cNvSpPr txBox="1"/>
          <p:nvPr/>
        </p:nvSpPr>
        <p:spPr>
          <a:xfrm>
            <a:off x="2537667" y="1239700"/>
            <a:ext cx="856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sz="34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1" name="Google Shape;811;p69"/>
          <p:cNvSpPr/>
          <p:nvPr/>
        </p:nvSpPr>
        <p:spPr>
          <a:xfrm>
            <a:off x="3889167" y="2044867"/>
            <a:ext cx="2654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2" name="Google Shape;812;p69"/>
          <p:cNvSpPr/>
          <p:nvPr/>
        </p:nvSpPr>
        <p:spPr>
          <a:xfrm>
            <a:off x="5354267" y="667133"/>
            <a:ext cx="982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3" name="Google Shape;813;p69"/>
          <p:cNvSpPr/>
          <p:nvPr/>
        </p:nvSpPr>
        <p:spPr>
          <a:xfrm>
            <a:off x="7893000" y="2956633"/>
            <a:ext cx="3586400" cy="975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b="1"/>
              <a:t>Cross-Entropy Loss</a:t>
            </a:r>
            <a:endParaRPr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Loss in Classification</a:t>
            </a:r>
            <a:endParaRPr/>
          </a:p>
        </p:txBody>
      </p:sp>
      <p:sp>
        <p:nvSpPr>
          <p:cNvPr id="820" name="Google Shape;820;p7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sp>
        <p:nvSpPr>
          <p:cNvPr id="818" name="Google Shape;818;p70"/>
          <p:cNvSpPr txBox="1">
            <a:spLocks noGrp="1"/>
          </p:cNvSpPr>
          <p:nvPr>
            <p:ph type="body" idx="4294967295"/>
          </p:nvPr>
        </p:nvSpPr>
        <p:spPr>
          <a:xfrm>
            <a:off x="266699" y="1239837"/>
            <a:ext cx="11360150" cy="536098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sz="2800" dirty="0"/>
              <a:t>Let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800" dirty="0"/>
              <a:t> be a binary label {0, 1}, and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800" dirty="0"/>
              <a:t> be the model’s predicted probability of the label being 1.</a:t>
            </a:r>
            <a:endParaRPr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lang="en" sz="2800" dirty="0"/>
              <a:t>In a classification task, how do we want our loss function to behave?</a:t>
            </a:r>
            <a:endParaRPr sz="2800" dirty="0"/>
          </a:p>
          <a:p>
            <a:r>
              <a:rPr lang="en" sz="2800" dirty="0"/>
              <a:t>When the true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" sz="2800" dirty="0"/>
              <a:t>is 1, we should incur</a:t>
            </a:r>
            <a:r>
              <a:rPr lang="en" sz="2800" u="sng" dirty="0"/>
              <a:t> </a:t>
            </a:r>
            <a:r>
              <a:rPr lang="en" sz="2800" i="1" u="sng" dirty="0"/>
              <a:t>low</a:t>
            </a:r>
            <a:r>
              <a:rPr lang="en" sz="2800" u="sng" dirty="0"/>
              <a:t> loss</a:t>
            </a:r>
            <a:r>
              <a:rPr lang="en" sz="2800" dirty="0"/>
              <a:t> when the model predicts </a:t>
            </a:r>
            <a:r>
              <a:rPr lang="en" sz="2800" u="sng" dirty="0"/>
              <a:t>large </a:t>
            </a:r>
            <a:r>
              <a:rPr lang="en" sz="2400" i="1" u="sng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0"/>
              </a:spcBef>
            </a:pPr>
            <a:r>
              <a:rPr lang="en" sz="2800" dirty="0"/>
              <a:t>When the true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" sz="2800" dirty="0"/>
              <a:t>is 0, we should incur </a:t>
            </a:r>
            <a:r>
              <a:rPr lang="en" sz="2800" i="1" u="sng" dirty="0"/>
              <a:t>high</a:t>
            </a:r>
            <a:r>
              <a:rPr lang="en" sz="2800" u="sng" dirty="0"/>
              <a:t> loss</a:t>
            </a:r>
            <a:r>
              <a:rPr lang="en" sz="2800" dirty="0"/>
              <a:t> when the model predicts </a:t>
            </a:r>
            <a:r>
              <a:rPr lang="en" sz="2800" u="sng" dirty="0"/>
              <a:t>large </a:t>
            </a:r>
            <a:r>
              <a:rPr lang="en" sz="2400" i="1" u="sng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sz="24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" sz="2800" dirty="0"/>
              <a:t>In other words, the behavior we need from our loss function depends on the value of the true class,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y.</a:t>
            </a: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Cross-Entropy Loss</a:t>
            </a:r>
            <a:endParaRPr/>
          </a:p>
        </p:txBody>
      </p:sp>
      <p:sp>
        <p:nvSpPr>
          <p:cNvPr id="827" name="Google Shape;827;p7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27</a:t>
            </a:fld>
            <a:endParaRPr/>
          </a:p>
        </p:txBody>
      </p:sp>
      <p:sp>
        <p:nvSpPr>
          <p:cNvPr id="825" name="Google Shape;825;p71"/>
          <p:cNvSpPr txBox="1">
            <a:spLocks noGrp="1"/>
          </p:cNvSpPr>
          <p:nvPr>
            <p:ph type="body" idx="4294967295"/>
          </p:nvPr>
        </p:nvSpPr>
        <p:spPr>
          <a:xfrm>
            <a:off x="157425" y="1202115"/>
            <a:ext cx="11360150" cy="99853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sz="2800" dirty="0"/>
              <a:t>Let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800" dirty="0"/>
              <a:t> be a binary label {0, 1}, and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800" dirty="0"/>
              <a:t> be the probability of the label being 1.</a:t>
            </a:r>
            <a:endParaRPr sz="24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>
              <a:buNone/>
            </a:pPr>
            <a:endParaRPr sz="24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r>
              <a:rPr lang="en" sz="2800" dirty="0"/>
              <a:t>The </a:t>
            </a:r>
            <a:r>
              <a:rPr lang="en" sz="28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cross-entropy loss</a:t>
            </a:r>
            <a:r>
              <a:rPr lang="en" sz="2800" dirty="0"/>
              <a:t> is defined as:</a:t>
            </a:r>
            <a:endParaRPr sz="2800" dirty="0"/>
          </a:p>
        </p:txBody>
      </p:sp>
      <p:sp>
        <p:nvSpPr>
          <p:cNvPr id="828" name="Google Shape;828;p71"/>
          <p:cNvSpPr/>
          <p:nvPr/>
        </p:nvSpPr>
        <p:spPr>
          <a:xfrm>
            <a:off x="304367" y="3349700"/>
            <a:ext cx="5027600" cy="10864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829" name="Google Shape;829;p71" descr="\text{CE loss}= \begin{cases}&#10;-\text{log}(p), &amp;\quad\text{if}\ \  y = 1 \\ &#10;-\text{log}(1-p), &amp;\quad\text{if}\ \ y = 0 &#10;\end{cases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767" y="3398168"/>
            <a:ext cx="4653307" cy="91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1"/>
          <p:cNvPicPr preferRelativeResize="0"/>
          <p:nvPr/>
        </p:nvPicPr>
        <p:blipFill rotWithShape="1">
          <a:blip r:embed="rId4">
            <a:alphaModFix/>
          </a:blip>
          <a:srcRect t="9624"/>
          <a:stretch/>
        </p:blipFill>
        <p:spPr>
          <a:xfrm>
            <a:off x="6345789" y="1866634"/>
            <a:ext cx="3873679" cy="216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1"/>
          <p:cNvPicPr preferRelativeResize="0"/>
          <p:nvPr/>
        </p:nvPicPr>
        <p:blipFill rotWithShape="1">
          <a:blip r:embed="rId5">
            <a:alphaModFix/>
          </a:blip>
          <a:srcRect t="9624"/>
          <a:stretch/>
        </p:blipFill>
        <p:spPr>
          <a:xfrm>
            <a:off x="6370734" y="4287234"/>
            <a:ext cx="3872465" cy="2162932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1"/>
          <p:cNvSpPr txBox="1"/>
          <p:nvPr/>
        </p:nvSpPr>
        <p:spPr>
          <a:xfrm>
            <a:off x="9693333" y="2080100"/>
            <a:ext cx="25996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 y = 1,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 → 0: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∞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loss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 → 1: zero loss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33" name="Google Shape;833;p71"/>
          <p:cNvSpPr txBox="1"/>
          <p:nvPr/>
        </p:nvSpPr>
        <p:spPr>
          <a:xfrm>
            <a:off x="9688533" y="4360733"/>
            <a:ext cx="2599600" cy="12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 y = 0,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 → 0: zero loss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Light"/>
              <a:buChar char="●"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 → 1: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∞</a:t>
            </a: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loss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34" name="Google Shape;834;p71"/>
          <p:cNvCxnSpPr/>
          <p:nvPr/>
        </p:nvCxnSpPr>
        <p:spPr>
          <a:xfrm rot="10800000" flipH="1">
            <a:off x="5411900" y="2569233"/>
            <a:ext cx="851200" cy="805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5" name="Google Shape;835;p71"/>
          <p:cNvCxnSpPr/>
          <p:nvPr/>
        </p:nvCxnSpPr>
        <p:spPr>
          <a:xfrm>
            <a:off x="5425751" y="4287233"/>
            <a:ext cx="851200" cy="805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Cross-Entropy Loss: Two Loss Functions In One!</a:t>
            </a:r>
            <a:endParaRPr/>
          </a:p>
        </p:txBody>
      </p:sp>
      <p:sp>
        <p:nvSpPr>
          <p:cNvPr id="842" name="Google Shape;842;p7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  <p:sp>
        <p:nvSpPr>
          <p:cNvPr id="840" name="Google Shape;840;p72"/>
          <p:cNvSpPr txBox="1">
            <a:spLocks noGrp="1"/>
          </p:cNvSpPr>
          <p:nvPr>
            <p:ph type="body" idx="4294967295"/>
          </p:nvPr>
        </p:nvSpPr>
        <p:spPr>
          <a:xfrm>
            <a:off x="345933" y="722799"/>
            <a:ext cx="11360150" cy="126047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sz="2400" dirty="0"/>
              <a:t>The piecewise loss function we introduced just then is difficult to optimize – we don’t want to check “which” loss to use at each step of optimizing theta.</a:t>
            </a:r>
            <a:endParaRPr sz="2400" dirty="0"/>
          </a:p>
          <a:p>
            <a:pPr marL="0" indent="0">
              <a:buNone/>
            </a:pPr>
            <a:r>
              <a:rPr lang="en" sz="2400" dirty="0"/>
              <a:t>Cross-entropy loss can be equivalently expressed as:</a:t>
            </a:r>
            <a:endParaRPr sz="2400" dirty="0"/>
          </a:p>
        </p:txBody>
      </p:sp>
      <p:pic>
        <p:nvPicPr>
          <p:cNvPr id="843" name="Google Shape;843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200" y="3825517"/>
            <a:ext cx="4286067" cy="2648067"/>
          </a:xfrm>
          <a:prstGeom prst="rect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44" name="Google Shape;844;p72"/>
          <p:cNvSpPr/>
          <p:nvPr/>
        </p:nvSpPr>
        <p:spPr>
          <a:xfrm rot="5400000">
            <a:off x="3725800" y="1492500"/>
            <a:ext cx="166400" cy="1404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45" name="Google Shape;845;p72"/>
          <p:cNvSpPr txBox="1"/>
          <p:nvPr/>
        </p:nvSpPr>
        <p:spPr>
          <a:xfrm>
            <a:off x="6139600" y="2857834"/>
            <a:ext cx="1841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for y = </a:t>
            </a:r>
            <a:r>
              <a:rPr lang="en" sz="16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, only this term stays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46" name="Google Shape;846;p72"/>
          <p:cNvSpPr/>
          <p:nvPr/>
        </p:nvSpPr>
        <p:spPr>
          <a:xfrm rot="5400000">
            <a:off x="10109200" y="1275100"/>
            <a:ext cx="166400" cy="3261200"/>
          </a:xfrm>
          <a:prstGeom prst="rightBrace">
            <a:avLst>
              <a:gd name="adj1" fmla="val 50000"/>
              <a:gd name="adj2" fmla="val 49675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847" name="Google Shape;847;p72"/>
          <p:cNvGrpSpPr/>
          <p:nvPr/>
        </p:nvGrpSpPr>
        <p:grpSpPr>
          <a:xfrm>
            <a:off x="5729043" y="2099700"/>
            <a:ext cx="6387200" cy="722800"/>
            <a:chOff x="2086982" y="1193775"/>
            <a:chExt cx="4790400" cy="542100"/>
          </a:xfrm>
        </p:grpSpPr>
        <p:sp>
          <p:nvSpPr>
            <p:cNvPr id="848" name="Google Shape;848;p72"/>
            <p:cNvSpPr/>
            <p:nvPr/>
          </p:nvSpPr>
          <p:spPr>
            <a:xfrm>
              <a:off x="2086982" y="1193775"/>
              <a:ext cx="4790400" cy="5421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pic>
          <p:nvPicPr>
            <p:cNvPr id="849" name="Google Shape;849;p72" title="[0,0,0,&quot;https://www.codecogs.com/eqnedit.php?latex=-%20%5Cleft(%20y%20%5Clog(p)%20%2B%20(1%20-%20y)%20%5Clog%20(1%20-%20p)%20%5Cright)%20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9500" y="1273750"/>
              <a:ext cx="4634451" cy="349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0" name="Google Shape;850;p72"/>
          <p:cNvSpPr/>
          <p:nvPr/>
        </p:nvSpPr>
        <p:spPr>
          <a:xfrm>
            <a:off x="5753400" y="2209133"/>
            <a:ext cx="410400" cy="524800"/>
          </a:xfrm>
          <a:prstGeom prst="rect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1" name="Google Shape;851;p72"/>
          <p:cNvSpPr txBox="1"/>
          <p:nvPr/>
        </p:nvSpPr>
        <p:spPr>
          <a:xfrm>
            <a:off x="9271800" y="2857834"/>
            <a:ext cx="1841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for y = </a:t>
            </a:r>
            <a:r>
              <a:rPr lang="en" sz="1600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, only this term stays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2" name="Google Shape;852;p72"/>
          <p:cNvSpPr/>
          <p:nvPr/>
        </p:nvSpPr>
        <p:spPr>
          <a:xfrm rot="5400000">
            <a:off x="5870800" y="2657300"/>
            <a:ext cx="175600" cy="496800"/>
          </a:xfrm>
          <a:prstGeom prst="rightBrace">
            <a:avLst>
              <a:gd name="adj1" fmla="val 50000"/>
              <a:gd name="adj2" fmla="val 73913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853" name="Google Shape;853;p7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6091" y="3819701"/>
            <a:ext cx="4286075" cy="2648895"/>
          </a:xfrm>
          <a:prstGeom prst="rect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4" name="Google Shape;854;p72"/>
          <p:cNvSpPr/>
          <p:nvPr/>
        </p:nvSpPr>
        <p:spPr>
          <a:xfrm rot="5400000">
            <a:off x="6977000" y="2203700"/>
            <a:ext cx="166400" cy="1404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55" name="Google Shape;855;p72"/>
          <p:cNvSpPr/>
          <p:nvPr/>
        </p:nvSpPr>
        <p:spPr>
          <a:xfrm>
            <a:off x="345933" y="2007467"/>
            <a:ext cx="5027600" cy="10864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856" name="Google Shape;856;p72" descr="\text{CE loss}= \begin{cases}&#10;-\text{log}(p), &amp;\quad\text{if}\ \  y = 1 \\ &#10;-\text{log}(1-p), &amp;\quad\text{if}\ \ y = 0 &#10;\end{cases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333" y="2055934"/>
            <a:ext cx="4653307" cy="913033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2"/>
          <p:cNvSpPr txBox="1"/>
          <p:nvPr/>
        </p:nvSpPr>
        <p:spPr>
          <a:xfrm>
            <a:off x="4654200" y="2857833"/>
            <a:ext cx="16748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makes loss positive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58" name="Google Shape;858;p72"/>
          <p:cNvSpPr/>
          <p:nvPr/>
        </p:nvSpPr>
        <p:spPr>
          <a:xfrm>
            <a:off x="5259667" y="2416900"/>
            <a:ext cx="410400" cy="12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Empirical Risk: Average Cross-Entropy Loss</a:t>
            </a:r>
            <a:endParaRPr/>
          </a:p>
        </p:txBody>
      </p:sp>
      <p:sp>
        <p:nvSpPr>
          <p:cNvPr id="865" name="Google Shape;865;p7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868" name="Google Shape;868;p73"/>
          <p:cNvSpPr txBox="1">
            <a:spLocks noGrp="1"/>
          </p:cNvSpPr>
          <p:nvPr>
            <p:ph type="body" idx="4294967295"/>
          </p:nvPr>
        </p:nvSpPr>
        <p:spPr>
          <a:xfrm>
            <a:off x="475350" y="3624209"/>
            <a:ext cx="11360150" cy="75882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The optimization problem is therefore to find the estimate     that minimizes R(θ):</a:t>
            </a:r>
            <a:endParaRPr dirty="0"/>
          </a:p>
        </p:txBody>
      </p:sp>
      <p:pic>
        <p:nvPicPr>
          <p:cNvPr id="866" name="Google Shape;866;p73" title="[0,0,0,&quot;https://www.codecogs.com/eqnedit.php?latex=R(%5Ctheta)%20%3D%20-%20%5Cfrac%7B1%7D%7Bn%7D%20%5Csum_%7Bi%3D1%7D%5En%20%5Cleft(%20y_i%20%5Clog%20(p_i)%20%2B%20(1%20-%20y_i)%20%5Clog%20(1%20-%20p_i)%20%5Cright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32" y="1752978"/>
            <a:ext cx="5551363" cy="747304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3"/>
          <p:cNvSpPr txBox="1"/>
          <p:nvPr/>
        </p:nvSpPr>
        <p:spPr>
          <a:xfrm>
            <a:off x="7778399" y="2710612"/>
            <a:ext cx="4413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[Recall our model is                                   ]  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69" name="Google Shape;869;p73" title="[0,0,0,&quot;https://www.codecogs.com/eqnedit.php?latex=%5Chat%7B%5Ctheta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77094" y="3910574"/>
            <a:ext cx="143000" cy="33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3" descr="{&quot;id&quot;:&quot;12&quot;,&quot;aid&quot;:null,&quot;code&quot;:&quot;$\\hat{y}_{i}=p_{i}=\\sigma\\left(X_{i}^{T}\\theta\\right)$&quot;,&quot;backgroundColor&quot;:&quot;#FFFFFF&quot;,&quot;type&quot;:&quot;$&quot;,&quot;font&quot;:{&quot;size&quot;:12,&quot;family&quot;:&quot;Arial&quot;,&quot;color&quot;:&quot;#000000&quot;},&quot;ts&quot;:1690164928670,&quot;cs&quot;:&quot;k4dzrIU+rc1gZ6gALlfyqw==&quot;,&quot;size&quot;:{&quot;width&quot;:141.66666666666666,&quot;height&quot;:22.5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6333" y="2834529"/>
            <a:ext cx="1799167" cy="28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3" descr="{&quot;backgroundColorModified&quot;:false,&quot;id&quot;:&quot;13&quot;,&quot;type&quot;:&quot;$$&quot;,&quot;code&quot;:&quot;$$=-\\frac{1}{n}\\sum_{i=1}^{n}\\left(y_{i}\\log_{}\\left(\\sigma\\left(X_{i}^{T}\\theta\\right)\\right)-\\left(1-y_{i}\\right)\\log_{}\\left(1-\\sigma\\left(X_{i}^{T}\\theta\\right)\\right)\\right)$$&quot;,&quot;font&quot;:{&quot;color&quot;:&quot;#000000&quot;,&quot;family&quot;:&quot;Roboto&quot;,&quot;size&quot;:14},&quot;aid&quot;:null,&quot;backgroundColor&quot;:&quot;#FFFFFF&quot;,&quot;ts&quot;:1690165125777,&quot;cs&quot;:&quot;eUEGQHFXlIoZh8W8yvP55w==&quot;,&quot;size&quot;:{&quot;width&quot;:457.6666666666667,&quot;height&quot;:48.666666666666664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8000" y="2697138"/>
            <a:ext cx="5812367" cy="618067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3"/>
          <p:cNvSpPr txBox="1"/>
          <p:nvPr/>
        </p:nvSpPr>
        <p:spPr>
          <a:xfrm>
            <a:off x="2269200" y="4854478"/>
            <a:ext cx="9482400" cy="116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76" name="Google Shape;876;p73" descr="{&quot;backgroundColor&quot;:&quot;#FFFFFF&quot;,&quot;id&quot;:&quot;13&quot;,&quot;code&quot;:&quot;\\begin{align*}\n{\\hat{\\theta}}&amp;={\\begin{matrix}\n{\\text{argmin}}\\\\\n{\\theta}\\\\\n\\end{matrix}\\,\\,-\\frac{1}{n}\\sum_{i=1}^{n}\\left(y_{i}\\log_{}\\left(\\sigma\\left(X_{i}^{T}\\theta\\right)\\right)-\\left(1-y_{i}\\right)\\log_{}\\left(1-\\sigma\\left(X_{i}^{T}\\theta\\right)\\right)\\right)}\t\n\\end{align*}&quot;,&quot;backgroundColorModified&quot;:false,&quot;font&quot;:{&quot;family&quot;:null,&quot;color&quot;:&quot;#000000&quot;,&quot;size&quot;:14},&quot;type&quot;:&quot;align*&quot;,&quot;aid&quot;:null,&quot;ts&quot;:1690165231294,&quot;cs&quot;:&quot;27/2YzqzhI7b89fLlvqAUA==&quot;,&quot;size&quot;:{&quot;width&quot;:632.5,&quot;height&quot;:56.5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37132" y="5058078"/>
            <a:ext cx="8498784" cy="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Convexity Proof By Picture</a:t>
            </a:r>
            <a:endParaRPr/>
          </a:p>
        </p:txBody>
      </p:sp>
      <p:sp>
        <p:nvSpPr>
          <p:cNvPr id="882" name="Google Shape;882;p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30</a:t>
            </a:fld>
            <a:endParaRPr/>
          </a:p>
        </p:txBody>
      </p:sp>
      <p:sp>
        <p:nvSpPr>
          <p:cNvPr id="883" name="Google Shape;883;p74"/>
          <p:cNvSpPr/>
          <p:nvPr/>
        </p:nvSpPr>
        <p:spPr>
          <a:xfrm>
            <a:off x="2898664" y="1059503"/>
            <a:ext cx="9482400" cy="1166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884" name="Google Shape;88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00" y="2203134"/>
            <a:ext cx="3206365" cy="21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74"/>
          <p:cNvPicPr preferRelativeResize="0"/>
          <p:nvPr/>
        </p:nvPicPr>
        <p:blipFill rotWithShape="1">
          <a:blip r:embed="rId4">
            <a:alphaModFix/>
          </a:blip>
          <a:srcRect t="8088"/>
          <a:stretch/>
        </p:blipFill>
        <p:spPr>
          <a:xfrm>
            <a:off x="4084900" y="3429000"/>
            <a:ext cx="3887365" cy="2516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8267" y="3429000"/>
            <a:ext cx="3645133" cy="249676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4"/>
          <p:cNvSpPr txBox="1"/>
          <p:nvPr/>
        </p:nvSpPr>
        <p:spPr>
          <a:xfrm>
            <a:off x="4932200" y="2895401"/>
            <a:ext cx="2527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Squared Loss Surface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8509900" y="2990601"/>
            <a:ext cx="3150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Cross-Entropy Loss Surface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89" name="Google Shape;88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801" y="4453136"/>
            <a:ext cx="837825" cy="2050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4" descr="{&quot;backgroundColor&quot;:&quot;#FFFFFF&quot;,&quot;id&quot;:&quot;13&quot;,&quot;code&quot;:&quot;\\begin{align*}\n{\\hat{\\theta}}&amp;={\\begin{matrix}\n{\\text{argmin}}\\\\\n{\\theta}\\\\\n\\end{matrix}\\,\\,-\\frac{1}{n}\\sum_{i=1}^{n}\\left(y_{i}\\log_{}\\left(\\sigma\\left(X_{i}^{T}\\theta\\right)\\right)-\\left(1-y_{i}\\right)\\log_{}\\left(1-\\sigma\\left(X_{i}^{T}\\theta\\right)\\right)\\right)}\t\n\\end{align*}&quot;,&quot;backgroundColorModified&quot;:false,&quot;font&quot;:{&quot;family&quot;:null,&quot;color&quot;:&quot;#000000&quot;,&quot;size&quot;:14},&quot;type&quot;:&quot;align*&quot;,&quot;aid&quot;:null,&quot;ts&quot;:1690165231294,&quot;cs&quot;:&quot;27/2YzqzhI7b89fLlvqAUA==&quot;,&quot;size&quot;:{&quot;width&quot;:632.5,&quot;height&quot;:56.5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4540" y="1382705"/>
            <a:ext cx="8498784" cy="7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4"/>
          <p:cNvSpPr txBox="1"/>
          <p:nvPr/>
        </p:nvSpPr>
        <p:spPr>
          <a:xfrm>
            <a:off x="4534767" y="5945533"/>
            <a:ext cx="3645200" cy="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A straight line crosses the curve Non-convex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92" name="Google Shape;892;p74"/>
          <p:cNvSpPr txBox="1"/>
          <p:nvPr/>
        </p:nvSpPr>
        <p:spPr>
          <a:xfrm>
            <a:off x="9545133" y="5945533"/>
            <a:ext cx="1662400" cy="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Convex!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93" name="Google Shape;893;p74"/>
          <p:cNvCxnSpPr/>
          <p:nvPr/>
        </p:nvCxnSpPr>
        <p:spPr>
          <a:xfrm>
            <a:off x="5510167" y="3524200"/>
            <a:ext cx="1694400" cy="1273600"/>
          </a:xfrm>
          <a:prstGeom prst="straightConnector1">
            <a:avLst/>
          </a:prstGeom>
          <a:noFill/>
          <a:ln w="38100" cap="flat" cmpd="sng">
            <a:solidFill>
              <a:srgbClr val="BE071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894" name="Google Shape;894;p74"/>
          <p:cNvCxnSpPr/>
          <p:nvPr/>
        </p:nvCxnSpPr>
        <p:spPr>
          <a:xfrm>
            <a:off x="9026900" y="4008984"/>
            <a:ext cx="2262400" cy="1263600"/>
          </a:xfrm>
          <a:prstGeom prst="straightConnector1">
            <a:avLst/>
          </a:prstGeom>
          <a:noFill/>
          <a:ln w="38100" cap="flat" cmpd="sng">
            <a:solidFill>
              <a:srgbClr val="BE071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It may have seemed like we just pulled cross-entropy loss out of thin air. 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" dirty="0"/>
              <a:t>CE loss is justified by a probability analysis technique called maximum likelihood estimation. Read on if you would like to learn more.</a:t>
            </a:r>
            <a:endParaRPr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" dirty="0"/>
              <a:t>Recorded walkthrough: </a:t>
            </a:r>
            <a:r>
              <a:rPr lang="en" u="sng" dirty="0">
                <a:solidFill>
                  <a:schemeClr val="hlink"/>
                </a:solidFill>
                <a:hlinkClick r:id="rId3"/>
              </a:rPr>
              <a:t>link</a:t>
            </a:r>
            <a:r>
              <a:rPr lang="en" dirty="0"/>
              <a:t>.</a:t>
            </a:r>
            <a:endParaRPr dirty="0"/>
          </a:p>
        </p:txBody>
      </p:sp>
      <p:sp>
        <p:nvSpPr>
          <p:cNvPr id="909" name="Google Shape;909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>
                <a:solidFill>
                  <a:schemeClr val="accent3"/>
                </a:solidFill>
              </a:rPr>
              <a:t>Maximum Likelihood Estimation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907" name="Google Shape;907;p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Maximum Likelihood Estimation (MLE)</a:t>
            </a:r>
            <a:endParaRPr/>
          </a:p>
        </p:txBody>
      </p:sp>
      <p:sp>
        <p:nvSpPr>
          <p:cNvPr id="1152" name="Google Shape;1152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1149" name="Google Shape;1149;p88"/>
          <p:cNvSpPr txBox="1">
            <a:spLocks noGrp="1"/>
          </p:cNvSpPr>
          <p:nvPr>
            <p:ph type="body" idx="4294967295"/>
          </p:nvPr>
        </p:nvSpPr>
        <p:spPr>
          <a:xfrm>
            <a:off x="145996" y="990600"/>
            <a:ext cx="11360150" cy="236619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" sz="2800" dirty="0"/>
              <a:t>Our </a:t>
            </a:r>
            <a:r>
              <a:rPr lang="en" sz="28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maximum likelihood estimation</a:t>
            </a:r>
            <a:r>
              <a:rPr lang="en" sz="2800" dirty="0"/>
              <a:t> problem:</a:t>
            </a:r>
            <a:endParaRPr sz="2800" dirty="0"/>
          </a:p>
          <a:p>
            <a:pPr>
              <a:lnSpc>
                <a:spcPct val="80000"/>
              </a:lnSpc>
              <a:spcBef>
                <a:spcPts val="1333"/>
              </a:spcBef>
            </a:pPr>
            <a:r>
              <a:rPr lang="en" sz="2800" dirty="0"/>
              <a:t>For i = 1, 2, …, n, let 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2800" dirty="0"/>
              <a:t> be independent Bernoulli(</a:t>
            </a:r>
            <a:r>
              <a:rPr lang="en" sz="2400" i="1" dirty="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400" i="1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2800" dirty="0"/>
              <a:t>) and Observed data		</a:t>
            </a:r>
          </a:p>
          <a:p>
            <a:pPr marL="0" indent="0">
              <a:lnSpc>
                <a:spcPct val="80000"/>
              </a:lnSpc>
              <a:spcBef>
                <a:spcPts val="1333"/>
              </a:spcBef>
              <a:buNone/>
            </a:pPr>
            <a:endParaRPr sz="2800" dirty="0"/>
          </a:p>
          <a:p>
            <a:pPr>
              <a:lnSpc>
                <a:spcPct val="80000"/>
              </a:lnSpc>
              <a:spcBef>
                <a:spcPts val="1067"/>
              </a:spcBef>
            </a:pPr>
            <a:r>
              <a:rPr lang="en" sz="2800" dirty="0"/>
              <a:t>We’d like to estimate                           .</a:t>
            </a:r>
            <a:endParaRPr sz="2800" dirty="0"/>
          </a:p>
          <a:p>
            <a:pPr marL="0" indent="0">
              <a:buNone/>
            </a:pPr>
            <a:endParaRPr sz="2800" dirty="0"/>
          </a:p>
          <a:p>
            <a:pPr marL="0" indent="0">
              <a:buNone/>
            </a:pPr>
            <a:r>
              <a:rPr lang="en" sz="2800" dirty="0"/>
              <a:t>Find                               that </a:t>
            </a:r>
            <a:r>
              <a:rPr lang="en" sz="28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endParaRPr sz="2800" b="1" dirty="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sz="2800" dirty="0"/>
          </a:p>
        </p:txBody>
      </p:sp>
      <p:sp>
        <p:nvSpPr>
          <p:cNvPr id="1150" name="Google Shape;1150;p88"/>
          <p:cNvSpPr/>
          <p:nvPr/>
        </p:nvSpPr>
        <p:spPr>
          <a:xfrm>
            <a:off x="5882796" y="3647371"/>
            <a:ext cx="3016800" cy="1042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1153" name="Google Shape;1153;p88" title="[0,0,0,&quot;https://www.codecogs.com/eqnedit.php?latex=%20%5Chat%7Bp%7D_1%2C%20%5Chat%7Bp%7D_2%2C%20%5Cdots%2C%20%5Chat%7Bp%7D_n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7546" y="4010971"/>
            <a:ext cx="1893768" cy="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88" title="[0,0,0,&quot;https://www.codecogs.com/eqnedit.php?latex=%5C%7B%20y_1%2C%20y_2%2C%20%5Cdots%2C%20y_n%20%5C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195" y="2173695"/>
            <a:ext cx="2360468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88" title="[0,0,0,&quot;https://www.codecogs.com/eqnedit.php?latex=%20p_1%2C%20p_2%2C%20%5Cdots%2C%20p_n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2303" y="3100011"/>
            <a:ext cx="1893768" cy="225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88" title="[0,0,0,&quot;https://www.codecogs.com/eqnedit.php?latex=%20%5Cprod_%7Bi%3D1%7D%5En%20p_i%5E%7By_i%7D%20(1%20-%20p_i)%5E%7B(1%20-%20y_i)%7D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090" y="3687687"/>
            <a:ext cx="2709268" cy="9388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2374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Maximum Likelihood Estimation (MLE)</a:t>
            </a:r>
            <a:endParaRPr/>
          </a:p>
        </p:txBody>
      </p:sp>
      <p:sp>
        <p:nvSpPr>
          <p:cNvPr id="1152" name="Google Shape;1152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1149" name="Google Shape;1149;p88"/>
          <p:cNvSpPr txBox="1">
            <a:spLocks noGrp="1"/>
          </p:cNvSpPr>
          <p:nvPr>
            <p:ph type="body" idx="4294967295"/>
          </p:nvPr>
        </p:nvSpPr>
        <p:spPr>
          <a:xfrm>
            <a:off x="145996" y="990600"/>
            <a:ext cx="11360150" cy="455453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" dirty="0">
                <a:solidFill>
                  <a:schemeClr val="accent2"/>
                </a:solidFill>
              </a:rPr>
              <a:t>Our </a:t>
            </a:r>
            <a:r>
              <a:rPr lang="en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maximum likelihood estimation</a:t>
            </a:r>
            <a:r>
              <a:rPr lang="en" dirty="0">
                <a:solidFill>
                  <a:schemeClr val="accent2"/>
                </a:solidFill>
              </a:rPr>
              <a:t> problem:</a:t>
            </a:r>
            <a:endParaRPr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spcBef>
                <a:spcPts val="1333"/>
              </a:spcBef>
            </a:pPr>
            <a:r>
              <a:rPr lang="en" dirty="0">
                <a:solidFill>
                  <a:schemeClr val="accent2"/>
                </a:solidFill>
              </a:rPr>
              <a:t>For i = 1, 2, …, n, let </a:t>
            </a:r>
            <a:r>
              <a:rPr lang="en" sz="2667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2667" i="1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dirty="0">
                <a:solidFill>
                  <a:schemeClr val="accent2"/>
                </a:solidFill>
              </a:rPr>
              <a:t> be independent Bernoulli(</a:t>
            </a:r>
            <a:r>
              <a:rPr lang="en" sz="2667" i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2667" i="1" baseline="-25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dirty="0">
                <a:solidFill>
                  <a:schemeClr val="accent2"/>
                </a:solidFill>
              </a:rPr>
              <a:t>). Observed data		         .</a:t>
            </a:r>
            <a:endParaRPr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spcBef>
                <a:spcPts val="1067"/>
              </a:spcBef>
            </a:pPr>
            <a:r>
              <a:rPr lang="en" dirty="0">
                <a:solidFill>
                  <a:schemeClr val="accent2"/>
                </a:solidFill>
              </a:rPr>
              <a:t>We’d like to estimate                           .</a:t>
            </a:r>
            <a:endParaRPr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" dirty="0">
                <a:solidFill>
                  <a:schemeClr val="accent2"/>
                </a:solidFill>
              </a:rPr>
              <a:t>Find                               that </a:t>
            </a:r>
            <a:r>
              <a:rPr lang="en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endParaRPr b="1" dirty="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indent="0">
              <a:buNone/>
            </a:pPr>
            <a:endParaRPr dirty="0">
              <a:solidFill>
                <a:schemeClr val="accent2"/>
              </a:solidFill>
            </a:endParaRPr>
          </a:p>
        </p:txBody>
      </p:sp>
      <p:sp>
        <p:nvSpPr>
          <p:cNvPr id="1150" name="Google Shape;1150;p88"/>
          <p:cNvSpPr/>
          <p:nvPr/>
        </p:nvSpPr>
        <p:spPr>
          <a:xfrm>
            <a:off x="6605096" y="3470255"/>
            <a:ext cx="3016800" cy="104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1153" name="Google Shape;1153;p88" title="[0,0,0,&quot;https://www.codecogs.com/eqnedit.php?latex=%20%5Chat%7Bp%7D_1%2C%20%5Chat%7Bp%7D_2%2C%20%5Cdots%2C%20%5Chat%7Bp%7D_n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7331" y="3833913"/>
            <a:ext cx="1893768" cy="3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88" title="[0,0,0,&quot;https://www.codecogs.com/eqnedit.php?latex=%5C%7B%20y_1%2C%20y_2%2C%20%5Cdots%2C%20y_n%20%5C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583" y="2158868"/>
            <a:ext cx="2360468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88" title="[0,0,0,&quot;https://www.codecogs.com/eqnedit.php?latex=%20p_1%2C%20p_2%2C%20%5Cdots%2C%20p_n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1832" y="2791249"/>
            <a:ext cx="1893768" cy="225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88" title="[0,0,0,&quot;https://www.codecogs.com/eqnedit.php?latex=%20%5Cprod_%7Bi%3D1%7D%5En%20p_i%5E%7By_i%7D%20(1%20-%20p_i)%5E%7B(1%20-%20y_i)%7D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8862" y="3493624"/>
            <a:ext cx="2709268" cy="938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61;p89">
            <a:extLst>
              <a:ext uri="{FF2B5EF4-FFF2-40B4-BE49-F238E27FC236}">
                <a16:creationId xmlns:a16="http://schemas.microsoft.com/office/drawing/2014/main" id="{8444B3AA-5C5F-1C89-BA35-9E26AEDAB820}"/>
              </a:ext>
            </a:extLst>
          </p:cNvPr>
          <p:cNvSpPr/>
          <p:nvPr/>
        </p:nvSpPr>
        <p:spPr>
          <a:xfrm>
            <a:off x="6426713" y="5492691"/>
            <a:ext cx="4704400" cy="93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3" name="Google Shape;1173;p89" title="[0,0,0,&quot;https://www.codecogs.com/eqnedit.php?latex=%20%5Clog%20%5Cleft(%20%5Cprod_%7Bi%3D1%7D%5En%20p_i%5E%7By_i%7D%20(1%20-%20p_i)%5E%7B(1%20-%20y_i)%7D%20%5Cright)#0&quot;]">
            <a:extLst>
              <a:ext uri="{FF2B5EF4-FFF2-40B4-BE49-F238E27FC236}">
                <a16:creationId xmlns:a16="http://schemas.microsoft.com/office/drawing/2014/main" id="{E25CF339-6F6A-8B48-8365-C3493D504B7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49452" y="4815642"/>
            <a:ext cx="2524000" cy="70674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74;p89">
            <a:extLst>
              <a:ext uri="{FF2B5EF4-FFF2-40B4-BE49-F238E27FC236}">
                <a16:creationId xmlns:a16="http://schemas.microsoft.com/office/drawing/2014/main" id="{D536BE41-B4B1-8AB6-A717-47A0A9081AE5}"/>
              </a:ext>
            </a:extLst>
          </p:cNvPr>
          <p:cNvSpPr txBox="1"/>
          <p:nvPr/>
        </p:nvSpPr>
        <p:spPr>
          <a:xfrm>
            <a:off x="685854" y="4834509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endParaRPr sz="2133" b="1" dirty="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Google Shape;1175;p89" title="[0,0,0,&quot;https://www.codecogs.com/eqnedit.php?latex=%20%3D%20%5Csum_%7Bi%3D1%7D%5En%20%5Clog%20%5Cleft(%20p_i%5E%7By_i%7D%20(1%20-%20p_i)%5E%7B(1%20-%20y_i)%7D%20%5Cright)#0&quot;]">
            <a:extLst>
              <a:ext uri="{FF2B5EF4-FFF2-40B4-BE49-F238E27FC236}">
                <a16:creationId xmlns:a16="http://schemas.microsoft.com/office/drawing/2014/main" id="{8A1FC92A-13D1-BD32-FFCE-5266CF7C00FF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14888" y="5581809"/>
            <a:ext cx="3016799" cy="7232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76;p89">
            <a:extLst>
              <a:ext uri="{FF2B5EF4-FFF2-40B4-BE49-F238E27FC236}">
                <a16:creationId xmlns:a16="http://schemas.microsoft.com/office/drawing/2014/main" id="{D3EA9981-F92C-3ACE-A6EC-68A41686FCA2}"/>
              </a:ext>
            </a:extLst>
          </p:cNvPr>
          <p:cNvSpPr txBox="1"/>
          <p:nvPr/>
        </p:nvSpPr>
        <p:spPr>
          <a:xfrm>
            <a:off x="5775088" y="4865309"/>
            <a:ext cx="637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(log is an increasing function. If a &gt; b, then log(a) &gt; log(b).)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" name="Google Shape;1177;p89" title="[0,0,0,&quot;https://www.codecogs.com/eqnedit.php?latex=%20%3D%20%5Csum_%7Bi%3D1%7D%5En%20%5Cleft(%20y_i%20%5Clog%20(p_i)%20%2B%20(1%20-%20y_i)%20%5Clog(1%20-%20p_i)%20%5Cright)#0&quot;]">
            <a:extLst>
              <a:ext uri="{FF2B5EF4-FFF2-40B4-BE49-F238E27FC236}">
                <a16:creationId xmlns:a16="http://schemas.microsoft.com/office/drawing/2014/main" id="{ABF312EC-8C50-8365-9092-8453A61D84A1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40513" y="5554225"/>
            <a:ext cx="4847787" cy="81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78;p89" title="[0,0,0,&quot;https://www.codecogs.com/eqnedit.php?latex=%20p_1%2C%20p_2%2C%20%5Cdots%2C%20p_n#0&quot;]">
            <a:extLst>
              <a:ext uri="{FF2B5EF4-FFF2-40B4-BE49-F238E27FC236}">
                <a16:creationId xmlns:a16="http://schemas.microsoft.com/office/drawing/2014/main" id="{CCB32B2B-C856-E7EC-BBF2-8F962F8E0F2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954" y="5304340"/>
            <a:ext cx="1417432" cy="168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>
                <a:solidFill>
                  <a:schemeClr val="accent3"/>
                </a:solidFill>
              </a:rPr>
              <a:t>Maximum Likelihood Estimation (MLE)</a:t>
            </a:r>
            <a:endParaRPr/>
          </a:p>
        </p:txBody>
      </p:sp>
      <p:sp>
        <p:nvSpPr>
          <p:cNvPr id="1152" name="Google Shape;1152;p8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sp>
        <p:nvSpPr>
          <p:cNvPr id="2" name="Google Shape;1161;p89">
            <a:extLst>
              <a:ext uri="{FF2B5EF4-FFF2-40B4-BE49-F238E27FC236}">
                <a16:creationId xmlns:a16="http://schemas.microsoft.com/office/drawing/2014/main" id="{8444B3AA-5C5F-1C89-BA35-9E26AEDAB820}"/>
              </a:ext>
            </a:extLst>
          </p:cNvPr>
          <p:cNvSpPr/>
          <p:nvPr/>
        </p:nvSpPr>
        <p:spPr>
          <a:xfrm>
            <a:off x="6202125" y="2058421"/>
            <a:ext cx="4704400" cy="938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" name="Google Shape;1174;p89">
            <a:extLst>
              <a:ext uri="{FF2B5EF4-FFF2-40B4-BE49-F238E27FC236}">
                <a16:creationId xmlns:a16="http://schemas.microsoft.com/office/drawing/2014/main" id="{D536BE41-B4B1-8AB6-A717-47A0A9081AE5}"/>
              </a:ext>
            </a:extLst>
          </p:cNvPr>
          <p:cNvSpPr txBox="1"/>
          <p:nvPr/>
        </p:nvSpPr>
        <p:spPr>
          <a:xfrm>
            <a:off x="461266" y="1400239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endParaRPr sz="2133" b="1" dirty="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Google Shape;1175;p89" title="[0,0,0,&quot;https://www.codecogs.com/eqnedit.php?latex=%20%3D%20%5Csum_%7Bi%3D1%7D%5En%20%5Clog%20%5Cleft(%20p_i%5E%7By_i%7D%20(1%20-%20p_i)%5E%7B(1%20-%20y_i)%7D%20%5Cright)#0&quot;]">
            <a:extLst>
              <a:ext uri="{FF2B5EF4-FFF2-40B4-BE49-F238E27FC236}">
                <a16:creationId xmlns:a16="http://schemas.microsoft.com/office/drawing/2014/main" id="{8A1FC92A-13D1-BD32-FFCE-5266CF7C00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300" y="2147539"/>
            <a:ext cx="3016799" cy="72320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76;p89">
            <a:extLst>
              <a:ext uri="{FF2B5EF4-FFF2-40B4-BE49-F238E27FC236}">
                <a16:creationId xmlns:a16="http://schemas.microsoft.com/office/drawing/2014/main" id="{D3EA9981-F92C-3ACE-A6EC-68A41686FCA2}"/>
              </a:ext>
            </a:extLst>
          </p:cNvPr>
          <p:cNvSpPr txBox="1"/>
          <p:nvPr/>
        </p:nvSpPr>
        <p:spPr>
          <a:xfrm>
            <a:off x="5550500" y="1431039"/>
            <a:ext cx="637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(log is an increasing function. If a &gt; b, then log(a) &gt; log(b).)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" name="Google Shape;1177;p89" title="[0,0,0,&quot;https://www.codecogs.com/eqnedit.php?latex=%20%3D%20%5Csum_%7Bi%3D1%7D%5En%20%5Cleft(%20y_i%20%5Clog%20(p_i)%20%2B%20(1%20-%20y_i)%20%5Clog(1%20-%20p_i)%20%5Cright)#0&quot;]">
            <a:extLst>
              <a:ext uri="{FF2B5EF4-FFF2-40B4-BE49-F238E27FC236}">
                <a16:creationId xmlns:a16="http://schemas.microsoft.com/office/drawing/2014/main" id="{ABF312EC-8C50-8365-9092-8453A61D84A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5925" y="2119955"/>
            <a:ext cx="4847787" cy="81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78;p89" title="[0,0,0,&quot;https://www.codecogs.com/eqnedit.php?latex=%20p_1%2C%20p_2%2C%20%5Cdots%2C%20p_n#0&quot;]">
            <a:extLst>
              <a:ext uri="{FF2B5EF4-FFF2-40B4-BE49-F238E27FC236}">
                <a16:creationId xmlns:a16="http://schemas.microsoft.com/office/drawing/2014/main" id="{CCB32B2B-C856-E7EC-BBF2-8F962F8E0F2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366" y="1870070"/>
            <a:ext cx="1417432" cy="1687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02;p90">
            <a:extLst>
              <a:ext uri="{FF2B5EF4-FFF2-40B4-BE49-F238E27FC236}">
                <a16:creationId xmlns:a16="http://schemas.microsoft.com/office/drawing/2014/main" id="{AAB6C86B-29D1-CCBD-8918-C5C971008386}"/>
              </a:ext>
            </a:extLst>
          </p:cNvPr>
          <p:cNvSpPr/>
          <p:nvPr/>
        </p:nvSpPr>
        <p:spPr>
          <a:xfrm>
            <a:off x="3078460" y="3941932"/>
            <a:ext cx="5282400" cy="93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10" name="Google Shape;1204;p90" title="[0,0,0,&quot;https://www.codecogs.com/eqnedit.php?latex=%20p_1%2C%20p_2%2C%20%5Cdots%2C%20p_n#0&quot;]">
            <a:extLst>
              <a:ext uri="{FF2B5EF4-FFF2-40B4-BE49-F238E27FC236}">
                <a16:creationId xmlns:a16="http://schemas.microsoft.com/office/drawing/2014/main" id="{3016D35B-A4E6-9755-7586-7A3BF03A5F1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3977" y="4577129"/>
            <a:ext cx="1417432" cy="16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05;p90" title="[0,0,0,&quot;https://www.codecogs.com/eqnedit.php?latex=%20-%5Cfrac%7B1%7D%7Bn%7D%20%5Csum_%7Bi%3D1%7D%5En%20%5Cleft(%20y_i%20%5Clog%20(p_i)%20%2B%20(1%20-%20y_i)%20%5Clog(1%20-%20p_i)%20%5Cright)#0&quot;]">
            <a:extLst>
              <a:ext uri="{FF2B5EF4-FFF2-40B4-BE49-F238E27FC236}">
                <a16:creationId xmlns:a16="http://schemas.microsoft.com/office/drawing/2014/main" id="{2902F1CC-6DC3-538A-DAED-C93BFEE5AD6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6894" y="4003465"/>
            <a:ext cx="5057551" cy="81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06;p90">
            <a:extLst>
              <a:ext uri="{FF2B5EF4-FFF2-40B4-BE49-F238E27FC236}">
                <a16:creationId xmlns:a16="http://schemas.microsoft.com/office/drawing/2014/main" id="{676BE9DC-815B-7819-D62D-570243DDC84B}"/>
              </a:ext>
            </a:extLst>
          </p:cNvPr>
          <p:cNvSpPr/>
          <p:nvPr/>
        </p:nvSpPr>
        <p:spPr>
          <a:xfrm rot="5400000">
            <a:off x="3333393" y="4757032"/>
            <a:ext cx="177600" cy="510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13" name="Google Shape;1173;p89" title="[0,0,0,&quot;https://www.codecogs.com/eqnedit.php?latex=%20%5Clog%20%5Cleft(%20%5Cprod_%7Bi%3D1%7D%5En%20p_i%5E%7By_i%7D%20(1%20-%20p_i)%5E%7B(1%20-%20y_i)%7D%20%5Cright)#0&quot;]">
            <a:extLst>
              <a:ext uri="{FF2B5EF4-FFF2-40B4-BE49-F238E27FC236}">
                <a16:creationId xmlns:a16="http://schemas.microsoft.com/office/drawing/2014/main" id="{1BAB6AEE-86C0-C653-91D0-83F6653A3A1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0600" y="1321812"/>
            <a:ext cx="2524000" cy="706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203;p90">
            <a:extLst>
              <a:ext uri="{FF2B5EF4-FFF2-40B4-BE49-F238E27FC236}">
                <a16:creationId xmlns:a16="http://schemas.microsoft.com/office/drawing/2014/main" id="{BEBEC6B4-B0D9-7412-38F0-5275AC58E973}"/>
              </a:ext>
            </a:extLst>
          </p:cNvPr>
          <p:cNvSpPr txBox="1"/>
          <p:nvPr/>
        </p:nvSpPr>
        <p:spPr>
          <a:xfrm>
            <a:off x="1574207" y="4087083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minimize</a:t>
            </a:r>
            <a:endParaRPr sz="2133"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903945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sz="3200" dirty="0"/>
              <a:t>Maximizing Likelihood == Minimizing Average Cross-Entropy</a:t>
            </a:r>
            <a:endParaRPr sz="3200" dirty="0"/>
          </a:p>
        </p:txBody>
      </p:sp>
      <p:sp>
        <p:nvSpPr>
          <p:cNvPr id="1212" name="Google Shape;1212;p9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/>
          </a:p>
        </p:txBody>
      </p:sp>
      <p:sp>
        <p:nvSpPr>
          <p:cNvPr id="1213" name="Google Shape;1213;p91"/>
          <p:cNvSpPr/>
          <p:nvPr/>
        </p:nvSpPr>
        <p:spPr>
          <a:xfrm>
            <a:off x="777267" y="1821135"/>
            <a:ext cx="1221200" cy="815600"/>
          </a:xfrm>
          <a:prstGeom prst="upDownArrow">
            <a:avLst>
              <a:gd name="adj1" fmla="val 59879"/>
              <a:gd name="adj2" fmla="val 29584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1214" name="Google Shape;1214;p91" title="[0,0,0,&quot;https://www.codecogs.com/eqnedit.php?latex=%20%5Cprod_%7Bi%3D1%7D%5En%20p_i%5E%7By_i%7D%20(1%20-%20p_i)%5E%7B(1%20-%20y_i)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942" y="990600"/>
            <a:ext cx="2269075" cy="7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1"/>
          <p:cNvSpPr txBox="1"/>
          <p:nvPr/>
        </p:nvSpPr>
        <p:spPr>
          <a:xfrm>
            <a:off x="56133" y="1128519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endParaRPr sz="2133" b="1" dirty="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6" name="Google Shape;1216;p91" title="[0,0,0,&quot;https://www.codecogs.com/eqnedit.php?latex=%20p_1%2C%20p_2%2C%20%5Cdots%2C%20p_n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833" y="1598350"/>
            <a:ext cx="1417432" cy="168733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1"/>
          <p:cNvSpPr txBox="1"/>
          <p:nvPr/>
        </p:nvSpPr>
        <p:spPr>
          <a:xfrm>
            <a:off x="74967" y="2902567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minimize</a:t>
            </a:r>
            <a:endParaRPr sz="21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8" name="Google Shape;1218;p91" title="[0,0,0,&quot;https://www.codecogs.com/eqnedit.php?latex=%20p_1%2C%20p_2%2C%20%5Cdots%2C%20p_n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17" y="3436164"/>
            <a:ext cx="1417432" cy="16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91" title="[0,0,0,&quot;https://www.codecogs.com/eqnedit.php?latex=%20-%5Cfrac%7B1%7D%7Bn%7D%20%5Csum_%7Bi%3D1%7D%5En%20%5Cleft(%20y_i%20%5Clog%20(p_i)%20%2B%20(1%20-%20y_i)%20%5Clog(1%20-%20p_i)%20%5Cright)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8167" y="2862501"/>
            <a:ext cx="4875164" cy="7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91"/>
          <p:cNvSpPr/>
          <p:nvPr/>
        </p:nvSpPr>
        <p:spPr>
          <a:xfrm>
            <a:off x="777267" y="3936936"/>
            <a:ext cx="1221200" cy="815600"/>
          </a:xfrm>
          <a:prstGeom prst="upDownArrow">
            <a:avLst>
              <a:gd name="adj1" fmla="val 59879"/>
              <a:gd name="adj2" fmla="val 29584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21" name="Google Shape;1221;p91"/>
          <p:cNvSpPr txBox="1"/>
          <p:nvPr/>
        </p:nvSpPr>
        <p:spPr>
          <a:xfrm>
            <a:off x="74967" y="4909634"/>
            <a:ext cx="17652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minimize</a:t>
            </a:r>
            <a:endParaRPr sz="2133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22" name="Google Shape;1222;p91" title="[0,0,0,&quot;https://www.codecogs.com/eqnedit.php?latex=%5Ctheta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666" y="5413000"/>
            <a:ext cx="125133" cy="2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91" title="[0,0,0,&quot;https://www.codecogs.com/eqnedit.php?latex=-%20%5Cfrac%7B1%7D%7Bn%7D%20%5Csum_%7Bi%3D1%7D%5En%20%5Cleft(%20y_i%20%5Clog%20(%5Csigma(X_i%5ET%20%5Ctheta)%20%2B%20(1%20-%20y_i)%20%5Clog%20(1%20-%20%5Csigma(X_i%5ET%20%5Ctheta))%20%5Cright)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2667" y="4907300"/>
            <a:ext cx="5375724" cy="6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1"/>
          <p:cNvSpPr txBox="1"/>
          <p:nvPr/>
        </p:nvSpPr>
        <p:spPr>
          <a:xfrm>
            <a:off x="2414967" y="6015934"/>
            <a:ext cx="318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Cross-Entropy Loss!!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5" name="Google Shape;1225;p91"/>
          <p:cNvSpPr/>
          <p:nvPr/>
        </p:nvSpPr>
        <p:spPr>
          <a:xfrm rot="5400000">
            <a:off x="4033333" y="3093633"/>
            <a:ext cx="234400" cy="5412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26" name="Google Shape;1226;p91"/>
          <p:cNvSpPr txBox="1"/>
          <p:nvPr/>
        </p:nvSpPr>
        <p:spPr>
          <a:xfrm>
            <a:off x="2175033" y="1840534"/>
            <a:ext cx="30092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Log is increasing; max/min properties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7" name="Google Shape;1227;p91"/>
          <p:cNvSpPr txBox="1"/>
          <p:nvPr/>
        </p:nvSpPr>
        <p:spPr>
          <a:xfrm>
            <a:off x="2247667" y="3924367"/>
            <a:ext cx="26472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For logistic regression, let 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28" name="Google Shape;1228;p91" title="[0,0,0,&quot;https://www.codecogs.com/eqnedit.php?latex=%20p_i%20%3D%20%5Csigma(%20X_i%5ET%20%5Ctheta)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64500" y="4323400"/>
            <a:ext cx="1303867" cy="276533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1"/>
          <p:cNvSpPr txBox="1"/>
          <p:nvPr/>
        </p:nvSpPr>
        <p:spPr>
          <a:xfrm>
            <a:off x="7241833" y="1850879"/>
            <a:ext cx="4875200" cy="350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Minimizing cross-entropy loss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is equivalent to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maximizing the likelihood of the training data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are choosing the model parameters that are “most likely”, given this data.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Assumption: all data drawn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independently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from the same logistic regression model with parameter </a:t>
            </a:r>
            <a:r>
              <a:rPr lang="en" sz="2133" i="1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θ</a:t>
            </a:r>
            <a:endParaRPr sz="2133" i="1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2"/>
          <p:cNvSpPr/>
          <p:nvPr/>
        </p:nvSpPr>
        <p:spPr>
          <a:xfrm>
            <a:off x="188000" y="2827400"/>
            <a:ext cx="2654800" cy="1096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"/>
                <a:ea typeface="Roboto"/>
                <a:cs typeface="Roboto"/>
                <a:sym typeface="Roboto"/>
              </a:rPr>
              <a:t>2. Choose a loss function</a:t>
            </a:r>
            <a:endParaRPr sz="2133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5" name="Google Shape;1235;p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We Did it!</a:t>
            </a:r>
            <a:endParaRPr/>
          </a:p>
        </p:txBody>
      </p:sp>
      <p:sp>
        <p:nvSpPr>
          <p:cNvPr id="1236" name="Google Shape;1236;p9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/>
          </a:p>
        </p:txBody>
      </p:sp>
      <p:sp>
        <p:nvSpPr>
          <p:cNvPr id="1237" name="Google Shape;1237;p92"/>
          <p:cNvSpPr/>
          <p:nvPr/>
        </p:nvSpPr>
        <p:spPr>
          <a:xfrm>
            <a:off x="188000" y="4111567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3. Fit the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38" name="Google Shape;1238;p92"/>
          <p:cNvSpPr/>
          <p:nvPr/>
        </p:nvSpPr>
        <p:spPr>
          <a:xfrm>
            <a:off x="188000" y="53957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4. Evaluate model performance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39" name="Google Shape;1239;p92"/>
          <p:cNvSpPr/>
          <p:nvPr/>
        </p:nvSpPr>
        <p:spPr>
          <a:xfrm>
            <a:off x="188000" y="1543233"/>
            <a:ext cx="2654800" cy="1096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1. Choose a model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1240" name="Google Shape;1240;p92"/>
          <p:cNvGrpSpPr/>
          <p:nvPr/>
        </p:nvGrpSpPr>
        <p:grpSpPr>
          <a:xfrm>
            <a:off x="3775300" y="583767"/>
            <a:ext cx="2899600" cy="574412"/>
            <a:chOff x="2456575" y="437825"/>
            <a:chExt cx="2174700" cy="430809"/>
          </a:xfrm>
        </p:grpSpPr>
        <p:sp>
          <p:nvSpPr>
            <p:cNvPr id="1241" name="Google Shape;1241;p92"/>
            <p:cNvSpPr txBox="1"/>
            <p:nvPr/>
          </p:nvSpPr>
          <p:spPr>
            <a:xfrm>
              <a:off x="2456575" y="437825"/>
              <a:ext cx="2174700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Regression</a:t>
              </a:r>
              <a:r>
                <a:rPr lang="en" sz="2133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               )</a:t>
              </a:r>
              <a:endParaRPr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1242" name="Google Shape;1242;p92" title="[0,0,0,&quot;https://www.codecogs.com/eqnedit.php?latex=y%5Cin%20%5Cmathbb%7BR%7D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692450" y="528809"/>
              <a:ext cx="676249" cy="249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3" name="Google Shape;1243;p92"/>
          <p:cNvGrpSpPr/>
          <p:nvPr/>
        </p:nvGrpSpPr>
        <p:grpSpPr>
          <a:xfrm>
            <a:off x="7952998" y="583767"/>
            <a:ext cx="3665257" cy="574412"/>
            <a:chOff x="6117149" y="437825"/>
            <a:chExt cx="2748943" cy="430809"/>
          </a:xfrm>
        </p:grpSpPr>
        <p:sp>
          <p:nvSpPr>
            <p:cNvPr id="1244" name="Google Shape;1244;p92"/>
            <p:cNvSpPr txBox="1"/>
            <p:nvPr/>
          </p:nvSpPr>
          <p:spPr>
            <a:xfrm>
              <a:off x="6117149" y="437825"/>
              <a:ext cx="2748943" cy="4308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133" u="sng" dirty="0">
                  <a:latin typeface="Roboto Light"/>
                  <a:ea typeface="Roboto Light"/>
                  <a:cs typeface="Roboto Light"/>
                  <a:sym typeface="Roboto Light"/>
                </a:rPr>
                <a:t>Classification</a:t>
              </a:r>
              <a:r>
                <a:rPr lang="en" sz="2133" dirty="0">
                  <a:latin typeface="Roboto Light"/>
                  <a:ea typeface="Roboto Light"/>
                  <a:cs typeface="Roboto Light"/>
                  <a:sym typeface="Roboto Light"/>
                </a:rPr>
                <a:t> (                     )</a:t>
              </a:r>
              <a:endParaRPr sz="2133"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1245" name="Google Shape;1245;p92" title="[0,0,0,&quot;https://www.codecogs.com/eqnedit.php?latex=%20y%20%5Cin%20%5C%7B%200%2C%201%20%5C%7D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29725" y="526721"/>
              <a:ext cx="1003601" cy="249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246" name="Google Shape;1246;p92"/>
          <p:cNvCxnSpPr/>
          <p:nvPr/>
        </p:nvCxnSpPr>
        <p:spPr>
          <a:xfrm>
            <a:off x="7012400" y="896833"/>
            <a:ext cx="0" cy="56844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47" name="Google Shape;1247;p92" title="[0,0,0,&quot;https://www.codecogs.com/eqnedit.php?latex=%5Chat%7By%7D%20%3D%20f_%7B%5Ctheta%7D(x)%20%3D%20x%5ET%5Ctheta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2330" y="2117950"/>
            <a:ext cx="2545533" cy="41633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2"/>
          <p:cNvSpPr txBox="1"/>
          <p:nvPr/>
        </p:nvSpPr>
        <p:spPr>
          <a:xfrm>
            <a:off x="3379817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49" name="Google Shape;1249;p92"/>
          <p:cNvSpPr txBox="1"/>
          <p:nvPr/>
        </p:nvSpPr>
        <p:spPr>
          <a:xfrm>
            <a:off x="3397584" y="5656734"/>
            <a:ext cx="3466400" cy="57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</a:t>
            </a:r>
            <a:r>
              <a:rPr lang="en" sz="2133" baseline="300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2</a:t>
            </a: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Residuals, etc.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0" name="Google Shape;1250;p92"/>
          <p:cNvSpPr txBox="1"/>
          <p:nvPr/>
        </p:nvSpPr>
        <p:spPr>
          <a:xfrm>
            <a:off x="3618617" y="2997933"/>
            <a:ext cx="2988800" cy="106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Squared Loss or Absolute Loss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1" name="Google Shape;1251;p92"/>
          <p:cNvSpPr txBox="1"/>
          <p:nvPr/>
        </p:nvSpPr>
        <p:spPr>
          <a:xfrm>
            <a:off x="37306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Linear Regression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2" name="Google Shape;1252;p92"/>
          <p:cNvSpPr txBox="1"/>
          <p:nvPr/>
        </p:nvSpPr>
        <p:spPr>
          <a:xfrm>
            <a:off x="8286800" y="5496233"/>
            <a:ext cx="2798800" cy="851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??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(next time)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3" name="Google Shape;1253;p92"/>
          <p:cNvSpPr txBox="1"/>
          <p:nvPr/>
        </p:nvSpPr>
        <p:spPr>
          <a:xfrm>
            <a:off x="7952984" y="4262834"/>
            <a:ext cx="3466400" cy="902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Regularization</a:t>
            </a:r>
            <a:b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Sklearn/Gradient descent</a:t>
            </a:r>
            <a:endParaRPr sz="2133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4" name="Google Shape;1254;p92"/>
          <p:cNvSpPr txBox="1"/>
          <p:nvPr/>
        </p:nvSpPr>
        <p:spPr>
          <a:xfrm>
            <a:off x="2537667" y="1239700"/>
            <a:ext cx="856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sz="3467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55" name="Google Shape;1255;p92"/>
          <p:cNvSpPr/>
          <p:nvPr/>
        </p:nvSpPr>
        <p:spPr>
          <a:xfrm>
            <a:off x="3889167" y="2044867"/>
            <a:ext cx="2654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56" name="Google Shape;1256;p92"/>
          <p:cNvSpPr/>
          <p:nvPr/>
        </p:nvSpPr>
        <p:spPr>
          <a:xfrm>
            <a:off x="5354267" y="667133"/>
            <a:ext cx="982800" cy="5748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57" name="Google Shape;1257;p92"/>
          <p:cNvSpPr txBox="1"/>
          <p:nvPr/>
        </p:nvSpPr>
        <p:spPr>
          <a:xfrm>
            <a:off x="8191784" y="1585267"/>
            <a:ext cx="29888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Logistic Regression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58" name="Google Shape;1258;p92" title="[0,0,0,&quot;https://www.codecogs.com/eqnedit.php?latex=%5Chat%7BP%7D_%7B%5Ctheta%7D(Y%20%3D%201%7Cx)%20%3D%20%5Csigma(x%5ET%5Ctheta)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36534" y="2101084"/>
            <a:ext cx="3212201" cy="41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92" title="[0,0,0,&quot;https://www.codecogs.com/eqnedit.php?latex=R(%5Ctheta)%20%3D%20-%20%5Cfrac%7B1%7D%7Bn%7D%20%5Csum_%7Bi%3D1%7D%5En%20%5Cleft(%20y_i%20%5Clog%20(%5Csigma(X_i%5ET%20%5Ctheta)%20%2B%20(1%20-%20y_i)%20%5Clog%20(1%20-%20%5Csigma(X_i%5ET%20%5Ctheta))%20%5Cright)#0&quot;]"/>
          <p:cNvPicPr preferRelativeResize="0"/>
          <p:nvPr/>
        </p:nvPicPr>
        <p:blipFill rotWithShape="1">
          <a:blip r:embed="rId7">
            <a:alphaModFix/>
          </a:blip>
          <a:srcRect l="13028" b="10"/>
          <a:stretch/>
        </p:blipFill>
        <p:spPr>
          <a:xfrm>
            <a:off x="7215601" y="3220534"/>
            <a:ext cx="4727231" cy="59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92"/>
          <p:cNvSpPr txBox="1"/>
          <p:nvPr/>
        </p:nvSpPr>
        <p:spPr>
          <a:xfrm>
            <a:off x="7792533" y="2723117"/>
            <a:ext cx="3930400" cy="74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1333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Average Cross-Entropy Loss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1" name="Google Shape;1261;p92"/>
          <p:cNvSpPr txBox="1"/>
          <p:nvPr/>
        </p:nvSpPr>
        <p:spPr>
          <a:xfrm>
            <a:off x="2537667" y="2560500"/>
            <a:ext cx="856000" cy="77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3467">
                <a:latin typeface="Roboto Light"/>
                <a:ea typeface="Roboto Light"/>
                <a:cs typeface="Roboto Light"/>
                <a:sym typeface="Roboto Light"/>
              </a:rPr>
              <a:t>✅</a:t>
            </a:r>
            <a:endParaRPr sz="3467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We’ve already introduced cross-entropy loss – why do we need additional ways of assessing how well our models perform?</a:t>
            </a:r>
            <a:endParaRPr/>
          </a:p>
          <a:p>
            <a:r>
              <a:rPr lang="en"/>
              <a:t>In linear regression, we made numerical predictions and used a loss function to determine how “good” these predictions were.</a:t>
            </a:r>
            <a:endParaRPr/>
          </a:p>
          <a:p>
            <a:pPr>
              <a:spcBef>
                <a:spcPts val="0"/>
              </a:spcBef>
            </a:pPr>
            <a:r>
              <a:rPr lang="en"/>
              <a:t>In logistic regression, our ultimate goal is to </a:t>
            </a:r>
            <a:r>
              <a:rPr lang="en" i="1"/>
              <a:t>classify</a:t>
            </a:r>
            <a:r>
              <a:rPr lang="en"/>
              <a:t> data – we are more concerned with whether or not each datapoint was assigned the correct class using the decision rule.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"/>
              <a:t>The performance metrics we are about to introduce will assess the quality of classifications, not the predicted probabilities.</a:t>
            </a:r>
            <a:endParaRPr/>
          </a:p>
        </p:txBody>
      </p:sp>
      <p:sp>
        <p:nvSpPr>
          <p:cNvPr id="490" name="Google Shape;490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Why More Performance Metrics?</a:t>
            </a:r>
            <a:endParaRPr/>
          </a:p>
        </p:txBody>
      </p:sp>
      <p:sp>
        <p:nvSpPr>
          <p:cNvPr id="492" name="Google Shape;492;p5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"/>
              <a:t>Now that we actually have our classifier, let’s try and quantify how well it performs.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"/>
              <a:t>The most basic evaluation metric for a classifier is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accuracy</a:t>
            </a:r>
            <a:r>
              <a:rPr lang="en"/>
              <a:t>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Classifier Accuracy</a:t>
            </a:r>
            <a:endParaRPr/>
          </a:p>
        </p:txBody>
      </p:sp>
      <p:sp>
        <p:nvSpPr>
          <p:cNvPr id="499" name="Google Shape;499;p5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38</a:t>
            </a:fld>
            <a:endParaRPr/>
          </a:p>
        </p:txBody>
      </p:sp>
      <p:sp>
        <p:nvSpPr>
          <p:cNvPr id="500" name="Google Shape;500;p51"/>
          <p:cNvSpPr txBox="1"/>
          <p:nvPr/>
        </p:nvSpPr>
        <p:spPr>
          <a:xfrm>
            <a:off x="273819" y="4976101"/>
            <a:ext cx="5723600" cy="52318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model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>
                <a:solidFill>
                  <a:srgbClr val="0B5394"/>
                </a:solidFill>
                <a:latin typeface="Roboto Mono"/>
                <a:ea typeface="Roboto Mono"/>
                <a:cs typeface="Roboto Mono"/>
                <a:sym typeface="Roboto Mono"/>
              </a:rPr>
              <a:t>score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(X, Y) </a:t>
            </a:r>
            <a:r>
              <a:rPr lang="en">
                <a:solidFill>
                  <a:srgbClr val="45818E"/>
                </a:solidFill>
                <a:latin typeface="Roboto Mono"/>
                <a:ea typeface="Roboto Mono"/>
                <a:cs typeface="Roboto Mono"/>
                <a:sym typeface="Roboto Mono"/>
              </a:rPr>
              <a:t># 0.794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01" name="Google Shape;501;p51"/>
          <p:cNvSpPr txBox="1"/>
          <p:nvPr/>
        </p:nvSpPr>
        <p:spPr>
          <a:xfrm>
            <a:off x="6452467" y="4973034"/>
            <a:ext cx="3338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(sklearn </a:t>
            </a:r>
            <a:r>
              <a:rPr lang="en" u="sng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documentation</a:t>
            </a: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02" name="Google Shape;502;p51" title="[0,0,0,&quot;https://www.codecogs.com/eqnedit.php?latex=%5Ctext%7Baccuracy%7D%20%3D%20%5Cfrac%7B%5Ctext%7B%5C%23%20of%20points%20classified%20correctly%7D%7D%7B%5Ctext%7B%5C%23%20points%20total%7D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5619" y="1818950"/>
            <a:ext cx="6155736" cy="769467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1"/>
          <p:cNvSpPr txBox="1"/>
          <p:nvPr/>
        </p:nvSpPr>
        <p:spPr>
          <a:xfrm>
            <a:off x="142733" y="5759834"/>
            <a:ext cx="11885600" cy="67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While widely used, the accuracy metric is </a:t>
            </a:r>
            <a:r>
              <a:rPr lang="en" sz="2133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not so meaningful</a:t>
            </a: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when dealing with </a:t>
            </a:r>
            <a:r>
              <a:rPr lang="en" sz="2133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class imbalance</a:t>
            </a: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/>
          </a:p>
        </p:txBody>
      </p:sp>
      <p:sp>
        <p:nvSpPr>
          <p:cNvPr id="504" name="Google Shape;504;p51"/>
          <p:cNvSpPr txBox="1"/>
          <p:nvPr/>
        </p:nvSpPr>
        <p:spPr>
          <a:xfrm>
            <a:off x="273819" y="3425833"/>
            <a:ext cx="6772400" cy="135417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b="1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0B5394"/>
                </a:solidFill>
                <a:latin typeface="Roboto Mono"/>
                <a:ea typeface="Roboto Mono"/>
                <a:cs typeface="Roboto Mono"/>
                <a:sym typeface="Roboto Mono"/>
              </a:rPr>
              <a:t>accuracy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(X, Y):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b="1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np.</a:t>
            </a:r>
            <a:r>
              <a:rPr lang="en">
                <a:solidFill>
                  <a:srgbClr val="0B5394"/>
                </a:solidFill>
                <a:latin typeface="Roboto Mono"/>
                <a:ea typeface="Roboto Mono"/>
                <a:cs typeface="Roboto Mono"/>
                <a:sym typeface="Roboto Mono"/>
              </a:rPr>
              <a:t>mean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(model.</a:t>
            </a:r>
            <a:r>
              <a:rPr lang="en">
                <a:solidFill>
                  <a:srgbClr val="0B5394"/>
                </a:solidFill>
                <a:latin typeface="Roboto Mono"/>
                <a:ea typeface="Roboto Mono"/>
                <a:cs typeface="Roboto Mono"/>
                <a:sym typeface="Roboto Mono"/>
              </a:rPr>
              <a:t>predict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(X) </a:t>
            </a:r>
            <a:r>
              <a:rPr lang="en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 Y)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accuracy(X, Y)</a:t>
            </a: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>
                <a:solidFill>
                  <a:srgbClr val="45818E"/>
                </a:solidFill>
                <a:latin typeface="Roboto Mono"/>
                <a:ea typeface="Roboto Mono"/>
                <a:cs typeface="Roboto Mono"/>
                <a:sym typeface="Roboto Mono"/>
              </a:rPr>
              <a:t># 0.794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/>
              <a:t>Suppose we’re trying to build a classifier to filter spam emails (Project B!).</a:t>
            </a:r>
            <a:endParaRPr/>
          </a:p>
          <a:p>
            <a:pPr>
              <a:lnSpc>
                <a:spcPct val="115000"/>
              </a:lnSpc>
              <a:buFont typeface="Calibri"/>
              <a:buChar char="●"/>
            </a:pPr>
            <a:r>
              <a:rPr lang="en"/>
              <a:t>Each email is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/>
              <a:t> (1) or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/>
              <a:t> (0).</a:t>
            </a:r>
            <a:endParaRPr/>
          </a:p>
          <a:p>
            <a:pPr marL="0" indent="0">
              <a:lnSpc>
                <a:spcPct val="115000"/>
              </a:lnSpc>
              <a:buNone/>
            </a:pPr>
            <a:r>
              <a:rPr lang="en"/>
              <a:t>Let’s say we have 100 emails, of which only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/>
              <a:t> are truly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/>
              <a:t>, and the remaining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95</a:t>
            </a:r>
            <a:r>
              <a:rPr lang="en"/>
              <a:t> are truly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/>
              <a:t>.</a:t>
            </a:r>
            <a:endParaRPr/>
          </a:p>
        </p:txBody>
      </p:sp>
      <p:sp>
        <p:nvSpPr>
          <p:cNvPr id="509" name="Google Shape;509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Pitfalls of Accuracy: A Case Study</a:t>
            </a:r>
            <a:endParaRPr/>
          </a:p>
        </p:txBody>
      </p:sp>
      <p:sp>
        <p:nvSpPr>
          <p:cNvPr id="510" name="Google Shape;510;p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39</a:t>
            </a:fld>
            <a:endParaRPr/>
          </a:p>
        </p:txBody>
      </p:sp>
      <p:sp>
        <p:nvSpPr>
          <p:cNvPr id="511" name="Google Shape;511;p52"/>
          <p:cNvSpPr/>
          <p:nvPr/>
        </p:nvSpPr>
        <p:spPr>
          <a:xfrm>
            <a:off x="771680" y="5008357"/>
            <a:ext cx="6718000" cy="1118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304792" indent="-270927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What is the accuracy of your friend’s classifier?</a:t>
            </a:r>
            <a:endParaRPr/>
          </a:p>
          <a:p>
            <a:pPr marL="304792" indent="-270927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Is accuracy a good metric of this classifier’s performance?</a:t>
            </a:r>
            <a:endParaRPr/>
          </a:p>
        </p:txBody>
      </p:sp>
      <p:grpSp>
        <p:nvGrpSpPr>
          <p:cNvPr id="513" name="Google Shape;513;p52"/>
          <p:cNvGrpSpPr/>
          <p:nvPr/>
        </p:nvGrpSpPr>
        <p:grpSpPr>
          <a:xfrm>
            <a:off x="844350" y="3429000"/>
            <a:ext cx="8720220" cy="1206314"/>
            <a:chOff x="-1137649" y="2979166"/>
            <a:chExt cx="6540165" cy="904736"/>
          </a:xfrm>
        </p:grpSpPr>
        <p:pic>
          <p:nvPicPr>
            <p:cNvPr id="514" name="Google Shape;514;p52" title="[0,0,0,&quot;https://www.codecogs.com/eqnedit.php?latex=%5Chat%7By%7D%20%3D%5C%20%5Ctext%7Bclassify%7D_%7B%5Ctext%7Bfriend%7D%7D(x)%20%3D%200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69265" y="3270784"/>
              <a:ext cx="3233251" cy="32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52"/>
            <p:cNvSpPr txBox="1"/>
            <p:nvPr/>
          </p:nvSpPr>
          <p:spPr>
            <a:xfrm>
              <a:off x="-1137649" y="2979166"/>
              <a:ext cx="3368100" cy="904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lnSpc>
                  <a:spcPct val="115000"/>
                </a:lnSpc>
                <a:spcBef>
                  <a:spcPts val="800"/>
                </a:spcBef>
                <a:spcAft>
                  <a:spcPts val="0"/>
                </a:spcAft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Your friend (“Friend 1”):</a:t>
              </a:r>
              <a:endParaRPr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>
                <a:lnSpc>
                  <a:spcPct val="115000"/>
                </a:lnSpc>
                <a:spcBef>
                  <a:spcPts val="800"/>
                </a:spcBef>
                <a:spcAft>
                  <a:spcPts val="0"/>
                </a:spcAft>
              </a:pP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Classify </a:t>
              </a:r>
              <a:r>
                <a:rPr lang="en" sz="2133" i="1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every</a:t>
              </a: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email as </a:t>
              </a:r>
              <a:r>
                <a:rPr lang="en" sz="2133" b="1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ham</a:t>
              </a:r>
              <a:r>
                <a:rPr lang="en" sz="2133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(0). </a:t>
              </a:r>
              <a:endParaRPr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516" name="Google Shape;516;p52"/>
          <p:cNvSpPr txBox="1"/>
          <p:nvPr/>
        </p:nvSpPr>
        <p:spPr>
          <a:xfrm>
            <a:off x="10955000" y="5511224"/>
            <a:ext cx="12764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6400">
                <a:latin typeface="Roboto Light"/>
                <a:ea typeface="Roboto Light"/>
                <a:cs typeface="Roboto Light"/>
                <a:sym typeface="Roboto Light"/>
              </a:rPr>
              <a:t>🤔</a:t>
            </a:r>
            <a:endParaRPr sz="64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/>
              <a:t>Suppose we’re trying to build a classifier to filter spam emails.</a:t>
            </a:r>
            <a:endParaRPr/>
          </a:p>
          <a:p>
            <a:pPr>
              <a:lnSpc>
                <a:spcPct val="115000"/>
              </a:lnSpc>
              <a:buFont typeface="Calibri"/>
              <a:buChar char="●"/>
            </a:pPr>
            <a:r>
              <a:rPr lang="en"/>
              <a:t>Each email is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/>
              <a:t> (1) or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/>
              <a:t> (0).</a:t>
            </a:r>
            <a:endParaRPr/>
          </a:p>
          <a:p>
            <a:pPr marL="0" indent="0">
              <a:lnSpc>
                <a:spcPct val="115000"/>
              </a:lnSpc>
              <a:buNone/>
            </a:pPr>
            <a:r>
              <a:rPr lang="en"/>
              <a:t>Let’s say we have 100 emails, of which only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/>
              <a:t> are truly </a:t>
            </a:r>
            <a:r>
              <a:rPr lang="en"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/>
              <a:t>, and the remaining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95</a:t>
            </a:r>
            <a:r>
              <a:rPr lang="en"/>
              <a:t> are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/>
              <a:t>.</a:t>
            </a:r>
            <a:endParaRPr/>
          </a:p>
        </p:txBody>
      </p:sp>
      <p:sp>
        <p:nvSpPr>
          <p:cNvPr id="529" name="Google Shape;529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Pitfalls of Accuracy: A Case Study</a:t>
            </a:r>
            <a:endParaRPr/>
          </a:p>
        </p:txBody>
      </p:sp>
      <p:sp>
        <p:nvSpPr>
          <p:cNvPr id="531" name="Google Shape;531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40</a:t>
            </a:fld>
            <a:endParaRPr/>
          </a:p>
        </p:txBody>
      </p:sp>
      <p:sp>
        <p:nvSpPr>
          <p:cNvPr id="532" name="Google Shape;532;p54"/>
          <p:cNvSpPr txBox="1"/>
          <p:nvPr/>
        </p:nvSpPr>
        <p:spPr>
          <a:xfrm>
            <a:off x="4448033" y="2998578"/>
            <a:ext cx="4490800" cy="120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Your friend (“Friend 1”):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Classify every email as </a:t>
            </a:r>
            <a:r>
              <a:rPr lang="en" sz="2133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(0). 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33" name="Google Shape;533;p54"/>
          <p:cNvSpPr txBox="1"/>
          <p:nvPr/>
        </p:nvSpPr>
        <p:spPr>
          <a:xfrm>
            <a:off x="4448033" y="5498539"/>
            <a:ext cx="50440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accuracy…</a:t>
            </a:r>
            <a:b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…but we detected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none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⚠️ of the spam!!!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4" name="Google Shape;534;p54" title="[0,0,0,&quot;https://www.codecogs.com/eqnedit.php?latex=%5Ctext%7Baccuracy%7D_1%20%3D%20%5Cfrac%7B95%7D%7B100%7D%20%3D%200.95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651" y="4348150"/>
            <a:ext cx="3590164" cy="726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 dirty="0"/>
              <a:t>Suppose we’re trying to build a classifier to filter spam emails.</a:t>
            </a:r>
            <a:endParaRPr dirty="0"/>
          </a:p>
          <a:p>
            <a:pPr>
              <a:lnSpc>
                <a:spcPct val="115000"/>
              </a:lnSpc>
              <a:buFont typeface="Calibri"/>
              <a:buChar char="●"/>
            </a:pPr>
            <a:r>
              <a:rPr lang="en" dirty="0"/>
              <a:t>Each email is </a:t>
            </a:r>
            <a:r>
              <a:rPr lang="en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dirty="0"/>
              <a:t> (1) or 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dirty="0"/>
              <a:t> (0).</a:t>
            </a:r>
            <a:endParaRPr dirty="0"/>
          </a:p>
          <a:p>
            <a:pPr marL="0" indent="0">
              <a:lnSpc>
                <a:spcPct val="115000"/>
              </a:lnSpc>
              <a:buNone/>
            </a:pPr>
            <a:r>
              <a:rPr lang="en" dirty="0"/>
              <a:t>Let’s say we have 100 emails, of which only </a:t>
            </a:r>
            <a:r>
              <a:rPr lang="en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dirty="0"/>
              <a:t> are truly </a:t>
            </a:r>
            <a:r>
              <a:rPr lang="en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dirty="0"/>
              <a:t>, and the remaining 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95</a:t>
            </a:r>
            <a:r>
              <a:rPr lang="en" dirty="0"/>
              <a:t> are </a:t>
            </a: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dirty="0"/>
              <a:t>.</a:t>
            </a:r>
            <a:endParaRPr dirty="0"/>
          </a:p>
        </p:txBody>
      </p:sp>
      <p:sp>
        <p:nvSpPr>
          <p:cNvPr id="529" name="Google Shape;529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Pitfalls of Accuracy: A Case Study</a:t>
            </a:r>
            <a:endParaRPr/>
          </a:p>
        </p:txBody>
      </p:sp>
      <p:sp>
        <p:nvSpPr>
          <p:cNvPr id="531" name="Google Shape;531;p5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41</a:t>
            </a:fld>
            <a:endParaRPr/>
          </a:p>
        </p:txBody>
      </p:sp>
      <p:sp>
        <p:nvSpPr>
          <p:cNvPr id="533" name="Google Shape;533;p54"/>
          <p:cNvSpPr txBox="1"/>
          <p:nvPr/>
        </p:nvSpPr>
        <p:spPr>
          <a:xfrm>
            <a:off x="4448033" y="5498539"/>
            <a:ext cx="50440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accuracy…</a:t>
            </a:r>
            <a:b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…but we detected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none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⚠️ of the spam!!!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4" name="Google Shape;534;p54" title="[0,0,0,&quot;https://www.codecogs.com/eqnedit.php?latex=%5Ctext%7Baccuracy%7D_1%20%3D%20%5Cfrac%7B95%7D%7B100%7D%20%3D%200.95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1880" y="4926336"/>
            <a:ext cx="3590164" cy="7263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62;p56">
            <a:extLst>
              <a:ext uri="{FF2B5EF4-FFF2-40B4-BE49-F238E27FC236}">
                <a16:creationId xmlns:a16="http://schemas.microsoft.com/office/drawing/2014/main" id="{FA1A501E-FC34-3DDE-0086-FA3DB273F7BA}"/>
              </a:ext>
            </a:extLst>
          </p:cNvPr>
          <p:cNvSpPr/>
          <p:nvPr/>
        </p:nvSpPr>
        <p:spPr>
          <a:xfrm>
            <a:off x="4870420" y="3275122"/>
            <a:ext cx="4685460" cy="115719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Accuracy is not always a good metric for classification, particularly when your data have</a:t>
            </a:r>
            <a:br>
              <a:rPr lang="en" dirty="0"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b="1" dirty="0">
                <a:latin typeface="Roboto"/>
                <a:ea typeface="Roboto"/>
                <a:cs typeface="Roboto"/>
                <a:sym typeface="Roboto"/>
              </a:rPr>
              <a:t>class imbalance</a:t>
            </a: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 (e.g., very few 1’s compared to 0’s).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" name="Google Shape;567;p56">
            <a:extLst>
              <a:ext uri="{FF2B5EF4-FFF2-40B4-BE49-F238E27FC236}">
                <a16:creationId xmlns:a16="http://schemas.microsoft.com/office/drawing/2014/main" id="{9987464B-4013-0416-FD90-43369A552E6B}"/>
              </a:ext>
            </a:extLst>
          </p:cNvPr>
          <p:cNvSpPr/>
          <p:nvPr/>
        </p:nvSpPr>
        <p:spPr>
          <a:xfrm rot="5400000">
            <a:off x="7423842" y="1427092"/>
            <a:ext cx="297565" cy="3005590"/>
          </a:xfrm>
          <a:prstGeom prst="rightBrace">
            <a:avLst>
              <a:gd name="adj1" fmla="val 50000"/>
              <a:gd name="adj2" fmla="val 64198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19924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 txBox="1"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2400" dirty="0"/>
              <a:t>There are four different classifications that our model might make:</a:t>
            </a:r>
          </a:p>
          <a:p>
            <a:pPr lvl="1"/>
            <a:r>
              <a:rPr lang="en-US" sz="2000" dirty="0"/>
              <a:t>True </a:t>
            </a:r>
            <a:r>
              <a:rPr lang="en-US" sz="2000" dirty="0">
                <a:solidFill>
                  <a:srgbClr val="008000"/>
                </a:solidFill>
              </a:rPr>
              <a:t>positive</a:t>
            </a:r>
            <a:r>
              <a:rPr lang="en-US" sz="2000" dirty="0"/>
              <a:t>: correctly classify a positive point as being positive (                     )</a:t>
            </a:r>
          </a:p>
          <a:p>
            <a:pPr lvl="1"/>
            <a:r>
              <a:rPr lang="en-US" sz="2000" dirty="0">
                <a:sym typeface="Roboto Light"/>
              </a:rPr>
              <a:t>False </a:t>
            </a:r>
            <a:r>
              <a:rPr lang="en-US" sz="2000" dirty="0">
                <a:solidFill>
                  <a:srgbClr val="008000"/>
                </a:solidFill>
                <a:sym typeface="Roboto Light"/>
              </a:rPr>
              <a:t>positive</a:t>
            </a:r>
            <a:r>
              <a:rPr lang="en-US" sz="2000" dirty="0">
                <a:sym typeface="Roboto Light"/>
              </a:rPr>
              <a:t>: incorrectly classify a negative point as being positive  (                      )</a:t>
            </a:r>
          </a:p>
          <a:p>
            <a:pPr lvl="1"/>
            <a:r>
              <a:rPr lang="en-US" sz="2000" dirty="0">
                <a:sym typeface="Roboto Light"/>
              </a:rPr>
              <a:t>False </a:t>
            </a:r>
            <a:r>
              <a:rPr lang="en-US" sz="2000" dirty="0">
                <a:solidFill>
                  <a:srgbClr val="C00000"/>
                </a:solidFill>
                <a:sym typeface="Roboto Light"/>
              </a:rPr>
              <a:t>negative</a:t>
            </a:r>
            <a:r>
              <a:rPr lang="en-US" sz="2000" dirty="0">
                <a:sym typeface="Roboto Light"/>
              </a:rPr>
              <a:t>: incorrectly classify a positive point as being negative  (                      )</a:t>
            </a:r>
          </a:p>
          <a:p>
            <a:pPr lvl="1"/>
            <a:r>
              <a:rPr lang="en-US" sz="2000" dirty="0">
                <a:sym typeface="Roboto Light"/>
              </a:rPr>
              <a:t>True </a:t>
            </a:r>
            <a:r>
              <a:rPr lang="en-US" sz="2000" dirty="0">
                <a:solidFill>
                  <a:srgbClr val="C00000"/>
                </a:solidFill>
                <a:sym typeface="Roboto Light"/>
              </a:rPr>
              <a:t>negative</a:t>
            </a:r>
            <a:r>
              <a:rPr lang="en-US" sz="2000" dirty="0">
                <a:sym typeface="Roboto Light"/>
              </a:rPr>
              <a:t>: correctly classify a negative point as being negative (                      )</a:t>
            </a:r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81" name="Google Shape;581;p58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Types of Classifications</a:t>
            </a:r>
          </a:p>
        </p:txBody>
      </p:sp>
      <p:sp>
        <p:nvSpPr>
          <p:cNvPr id="583" name="Google Shape;583;p58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42</a:t>
            </a:fld>
            <a:endParaRPr lang="en"/>
          </a:p>
        </p:txBody>
      </p:sp>
      <p:pic>
        <p:nvPicPr>
          <p:cNvPr id="584" name="Google Shape;584;p58" descr="{&quot;backgroundColor&quot;:&quot;#FFFFFF&quot;,&quot;code&quot;:&quot;$y=1,\\,\\hat{y}=1$&quot;,&quot;id&quot;:&quot;8&quot;,&quot;aid&quot;:null,&quot;type&quot;:&quot;$&quot;,&quot;font&quot;:{&quot;family&quot;:&quot;Arial&quot;,&quot;size&quot;:12,&quot;color&quot;:&quot;#000000&quot;},&quot;ts&quot;:1690303886847,&quot;cs&quot;:&quot;GCxY1ubWfNZtPltjXHnuhw==&quot;,&quot;size&quot;:{&quot;width&quot;:98.33333333333333,&quot;height&quot;:16.5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3834" y="1673658"/>
            <a:ext cx="1248833" cy="209551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8"/>
          <p:cNvSpPr txBox="1"/>
          <p:nvPr/>
        </p:nvSpPr>
        <p:spPr>
          <a:xfrm>
            <a:off x="43014" y="5530657"/>
            <a:ext cx="4925226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A confusion matrix plots these quantities for a particular classifier and dataset.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586" name="Google Shape;586;p58"/>
          <p:cNvGraphicFramePr/>
          <p:nvPr>
            <p:extLst>
              <p:ext uri="{D42A27DB-BD31-4B8C-83A1-F6EECF244321}">
                <p14:modId xmlns:p14="http://schemas.microsoft.com/office/powerpoint/2010/main" val="4258882892"/>
              </p:ext>
            </p:extLst>
          </p:nvPr>
        </p:nvGraphicFramePr>
        <p:xfrm>
          <a:off x="6404651" y="4141291"/>
          <a:ext cx="4706067" cy="237761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5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21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 dirty="0">
                          <a:solidFill>
                            <a:srgbClr val="008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100" b="1" dirty="0">
                        <a:solidFill>
                          <a:srgbClr val="008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2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True </a:t>
                      </a:r>
                      <a:r>
                        <a:rPr lang="en" sz="21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negative</a:t>
                      </a:r>
                      <a:r>
                        <a:rPr lang="en" sz="21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(TN)</a:t>
                      </a:r>
                      <a:endParaRPr sz="2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False </a:t>
                      </a:r>
                      <a:r>
                        <a:rPr lang="en" sz="2100" b="1" dirty="0">
                          <a:solidFill>
                            <a:srgbClr val="008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positive</a:t>
                      </a:r>
                      <a:r>
                        <a:rPr lang="en" sz="2100" dirty="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(FP)</a:t>
                      </a:r>
                      <a:endParaRPr sz="2100" dirty="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04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2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False </a:t>
                      </a:r>
                      <a:r>
                        <a:rPr lang="en" sz="21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negative</a:t>
                      </a:r>
                      <a:r>
                        <a:rPr lang="en" sz="210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(FN)</a:t>
                      </a:r>
                      <a:endParaRPr sz="2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dirty="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True </a:t>
                      </a:r>
                      <a:r>
                        <a:rPr lang="en" sz="2100" b="1" dirty="0">
                          <a:solidFill>
                            <a:srgbClr val="008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positive</a:t>
                      </a:r>
                      <a:r>
                        <a:rPr lang="en" sz="2100" dirty="0">
                          <a:solidFill>
                            <a:srgbClr val="000000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 (TP)</a:t>
                      </a:r>
                      <a:endParaRPr sz="2100" dirty="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7" name="Google Shape;587;p58"/>
          <p:cNvSpPr txBox="1"/>
          <p:nvPr/>
        </p:nvSpPr>
        <p:spPr>
          <a:xfrm rot="-5400000">
            <a:off x="5303787" y="5154000"/>
            <a:ext cx="1662000" cy="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Actual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8" name="Google Shape;588;p58"/>
          <p:cNvSpPr txBox="1"/>
          <p:nvPr/>
        </p:nvSpPr>
        <p:spPr>
          <a:xfrm>
            <a:off x="8038567" y="3613119"/>
            <a:ext cx="16620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89" name="Google Shape;589;p58" title="[0,0,0,&quot;https://www.codecogs.com/eqnedit.php?latex=y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053133" y="4650500"/>
            <a:ext cx="187800" cy="262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58" title="[0,0,0,&quot;https://www.codecogs.com/eqnedit.php?latex=%5Chat%7By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66560" y="3678535"/>
            <a:ext cx="187800" cy="36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8" descr="{&quot;backgroundColorModified&quot;:false,&quot;aid&quot;:null,&quot;font&quot;:{&quot;family&quot;:&quot;Roboto&quot;,&quot;color&quot;:&quot;#000000&quot;,&quot;size&quot;:12},&quot;backgroundColor&quot;:&quot;#FFFFFF&quot;,&quot;code&quot;:&quot;$y=0,\\,\\hat{y}=0$&quot;,&quot;type&quot;:&quot;$&quot;,&quot;id&quot;:&quot;8&quot;,&quot;ts&quot;:1690304941208,&quot;cs&quot;:&quot;GpqQtj3w4uYS+uatLys+Ow==&quot;,&quot;size&quot;:{&quot;width&quot;:99,&quot;height&quot;:16.5}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60454" y="2802698"/>
            <a:ext cx="1257300" cy="20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58" descr="{&quot;id&quot;:&quot;9&quot;,&quot;backgroundColorModified&quot;:false,&quot;code&quot;:&quot;$\\,y=0,\\,\\hat{y}=1$&quot;,&quot;backgroundColor&quot;:&quot;#FFFFFF&quot;,&quot;font&quot;:{&quot;color&quot;:&quot;#000000&quot;,&quot;family&quot;:&quot;Roboto&quot;,&quot;size&quot;:14},&quot;type&quot;:&quot;$&quot;,&quot;aid&quot;:null,&quot;ts&quot;:1690305032592,&quot;cs&quot;:&quot;ZzrcS5xXBx9zzj6JedMwgw==&quot;,&quot;size&quot;:{&quot;width&quot;:98.99996561679795,&quot;height&quot;:16.726661417322816}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917" y="2049547"/>
            <a:ext cx="1257300" cy="21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8" descr="{&quot;type&quot;:&quot;$&quot;,&quot;backgroundColor&quot;:&quot;#FFFFFF&quot;,&quot;font&quot;:{&quot;family&quot;:&quot;Roboto&quot;,&quot;color&quot;:&quot;#000000&quot;,&quot;size&quot;:12},&quot;code&quot;:&quot;$y=1,\\,\\hat{y}=0$&quot;,&quot;id&quot;:&quot;8&quot;,&quot;aid&quot;:null,&quot;backgroundColorModified&quot;:false,&quot;ts&quot;:1690305058225,&quot;cs&quot;:&quot;VFkYBKxYnN3ikr/KvKXeOw==&quot;,&quot;size&quot;:{&quot;width&quot;:85.33333333333333,&quot;height&quot;:14.333333333333334}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79017" y="2413909"/>
            <a:ext cx="1257300" cy="211187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8"/>
          <p:cNvSpPr/>
          <p:nvPr/>
        </p:nvSpPr>
        <p:spPr>
          <a:xfrm>
            <a:off x="898214" y="3642640"/>
            <a:ext cx="4515200" cy="105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“</a:t>
            </a:r>
            <a:r>
              <a:rPr lang="en" sz="2133" b="1" dirty="0">
                <a:solidFill>
                  <a:srgbClr val="008000"/>
                </a:solidFill>
                <a:latin typeface="Roboto"/>
                <a:ea typeface="Roboto"/>
                <a:cs typeface="Roboto"/>
                <a:sym typeface="Roboto"/>
              </a:rPr>
              <a:t>positive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” means a prediction of </a:t>
            </a:r>
            <a:r>
              <a:rPr lang="en" sz="2133" b="1" dirty="0">
                <a:solidFill>
                  <a:srgbClr val="008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b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“</a:t>
            </a:r>
            <a:r>
              <a:rPr lang="en" sz="2133" b="1" dirty="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negative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” means a prediction of </a:t>
            </a:r>
            <a:r>
              <a:rPr lang="en" sz="2133" b="1" dirty="0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Types of Classifications</a:t>
            </a:r>
            <a:endParaRPr/>
          </a:p>
        </p:txBody>
      </p:sp>
      <p:sp>
        <p:nvSpPr>
          <p:cNvPr id="603" name="Google Shape;603;p5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43</a:t>
            </a:fld>
            <a:endParaRPr/>
          </a:p>
        </p:txBody>
      </p:sp>
      <p:sp>
        <p:nvSpPr>
          <p:cNvPr id="604" name="Google Shape;604;p59"/>
          <p:cNvSpPr txBox="1"/>
          <p:nvPr/>
        </p:nvSpPr>
        <p:spPr>
          <a:xfrm>
            <a:off x="0" y="1487008"/>
            <a:ext cx="11527200" cy="13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A confusion matrix plots these quantities for a particular classifier and dataset.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In </a:t>
            </a:r>
            <a:r>
              <a:rPr lang="en" sz="2133" dirty="0">
                <a:latin typeface="Consolas"/>
                <a:ea typeface="Consolas"/>
                <a:cs typeface="Consolas"/>
                <a:sym typeface="Consolas"/>
              </a:rPr>
              <a:t>sklearn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: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5" name="Google Shape;605;p59"/>
          <p:cNvSpPr txBox="1"/>
          <p:nvPr/>
        </p:nvSpPr>
        <p:spPr>
          <a:xfrm>
            <a:off x="155233" y="3103793"/>
            <a:ext cx="6737200" cy="84172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" b="1" dirty="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sklearn.</a:t>
            </a:r>
            <a:r>
              <a:rPr lang="en" dirty="0">
                <a:solidFill>
                  <a:srgbClr val="0070C0"/>
                </a:solidFill>
                <a:latin typeface="Roboto Mono"/>
                <a:ea typeface="Roboto Mono"/>
                <a:cs typeface="Roboto Mono"/>
                <a:sym typeface="Roboto Mono"/>
              </a:rPr>
              <a:t>metrics</a:t>
            </a:r>
            <a:r>
              <a:rPr lang="en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b="1" dirty="0">
                <a:solidFill>
                  <a:srgbClr val="00B050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confusion_matrix</a:t>
            </a:r>
            <a:endParaRPr dirty="0"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Mono"/>
                <a:ea typeface="Roboto Mono"/>
                <a:cs typeface="Roboto Mono"/>
                <a:sym typeface="Roboto Mono"/>
              </a:rPr>
              <a:t>cm = confusion_matrix(Y_true, Y_pred)</a:t>
            </a:r>
            <a:endParaRPr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06" name="Google Shape;60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467" y="1931600"/>
            <a:ext cx="3788733" cy="3351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Accuracy, Precision, and Recall</a:t>
            </a:r>
            <a:endParaRPr/>
          </a:p>
        </p:txBody>
      </p:sp>
      <p:sp>
        <p:nvSpPr>
          <p:cNvPr id="612" name="Google Shape;612;p6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44</a:t>
            </a:fld>
            <a:endParaRPr/>
          </a:p>
        </p:txBody>
      </p:sp>
      <p:pic>
        <p:nvPicPr>
          <p:cNvPr id="613" name="Google Shape;613;p60" title="[0,0,0,&quot;https://www.codecogs.com/eqnedit.php?latex=%5Ctext%7Baccuracy%7D%20%3D%20%5Cfrac%7BTP%20%2B%20TN%7D%7Bn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19" y="1257880"/>
            <a:ext cx="2709332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60"/>
          <p:cNvSpPr/>
          <p:nvPr/>
        </p:nvSpPr>
        <p:spPr>
          <a:xfrm>
            <a:off x="9685815" y="1042147"/>
            <a:ext cx="2320400" cy="220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615" name="Google Shape;615;p60"/>
          <p:cNvGraphicFramePr/>
          <p:nvPr/>
        </p:nvGraphicFramePr>
        <p:xfrm>
          <a:off x="10056465" y="1430288"/>
          <a:ext cx="1816800" cy="174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6AA8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6" name="Google Shape;616;p60"/>
          <p:cNvSpPr txBox="1"/>
          <p:nvPr/>
        </p:nvSpPr>
        <p:spPr>
          <a:xfrm rot="-5400000">
            <a:off x="9156281" y="1968647"/>
            <a:ext cx="14212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Actual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7" name="Google Shape;617;p60"/>
          <p:cNvSpPr txBox="1"/>
          <p:nvPr/>
        </p:nvSpPr>
        <p:spPr>
          <a:xfrm>
            <a:off x="10387981" y="1086680"/>
            <a:ext cx="1294400" cy="3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8" name="Google Shape;618;p60"/>
          <p:cNvSpPr txBox="1"/>
          <p:nvPr/>
        </p:nvSpPr>
        <p:spPr>
          <a:xfrm>
            <a:off x="3822016" y="927373"/>
            <a:ext cx="34956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What proportion of points did our classifier classify correctly?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9" name="Google Shape;619;p60"/>
          <p:cNvSpPr/>
          <p:nvPr/>
        </p:nvSpPr>
        <p:spPr>
          <a:xfrm>
            <a:off x="10068567" y="1412433"/>
            <a:ext cx="1789600" cy="1766000"/>
          </a:xfrm>
          <a:prstGeom prst="rect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1"/>
          <p:cNvSpPr txBox="1">
            <a:spLocks noGrp="1"/>
          </p:cNvSpPr>
          <p:nvPr>
            <p:ph idx="1"/>
          </p:nvPr>
        </p:nvSpPr>
        <p:spPr>
          <a:xfrm>
            <a:off x="185785" y="1738270"/>
            <a:ext cx="11295001" cy="414105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>
                <a:sym typeface="Roboto"/>
              </a:rPr>
              <a:t>Precision</a:t>
            </a:r>
            <a:r>
              <a:rPr lang="en" sz="2000" dirty="0"/>
              <a:t> and recall are two commonly used metrics that</a:t>
            </a:r>
            <a:br>
              <a:rPr lang="en" sz="2000" dirty="0"/>
            </a:br>
            <a:r>
              <a:rPr lang="en" sz="2000" dirty="0"/>
              <a:t>measure performance even in the presence of class imbalance.</a:t>
            </a:r>
            <a:endParaRPr sz="2000" dirty="0"/>
          </a:p>
        </p:txBody>
      </p:sp>
      <p:sp>
        <p:nvSpPr>
          <p:cNvPr id="624" name="Google Shape;624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Accuracy, Precision, and Recall</a:t>
            </a:r>
            <a:endParaRPr/>
          </a:p>
        </p:txBody>
      </p:sp>
      <p:sp>
        <p:nvSpPr>
          <p:cNvPr id="625" name="Google Shape;625;p6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45</a:t>
            </a:fld>
            <a:endParaRPr/>
          </a:p>
        </p:txBody>
      </p:sp>
      <p:pic>
        <p:nvPicPr>
          <p:cNvPr id="626" name="Google Shape;626;p61" title="[0,0,0,&quot;https://www.codecogs.com/eqnedit.php?latex=%5Ctext%7Baccuracy%7D%20%3D%20%5Cfrac%7BTP%20%2B%20TN%7D%7Bn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01" y="983467"/>
            <a:ext cx="2709332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61"/>
          <p:cNvSpPr/>
          <p:nvPr/>
        </p:nvSpPr>
        <p:spPr>
          <a:xfrm>
            <a:off x="9685815" y="1042147"/>
            <a:ext cx="2320400" cy="220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628" name="Google Shape;628;p61"/>
          <p:cNvGraphicFramePr/>
          <p:nvPr/>
        </p:nvGraphicFramePr>
        <p:xfrm>
          <a:off x="10056465" y="1430288"/>
          <a:ext cx="1816800" cy="174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6AA8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29" name="Google Shape;629;p61"/>
          <p:cNvSpPr txBox="1"/>
          <p:nvPr/>
        </p:nvSpPr>
        <p:spPr>
          <a:xfrm rot="-5400000">
            <a:off x="9156281" y="1968647"/>
            <a:ext cx="14212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Actual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0" name="Google Shape;630;p61"/>
          <p:cNvSpPr txBox="1"/>
          <p:nvPr/>
        </p:nvSpPr>
        <p:spPr>
          <a:xfrm>
            <a:off x="10387981" y="1086680"/>
            <a:ext cx="1294400" cy="3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32" name="Google Shape;632;p61"/>
          <p:cNvGrpSpPr/>
          <p:nvPr/>
        </p:nvGrpSpPr>
        <p:grpSpPr>
          <a:xfrm>
            <a:off x="343700" y="3258502"/>
            <a:ext cx="11218000" cy="1477287"/>
            <a:chOff x="257775" y="2443875"/>
            <a:chExt cx="8413500" cy="1107965"/>
          </a:xfrm>
        </p:grpSpPr>
        <p:sp>
          <p:nvSpPr>
            <p:cNvPr id="633" name="Google Shape;633;p61"/>
            <p:cNvSpPr/>
            <p:nvPr/>
          </p:nvSpPr>
          <p:spPr>
            <a:xfrm>
              <a:off x="1876621" y="2928347"/>
              <a:ext cx="325800" cy="226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pic>
          <p:nvPicPr>
            <p:cNvPr id="634" name="Google Shape;634;p61" title="[0,0,0,&quot;https://www.codecogs.com/eqnedit.php?latex=%5Ctext%7Bprecision%7D%20%3D%20%5Cfrac%7BTP%7D%7BTP%20%2B%20FP%7D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7775" y="2675325"/>
              <a:ext cx="1955800" cy="44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61"/>
            <p:cNvSpPr txBox="1"/>
            <p:nvPr/>
          </p:nvSpPr>
          <p:spPr>
            <a:xfrm>
              <a:off x="2872275" y="2443875"/>
              <a:ext cx="5799000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2000" dirty="0">
                  <a:latin typeface="Roboto Light"/>
                  <a:ea typeface="Roboto Light"/>
                  <a:cs typeface="Roboto Light"/>
                  <a:sym typeface="Roboto Light"/>
                </a:rPr>
                <a:t>Of all observations that were predicted to be 1, what proportion were actually 1?</a:t>
              </a:r>
              <a:endParaRPr sz="2000" dirty="0"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609585" indent="-440256">
                <a:spcBef>
                  <a:spcPts val="0"/>
                </a:spcBef>
                <a:spcAft>
                  <a:spcPts val="0"/>
                </a:spcAft>
                <a:buSzPts val="1600"/>
                <a:buFont typeface="Roboto Light"/>
                <a:buChar char="●"/>
              </a:pPr>
              <a:r>
                <a:rPr lang="en" sz="2000" dirty="0">
                  <a:latin typeface="Roboto Light"/>
                  <a:ea typeface="Roboto Light"/>
                  <a:cs typeface="Roboto Light"/>
                  <a:sym typeface="Roboto Light"/>
                </a:rPr>
                <a:t>How </a:t>
              </a:r>
              <a:r>
                <a:rPr lang="en" sz="2000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precise</a:t>
              </a:r>
              <a:r>
                <a:rPr lang="en" sz="2000" dirty="0">
                  <a:solidFill>
                    <a:schemeClr val="accent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 </a:t>
              </a:r>
              <a:r>
                <a:rPr lang="en" sz="2000" dirty="0">
                  <a:latin typeface="Roboto Light"/>
                  <a:ea typeface="Roboto Light"/>
                  <a:cs typeface="Roboto Light"/>
                  <a:sym typeface="Roboto Light"/>
                </a:rPr>
                <a:t>is our classifier </a:t>
              </a:r>
              <a:r>
                <a:rPr lang="en" sz="2000" b="1" dirty="0">
                  <a:solidFill>
                    <a:schemeClr val="accent3"/>
                  </a:solidFill>
                  <a:latin typeface="Roboto"/>
                  <a:ea typeface="Roboto"/>
                  <a:cs typeface="Roboto"/>
                  <a:sym typeface="Roboto"/>
                </a:rPr>
                <a:t>when it is positive</a:t>
              </a:r>
              <a:r>
                <a:rPr lang="en" sz="2000" dirty="0">
                  <a:latin typeface="Roboto Light"/>
                  <a:ea typeface="Roboto Light"/>
                  <a:cs typeface="Roboto Light"/>
                  <a:sym typeface="Roboto Light"/>
                </a:rPr>
                <a:t>?</a:t>
              </a:r>
              <a:endParaRPr sz="2000" dirty="0"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marL="609585" indent="-440256">
                <a:spcBef>
                  <a:spcPts val="0"/>
                </a:spcBef>
                <a:spcAft>
                  <a:spcPts val="0"/>
                </a:spcAft>
                <a:buSzPts val="1600"/>
                <a:buFont typeface="Roboto Light"/>
                <a:buChar char="●"/>
              </a:pPr>
              <a:r>
                <a:rPr lang="en" sz="2000" dirty="0">
                  <a:latin typeface="Roboto Light"/>
                  <a:ea typeface="Roboto Light"/>
                  <a:cs typeface="Roboto Light"/>
                  <a:sym typeface="Roboto Light"/>
                </a:rPr>
                <a:t>Penalizes false positives.</a:t>
              </a:r>
              <a:endParaRPr sz="2000" dirty="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636" name="Google Shape;636;p61"/>
          <p:cNvSpPr/>
          <p:nvPr/>
        </p:nvSpPr>
        <p:spPr>
          <a:xfrm>
            <a:off x="11289467" y="1427636"/>
            <a:ext cx="568800" cy="17508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37" name="Google Shape;637;p61"/>
          <p:cNvSpPr txBox="1"/>
          <p:nvPr/>
        </p:nvSpPr>
        <p:spPr>
          <a:xfrm>
            <a:off x="3829700" y="714701"/>
            <a:ext cx="34956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What proportion of points did our classifier classify correctly?</a:t>
            </a:r>
            <a:endParaRPr sz="2133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38" name="Google Shape;638;p61"/>
          <p:cNvSpPr/>
          <p:nvPr/>
        </p:nvSpPr>
        <p:spPr>
          <a:xfrm>
            <a:off x="174400" y="846733"/>
            <a:ext cx="3156800" cy="9780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2"/>
          <p:cNvSpPr/>
          <p:nvPr/>
        </p:nvSpPr>
        <p:spPr>
          <a:xfrm>
            <a:off x="2502161" y="3904463"/>
            <a:ext cx="434400" cy="301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644" name="Google Shape;644;p62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00" y="3567100"/>
            <a:ext cx="2607733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62"/>
          <p:cNvSpPr/>
          <p:nvPr/>
        </p:nvSpPr>
        <p:spPr>
          <a:xfrm>
            <a:off x="2197361" y="5601504"/>
            <a:ext cx="434400" cy="271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46" name="Google Shape;646;p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Accuracy, Precision, and Recall</a:t>
            </a:r>
            <a:endParaRPr/>
          </a:p>
        </p:txBody>
      </p:sp>
      <p:sp>
        <p:nvSpPr>
          <p:cNvPr id="647" name="Google Shape;647;p6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46</a:t>
            </a:fld>
            <a:endParaRPr/>
          </a:p>
        </p:txBody>
      </p:sp>
      <p:sp>
        <p:nvSpPr>
          <p:cNvPr id="654" name="Google Shape;654;p62"/>
          <p:cNvSpPr txBox="1">
            <a:spLocks noGrp="1"/>
          </p:cNvSpPr>
          <p:nvPr>
            <p:ph idx="4294967295"/>
          </p:nvPr>
        </p:nvSpPr>
        <p:spPr>
          <a:xfrm>
            <a:off x="216607" y="2248107"/>
            <a:ext cx="9156439" cy="10195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000" dirty="0"/>
              <a:t>Precision and </a:t>
            </a:r>
            <a:r>
              <a:rPr lang="en" sz="20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recall</a:t>
            </a:r>
            <a:r>
              <a:rPr lang="en" sz="2000" dirty="0"/>
              <a:t> are two commonly used metrics that</a:t>
            </a:r>
            <a:br>
              <a:rPr lang="en" sz="2000" dirty="0"/>
            </a:br>
            <a:r>
              <a:rPr lang="en" sz="2000" dirty="0"/>
              <a:t>measure performance even in the presence of class imbalance.</a:t>
            </a:r>
            <a:endParaRPr sz="2000" dirty="0"/>
          </a:p>
        </p:txBody>
      </p:sp>
      <p:pic>
        <p:nvPicPr>
          <p:cNvPr id="648" name="Google Shape;648;p62" title="[0,0,0,&quot;https://www.codecogs.com/eqnedit.php?latex=%5Ctext%7Baccuracy%7D%20%3D%20%5Cfrac%7BTP%20%2B%20TN%7D%7Bn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35" y="1243494"/>
            <a:ext cx="2709332" cy="592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2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500" y="5250333"/>
            <a:ext cx="2235200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2"/>
          <p:cNvSpPr/>
          <p:nvPr/>
        </p:nvSpPr>
        <p:spPr>
          <a:xfrm>
            <a:off x="9685815" y="1042147"/>
            <a:ext cx="2320400" cy="220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651" name="Google Shape;651;p62"/>
          <p:cNvGraphicFramePr/>
          <p:nvPr/>
        </p:nvGraphicFramePr>
        <p:xfrm>
          <a:off x="10056465" y="1430288"/>
          <a:ext cx="1816800" cy="174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6AA8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52" name="Google Shape;652;p62"/>
          <p:cNvSpPr txBox="1"/>
          <p:nvPr/>
        </p:nvSpPr>
        <p:spPr>
          <a:xfrm rot="-5400000">
            <a:off x="9156281" y="1968647"/>
            <a:ext cx="14212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Actual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3" name="Google Shape;653;p62"/>
          <p:cNvSpPr txBox="1"/>
          <p:nvPr/>
        </p:nvSpPr>
        <p:spPr>
          <a:xfrm>
            <a:off x="10387981" y="1086680"/>
            <a:ext cx="1294400" cy="3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5" name="Google Shape;655;p62"/>
          <p:cNvSpPr txBox="1"/>
          <p:nvPr/>
        </p:nvSpPr>
        <p:spPr>
          <a:xfrm>
            <a:off x="3829700" y="922169"/>
            <a:ext cx="34956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What proportion of points did our classifier classify correctly?</a:t>
            </a:r>
            <a:endParaRPr sz="20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6" name="Google Shape;656;p62"/>
          <p:cNvSpPr txBox="1"/>
          <p:nvPr/>
        </p:nvSpPr>
        <p:spPr>
          <a:xfrm>
            <a:off x="3829700" y="3267060"/>
            <a:ext cx="77320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0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Of all observations that were predicted to be 1, what proportion were actually 1?</a:t>
            </a:r>
            <a:endParaRPr sz="20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Char char="●"/>
            </a:pPr>
            <a:r>
              <a:rPr lang="en" sz="20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How accurate is our classifier when it is positive?</a:t>
            </a:r>
            <a:endParaRPr sz="20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Char char="●"/>
            </a:pPr>
            <a:r>
              <a:rPr lang="en" sz="2000" dirty="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Penalizes false positives.</a:t>
            </a:r>
            <a:endParaRPr sz="2000" dirty="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7" name="Google Shape;657;p62"/>
          <p:cNvSpPr txBox="1"/>
          <p:nvPr/>
        </p:nvSpPr>
        <p:spPr>
          <a:xfrm>
            <a:off x="3829700" y="4919701"/>
            <a:ext cx="7732000" cy="1559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Of all observations that were actually 1, what proportion did we predict to be 1? (Also known as sensitivity.)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How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sensitive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is our classifier to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positives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?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Penalizes false negatives.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58" name="Google Shape;658;p62"/>
          <p:cNvSpPr/>
          <p:nvPr/>
        </p:nvSpPr>
        <p:spPr>
          <a:xfrm>
            <a:off x="216607" y="950550"/>
            <a:ext cx="3156800" cy="9780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sz="1600"/>
          </a:p>
        </p:txBody>
      </p:sp>
      <p:sp>
        <p:nvSpPr>
          <p:cNvPr id="659" name="Google Shape;659;p62"/>
          <p:cNvSpPr/>
          <p:nvPr/>
        </p:nvSpPr>
        <p:spPr>
          <a:xfrm rot="-5400000">
            <a:off x="10653233" y="1951867"/>
            <a:ext cx="600000" cy="18180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60" name="Google Shape;660;p62"/>
          <p:cNvSpPr/>
          <p:nvPr/>
        </p:nvSpPr>
        <p:spPr>
          <a:xfrm>
            <a:off x="174400" y="3374433"/>
            <a:ext cx="3156800" cy="978000"/>
          </a:xfrm>
          <a:prstGeom prst="rect">
            <a:avLst/>
          </a:prstGeom>
          <a:solidFill>
            <a:srgbClr val="FFFFFF">
              <a:alpha val="687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One of the Most Valuable Graphics on Wikipedia</a:t>
            </a:r>
            <a:endParaRPr/>
          </a:p>
        </p:txBody>
      </p:sp>
      <p:sp>
        <p:nvSpPr>
          <p:cNvPr id="666" name="Google Shape;666;p6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47</a:t>
            </a:fld>
            <a:endParaRPr/>
          </a:p>
        </p:txBody>
      </p:sp>
      <p:sp>
        <p:nvSpPr>
          <p:cNvPr id="667" name="Google Shape;667;p63"/>
          <p:cNvSpPr txBox="1"/>
          <p:nvPr/>
        </p:nvSpPr>
        <p:spPr>
          <a:xfrm>
            <a:off x="8997967" y="6365600"/>
            <a:ext cx="2594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latin typeface="Roboto Light"/>
                <a:ea typeface="Roboto Light"/>
                <a:cs typeface="Roboto Light"/>
                <a:sym typeface="Roboto Light"/>
              </a:rPr>
              <a:t>[adapted from </a:t>
            </a:r>
            <a:r>
              <a:rPr lang="en" sz="1600" u="sng" dirty="0">
                <a:solidFill>
                  <a:schemeClr val="hlink"/>
                </a:solidFill>
                <a:latin typeface="Roboto Light"/>
                <a:ea typeface="Roboto Light"/>
                <a:cs typeface="Roboto Light"/>
                <a:sym typeface="Roboto Light"/>
                <a:hlinkClick r:id="rId3"/>
              </a:rPr>
              <a:t>Wikipedia</a:t>
            </a:r>
            <a:r>
              <a:rPr lang="en" sz="1600" dirty="0">
                <a:latin typeface="Roboto Light"/>
                <a:ea typeface="Roboto Light"/>
                <a:cs typeface="Roboto Light"/>
                <a:sym typeface="Roboto Light"/>
              </a:rPr>
              <a:t>]</a:t>
            </a:r>
            <a:endParaRPr sz="1600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68" name="Google Shape;668;p63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867" y="4838567"/>
            <a:ext cx="1857112" cy="4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63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7530" y="4838572"/>
            <a:ext cx="2166748" cy="4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63"/>
          <p:cNvPicPr preferRelativeResize="0"/>
          <p:nvPr/>
        </p:nvPicPr>
        <p:blipFill rotWithShape="1">
          <a:blip r:embed="rId6">
            <a:alphaModFix/>
          </a:blip>
          <a:srcRect l="54003" t="29982" b="24719"/>
          <a:stretch/>
        </p:blipFill>
        <p:spPr>
          <a:xfrm>
            <a:off x="4417533" y="1644767"/>
            <a:ext cx="4684867" cy="31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63"/>
          <p:cNvSpPr/>
          <p:nvPr/>
        </p:nvSpPr>
        <p:spPr>
          <a:xfrm>
            <a:off x="4247233" y="1699400"/>
            <a:ext cx="2532400" cy="37532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2" name="Google Shape;672;p63"/>
          <p:cNvSpPr/>
          <p:nvPr/>
        </p:nvSpPr>
        <p:spPr>
          <a:xfrm>
            <a:off x="7012749" y="1699400"/>
            <a:ext cx="2532400" cy="37532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73" name="Google Shape;673;p63"/>
          <p:cNvSpPr txBox="1"/>
          <p:nvPr/>
        </p:nvSpPr>
        <p:spPr>
          <a:xfrm>
            <a:off x="754732" y="941960"/>
            <a:ext cx="2407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(*i.e., true class is 1)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74" name="Google Shape;674;p63"/>
          <p:cNvSpPr txBox="1"/>
          <p:nvPr/>
        </p:nvSpPr>
        <p:spPr>
          <a:xfrm>
            <a:off x="1199526" y="5965510"/>
            <a:ext cx="25324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(i.e., positive; predicted class is 1)</a:t>
            </a:r>
            <a:endParaRPr dirty="0"/>
          </a:p>
        </p:txBody>
      </p:sp>
      <p:pic>
        <p:nvPicPr>
          <p:cNvPr id="675" name="Google Shape;675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934" y="1416500"/>
            <a:ext cx="3755359" cy="4672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4"/>
          <p:cNvSpPr/>
          <p:nvPr/>
        </p:nvSpPr>
        <p:spPr>
          <a:xfrm>
            <a:off x="9439467" y="88940"/>
            <a:ext cx="1784800" cy="150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2" name="Google Shape;682;p64"/>
          <p:cNvSpPr txBox="1">
            <a:spLocks noGrp="1"/>
          </p:cNvSpPr>
          <p:nvPr>
            <p:ph idx="1"/>
          </p:nvPr>
        </p:nvSpPr>
        <p:spPr>
          <a:xfrm>
            <a:off x="266700" y="990602"/>
            <a:ext cx="11658601" cy="217038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Suppose we’re trying to build a classifier to filter spam emails.</a:t>
            </a:r>
            <a:endParaRPr sz="2400" dirty="0"/>
          </a:p>
          <a:p>
            <a:pPr>
              <a:lnSpc>
                <a:spcPct val="115000"/>
              </a:lnSpc>
              <a:buFont typeface="Calibri"/>
              <a:buChar char="●"/>
            </a:pPr>
            <a:r>
              <a:rPr lang="en" sz="2400" dirty="0"/>
              <a:t>Each email is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sz="2400" dirty="0"/>
              <a:t> (1) or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400" dirty="0"/>
              <a:t> (0).</a:t>
            </a:r>
            <a:endParaRPr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Let’s say we have 100 emails, of which only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2400" dirty="0"/>
              <a:t> are truly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sz="2400" dirty="0"/>
              <a:t>, and the remaining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95</a:t>
            </a:r>
            <a:r>
              <a:rPr lang="en" sz="2400" dirty="0"/>
              <a:t> are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400" dirty="0"/>
              <a:t>.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681" name="Google Shape;681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Back to the Spam</a:t>
            </a:r>
            <a:endParaRPr/>
          </a:p>
        </p:txBody>
      </p:sp>
      <p:sp>
        <p:nvSpPr>
          <p:cNvPr id="683" name="Google Shape;683;p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48</a:t>
            </a:fld>
            <a:endParaRPr/>
          </a:p>
        </p:txBody>
      </p:sp>
      <p:sp>
        <p:nvSpPr>
          <p:cNvPr id="684" name="Google Shape;684;p64"/>
          <p:cNvSpPr txBox="1"/>
          <p:nvPr/>
        </p:nvSpPr>
        <p:spPr>
          <a:xfrm>
            <a:off x="414729" y="2960531"/>
            <a:ext cx="4490800" cy="120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Your friend:</a:t>
            </a:r>
            <a:endParaRPr sz="2133" dirty="0">
              <a:solidFill>
                <a:srgbClr val="0070C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Classify every email as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 (0). </a:t>
            </a:r>
            <a:endParaRPr sz="2133" dirty="0">
              <a:solidFill>
                <a:srgbClr val="0070C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85" name="Google Shape;685;p64"/>
          <p:cNvGrpSpPr/>
          <p:nvPr/>
        </p:nvGrpSpPr>
        <p:grpSpPr>
          <a:xfrm>
            <a:off x="1190592" y="5092947"/>
            <a:ext cx="3837546" cy="1541567"/>
            <a:chOff x="892943" y="3388125"/>
            <a:chExt cx="2878160" cy="1156175"/>
          </a:xfrm>
        </p:grpSpPr>
        <p:pic>
          <p:nvPicPr>
            <p:cNvPr id="686" name="Google Shape;686;p64" title="[0,0,0,&quot;https://www.codecogs.com/eqnedit.php?latex=%5Ctext%7Brecall%7D_1%20%3D%20%5Cfrac%7B0%7D%7B0%20%2B%205%7D%20%3D%200%20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2943" y="4047400"/>
              <a:ext cx="1916613" cy="49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64" title="[0,0,0,&quot;https://www.codecogs.com/eqnedit.php?latex=%5Ctext%7Bprecision%7D_1%20%3D%20%5Cfrac%7B0%7D%7B0%20%2B%200%7D%20%3D%20%5Ctext%7Bundefined%7D%20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9050" y="3388125"/>
              <a:ext cx="2872053" cy="454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8" name="Google Shape;688;p64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9507" y="1159500"/>
            <a:ext cx="1442664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4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9648" y="650901"/>
            <a:ext cx="1683001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64" title="[0,0,0,&quot;https://www.codecogs.com/eqnedit.php?latex=%5Ctext%7Baccuracy%7D%20%3D%20%5Cfrac%7BTP%20%2B%20TN%7D%7Bn%7D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08734" y="156639"/>
            <a:ext cx="1682999" cy="3681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1" name="Google Shape;691;p64"/>
          <p:cNvGraphicFramePr/>
          <p:nvPr>
            <p:extLst>
              <p:ext uri="{D42A27DB-BD31-4B8C-83A1-F6EECF244321}">
                <p14:modId xmlns:p14="http://schemas.microsoft.com/office/powerpoint/2010/main" val="4204582319"/>
              </p:ext>
            </p:extLst>
          </p:nvPr>
        </p:nvGraphicFramePr>
        <p:xfrm>
          <a:off x="6907052" y="2990068"/>
          <a:ext cx="2368301" cy="2560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1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20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TN: 95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FP: 0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2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FN: 5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TP: 0</a:t>
                      </a:r>
                      <a:endParaRPr sz="2000" dirty="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92" name="Google Shape;692;p64" title="[0,0,0,&quot;https://www.codecogs.com/eqnedit.php?latex=%5Ctext%7Baccuracy%7D_1%20%3D%20%5Cfrac%7B95%7D%7B100%7D%20%3D%200.95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8028" y="4157844"/>
            <a:ext cx="3131501" cy="633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4"/>
          <p:cNvSpPr/>
          <p:nvPr/>
        </p:nvSpPr>
        <p:spPr>
          <a:xfrm>
            <a:off x="9439467" y="88940"/>
            <a:ext cx="1784800" cy="1503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82" name="Google Shape;682;p64"/>
          <p:cNvSpPr txBox="1">
            <a:spLocks noGrp="1"/>
          </p:cNvSpPr>
          <p:nvPr>
            <p:ph idx="1"/>
          </p:nvPr>
        </p:nvSpPr>
        <p:spPr>
          <a:xfrm>
            <a:off x="266700" y="990602"/>
            <a:ext cx="11658601" cy="2170388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Suppose we’re trying to build a classifier to filter spam emails.</a:t>
            </a:r>
            <a:endParaRPr sz="2400" dirty="0"/>
          </a:p>
          <a:p>
            <a:pPr>
              <a:lnSpc>
                <a:spcPct val="115000"/>
              </a:lnSpc>
              <a:buFont typeface="Calibri"/>
              <a:buChar char="●"/>
            </a:pPr>
            <a:r>
              <a:rPr lang="en" sz="2400" dirty="0"/>
              <a:t>Each email is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sz="2400" dirty="0"/>
              <a:t> (1) or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400" dirty="0"/>
              <a:t> (0).</a:t>
            </a:r>
            <a:endParaRPr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Let’s say we have 100 emails, of which only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2400" dirty="0"/>
              <a:t> are truly </a:t>
            </a:r>
            <a:r>
              <a:rPr lang="en" sz="2400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sz="2400" dirty="0"/>
              <a:t>, and the remaining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95</a:t>
            </a:r>
            <a:r>
              <a:rPr lang="en" sz="2400" dirty="0"/>
              <a:t> are </a:t>
            </a:r>
            <a:r>
              <a:rPr lang="en" sz="2400" b="1" dirty="0"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400" dirty="0"/>
              <a:t>.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681" name="Google Shape;681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Back to the Spam</a:t>
            </a:r>
            <a:endParaRPr/>
          </a:p>
        </p:txBody>
      </p:sp>
      <p:sp>
        <p:nvSpPr>
          <p:cNvPr id="683" name="Google Shape;683;p6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49</a:t>
            </a:fld>
            <a:endParaRPr/>
          </a:p>
        </p:txBody>
      </p:sp>
      <p:sp>
        <p:nvSpPr>
          <p:cNvPr id="684" name="Google Shape;684;p64"/>
          <p:cNvSpPr txBox="1"/>
          <p:nvPr/>
        </p:nvSpPr>
        <p:spPr>
          <a:xfrm>
            <a:off x="414729" y="2960531"/>
            <a:ext cx="4490800" cy="120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Your friend:</a:t>
            </a:r>
            <a:endParaRPr sz="2133" dirty="0">
              <a:solidFill>
                <a:srgbClr val="0070C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Classify every email as </a:t>
            </a:r>
            <a:r>
              <a:rPr lang="en" sz="2133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ham</a:t>
            </a:r>
            <a:r>
              <a:rPr lang="en" sz="2133" dirty="0">
                <a:solidFill>
                  <a:srgbClr val="0070C0"/>
                </a:solidFill>
                <a:latin typeface="Roboto Light"/>
                <a:ea typeface="Roboto Light"/>
                <a:cs typeface="Roboto Light"/>
                <a:sym typeface="Roboto Light"/>
              </a:rPr>
              <a:t> (0). </a:t>
            </a:r>
            <a:endParaRPr sz="2133" dirty="0">
              <a:solidFill>
                <a:srgbClr val="0070C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685" name="Google Shape;685;p64"/>
          <p:cNvGrpSpPr/>
          <p:nvPr/>
        </p:nvGrpSpPr>
        <p:grpSpPr>
          <a:xfrm>
            <a:off x="1190592" y="5092947"/>
            <a:ext cx="3837546" cy="1541567"/>
            <a:chOff x="892943" y="3388125"/>
            <a:chExt cx="2878160" cy="1156175"/>
          </a:xfrm>
        </p:grpSpPr>
        <p:pic>
          <p:nvPicPr>
            <p:cNvPr id="686" name="Google Shape;686;p64" title="[0,0,0,&quot;https://www.codecogs.com/eqnedit.php?latex=%5Ctext%7Brecall%7D_1%20%3D%20%5Cfrac%7B0%7D%7B0%20%2B%205%7D%20%3D%200%20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2943" y="4047400"/>
              <a:ext cx="1916613" cy="496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64" title="[0,0,0,&quot;https://www.codecogs.com/eqnedit.php?latex=%5Ctext%7Bprecision%7D_1%20%3D%20%5Cfrac%7B0%7D%7B0%20%2B%200%7D%20%3D%20%5Ctext%7Bundefined%7D%20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9050" y="3388125"/>
              <a:ext cx="2872053" cy="4548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8" name="Google Shape;688;p64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59507" y="1159500"/>
            <a:ext cx="1442664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4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99648" y="650901"/>
            <a:ext cx="1683001" cy="3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64" title="[0,0,0,&quot;https://www.codecogs.com/eqnedit.php?latex=%5Ctext%7Baccuracy%7D%20%3D%20%5Cfrac%7BTP%20%2B%20TN%7D%7Bn%7D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08734" y="156639"/>
            <a:ext cx="1682999" cy="36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64" title="[0,0,0,&quot;https://www.codecogs.com/eqnedit.php?latex=%5Ctext%7Baccuracy%7D_1%20%3D%20%5Cfrac%7B95%7D%7B100%7D%20%3D%200.95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8028" y="4157844"/>
            <a:ext cx="3131501" cy="6335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04;p65">
            <a:extLst>
              <a:ext uri="{FF2B5EF4-FFF2-40B4-BE49-F238E27FC236}">
                <a16:creationId xmlns:a16="http://schemas.microsoft.com/office/drawing/2014/main" id="{34D8BAFF-DB86-A9D6-616F-80B3185519BE}"/>
              </a:ext>
            </a:extLst>
          </p:cNvPr>
          <p:cNvSpPr txBox="1"/>
          <p:nvPr/>
        </p:nvSpPr>
        <p:spPr>
          <a:xfrm>
            <a:off x="5395473" y="3053514"/>
            <a:ext cx="5094000" cy="120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Your other friend (“Friend 2”):</a:t>
            </a:r>
            <a:endParaRPr sz="2133" dirty="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Classify every email as </a:t>
            </a:r>
            <a:r>
              <a:rPr lang="en" sz="2133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r>
              <a:rPr lang="en" sz="2133"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(1).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Google Shape;705;p65" title="[0,0,0,&quot;https://www.codecogs.com/eqnedit.php?latex=%5Ctext%7Baccuracy%7D_2%20%3D%20%5Cfrac%7B5%7D%7B100%7D%20%3D%200.05#0&quot;]">
            <a:extLst>
              <a:ext uri="{FF2B5EF4-FFF2-40B4-BE49-F238E27FC236}">
                <a16:creationId xmlns:a16="http://schemas.microsoft.com/office/drawing/2014/main" id="{E2476F00-F85E-2B50-81A2-9B208C2F7BB7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16673" y="4227443"/>
            <a:ext cx="3144067" cy="636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708;p65">
            <a:extLst>
              <a:ext uri="{FF2B5EF4-FFF2-40B4-BE49-F238E27FC236}">
                <a16:creationId xmlns:a16="http://schemas.microsoft.com/office/drawing/2014/main" id="{CCAB0798-C5EF-5365-8451-46F798000D6E}"/>
              </a:ext>
            </a:extLst>
          </p:cNvPr>
          <p:cNvGrpSpPr/>
          <p:nvPr/>
        </p:nvGrpSpPr>
        <p:grpSpPr>
          <a:xfrm>
            <a:off x="6098307" y="5075098"/>
            <a:ext cx="5450533" cy="1693962"/>
            <a:chOff x="4711300" y="3322538"/>
            <a:chExt cx="4087900" cy="1270471"/>
          </a:xfrm>
        </p:grpSpPr>
        <p:pic>
          <p:nvPicPr>
            <p:cNvPr id="5" name="Google Shape;709;p65" title="[0,0,0,&quot;https://www.codecogs.com/eqnedit.php?latex=%5Ctext%7Bprecision%7D_2%20%3D%20%5Cfrac%7B5%7D%7B5%20%2B%2095%7D%20%3D%200.05%20#0&quot;]">
              <a:extLst>
                <a:ext uri="{FF2B5EF4-FFF2-40B4-BE49-F238E27FC236}">
                  <a16:creationId xmlns:a16="http://schemas.microsoft.com/office/drawing/2014/main" id="{FA1D0219-3A04-3121-C423-2594D319AF0F}"/>
                </a:ext>
              </a:extLst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711300" y="3382950"/>
              <a:ext cx="2456226" cy="4548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710;p65" title="[0,0,0,&quot;https://www.codecogs.com/eqnedit.php?latex=%5Ctext%7Brecall%7D_2%20%3D%20%5Cfrac%7B5%7D%7B5%20%2B%200%7D%20%3D%201.0%20#0&quot;]">
              <a:extLst>
                <a:ext uri="{FF2B5EF4-FFF2-40B4-BE49-F238E27FC236}">
                  <a16:creationId xmlns:a16="http://schemas.microsoft.com/office/drawing/2014/main" id="{A2D77EB2-D13D-9197-6F5C-E64E8DC703EB}"/>
                </a:ext>
              </a:extLst>
            </p:cNvPr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978885" y="4047400"/>
              <a:ext cx="2046526" cy="48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711;p65">
              <a:extLst>
                <a:ext uri="{FF2B5EF4-FFF2-40B4-BE49-F238E27FC236}">
                  <a16:creationId xmlns:a16="http://schemas.microsoft.com/office/drawing/2014/main" id="{A06F2DCA-00B8-857D-A688-9F32617E99EE}"/>
                </a:ext>
              </a:extLst>
            </p:cNvPr>
            <p:cNvSpPr txBox="1"/>
            <p:nvPr/>
          </p:nvSpPr>
          <p:spPr>
            <a:xfrm>
              <a:off x="7536800" y="3322538"/>
              <a:ext cx="12624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Many false positives!</a:t>
              </a:r>
              <a:endPara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" name="Google Shape;712;p65">
              <a:extLst>
                <a:ext uri="{FF2B5EF4-FFF2-40B4-BE49-F238E27FC236}">
                  <a16:creationId xmlns:a16="http://schemas.microsoft.com/office/drawing/2014/main" id="{8ECD217D-E41B-0277-E644-94E121E8EF29}"/>
                </a:ext>
              </a:extLst>
            </p:cNvPr>
            <p:cNvSpPr txBox="1"/>
            <p:nvPr/>
          </p:nvSpPr>
          <p:spPr>
            <a:xfrm>
              <a:off x="7536800" y="3992875"/>
              <a:ext cx="1262400" cy="6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dirty="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No false negatives!</a:t>
              </a:r>
              <a:endParaRPr dirty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" name="Google Shape;713;p65">
              <a:extLst>
                <a:ext uri="{FF2B5EF4-FFF2-40B4-BE49-F238E27FC236}">
                  <a16:creationId xmlns:a16="http://schemas.microsoft.com/office/drawing/2014/main" id="{FA504546-3C03-5AD5-E204-63007E2F9F94}"/>
                </a:ext>
              </a:extLst>
            </p:cNvPr>
            <p:cNvSpPr/>
            <p:nvPr/>
          </p:nvSpPr>
          <p:spPr>
            <a:xfrm>
              <a:off x="7419500" y="3348500"/>
              <a:ext cx="117300" cy="5637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  <p:sp>
          <p:nvSpPr>
            <p:cNvPr id="10" name="Google Shape;714;p65">
              <a:extLst>
                <a:ext uri="{FF2B5EF4-FFF2-40B4-BE49-F238E27FC236}">
                  <a16:creationId xmlns:a16="http://schemas.microsoft.com/office/drawing/2014/main" id="{16C09002-14C6-77FF-EBBF-D5B85D49263F}"/>
                </a:ext>
              </a:extLst>
            </p:cNvPr>
            <p:cNvSpPr/>
            <p:nvPr/>
          </p:nvSpPr>
          <p:spPr>
            <a:xfrm>
              <a:off x="7419500" y="4007538"/>
              <a:ext cx="117300" cy="5637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/>
            </a:p>
          </p:txBody>
        </p:sp>
      </p:grpSp>
      <p:graphicFrame>
        <p:nvGraphicFramePr>
          <p:cNvPr id="11" name="Google Shape;717;p65">
            <a:extLst>
              <a:ext uri="{FF2B5EF4-FFF2-40B4-BE49-F238E27FC236}">
                <a16:creationId xmlns:a16="http://schemas.microsoft.com/office/drawing/2014/main" id="{63E75013-74ED-25E7-9196-77C63E7259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360752"/>
              </p:ext>
            </p:extLst>
          </p:nvPr>
        </p:nvGraphicFramePr>
        <p:xfrm>
          <a:off x="9743733" y="2615369"/>
          <a:ext cx="2181567" cy="22010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7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38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 dirty="0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20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b="1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b="1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0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TN: 0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FP: 95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0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FN: 0</a:t>
                      </a:r>
                      <a:endParaRPr sz="2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TP: 5</a:t>
                      </a:r>
                      <a:endParaRPr sz="2000" dirty="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"/>
          <p:cNvSpPr txBox="1">
            <a:spLocks noGrp="1"/>
          </p:cNvSpPr>
          <p:nvPr>
            <p:ph idx="1"/>
          </p:nvPr>
        </p:nvSpPr>
        <p:spPr>
          <a:xfrm>
            <a:off x="266698" y="1763281"/>
            <a:ext cx="11658601" cy="1366344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Precision penalizes false positives, 		and 		Recall penalizes false negatives.</a:t>
            </a:r>
            <a:endParaRPr sz="2400" dirty="0"/>
          </a:p>
        </p:txBody>
      </p:sp>
      <p:sp>
        <p:nvSpPr>
          <p:cNvPr id="726" name="Google Shape;726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Precision vs. Recall</a:t>
            </a:r>
            <a:endParaRPr/>
          </a:p>
        </p:txBody>
      </p:sp>
      <p:sp>
        <p:nvSpPr>
          <p:cNvPr id="727" name="Google Shape;727;p6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50</a:t>
            </a:fld>
            <a:endParaRPr/>
          </a:p>
        </p:txBody>
      </p:sp>
      <p:sp>
        <p:nvSpPr>
          <p:cNvPr id="728" name="Google Shape;728;p66"/>
          <p:cNvSpPr txBox="1"/>
          <p:nvPr/>
        </p:nvSpPr>
        <p:spPr>
          <a:xfrm>
            <a:off x="142733" y="3161000"/>
            <a:ext cx="11360800" cy="1583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suggests that there is a </a:t>
            </a:r>
            <a:r>
              <a:rPr lang="en" sz="2133" b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tradeoff</a:t>
            </a: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between precision and recall; they are often inversely related. 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Ideally, both would be near 100%, but that’s unlikely to happen.</a:t>
            </a:r>
            <a:endParaRPr sz="2133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9" name="Google Shape;729;p66"/>
          <p:cNvSpPr/>
          <p:nvPr/>
        </p:nvSpPr>
        <p:spPr>
          <a:xfrm>
            <a:off x="9563026" y="1484930"/>
            <a:ext cx="480000" cy="30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0" name="Google Shape;730;p66"/>
          <p:cNvSpPr/>
          <p:nvPr/>
        </p:nvSpPr>
        <p:spPr>
          <a:xfrm>
            <a:off x="2965485" y="1634050"/>
            <a:ext cx="448800" cy="302400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pic>
        <p:nvPicPr>
          <p:cNvPr id="731" name="Google Shape;731;p66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353" y="1184441"/>
            <a:ext cx="2346487" cy="62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66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986" y="1314317"/>
            <a:ext cx="2737299" cy="62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6"/>
          <p:cNvSpPr txBox="1">
            <a:spLocks noGrp="1"/>
          </p:cNvSpPr>
          <p:nvPr>
            <p:ph idx="1"/>
          </p:nvPr>
        </p:nvSpPr>
        <p:spPr>
          <a:xfrm>
            <a:off x="266698" y="1763281"/>
            <a:ext cx="11658601" cy="1366344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" sz="2400" dirty="0"/>
              <a:t>Precision penalizes false positives, 		and 		Recall penalizes false negatives.</a:t>
            </a:r>
            <a:endParaRPr sz="2400" dirty="0"/>
          </a:p>
        </p:txBody>
      </p:sp>
      <p:sp>
        <p:nvSpPr>
          <p:cNvPr id="726" name="Google Shape;726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 dirty="0"/>
              <a:t>Which Performance Metric?</a:t>
            </a:r>
            <a:endParaRPr dirty="0"/>
          </a:p>
        </p:txBody>
      </p:sp>
      <p:sp>
        <p:nvSpPr>
          <p:cNvPr id="727" name="Google Shape;727;p6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51</a:t>
            </a:fld>
            <a:endParaRPr/>
          </a:p>
        </p:txBody>
      </p:sp>
      <p:sp>
        <p:nvSpPr>
          <p:cNvPr id="729" name="Google Shape;729;p66"/>
          <p:cNvSpPr/>
          <p:nvPr/>
        </p:nvSpPr>
        <p:spPr>
          <a:xfrm>
            <a:off x="9563026" y="1484930"/>
            <a:ext cx="480000" cy="302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0" name="Google Shape;730;p66"/>
          <p:cNvSpPr/>
          <p:nvPr/>
        </p:nvSpPr>
        <p:spPr>
          <a:xfrm>
            <a:off x="2965485" y="1634050"/>
            <a:ext cx="448800" cy="302400"/>
          </a:xfrm>
          <a:prstGeom prst="rect">
            <a:avLst/>
          </a:prstGeom>
          <a:solidFill>
            <a:srgbClr val="99FF9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  <p:pic>
        <p:nvPicPr>
          <p:cNvPr id="731" name="Google Shape;731;p66" title="[0,0,0,&quot;https://www.codecogs.com/eqnedit.php?latex=%5Ctext%7Brecall%7D%20%3D%20%5Cfrac%7BTP%7D%7BTP%20%2B%20FN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2353" y="1184441"/>
            <a:ext cx="2346487" cy="622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66" title="[0,0,0,&quot;https://www.codecogs.com/eqnedit.php?latex=%5Ctext%7Bprecision%7D%20%3D%20%5Cfrac%7BTP%7D%7BTP%20%2B%20FP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986" y="1314317"/>
            <a:ext cx="2737299" cy="6221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D736AB-BA3E-E4EA-AB1E-5325FD7C9393}"/>
              </a:ext>
            </a:extLst>
          </p:cNvPr>
          <p:cNvSpPr txBox="1"/>
          <p:nvPr/>
        </p:nvSpPr>
        <p:spPr>
          <a:xfrm>
            <a:off x="478878" y="2267661"/>
            <a:ext cx="92642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many settings, there might be a higher “cost” to missing positive or negative cases.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examples: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if someone tests positive (1) or negative (0) for a disease.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Determining if someone should be sentenced to prison (1) or not (0).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 an email as spam (1) or ham (0).</a:t>
            </a:r>
          </a:p>
        </p:txBody>
      </p:sp>
    </p:spTree>
    <p:extLst>
      <p:ext uri="{BB962C8B-B14F-4D97-AF65-F5344CB8AC3E}">
        <p14:creationId xmlns:p14="http://schemas.microsoft.com/office/powerpoint/2010/main" val="204842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Keeping things interesting – two more performance metrics.</a:t>
            </a:r>
            <a:endParaRPr/>
          </a:p>
        </p:txBody>
      </p:sp>
      <p:sp>
        <p:nvSpPr>
          <p:cNvPr id="750" name="Google Shape;750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True and False Positive Rates</a:t>
            </a:r>
            <a:endParaRPr/>
          </a:p>
        </p:txBody>
      </p:sp>
      <p:sp>
        <p:nvSpPr>
          <p:cNvPr id="752" name="Google Shape;752;p6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52</a:t>
            </a:fld>
            <a:endParaRPr/>
          </a:p>
        </p:txBody>
      </p:sp>
      <p:pic>
        <p:nvPicPr>
          <p:cNvPr id="753" name="Google Shape;753;p68" title="[0,0,0,&quot;https://www.codecogs.com/eqnedit.php?latex=%5Ctext%7BTPR%7D%20%3D%20%5Cfrac%7BTP%7D%7BTP%20%2B%20FN%7D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34" y="3433333"/>
            <a:ext cx="2184401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8"/>
          <p:cNvSpPr txBox="1"/>
          <p:nvPr/>
        </p:nvSpPr>
        <p:spPr>
          <a:xfrm>
            <a:off x="2661167" y="3278268"/>
            <a:ext cx="56388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True Positive Rate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 (TPR): out of all datapoints that had Y=1, how many did we classify correctly? Same as recall.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55" name="Google Shape;755;p68" title="[0,0,0,&quot;https://www.codecogs.com/eqnedit.php?latex=%5Ctext%7BFPR%7D%20%3D%20%5Cfrac%7BFP%7D%7BFP%20%2B%20TN%7D#0&quot;]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167" y="2101267"/>
            <a:ext cx="2150535" cy="592667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8"/>
          <p:cNvSpPr txBox="1"/>
          <p:nvPr/>
        </p:nvSpPr>
        <p:spPr>
          <a:xfrm>
            <a:off x="2809167" y="1850785"/>
            <a:ext cx="5138800" cy="12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b="1">
                <a:solidFill>
                  <a:srgbClr val="BE0712"/>
                </a:solidFill>
                <a:latin typeface="Roboto"/>
                <a:ea typeface="Roboto"/>
                <a:cs typeface="Roboto"/>
                <a:sym typeface="Roboto"/>
              </a:rPr>
              <a:t>False Positive Rate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 (FPR): out of all datapoints that had Y=0, how many did we classify </a:t>
            </a:r>
            <a:r>
              <a:rPr lang="en" sz="2133" b="1">
                <a:latin typeface="Roboto"/>
                <a:ea typeface="Roboto"/>
                <a:cs typeface="Roboto"/>
                <a:sym typeface="Roboto"/>
              </a:rPr>
              <a:t>incorrectly</a:t>
            </a: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?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57" name="Google Shape;757;p68"/>
          <p:cNvSpPr/>
          <p:nvPr/>
        </p:nvSpPr>
        <p:spPr>
          <a:xfrm>
            <a:off x="9183148" y="2000280"/>
            <a:ext cx="2320400" cy="2202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graphicFrame>
        <p:nvGraphicFramePr>
          <p:cNvPr id="758" name="Google Shape;758;p68"/>
          <p:cNvGraphicFramePr/>
          <p:nvPr/>
        </p:nvGraphicFramePr>
        <p:xfrm>
          <a:off x="9553799" y="2388421"/>
          <a:ext cx="1816800" cy="174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9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98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solidFill>
                            <a:srgbClr val="6AA8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7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21900" marR="121900" marT="121900" marB="1219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FN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TP</a:t>
                      </a:r>
                      <a:endParaRPr sz="17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9" name="Google Shape;759;p68"/>
          <p:cNvSpPr txBox="1"/>
          <p:nvPr/>
        </p:nvSpPr>
        <p:spPr>
          <a:xfrm rot="-5400000">
            <a:off x="8653615" y="2926780"/>
            <a:ext cx="1421200" cy="3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Actual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60" name="Google Shape;760;p68"/>
          <p:cNvSpPr txBox="1"/>
          <p:nvPr/>
        </p:nvSpPr>
        <p:spPr>
          <a:xfrm>
            <a:off x="9885315" y="2044813"/>
            <a:ext cx="1294400" cy="3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1733">
                <a:latin typeface="Roboto Light"/>
                <a:ea typeface="Roboto Light"/>
                <a:cs typeface="Roboto Light"/>
                <a:sym typeface="Roboto Light"/>
              </a:rPr>
              <a:t>Prediction</a:t>
            </a:r>
            <a:endParaRPr sz="17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61" name="Google Shape;761;p68"/>
          <p:cNvSpPr/>
          <p:nvPr/>
        </p:nvSpPr>
        <p:spPr>
          <a:xfrm rot="-5400000">
            <a:off x="10162212" y="2938421"/>
            <a:ext cx="600000" cy="1818000"/>
          </a:xfrm>
          <a:prstGeom prst="rect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62" name="Google Shape;762;p68"/>
          <p:cNvSpPr/>
          <p:nvPr/>
        </p:nvSpPr>
        <p:spPr>
          <a:xfrm rot="-5400000">
            <a:off x="10181000" y="2271133"/>
            <a:ext cx="562400" cy="1818000"/>
          </a:xfrm>
          <a:prstGeom prst="rect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9"/>
          <p:cNvSpPr txBox="1">
            <a:spLocks noGrp="1"/>
          </p:cNvSpPr>
          <p:nvPr>
            <p:ph idx="1"/>
          </p:nvPr>
        </p:nvSpPr>
        <p:spPr>
          <a:xfrm>
            <a:off x="266700" y="990601"/>
            <a:ext cx="11658601" cy="5553073"/>
          </a:xfrm>
        </p:spPr>
        <p:txBody>
          <a:bodyPr spcFirstLastPara="1" vert="horz" wrap="square" lIns="121900" tIns="121900" rIns="121900" bIns="121900" numCol="1" anchor="ctr" anchorCtr="0" compatLnSpc="1">
            <a:prstTxWarp prst="textNoShape">
              <a:avLst/>
            </a:prstTxWarp>
            <a:noAutofit/>
          </a:bodyPr>
          <a:lstStyle/>
          <a:p>
            <a:endParaRPr lang="en-US" b="1" dirty="0">
              <a:sym typeface="Roboto"/>
            </a:endParaRPr>
          </a:p>
        </p:txBody>
      </p:sp>
      <p:sp>
        <p:nvSpPr>
          <p:cNvPr id="769" name="Google Shape;769;p69"/>
          <p:cNvSpPr txBox="1"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spcFirstLastPara="1" vert="horz" wrap="square" lIns="121900" tIns="121900" rIns="121900" bIns="12190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lang="en-US"/>
              <a:t>Adjusting the Classification Threshold</a:t>
            </a:r>
          </a:p>
        </p:txBody>
      </p:sp>
      <p:sp>
        <p:nvSpPr>
          <p:cNvPr id="767" name="Google Shape;767;p69"/>
          <p:cNvSpPr txBox="1">
            <a:spLocks noGrp="1"/>
          </p:cNvSpPr>
          <p:nvPr>
            <p:ph type="sldNum" sz="quarter" idx="12"/>
          </p:nvPr>
        </p:nvSpPr>
        <p:spPr>
          <a:xfrm>
            <a:off x="11694319" y="6600825"/>
            <a:ext cx="497680" cy="257176"/>
          </a:xfr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53</a:t>
            </a:fld>
            <a:endParaRPr lang="e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/>
              <a:t>We commonly make decision rules by specifying a </a:t>
            </a: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threshold</a:t>
            </a:r>
            <a:r>
              <a:rPr lang="en"/>
              <a:t>,     . If the predicted probability is greater than      , predict Class 1. Otherwise, predict Class 0. </a:t>
            </a:r>
            <a:endParaRPr/>
          </a:p>
        </p:txBody>
      </p:sp>
      <p:sp>
        <p:nvSpPr>
          <p:cNvPr id="774" name="Google Shape;774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Thresholds</a:t>
            </a:r>
            <a:endParaRPr/>
          </a:p>
        </p:txBody>
      </p:sp>
      <p:sp>
        <p:nvSpPr>
          <p:cNvPr id="776" name="Google Shape;776;p7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54</a:t>
            </a:fld>
            <a:endParaRPr/>
          </a:p>
        </p:txBody>
      </p:sp>
      <p:pic>
        <p:nvPicPr>
          <p:cNvPr id="777" name="Google Shape;777;p70" descr="{&quot;aid&quot;:null,&quot;type&quot;:&quot;$$&quot;,&quot;code&quot;:&quot;$$T$$&quot;,&quot;font&quot;:{&quot;size&quot;:16,&quot;color&quot;:&quot;#000000&quot;,&quot;family&quot;:&quot;Roboto&quot;},&quot;id&quot;:&quot;2&quot;,&quot;backgroundColorModified&quot;:false,&quot;backgroundColor&quot;:&quot;#FFFFFF&quot;,&quot;ts&quot;:1690230672546,&quot;cs&quot;:&quot;Is0TJmoidXDKLwKuplgJyw==&quot;,&quot;size&quot;:{&quot;width&quot;:14.833333333333334,&quot;height&quot;:14.83333333333333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787" y="1759365"/>
            <a:ext cx="188384" cy="188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70" descr="{&quot;aid&quot;:null,&quot;type&quot;:&quot;$$&quot;,&quot;code&quot;:&quot;$$T$$&quot;,&quot;font&quot;:{&quot;size&quot;:16,&quot;color&quot;:&quot;#000000&quot;,&quot;family&quot;:&quot;Roboto&quot;},&quot;id&quot;:&quot;2&quot;,&quot;backgroundColorModified&quot;:false,&quot;backgroundColor&quot;:&quot;#FFFFFF&quot;,&quot;ts&quot;:1690230672546,&quot;cs&quot;:&quot;Is0TJmoidXDKLwKuplgJyw==&quot;,&quot;size&quot;:{&quot;width&quot;:14.833333333333334,&quot;height&quot;:14.83333333333333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6517" y="1358657"/>
            <a:ext cx="188384" cy="188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70" descr="{&quot;aid&quot;:null,&quot;backgroundColor&quot;:&quot;#FFFFFF&quot;,&quot;font&quot;:{&quot;family&quot;:&quot;Roboto&quot;,&quot;size&quot;:28,&quot;color&quot;:&quot;#000000&quot;},&quot;type&quot;:&quot;$$&quot;,&quot;id&quot;:&quot;3&quot;,&quot;backgroundColorModified&quot;:false,&quot;code&quot;:&quot;$$\\hat{y}=\\text{classify(}x)=\\begin{cases}\n{\\text{Class}\\;\\text{1}}&amp;{p\\geq T}\\\\\n{\\text{Class}\\;\\text{0}}&amp;{p&lt;T}\\\\\n\\end{cases}$$&quot;,&quot;ts&quot;:1690231293797,&quot;cs&quot;:&quot;pmcHIwiLLAAkBneZ282fpg==&quot;,&quot;size&quot;:{&quot;width&quot;:569,&quot;height&quot;:91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3319" y="3495354"/>
            <a:ext cx="722630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70"/>
          <p:cNvSpPr txBox="1"/>
          <p:nvPr/>
        </p:nvSpPr>
        <p:spPr>
          <a:xfrm>
            <a:off x="182433" y="4656100"/>
            <a:ext cx="120096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What happens if we set T to something other than 0.5?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81" name="Google Shape;781;p70" descr="{&quot;backgroundColorModified&quot;:false,&quot;code&quot;:&quot;$$p=P\\left(\\giventhat{Y=1}{x}\\right)=\\frac{1}{1+e^{-x^{T}\\theta}}$$&quot;,&quot;font&quot;:{&quot;size&quot;:23,&quot;color&quot;:&quot;#000000&quot;,&quot;family&quot;:&quot;Roboto&quot;},&quot;backgroundColor&quot;:&quot;#FFFFFF&quot;,&quot;aid&quot;:null,&quot;id&quot;:&quot;1&quot;,&quot;type&quot;:&quot;$$&quot;,&quot;ts&quot;:1690231211438,&quot;cs&quot;:&quot;/+atpnM1TArXVOKkJB7HmQ==&quot;,&quot;size&quot;:{&quot;width&quot;:395.3333333333333,&quot;height&quot;:69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640" y="2289337"/>
            <a:ext cx="5020733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Changing the Threshold</a:t>
            </a:r>
            <a:endParaRPr/>
          </a:p>
        </p:txBody>
      </p:sp>
      <p:sp>
        <p:nvSpPr>
          <p:cNvPr id="789" name="Google Shape;789;p7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55</a:t>
            </a:fld>
            <a:endParaRPr/>
          </a:p>
        </p:txBody>
      </p:sp>
      <p:sp>
        <p:nvSpPr>
          <p:cNvPr id="786" name="Google Shape;786;p71"/>
          <p:cNvSpPr txBox="1">
            <a:spLocks noGrp="1"/>
          </p:cNvSpPr>
          <p:nvPr>
            <p:ph type="body" idx="4294967295"/>
          </p:nvPr>
        </p:nvSpPr>
        <p:spPr>
          <a:xfrm>
            <a:off x="0" y="1654175"/>
            <a:ext cx="11360150" cy="8509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800" dirty="0"/>
              <a:t>As we increase the threshold T, we “raise the standard” of how confident our classifier needs to be to predict 1 (i.e., “positive”).</a:t>
            </a:r>
            <a:endParaRPr sz="2800" dirty="0"/>
          </a:p>
        </p:txBody>
      </p:sp>
      <p:sp>
        <p:nvSpPr>
          <p:cNvPr id="788" name="Google Shape;788;p71"/>
          <p:cNvSpPr/>
          <p:nvPr/>
        </p:nvSpPr>
        <p:spPr>
          <a:xfrm>
            <a:off x="3504033" y="684900"/>
            <a:ext cx="5160000" cy="100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pic>
        <p:nvPicPr>
          <p:cNvPr id="790" name="Google Shape;79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453" y="3095099"/>
            <a:ext cx="10845364" cy="3122533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71"/>
          <p:cNvSpPr txBox="1"/>
          <p:nvPr/>
        </p:nvSpPr>
        <p:spPr>
          <a:xfrm>
            <a:off x="1916533" y="5926468"/>
            <a:ext cx="8285200" cy="523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2" name="Google Shape;792;p71"/>
          <p:cNvSpPr txBox="1"/>
          <p:nvPr/>
        </p:nvSpPr>
        <p:spPr>
          <a:xfrm>
            <a:off x="19165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0.25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3" name="Google Shape;793;p71"/>
          <p:cNvSpPr txBox="1"/>
          <p:nvPr/>
        </p:nvSpPr>
        <p:spPr>
          <a:xfrm>
            <a:off x="54796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0.50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4" name="Google Shape;794;p71"/>
          <p:cNvSpPr txBox="1"/>
          <p:nvPr/>
        </p:nvSpPr>
        <p:spPr>
          <a:xfrm>
            <a:off x="89114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0.75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5" name="Google Shape;795;p71"/>
          <p:cNvSpPr/>
          <p:nvPr/>
        </p:nvSpPr>
        <p:spPr>
          <a:xfrm rot="5400000">
            <a:off x="2959500" y="5363867"/>
            <a:ext cx="339200" cy="165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6" name="Google Shape;796;p71"/>
          <p:cNvSpPr txBox="1"/>
          <p:nvPr/>
        </p:nvSpPr>
        <p:spPr>
          <a:xfrm>
            <a:off x="1738015" y="6295034"/>
            <a:ext cx="2786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These x will all predict 1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97" name="Google Shape;797;p71"/>
          <p:cNvSpPr/>
          <p:nvPr/>
        </p:nvSpPr>
        <p:spPr>
          <a:xfrm rot="5400000">
            <a:off x="6615633" y="5504067"/>
            <a:ext cx="339200" cy="1378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98" name="Google Shape;798;p71"/>
          <p:cNvSpPr/>
          <p:nvPr/>
        </p:nvSpPr>
        <p:spPr>
          <a:xfrm rot="5400000">
            <a:off x="10227367" y="5599867"/>
            <a:ext cx="339200" cy="1186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799" name="Google Shape;799;p71"/>
          <p:cNvCxnSpPr/>
          <p:nvPr/>
        </p:nvCxnSpPr>
        <p:spPr>
          <a:xfrm>
            <a:off x="2299700" y="5602167"/>
            <a:ext cx="0" cy="26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0" name="Google Shape;800;p71"/>
          <p:cNvCxnSpPr/>
          <p:nvPr/>
        </p:nvCxnSpPr>
        <p:spPr>
          <a:xfrm>
            <a:off x="6045755" y="5602167"/>
            <a:ext cx="0" cy="26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1" name="Google Shape;801;p71"/>
          <p:cNvCxnSpPr/>
          <p:nvPr/>
        </p:nvCxnSpPr>
        <p:spPr>
          <a:xfrm>
            <a:off x="9791809" y="5602167"/>
            <a:ext cx="0" cy="265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2" name="Google Shape;802;p71"/>
          <p:cNvSpPr txBox="1"/>
          <p:nvPr/>
        </p:nvSpPr>
        <p:spPr>
          <a:xfrm>
            <a:off x="9317233" y="6295034"/>
            <a:ext cx="22748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Fewer positives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03" name="Google Shape;803;p71" descr="{&quot;aid&quot;:null,&quot;backgroundColor&quot;:&quot;#FFFFFF&quot;,&quot;font&quot;:{&quot;family&quot;:&quot;Roboto&quot;,&quot;size&quot;:28,&quot;color&quot;:&quot;#000000&quot;},&quot;type&quot;:&quot;$$&quot;,&quot;id&quot;:&quot;3&quot;,&quot;backgroundColorModified&quot;:false,&quot;code&quot;:&quot;$$\\hat{y}=\\text{classify(}x)=\\begin{cases}\n{\\text{Class}\\;\\text{1}}&amp;{p\\geq T}\\\\\n{\\text{Class}\\;\\text{0}}&amp;{p&lt;T}\\\\\n\\end{cases}$$&quot;,&quot;ts&quot;:1690231293797,&quot;cs&quot;:&quot;pmcHIwiLLAAkBneZ282fpg==&quot;,&quot;size&quot;:{&quot;width&quot;:569,&quot;height&quot;:91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9850" y="803684"/>
            <a:ext cx="4772301" cy="763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Changing the Threshold</a:t>
            </a:r>
            <a:endParaRPr/>
          </a:p>
        </p:txBody>
      </p:sp>
      <p:sp>
        <p:nvSpPr>
          <p:cNvPr id="811" name="Google Shape;811;p7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56</a:t>
            </a:fld>
            <a:endParaRPr/>
          </a:p>
        </p:txBody>
      </p:sp>
      <p:sp>
        <p:nvSpPr>
          <p:cNvPr id="808" name="Google Shape;808;p72"/>
          <p:cNvSpPr txBox="1">
            <a:spLocks noGrp="1"/>
          </p:cNvSpPr>
          <p:nvPr>
            <p:ph type="body" idx="4294967295"/>
          </p:nvPr>
        </p:nvSpPr>
        <p:spPr>
          <a:xfrm>
            <a:off x="0" y="1654175"/>
            <a:ext cx="11360150" cy="85090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800" dirty="0"/>
              <a:t>As we increase the threshold T, we “raise the standard” of how confident our classifier needs to be to predict 1 (i.e., “positive”).</a:t>
            </a:r>
            <a:endParaRPr sz="2800" dirty="0"/>
          </a:p>
        </p:txBody>
      </p:sp>
      <p:sp>
        <p:nvSpPr>
          <p:cNvPr id="810" name="Google Shape;810;p72"/>
          <p:cNvSpPr/>
          <p:nvPr/>
        </p:nvSpPr>
        <p:spPr>
          <a:xfrm>
            <a:off x="3504033" y="684900"/>
            <a:ext cx="5160000" cy="100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12" name="Google Shape;812;p72"/>
          <p:cNvSpPr txBox="1"/>
          <p:nvPr/>
        </p:nvSpPr>
        <p:spPr>
          <a:xfrm>
            <a:off x="19165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0.25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3" name="Google Shape;813;p72"/>
          <p:cNvSpPr txBox="1"/>
          <p:nvPr/>
        </p:nvSpPr>
        <p:spPr>
          <a:xfrm>
            <a:off x="54796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0.50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4" name="Google Shape;814;p72"/>
          <p:cNvSpPr txBox="1"/>
          <p:nvPr/>
        </p:nvSpPr>
        <p:spPr>
          <a:xfrm>
            <a:off x="8911433" y="2738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0.75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15" name="Google Shape;815;p72" descr="{&quot;aid&quot;:null,&quot;backgroundColor&quot;:&quot;#FFFFFF&quot;,&quot;font&quot;:{&quot;family&quot;:&quot;Roboto&quot;,&quot;size&quot;:28,&quot;color&quot;:&quot;#000000&quot;},&quot;type&quot;:&quot;$$&quot;,&quot;id&quot;:&quot;3&quot;,&quot;backgroundColorModified&quot;:false,&quot;code&quot;:&quot;$$\\hat{y}=\\text{classify(}x)=\\begin{cases}\n{\\text{Class}\\;\\text{1}}&amp;{p\\geq T}\\\\\n{\\text{Class}\\;\\text{0}}&amp;{p&lt;T}\\\\\n\\end{cases}$$&quot;,&quot;ts&quot;:1690231293797,&quot;cs&quot;:&quot;pmcHIwiLLAAkBneZ282fpg==&quot;,&quot;size&quot;:{&quot;width&quot;:569,&quot;height&quot;:91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850" y="803684"/>
            <a:ext cx="4772301" cy="763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401" y="3327401"/>
            <a:ext cx="3726332" cy="280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0067" y="3349067"/>
            <a:ext cx="3823452" cy="282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9267" y="3349067"/>
            <a:ext cx="3726333" cy="2826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Changing the Threshold</a:t>
            </a:r>
            <a:endParaRPr/>
          </a:p>
        </p:txBody>
      </p:sp>
      <p:sp>
        <p:nvSpPr>
          <p:cNvPr id="824" name="Google Shape;824;p7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57</a:t>
            </a:fld>
            <a:endParaRPr/>
          </a:p>
        </p:txBody>
      </p:sp>
      <p:sp>
        <p:nvSpPr>
          <p:cNvPr id="825" name="Google Shape;825;p73"/>
          <p:cNvSpPr txBox="1"/>
          <p:nvPr/>
        </p:nvSpPr>
        <p:spPr>
          <a:xfrm>
            <a:off x="1916533" y="706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0.25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6" name="Google Shape;826;p73"/>
          <p:cNvSpPr txBox="1"/>
          <p:nvPr/>
        </p:nvSpPr>
        <p:spPr>
          <a:xfrm>
            <a:off x="5479633" y="706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0.50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27" name="Google Shape;827;p73"/>
          <p:cNvSpPr txBox="1"/>
          <p:nvPr/>
        </p:nvSpPr>
        <p:spPr>
          <a:xfrm>
            <a:off x="8911433" y="706901"/>
            <a:ext cx="1208800" cy="5744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T = 0.75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28" name="Google Shape;8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0067" y="1317067"/>
            <a:ext cx="3823452" cy="2826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267" y="1317067"/>
            <a:ext cx="3726333" cy="2826868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64400" y="4243467"/>
            <a:ext cx="11162800" cy="21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How to interpret a higher classification threshold: the model needs to predict a higher probability of a point belonging to Class 1 before it can confidently classify it as Class 1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 marL="609585" indent="-440256">
              <a:spcBef>
                <a:spcPts val="0"/>
              </a:spcBef>
              <a:spcAft>
                <a:spcPts val="0"/>
              </a:spcAft>
              <a:buSzPts val="1600"/>
              <a:buFont typeface="Roboto Light"/>
              <a:buChar char="●"/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As T increases, we predict fewer positives!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>
                <a:latin typeface="Roboto Light"/>
                <a:ea typeface="Roboto Light"/>
                <a:cs typeface="Roboto Light"/>
                <a:sym typeface="Roboto Light"/>
              </a:rPr>
              <a:t>Changing the threshold allows us to finetune how “confident” we want our model to be before making a positive prediction</a:t>
            </a:r>
            <a:endParaRPr sz="2133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831" name="Google Shape;83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901" y="1452817"/>
            <a:ext cx="3321977" cy="255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Precision-Recall Curves</a:t>
            </a:r>
            <a:endParaRPr/>
          </a:p>
        </p:txBody>
      </p:sp>
      <p:sp>
        <p:nvSpPr>
          <p:cNvPr id="849" name="Google Shape;849;p7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58</a:t>
            </a:fld>
            <a:endParaRPr/>
          </a:p>
        </p:txBody>
      </p:sp>
      <p:sp>
        <p:nvSpPr>
          <p:cNvPr id="847" name="Google Shape;847;p75"/>
          <p:cNvSpPr txBox="1">
            <a:spLocks noGrp="1"/>
          </p:cNvSpPr>
          <p:nvPr>
            <p:ph type="body" idx="4294967295"/>
          </p:nvPr>
        </p:nvSpPr>
        <p:spPr>
          <a:xfrm>
            <a:off x="266699" y="958057"/>
            <a:ext cx="8355012" cy="1758950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Earlier, we noticed that there is a tradeoff between precision (penalizes false positives) and recall (penalizes false negatives).</a:t>
            </a:r>
            <a:endParaRPr sz="2400" dirty="0"/>
          </a:p>
          <a:p>
            <a:pPr marL="0" indent="0">
              <a:buNone/>
            </a:pPr>
            <a:r>
              <a:rPr lang="en" sz="2400" dirty="0"/>
              <a:t>We should choose a threshold that keeps both precision and recall high.</a:t>
            </a:r>
            <a:endParaRPr sz="2400" dirty="0"/>
          </a:p>
        </p:txBody>
      </p:sp>
      <p:sp>
        <p:nvSpPr>
          <p:cNvPr id="851" name="Google Shape;851;p75"/>
          <p:cNvSpPr txBox="1">
            <a:spLocks noGrp="1"/>
          </p:cNvSpPr>
          <p:nvPr>
            <p:ph type="body" idx="4294967295"/>
          </p:nvPr>
        </p:nvSpPr>
        <p:spPr>
          <a:xfrm>
            <a:off x="1496410" y="3429000"/>
            <a:ext cx="8042275" cy="2573337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800" dirty="0"/>
              <a:t>In a precision-recall curve, we:</a:t>
            </a:r>
            <a:endParaRPr sz="2800" dirty="0"/>
          </a:p>
          <a:p>
            <a:pPr>
              <a:buAutoNum type="arabicParenR"/>
            </a:pPr>
            <a:r>
              <a:rPr lang="en" sz="2800" dirty="0"/>
              <a:t>Test out many different possible thresholds</a:t>
            </a:r>
            <a:endParaRPr sz="2800" dirty="0"/>
          </a:p>
          <a:p>
            <a:pPr>
              <a:spcBef>
                <a:spcPts val="0"/>
              </a:spcBef>
              <a:buAutoNum type="arabicParenR"/>
            </a:pPr>
            <a:r>
              <a:rPr lang="en" sz="2800" dirty="0"/>
              <a:t>For each threshold, compute the precision and recall of the classifier </a:t>
            </a:r>
            <a:endParaRPr sz="2800" dirty="0"/>
          </a:p>
          <a:p>
            <a:pPr>
              <a:spcBef>
                <a:spcPts val="0"/>
              </a:spcBef>
              <a:buAutoNum type="arabicParenR"/>
            </a:pPr>
            <a:r>
              <a:rPr lang="en" sz="2800" dirty="0"/>
              <a:t>Choose the threshold at the “corner” of the curve</a:t>
            </a:r>
            <a:endParaRPr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Precision-Recall Curves</a:t>
            </a:r>
            <a:endParaRPr/>
          </a:p>
        </p:txBody>
      </p:sp>
      <p:sp>
        <p:nvSpPr>
          <p:cNvPr id="857" name="Google Shape;857;p7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59</a:t>
            </a:fld>
            <a:endParaRPr/>
          </a:p>
        </p:txBody>
      </p:sp>
      <p:sp>
        <p:nvSpPr>
          <p:cNvPr id="858" name="Google Shape;858;p76"/>
          <p:cNvSpPr txBox="1">
            <a:spLocks noGrp="1"/>
          </p:cNvSpPr>
          <p:nvPr>
            <p:ph type="body" idx="4294967295"/>
          </p:nvPr>
        </p:nvSpPr>
        <p:spPr>
          <a:xfrm>
            <a:off x="405415" y="1103532"/>
            <a:ext cx="8042275" cy="1782762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In a precision-recall curve, we:</a:t>
            </a:r>
            <a:endParaRPr sz="2400" dirty="0"/>
          </a:p>
          <a:p>
            <a:pPr>
              <a:buAutoNum type="arabicParenR"/>
            </a:pPr>
            <a:r>
              <a:rPr lang="en" sz="2400" dirty="0"/>
              <a:t>Test out many different possible thresholds</a:t>
            </a:r>
            <a:endParaRPr sz="2400" dirty="0"/>
          </a:p>
          <a:p>
            <a:pPr>
              <a:spcBef>
                <a:spcPts val="0"/>
              </a:spcBef>
              <a:buAutoNum type="arabicParenR"/>
            </a:pPr>
            <a:r>
              <a:rPr lang="en" sz="2400" dirty="0"/>
              <a:t>For each threshold, compute the precision and recall of the classifier </a:t>
            </a:r>
            <a:endParaRPr sz="2400" dirty="0"/>
          </a:p>
        </p:txBody>
      </p:sp>
      <p:pic>
        <p:nvPicPr>
          <p:cNvPr id="859" name="Google Shape;85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800" y="2780431"/>
            <a:ext cx="4188101" cy="309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451" y="2780431"/>
            <a:ext cx="4188100" cy="312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6"/>
          <p:cNvSpPr txBox="1"/>
          <p:nvPr/>
        </p:nvSpPr>
        <p:spPr>
          <a:xfrm>
            <a:off x="3738249" y="5765100"/>
            <a:ext cx="8043200" cy="100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spcBef>
                <a:spcPts val="800"/>
              </a:spcBef>
              <a:spcAft>
                <a:spcPts val="0"/>
              </a:spcAft>
            </a:pPr>
            <a:r>
              <a:rPr lang="en" sz="2133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should choose a threshold that keeps both precision and recall high.</a:t>
            </a:r>
            <a:endParaRPr/>
          </a:p>
        </p:txBody>
      </p:sp>
      <p:cxnSp>
        <p:nvCxnSpPr>
          <p:cNvPr id="862" name="Google Shape;862;p76"/>
          <p:cNvCxnSpPr>
            <a:cxnSpLocks/>
          </p:cNvCxnSpPr>
          <p:nvPr/>
        </p:nvCxnSpPr>
        <p:spPr>
          <a:xfrm flipV="1">
            <a:off x="5801710" y="3619465"/>
            <a:ext cx="3016340" cy="2251499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BCA6FE-E339-5F26-44D3-823FCC1B7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 </a:t>
                </a:r>
                <a:r>
                  <a:rPr lang="en-US" dirty="0">
                    <a:solidFill>
                      <a:srgbClr val="202122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</a:rPr>
                  <a:t>C</a:t>
                </a:r>
                <a:r>
                  <a:rPr lang="en-US" b="0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ombines precision and recall using </a:t>
                </a:r>
                <a:r>
                  <a:rPr lang="en-US" b="0" i="0" u="none" strike="noStrike" dirty="0">
                    <a:solidFill>
                      <a:srgbClr val="3366CC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  <a:hlinkClick r:id="rId2"/>
                  </a:rPr>
                  <a:t>harmonic mean</a:t>
                </a:r>
                <a:r>
                  <a:rPr lang="en-US" b="0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, the traditional F-measure </a:t>
                </a:r>
              </a:p>
              <a:p>
                <a:endParaRPr lang="en-US" dirty="0">
                  <a:solidFill>
                    <a:srgbClr val="202122"/>
                  </a:solidFill>
                  <a:highlight>
                    <a:srgbClr val="FFFFFF"/>
                  </a:highlight>
                  <a:latin typeface="Arial" panose="020B0604020202020204" pitchFamily="34" charset="0"/>
                </a:endParaRPr>
              </a:p>
              <a:p>
                <a:pPr marL="457200" lvl="1" indent="0" algn="ctr">
                  <a:buNone/>
                </a:pPr>
                <a:r>
                  <a:rPr lang="en-US" sz="3200" b="0" i="0" dirty="0">
                    <a:solidFill>
                      <a:srgbClr val="202122"/>
                    </a:solidFill>
                    <a:effectLst/>
                    <a:highlight>
                      <a:srgbClr val="FFFFFF"/>
                    </a:highlight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solidFill>
                          <a:srgbClr val="202122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3200" b="0" i="0" smtClean="0">
                        <a:solidFill>
                          <a:srgbClr val="202122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= 2. 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rgbClr val="202122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rgbClr val="202122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i="1">
                            <a:solidFill>
                              <a:srgbClr val="202122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i="1">
                            <a:solidFill>
                              <a:srgbClr val="202122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𝑟𝑒𝑐𝑎𝑙𝑙</m:t>
                        </m:r>
                      </m:num>
                      <m:den>
                        <m:r>
                          <a:rPr lang="en-US" sz="3200" i="1">
                            <a:solidFill>
                              <a:srgbClr val="202122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  <m:r>
                          <a:rPr lang="en-US" sz="3200" b="0" i="1" smtClean="0">
                            <a:solidFill>
                              <a:srgbClr val="202122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b="0" i="1" smtClean="0">
                            <a:solidFill>
                              <a:srgbClr val="202122"/>
                            </a:solidFill>
                            <a:effectLst/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</a:rPr>
                          <m:t>𝑟𝑒𝑐𝑎𝑙𝑙</m:t>
                        </m:r>
                      </m:den>
                    </m:f>
                  </m:oMath>
                </a14:m>
                <a:endParaRPr lang="en-US" sz="3200" b="0" i="0" dirty="0">
                  <a:solidFill>
                    <a:srgbClr val="202122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BCA6FE-E339-5F26-44D3-823FCC1B7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62" t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7094357-20CB-0FC8-4CE7-D8DCFB75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measure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9C90F-198A-E5C5-5521-33746798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5" name="AutoShape 2" descr="{\displaystyle F=2\cdot {\frac {\mathrm {precision} \cdot \mathrm {recall} }{\mathrm {precision} +\mathrm {recall} }}}">
            <a:extLst>
              <a:ext uri="{FF2B5EF4-FFF2-40B4-BE49-F238E27FC236}">
                <a16:creationId xmlns:a16="http://schemas.microsoft.com/office/drawing/2014/main" id="{E36042C0-0ECB-23F2-C45C-A88693D5BD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40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ROC Curves</a:t>
            </a:r>
            <a:endParaRPr/>
          </a:p>
        </p:txBody>
      </p:sp>
      <p:sp>
        <p:nvSpPr>
          <p:cNvPr id="868" name="Google Shape;868;p7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61</a:t>
            </a:fld>
            <a:endParaRPr/>
          </a:p>
        </p:txBody>
      </p:sp>
      <p:sp>
        <p:nvSpPr>
          <p:cNvPr id="869" name="Google Shape;869;p77"/>
          <p:cNvSpPr txBox="1">
            <a:spLocks noGrp="1"/>
          </p:cNvSpPr>
          <p:nvPr>
            <p:ph type="body" idx="4294967295"/>
          </p:nvPr>
        </p:nvSpPr>
        <p:spPr>
          <a:xfrm>
            <a:off x="426244" y="1166594"/>
            <a:ext cx="8367712" cy="2638425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sz="2400" dirty="0"/>
              <a:t>We can perform a similar process with FPR and TPR</a:t>
            </a:r>
            <a:endParaRPr sz="2400" dirty="0"/>
          </a:p>
          <a:p>
            <a:pPr>
              <a:buAutoNum type="arabicParenR"/>
            </a:pPr>
            <a:r>
              <a:rPr lang="en" sz="2400" dirty="0"/>
              <a:t>Try many thresholds</a:t>
            </a:r>
            <a:endParaRPr sz="2400" dirty="0"/>
          </a:p>
          <a:p>
            <a:pPr>
              <a:spcBef>
                <a:spcPts val="0"/>
              </a:spcBef>
              <a:buAutoNum type="arabicParenR"/>
            </a:pPr>
            <a:r>
              <a:rPr lang="en" sz="2400" dirty="0"/>
              <a:t>Compute the FPR and TPR for each threshold</a:t>
            </a:r>
            <a:endParaRPr sz="2400" dirty="0"/>
          </a:p>
          <a:p>
            <a:pPr>
              <a:spcBef>
                <a:spcPts val="0"/>
              </a:spcBef>
              <a:buAutoNum type="arabicParenR"/>
            </a:pPr>
            <a:r>
              <a:rPr lang="en" sz="2400" dirty="0"/>
              <a:t>Choose a threshold that keeps FPR </a:t>
            </a:r>
            <a:r>
              <a:rPr lang="en" sz="2400" i="1" dirty="0"/>
              <a:t>low </a:t>
            </a:r>
            <a:r>
              <a:rPr lang="en" sz="2400" dirty="0"/>
              <a:t>and TPR </a:t>
            </a:r>
            <a:r>
              <a:rPr lang="en" sz="2400" i="1" dirty="0"/>
              <a:t>high</a:t>
            </a:r>
            <a:endParaRPr sz="2400" i="1" dirty="0"/>
          </a:p>
          <a:p>
            <a:pPr marL="0" indent="0">
              <a:buNone/>
            </a:pPr>
            <a:endParaRPr sz="800" dirty="0"/>
          </a:p>
          <a:p>
            <a:pPr marL="0" indent="0">
              <a:buNone/>
            </a:pPr>
            <a:r>
              <a:rPr lang="en" sz="2400" dirty="0"/>
              <a:t>ROC = “receiver operating characteristic”, comes from radar in WWII</a:t>
            </a:r>
            <a:endParaRPr sz="2400" dirty="0"/>
          </a:p>
        </p:txBody>
      </p:sp>
      <p:pic>
        <p:nvPicPr>
          <p:cNvPr id="870" name="Google Shape;87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8200" y="3545479"/>
            <a:ext cx="4477600" cy="33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7"/>
          <p:cNvSpPr txBox="1"/>
          <p:nvPr/>
        </p:nvSpPr>
        <p:spPr>
          <a:xfrm>
            <a:off x="9911967" y="3245933"/>
            <a:ext cx="2438400" cy="8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Threshold is low: FPR high, TPR high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>
                <a:latin typeface="Roboto Light"/>
                <a:ea typeface="Roboto Light"/>
                <a:cs typeface="Roboto Light"/>
                <a:sym typeface="Roboto Light"/>
              </a:rPr>
              <a:t>(many positive predictions)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72" name="Google Shape;872;p77"/>
          <p:cNvSpPr txBox="1"/>
          <p:nvPr/>
        </p:nvSpPr>
        <p:spPr>
          <a:xfrm>
            <a:off x="3544345" y="5302265"/>
            <a:ext cx="2438400" cy="1427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Threshold is high: FPR low, TPR low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dirty="0">
                <a:latin typeface="Roboto Light"/>
                <a:ea typeface="Roboto Light"/>
                <a:cs typeface="Roboto Light"/>
                <a:sym typeface="Roboto Light"/>
              </a:rPr>
              <a:t>(few positive predictions)</a:t>
            </a:r>
            <a:endParaRPr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ROC Curves</a:t>
            </a:r>
            <a:endParaRPr/>
          </a:p>
        </p:txBody>
      </p:sp>
      <p:sp>
        <p:nvSpPr>
          <p:cNvPr id="878" name="Google Shape;878;p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62</a:t>
            </a:fld>
            <a:endParaRPr/>
          </a:p>
        </p:txBody>
      </p:sp>
      <p:sp>
        <p:nvSpPr>
          <p:cNvPr id="879" name="Google Shape;879;p78"/>
          <p:cNvSpPr txBox="1">
            <a:spLocks noGrp="1"/>
          </p:cNvSpPr>
          <p:nvPr>
            <p:ph type="body" idx="4294967295"/>
          </p:nvPr>
        </p:nvSpPr>
        <p:spPr>
          <a:xfrm>
            <a:off x="2181310" y="779180"/>
            <a:ext cx="8367712" cy="738187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" dirty="0"/>
              <a:t>A </a:t>
            </a:r>
            <a:r>
              <a:rPr lang="en" b="1" dirty="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perfect predictor </a:t>
            </a:r>
            <a:r>
              <a:rPr lang="en" dirty="0"/>
              <a:t>has TPR = 1 and FPR = 0</a:t>
            </a:r>
            <a:endParaRPr dirty="0"/>
          </a:p>
        </p:txBody>
      </p:sp>
      <p:pic>
        <p:nvPicPr>
          <p:cNvPr id="880" name="Google Shape;88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167" y="1533200"/>
            <a:ext cx="4477600" cy="33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8"/>
          <p:cNvSpPr txBox="1"/>
          <p:nvPr/>
        </p:nvSpPr>
        <p:spPr>
          <a:xfrm>
            <a:off x="3831767" y="4670967"/>
            <a:ext cx="7250000" cy="1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82" name="Google Shape;882;p78"/>
          <p:cNvSpPr txBox="1"/>
          <p:nvPr/>
        </p:nvSpPr>
        <p:spPr>
          <a:xfrm>
            <a:off x="1963554" y="4970829"/>
            <a:ext cx="8059600" cy="1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The </a:t>
            </a:r>
            <a:r>
              <a:rPr lang="en" sz="2133" b="1" dirty="0">
                <a:latin typeface="Roboto"/>
                <a:ea typeface="Roboto"/>
                <a:cs typeface="Roboto"/>
                <a:sym typeface="Roboto"/>
              </a:rPr>
              <a:t>Area Under Curve (AUC)</a:t>
            </a: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 of the perfect predictor is 1.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" sz="2133" dirty="0">
                <a:latin typeface="Roboto Light"/>
                <a:ea typeface="Roboto Light"/>
                <a:cs typeface="Roboto Light"/>
                <a:sym typeface="Roboto Light"/>
              </a:rPr>
              <a:t>Because we want our classifier to be as close as possible to the perfect predictor, we aim to maximize the AUC.</a:t>
            </a:r>
            <a:endParaRPr sz="2133" dirty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83" name="Google Shape;883;p78"/>
          <p:cNvCxnSpPr/>
          <p:nvPr/>
        </p:nvCxnSpPr>
        <p:spPr>
          <a:xfrm rot="10800000">
            <a:off x="3732326" y="1734860"/>
            <a:ext cx="0" cy="25652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78"/>
          <p:cNvCxnSpPr/>
          <p:nvPr/>
        </p:nvCxnSpPr>
        <p:spPr>
          <a:xfrm>
            <a:off x="3732325" y="1734860"/>
            <a:ext cx="34304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"/>
              <a:t>ROC Curves</a:t>
            </a:r>
            <a:endParaRPr/>
          </a:p>
        </p:txBody>
      </p:sp>
      <p:sp>
        <p:nvSpPr>
          <p:cNvPr id="878" name="Google Shape;878;p7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63</a:t>
            </a:fld>
            <a:endParaRPr/>
          </a:p>
        </p:txBody>
      </p:sp>
      <p:sp>
        <p:nvSpPr>
          <p:cNvPr id="879" name="Google Shape;879;p78"/>
          <p:cNvSpPr txBox="1">
            <a:spLocks noGrp="1"/>
          </p:cNvSpPr>
          <p:nvPr>
            <p:ph type="body" idx="4294967295"/>
          </p:nvPr>
        </p:nvSpPr>
        <p:spPr>
          <a:xfrm>
            <a:off x="2181310" y="779180"/>
            <a:ext cx="8367712" cy="738187"/>
          </a:xfrm>
          <a:prstGeom prst="rect">
            <a:avLst/>
          </a:prstGeom>
        </p:spPr>
        <p:txBody>
          <a:bodyPr spcFirstLastPara="1" vert="horz" wrap="square" lIns="121900" tIns="121900" rIns="121900" bIns="12190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2800" dirty="0"/>
              <a:t>A predictor that </a:t>
            </a:r>
            <a:r>
              <a:rPr lang="en-US" sz="28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predicts randomly</a:t>
            </a:r>
            <a:r>
              <a:rPr lang="en-US" sz="2800" dirty="0"/>
              <a:t> has an AUC of 0.5</a:t>
            </a:r>
          </a:p>
        </p:txBody>
      </p:sp>
      <p:pic>
        <p:nvPicPr>
          <p:cNvPr id="880" name="Google Shape;88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167" y="1533200"/>
            <a:ext cx="4477600" cy="33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78"/>
          <p:cNvSpPr txBox="1"/>
          <p:nvPr/>
        </p:nvSpPr>
        <p:spPr>
          <a:xfrm>
            <a:off x="3831767" y="4670967"/>
            <a:ext cx="7250000" cy="1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83" name="Google Shape;883;p78"/>
          <p:cNvCxnSpPr/>
          <p:nvPr/>
        </p:nvCxnSpPr>
        <p:spPr>
          <a:xfrm rot="10800000">
            <a:off x="3732326" y="1734860"/>
            <a:ext cx="0" cy="25652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78"/>
          <p:cNvCxnSpPr/>
          <p:nvPr/>
        </p:nvCxnSpPr>
        <p:spPr>
          <a:xfrm>
            <a:off x="3732325" y="1734860"/>
            <a:ext cx="34304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897;p79">
            <a:extLst>
              <a:ext uri="{FF2B5EF4-FFF2-40B4-BE49-F238E27FC236}">
                <a16:creationId xmlns:a16="http://schemas.microsoft.com/office/drawing/2014/main" id="{E387304F-0142-8EB2-C387-637B90AB8721}"/>
              </a:ext>
            </a:extLst>
          </p:cNvPr>
          <p:cNvCxnSpPr/>
          <p:nvPr/>
        </p:nvCxnSpPr>
        <p:spPr>
          <a:xfrm rot="10800000" flipH="1">
            <a:off x="3792352" y="1721797"/>
            <a:ext cx="3356800" cy="25336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97318260"/>
      </p:ext>
    </p:extLst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18269</TotalTime>
  <Words>3692</Words>
  <Application>Microsoft Office PowerPoint</Application>
  <PresentationFormat>Widescreen</PresentationFormat>
  <Paragraphs>594</Paragraphs>
  <Slides>63</Slides>
  <Notes>62</Notes>
  <HiddenSlides>8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4" baseType="lpstr">
      <vt:lpstr>Arial</vt:lpstr>
      <vt:lpstr>Calibri</vt:lpstr>
      <vt:lpstr>Cambria Math</vt:lpstr>
      <vt:lpstr>Consolas</vt:lpstr>
      <vt:lpstr>Courier New</vt:lpstr>
      <vt:lpstr>Roboto</vt:lpstr>
      <vt:lpstr>Roboto Light</vt:lpstr>
      <vt:lpstr>Roboto Mono</vt:lpstr>
      <vt:lpstr>Times New Roman</vt:lpstr>
      <vt:lpstr>Wingdings</vt:lpstr>
      <vt:lpstr>Main</vt:lpstr>
      <vt:lpstr>Classification: Logistic Regression</vt:lpstr>
      <vt:lpstr>Goals for this Lecture</vt:lpstr>
      <vt:lpstr>Agenda</vt:lpstr>
      <vt:lpstr>Agenda</vt:lpstr>
      <vt:lpstr>Beyond Regression</vt:lpstr>
      <vt:lpstr>Beyond Regression</vt:lpstr>
      <vt:lpstr>So Far: Regression</vt:lpstr>
      <vt:lpstr>Now: Classification</vt:lpstr>
      <vt:lpstr>Kinds of Classification</vt:lpstr>
      <vt:lpstr>The Modeling Process</vt:lpstr>
      <vt:lpstr>Agenda</vt:lpstr>
      <vt:lpstr>The games Dataset</vt:lpstr>
      <vt:lpstr>Why Not Least Squares Linear Regression?</vt:lpstr>
      <vt:lpstr>Logistic Regression Model</vt:lpstr>
      <vt:lpstr>The Sigmoid Function</vt:lpstr>
      <vt:lpstr>The Sigmoid Converts Numerical Features to Probabilities</vt:lpstr>
      <vt:lpstr>Formalizing the Logistic Regression Model</vt:lpstr>
      <vt:lpstr>Decision Boundaries</vt:lpstr>
      <vt:lpstr>Linear Separability</vt:lpstr>
      <vt:lpstr>Linear Separability</vt:lpstr>
      <vt:lpstr>Cross-Entropy Loss</vt:lpstr>
      <vt:lpstr>The Modeling Process</vt:lpstr>
      <vt:lpstr>The Modeling Process</vt:lpstr>
      <vt:lpstr>Toy Dataset: L2 Loss</vt:lpstr>
      <vt:lpstr>Choosing a Different Loss Function</vt:lpstr>
      <vt:lpstr>Loss in Classification</vt:lpstr>
      <vt:lpstr>Cross-Entropy Loss</vt:lpstr>
      <vt:lpstr>Cross-Entropy Loss: Two Loss Functions In One!</vt:lpstr>
      <vt:lpstr>Empirical Risk: Average Cross-Entropy Loss</vt:lpstr>
      <vt:lpstr>Convexity Proof By Picture</vt:lpstr>
      <vt:lpstr>Maximum Likelihood Estimation</vt:lpstr>
      <vt:lpstr>Maximum Likelihood Estimation (MLE)</vt:lpstr>
      <vt:lpstr>Maximum Likelihood Estimation (MLE)</vt:lpstr>
      <vt:lpstr>Maximum Likelihood Estimation (MLE)</vt:lpstr>
      <vt:lpstr>Maximizing Likelihood == Minimizing Average Cross-Entropy</vt:lpstr>
      <vt:lpstr>We Did it!</vt:lpstr>
      <vt:lpstr>Why More Performance Metrics?</vt:lpstr>
      <vt:lpstr>Classifier Accuracy</vt:lpstr>
      <vt:lpstr>Pitfalls of Accuracy: A Case Study</vt:lpstr>
      <vt:lpstr>Pitfalls of Accuracy: A Case Study</vt:lpstr>
      <vt:lpstr>Pitfalls of Accuracy: A Case Study</vt:lpstr>
      <vt:lpstr>Types of Classifications</vt:lpstr>
      <vt:lpstr>Types of Classifications</vt:lpstr>
      <vt:lpstr>Accuracy, Precision, and Recall</vt:lpstr>
      <vt:lpstr>Accuracy, Precision, and Recall</vt:lpstr>
      <vt:lpstr>Accuracy, Precision, and Recall</vt:lpstr>
      <vt:lpstr>One of the Most Valuable Graphics on Wikipedia</vt:lpstr>
      <vt:lpstr>Back to the Spam</vt:lpstr>
      <vt:lpstr>Back to the Spam</vt:lpstr>
      <vt:lpstr>Precision vs. Recall</vt:lpstr>
      <vt:lpstr>Which Performance Metric?</vt:lpstr>
      <vt:lpstr>True and False Positive Rates</vt:lpstr>
      <vt:lpstr>Adjusting the Classification Threshold</vt:lpstr>
      <vt:lpstr>Thresholds</vt:lpstr>
      <vt:lpstr>Changing the Threshold</vt:lpstr>
      <vt:lpstr>Changing the Threshold</vt:lpstr>
      <vt:lpstr>Changing the Threshold</vt:lpstr>
      <vt:lpstr>Precision-Recall Curves</vt:lpstr>
      <vt:lpstr>Precision-Recall Curves</vt:lpstr>
      <vt:lpstr>F measure</vt:lpstr>
      <vt:lpstr>ROC Curves</vt:lpstr>
      <vt:lpstr>ROC Curves</vt:lpstr>
      <vt:lpstr>ROC Curves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435</cp:revision>
  <dcterms:created xsi:type="dcterms:W3CDTF">2021-09-22T08:38:12Z</dcterms:created>
  <dcterms:modified xsi:type="dcterms:W3CDTF">2026-05-11T12:03:46Z</dcterms:modified>
</cp:coreProperties>
</file>