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2" autoAdjust="0"/>
    <p:restoredTop sz="94610"/>
  </p:normalViewPr>
  <p:slideViewPr>
    <p:cSldViewPr snapToGrid="0" snapToObjects="1">
      <p:cViewPr>
        <p:scale>
          <a:sx n="95" d="100"/>
          <a:sy n="95" d="100"/>
        </p:scale>
        <p:origin x="67" y="-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271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isometric_3d_vector_illustration_scene_of_a_d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623560" cy="6858000"/>
          </a:xfrm>
          <a:prstGeom prst="rect">
            <a:avLst/>
          </a:prstGeom>
          <a:solidFill>
            <a:srgbClr val="FFFFFF">
              <a:alpha val="9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96012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Introduction to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MLOps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621792" y="233172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475569"/>
                </a:solidFill>
              </a:rPr>
              <a:t>Docker, Kubernetes, MLflow, Drift, and Retraining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21792" y="2834640"/>
            <a:ext cx="4222924" cy="310896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 smtClean="0">
                <a:solidFill>
                  <a:schemeClr val="bg1"/>
                </a:solidFill>
              </a:rPr>
              <a:t>Data Science – Spring 2026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640080" y="5715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Prepared by: Mostafa </a:t>
            </a:r>
            <a:r>
              <a:rPr lang="en-US" sz="1150" dirty="0" err="1" smtClean="0">
                <a:solidFill>
                  <a:srgbClr val="475569"/>
                </a:solidFill>
              </a:rPr>
              <a:t>Kermaninia</a:t>
            </a:r>
            <a:r>
              <a:rPr lang="en-US" sz="1150" dirty="0">
                <a:solidFill>
                  <a:srgbClr val="475569"/>
                </a:solidFill>
              </a:rPr>
              <a:t>, Mohammad Amanlou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University of Tehran · May 2026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1503152" y="16459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48840" cy="292608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MLOps Story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503152" y="16459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9552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you will learn today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21792" y="1664208"/>
            <a:ext cx="10972800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Understand the difference between a model that works in a notebook and one that is ready for production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Recognize why tools like Docker, Kubernetes, and MLflow enter the machine learning workflow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Draw a simple MLOps pipeline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Explain the concept of drift and why retraining is necessary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Discuss the risks of deploying a new model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8368" y="5961888"/>
            <a:ext cx="10789920" cy="50292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Big idea: ML does not end at “accuracy on the test set.”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48840" cy="292608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MLOps Story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503152" y="16459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9552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By the end of this session you should be able to: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21792" y="1664208"/>
            <a:ext cx="1097280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List at least five problems that occur when a model stays inside a Jupyter notebook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Describe each MLOps stage: data, training, tracking, packaging, deployment, monitoring, and retraining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Write a simple Dockerfile for a scikit-learn model API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MLflow to log parameters, metrics, and artifacts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Explain Data Drift and Concept Drift with a real-world example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Propose a retraining strategy based on monitoring signals</a:t>
            </a:r>
            <a:endParaRPr lang="en-US" sz="15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48840" cy="292608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MLOps Story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503152" y="16459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9552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Loan Repayment Risk Model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21792" y="1664208"/>
            <a:ext cx="5577840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5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bank has built a model that predicts whether a customer will repay a loan or default</a:t>
            </a:r>
            <a:endParaRPr lang="en-US" sz="1540" dirty="0"/>
          </a:p>
          <a:p>
            <a:pPr marL="0" indent="0">
              <a:buNone/>
            </a:pPr>
            <a:r>
              <a:rPr lang="en-US" sz="15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Inside the Jupyter notebook, the model shows 92% accuracy on the test set</a:t>
            </a:r>
            <a:endParaRPr lang="en-US" sz="1540" dirty="0"/>
          </a:p>
          <a:p>
            <a:pPr marL="0" indent="0">
              <a:buNone/>
            </a:pPr>
            <a:r>
              <a:rPr lang="en-US" sz="15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bank now wants to integrate the model into its real-time loan approval system</a:t>
            </a:r>
            <a:endParaRPr lang="en-US" sz="1540" dirty="0"/>
          </a:p>
          <a:p>
            <a:pPr marL="0" indent="0">
              <a:buNone/>
            </a:pPr>
            <a:r>
              <a:rPr lang="en-US" sz="15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This is the journey we will follow throughout the entire class</a:t>
            </a:r>
            <a:endParaRPr lang="en-US" sz="1540" dirty="0"/>
          </a:p>
        </p:txBody>
      </p:sp>
      <p:pic>
        <p:nvPicPr>
          <p:cNvPr id="7" name="Image 0" descr="/mnt/data/mlops_slide_images/slide_04_loan_risk_model.png"/>
          <p:cNvPicPr>
            <a:picLocks noChangeAspect="1"/>
          </p:cNvPicPr>
          <p:nvPr/>
        </p:nvPicPr>
        <p:blipFill>
          <a:blip r:embed="rId3"/>
          <a:srcRect l="15694" r="15694"/>
          <a:stretch/>
        </p:blipFill>
        <p:spPr>
          <a:xfrm>
            <a:off x="6537960" y="1508760"/>
            <a:ext cx="5074920" cy="4160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5961888"/>
            <a:ext cx="10789920" cy="50292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Story anchor: one loan-risk model, many production problems.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48840" cy="292608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MLOps Story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503152" y="16459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9552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Ask yourself: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21792" y="1463040"/>
            <a:ext cx="5486400" cy="1234440"/>
          </a:xfrm>
          <a:prstGeom prst="rect">
            <a:avLst/>
          </a:prstGeom>
          <a:solidFill>
            <a:srgbClr val="EF4444"/>
          </a:solidFill>
          <a:ln/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92% accuracy ≠ ready for production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5394960" cy="2468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Can we immediately deploy it and approve real loan applications? The correct answer is NO.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 need packaging, a serving API, monitoring, versioning, rollback, and retraining.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high test score does not guarantee the model will work next month with new customers.</a:t>
            </a:r>
            <a:endParaRPr lang="en-US" sz="1520" dirty="0"/>
          </a:p>
        </p:txBody>
      </p:sp>
      <p:pic>
        <p:nvPicPr>
          <p:cNvPr id="8" name="Image 0" descr="/mnt/data/mlops_slide_images/slide_05_accuracy_not_enough.png"/>
          <p:cNvPicPr>
            <a:picLocks noChangeAspect="1"/>
          </p:cNvPicPr>
          <p:nvPr/>
        </p:nvPicPr>
        <p:blipFill>
          <a:blip r:embed="rId3"/>
          <a:srcRect l="16789" r="16789"/>
          <a:stretch/>
        </p:blipFill>
        <p:spPr>
          <a:xfrm>
            <a:off x="6492240" y="1371600"/>
            <a:ext cx="5074920" cy="42976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48840" cy="292608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MLOps Story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503152" y="16459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9552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Problem: “It works on my laptop.”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21792" y="1664208"/>
            <a:ext cx="5577840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model runs on the professor’s machine but crashes on the production server.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Reasons: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– Different Python version (3.11 vs 3.9)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– Different library versions (scikit-learn 1.3 vs 1.0)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– Missing system packages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– Different operating system paths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model is environment-dependent; it is not portable.</a:t>
            </a:r>
            <a:endParaRPr lang="en-US" sz="1420" dirty="0"/>
          </a:p>
        </p:txBody>
      </p:sp>
      <p:pic>
        <p:nvPicPr>
          <p:cNvPr id="7" name="Image 0" descr="/mnt/data/mlops_slide_images/slide_06_works_on_my_laptop.png"/>
          <p:cNvPicPr>
            <a:picLocks noChangeAspect="1"/>
          </p:cNvPicPr>
          <p:nvPr/>
        </p:nvPicPr>
        <p:blipFill>
          <a:blip r:embed="rId3"/>
          <a:srcRect l="15694" r="15694"/>
          <a:stretch/>
        </p:blipFill>
        <p:spPr>
          <a:xfrm>
            <a:off x="6537960" y="1508760"/>
            <a:ext cx="5074920" cy="4160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5961888"/>
            <a:ext cx="10789920" cy="50292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Classic production horror story: same code, different environment, boom.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48840" cy="292608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MLOps Story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503152" y="16459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9552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Problem: Which model file is the right one?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21792" y="1664208"/>
            <a:ext cx="5577840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You end up with files like: model.pkl, model_final.pkl, model_final2.pkl, best_model.pkl, best_model_REAL_FINAL.pkl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Nobody knows which one was trained on which data, with which parameters, and what metrics it achieved.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Deploying the wrong version can cause silent failures.</a:t>
            </a:r>
            <a:endParaRPr lang="en-US" sz="1500" dirty="0"/>
          </a:p>
        </p:txBody>
      </p:sp>
      <p:pic>
        <p:nvPicPr>
          <p:cNvPr id="7" name="Image 0" descr="/mnt/data/mlops_slide_images/slide_07_model_file_chaos.png"/>
          <p:cNvPicPr>
            <a:picLocks noChangeAspect="1"/>
          </p:cNvPicPr>
          <p:nvPr/>
        </p:nvPicPr>
        <p:blipFill>
          <a:blip r:embed="rId3"/>
          <a:srcRect l="15694" r="15694"/>
          <a:stretch/>
        </p:blipFill>
        <p:spPr>
          <a:xfrm>
            <a:off x="6537960" y="1508760"/>
            <a:ext cx="5074920" cy="4160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5961888"/>
            <a:ext cx="10789920" cy="50292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If your file name says REAL_FINAL, it is probably not final 🙃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48840" cy="292608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MLOps Story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503152" y="16459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9552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Problem: How can other systems use the model?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21792" y="1664208"/>
            <a:ext cx="557784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banking application cannot load a .pkl file directly.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There is no standard way to send customer information and receive a risk prediction.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Without an API, the model is an isolated island.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 need a clear input schema, a clear output schema, and a network endpoint.</a:t>
            </a:r>
            <a:endParaRPr lang="en-US" sz="1550" dirty="0"/>
          </a:p>
        </p:txBody>
      </p:sp>
      <p:pic>
        <p:nvPicPr>
          <p:cNvPr id="7" name="Image 0" descr="/mnt/data/mlops_slide_images/slide_08_api_bridge.png"/>
          <p:cNvPicPr>
            <a:picLocks noChangeAspect="1"/>
          </p:cNvPicPr>
          <p:nvPr/>
        </p:nvPicPr>
        <p:blipFill>
          <a:blip r:embed="rId3"/>
          <a:srcRect l="15694" r="15694"/>
          <a:stretch/>
        </p:blipFill>
        <p:spPr>
          <a:xfrm>
            <a:off x="6537960" y="1508760"/>
            <a:ext cx="5074920" cy="4160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48840" cy="292608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MLOps Story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503152" y="16459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9552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Problem: Is the model still working after deployment?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21792" y="1664208"/>
            <a:ext cx="557784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model was deployed three months ago. Nobody checks whether predictions are still correct.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Possible hidden issues: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– High-risk scores for almost everyone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– Prediction latency increased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– Input features arrive with missing values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An unmonitored model is a black box that can silently harm the business.</a:t>
            </a:r>
            <a:endParaRPr lang="en-US" sz="1420" dirty="0"/>
          </a:p>
        </p:txBody>
      </p:sp>
      <p:pic>
        <p:nvPicPr>
          <p:cNvPr id="7" name="Image 0" descr="/mnt/data/mlops_slide_images/slide_09_monitoring_dashboard.png"/>
          <p:cNvPicPr>
            <a:picLocks noChangeAspect="1"/>
          </p:cNvPicPr>
          <p:nvPr/>
        </p:nvPicPr>
        <p:blipFill>
          <a:blip r:embed="rId3"/>
          <a:srcRect l="15694" r="15694"/>
          <a:stretch/>
        </p:blipFill>
        <p:spPr>
          <a:xfrm>
            <a:off x="6537960" y="1508760"/>
            <a:ext cx="5074920" cy="4160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48840" cy="292608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MLOps Story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503152" y="16459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9552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Problem: The model is using outdated data.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21792" y="1664208"/>
            <a:ext cx="10972800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Customer behavior changed after an economic shift, but the model was trained on data from two years ago.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Nobody knows when to retrain, how to retrain, or who is responsible.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Without a retraining plan, performance gradually decays until the model becomes useless.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58368" y="5961888"/>
            <a:ext cx="10789920" cy="50292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The world changes. Your model will not magically update itself.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48840" cy="292608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MLOps Story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503152" y="16459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9552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Notebook (Lab) vs. Production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1097280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model lives in two very different worlds.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91640"/>
          <a:ext cx="10835640" cy="41605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9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34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Aspect</a:t>
                      </a:r>
                      <a:endParaRPr lang="en-US" sz="12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Notebook / Lab</a:t>
                      </a:r>
                      <a:endParaRPr lang="en-US" sz="12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Production</a:t>
                      </a:r>
                      <a:endParaRPr lang="en-US" sz="12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Focus</a:t>
                      </a:r>
                      <a:endParaRPr lang="en-US" sz="12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Accuracy, metrics</a:t>
                      </a:r>
                      <a:endParaRPr lang="en-US" sz="12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Quality, stability, security, latency</a:t>
                      </a:r>
                      <a:endParaRPr lang="en-US" sz="12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User</a:t>
                      </a:r>
                      <a:endParaRPr lang="en-US" sz="12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One person (data scientist)</a:t>
                      </a:r>
                      <a:endParaRPr lang="en-US" sz="12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Many systems, real users</a:t>
                      </a:r>
                      <a:endParaRPr lang="en-US" sz="12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Data</a:t>
                      </a:r>
                      <a:endParaRPr lang="en-US" sz="12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Static, clean, prepared</a:t>
                      </a:r>
                      <a:endParaRPr lang="en-US" sz="12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Live, incomplete, changing, sometimes erroneous</a:t>
                      </a:r>
                      <a:endParaRPr lang="en-US" sz="12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Error cost</a:t>
                      </a:r>
                      <a:endParaRPr lang="en-US" sz="12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Low (just a number)</a:t>
                      </a:r>
                      <a:endParaRPr lang="en-US" sz="12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 (financial, legal, reputational)</a:t>
                      </a:r>
                      <a:endParaRPr lang="en-US" sz="12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Execution</a:t>
                      </a:r>
                      <a:endParaRPr lang="en-US" sz="12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Manual, cell by cell</a:t>
                      </a:r>
                      <a:endParaRPr lang="en-US" sz="12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Automated, scheduled, monitored</a:t>
                      </a:r>
                      <a:endParaRPr lang="en-US" sz="12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48840" cy="292608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MLOps Story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503152" y="16459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9552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Important Warning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21792" y="1463040"/>
            <a:ext cx="5486400" cy="123444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Training accuracy is not a production guarantee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5394960" cy="2468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production environment changes constantly.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Data distributions shift.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Assumptions that were true during training may become false later.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model must be continuously observed, tested, and updated.</a:t>
            </a:r>
            <a:endParaRPr lang="en-US" sz="152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48840" cy="292608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MLOps Story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503152" y="16459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9552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Definition of MLOps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21792" y="1664208"/>
            <a:ext cx="1097280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MLOps manages the full lifecycle of a machine learning model — from data and training to deployment, monitoring, and retraining.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It combines: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– Software engineering best practices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– DevOps principles: automation, CI/CD, reliability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– Machine learning specifics: data, experiments, model drift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Goal: make models repeatable, reliable, monitorable, and updatable in production.</a:t>
            </a:r>
            <a:endParaRPr lang="en-US" sz="152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48840" cy="292608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MLOps Story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503152" y="16459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9552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End-to-End MLOps Lifecycle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21792" y="1664208"/>
            <a:ext cx="55778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production-grade ML system follows a continuous cycle, not a single linear step.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Data Collection → Data Validation → Training → Experiment Tracking → Model Registry → Packaging → Deployment → Monitoring → Drift Detection → Retraining / Rollback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This cycle repeats throughout the model’s life.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Skipping any stage creates risk in production.</a:t>
            </a:r>
            <a:endParaRPr lang="en-US" sz="1330" dirty="0"/>
          </a:p>
        </p:txBody>
      </p:sp>
      <p:pic>
        <p:nvPicPr>
          <p:cNvPr id="7" name="Image 0" descr="/mnt/data/mlops_slide_images/slide_14_end_to_end_lifecycle.png"/>
          <p:cNvPicPr>
            <a:picLocks noChangeAspect="1"/>
          </p:cNvPicPr>
          <p:nvPr/>
        </p:nvPicPr>
        <p:blipFill>
          <a:blip r:embed="rId3"/>
          <a:srcRect l="15694" r="15694"/>
          <a:stretch/>
        </p:blipFill>
        <p:spPr>
          <a:xfrm>
            <a:off x="6537960" y="1508760"/>
            <a:ext cx="5074920" cy="4160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48840" cy="292608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MLOps Story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503152" y="16459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9552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Foundational Concepts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1097280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first three building blocks of production ML.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645920"/>
            <a:ext cx="3441192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</a:rPr>
              <a:t>🧪  Experiment Tracking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</a:rPr>
              <a:t>Record parameters, metrics, code version, data version, and artifacts.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</a:rPr>
              <a:t>Tool example: MLflow Tracking.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</a:rPr>
              <a:t>Without it: you cannot reproduce or compare experiments.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4383024" y="1645920"/>
            <a:ext cx="3441192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</a:rPr>
              <a:t>🏷️  Model Registry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</a:rPr>
              <a:t>A central place to store, version, and manage model stages.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</a:rPr>
              <a:t>Stages: Development → Staging → Production → Archived.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</a:rPr>
              <a:t>Tool example: MLflow Model Registry.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8080248" y="1645920"/>
            <a:ext cx="3441192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</a:rPr>
              <a:t>📦  Packaging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</a:rPr>
              <a:t>Bundle the model, dependencies, and serving code into a deployable unit.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</a:rPr>
              <a:t>Tool example: Docker.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</a:rPr>
              <a:t>Without packaging: works-on-my-machine syndrome.</a:t>
            </a:r>
            <a:endParaRPr lang="en-US" sz="112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48840" cy="292608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MLOps Story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503152" y="16459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9552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More Foundational Concepts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1097280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Serving, orchestration, and monitoring complete the story.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645920"/>
            <a:ext cx="3441192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</a:rPr>
              <a:t>🌐  Model Serving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</a:rPr>
              <a:t>Expose the model as a service: API or batch job.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</a:rPr>
              <a:t>Tool examples: FastAPI, Flask.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</a:rPr>
              <a:t>Requires a clear input/output schema.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4383024" y="1645920"/>
            <a:ext cx="3441192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</a:rPr>
              <a:t>☸️  Orchestration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</a:rPr>
              <a:t>Manage multiple containers across many servers.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</a:rPr>
              <a:t>Tool example: Kubernetes.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</a:rPr>
              <a:t>Handles self-healing, scaling, and rolling updates.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8080248" y="1645920"/>
            <a:ext cx="3441192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</a:rPr>
              <a:t>📊  Monitoring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</a:rPr>
              <a:t>Observe system health, data quality, model performance, and business impact.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</a:rPr>
              <a:t>Tool examples: Prometheus, Evidently, Grafana.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</a:rPr>
              <a:t>Two types: service health and model behavior.</a:t>
            </a:r>
            <a:endParaRPr lang="en-US" sz="112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48840" cy="292608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MLOps Story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503152" y="16459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9552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Who Does What in an MLOps Team?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1097280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ML is a team sport.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2676906" cy="33375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</a:rPr>
              <a:t>🔬  Data Scientist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</a:rPr>
              <a:t>Develops the model, designs experiments, evaluates baseline performance.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3344418" y="1600200"/>
            <a:ext cx="2676906" cy="33375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</a:rPr>
              <a:t>🛠️  ML Engineer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</a:rPr>
              <a:t>Converts the model into a production-ready system, builds pipelines, writes APIs, sets up tracking.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6185916" y="1600200"/>
            <a:ext cx="2676906" cy="33375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</a:rPr>
              <a:t>⚙️  DevOps / Platform Engineer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</a:rPr>
              <a:t>Provides infrastructure for deployment, monitoring, and scaling. Manages clusters and networks.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9027414" y="1600200"/>
            <a:ext cx="2676906" cy="33375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</a:rPr>
              <a:t>🏦  Domain Expert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</a:rPr>
              <a:t>Interprets data, errors, and real-world changes. Ensures decisions align with business reality.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777240" y="5532120"/>
            <a:ext cx="10561320" cy="50292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In smaller teams, one person may wear several hats. In larger ones, these roles are specialized.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48840" cy="292608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MLOps Story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503152" y="16459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9552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Exercise (2 minutes)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21792" y="1664208"/>
            <a:ext cx="10972800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For an email spam detection model, list the MLOps lifecycle components.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Where does data come from?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How do you train and track experiments?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does packaging look like?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How is it deployed?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do you monitor?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When do you retrain?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58368" y="5961888"/>
            <a:ext cx="10789920" cy="50292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We will share a few answers after a short discussion.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48840" cy="29260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Notebook to Code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503152" y="16459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9552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You Cannot Deploy a Notebook Directly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21792" y="1664208"/>
            <a:ext cx="1097280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5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Cell execution order is not guaranteed — hidden state can break reproducibility.</a:t>
            </a:r>
            <a:endParaRPr lang="en-US" sz="1540" dirty="0"/>
          </a:p>
          <a:p>
            <a:pPr marL="0" indent="0">
              <a:buNone/>
            </a:pPr>
            <a:r>
              <a:rPr lang="en-US" sz="15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Hard to test individual functions.</a:t>
            </a:r>
            <a:endParaRPr lang="en-US" sz="1540" dirty="0"/>
          </a:p>
          <a:p>
            <a:pPr marL="0" indent="0">
              <a:buNone/>
            </a:pPr>
            <a:r>
              <a:rPr lang="en-US" sz="15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Dependencies are implicit: which library version?</a:t>
            </a:r>
            <a:endParaRPr lang="en-US" sz="1540" dirty="0"/>
          </a:p>
          <a:p>
            <a:pPr marL="0" indent="0">
              <a:buNone/>
            </a:pPr>
            <a:r>
              <a:rPr lang="en-US" sz="15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Mixing exploration, training, and serving code in one file leads to chaos.</a:t>
            </a:r>
            <a:endParaRPr lang="en-US" sz="1540" dirty="0"/>
          </a:p>
          <a:p>
            <a:pPr marL="0" indent="0">
              <a:buNone/>
            </a:pPr>
            <a:r>
              <a:rPr lang="en-US" sz="15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Version control is messy with large notebook outputs.</a:t>
            </a:r>
            <a:endParaRPr lang="en-US" sz="1540" dirty="0"/>
          </a:p>
          <a:p>
            <a:pPr marL="0" indent="0">
              <a:buNone/>
            </a:pPr>
            <a:r>
              <a:rPr lang="en-US" sz="15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Solution: extract the code into a structured, modular project.</a:t>
            </a:r>
            <a:endParaRPr lang="en-US" sz="154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48840" cy="29260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Notebook to Code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503152" y="16459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9552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Clean ML Project Layout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1097280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training code from prediction code.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508760"/>
            <a:ext cx="4572000" cy="4389120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ml_project/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├── data/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├── models/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│   └── loan_model.pkl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├── src/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│   ├── train.py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│   └── predict.py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├── tests/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├── requirements.txt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└── README.md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0" y="201168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Keep configuration in a single place.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Include tests and a README.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Make the project easy for another person to run.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0" y="5029200"/>
            <a:ext cx="5120640" cy="685800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Rule of thumb: production code should survive outside your notebook.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48840" cy="29260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Notebook to Code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503152" y="16459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9552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Production-Ready Code Is Modular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1097280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and inference should not be glued together.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5394960" cy="4297680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src/train.py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train_model(config)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evaluate_model(model)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save_model(model, path)</a:t>
            </a:r>
            <a:endParaRPr lang="en-US" sz="1420" dirty="0"/>
          </a:p>
          <a:p>
            <a:pPr marL="0" indent="0">
              <a:buNone/>
            </a:pP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src/predict.py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def predict(input_row):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"""One function, no hidden state."""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return model.predict(input_row)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6492240" y="1828800"/>
            <a:ext cx="4846320" cy="3108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src/train.py contains training logic, parameterization, and model saving.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src/predict.py provides a clean function for inference.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One function, no hidden state, testable.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48840" cy="29260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Notebook to Code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503152" y="16459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9552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Before You Deploy, Verify: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21792" y="1664208"/>
            <a:ext cx="10972800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4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✅ Training code and inference code are separated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✅ Python version and all libraries are explicitly declared (requirements.txt)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✅ The saved model is stored with metadata: timestamp, parameters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✅ Input and output schemas are documented: fields and types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✅ A simple test for the predict function exists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✅ The README explains how to run the code and train a new model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58368" y="5961888"/>
            <a:ext cx="10789920" cy="502920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Anything only existing in the model builder’s head must become a file, code, documentation, or metadata.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48840" cy="292608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503152" y="16459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9552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Same Old Problem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21792" y="1664208"/>
            <a:ext cx="557784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37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“It runs on my laptop, but crashes on the server.”</a:t>
            </a:r>
            <a:endParaRPr lang="en-US" sz="1370" dirty="0"/>
          </a:p>
          <a:p>
            <a:pPr marL="0" indent="0">
              <a:buNone/>
            </a:pPr>
            <a:r>
              <a:rPr lang="en-US" sz="137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Root cause: different OS, Python versions, and missing system libraries.</a:t>
            </a:r>
            <a:endParaRPr lang="en-US" sz="1370" dirty="0"/>
          </a:p>
          <a:p>
            <a:pPr marL="0" indent="0">
              <a:buNone/>
            </a:pPr>
            <a:r>
              <a:rPr lang="en-US" sz="137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Copying files and installing libraries by hand is error-prone and not reproducible.</a:t>
            </a:r>
            <a:endParaRPr lang="en-US" sz="1370" dirty="0"/>
          </a:p>
          <a:p>
            <a:pPr marL="0" indent="0">
              <a:buNone/>
            </a:pPr>
            <a:r>
              <a:rPr lang="en-US" sz="137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Docker’s promise: package application, dependencies, configuration, and files into a portable container.</a:t>
            </a:r>
            <a:endParaRPr lang="en-US" sz="1370" dirty="0"/>
          </a:p>
          <a:p>
            <a:pPr marL="0" indent="0">
              <a:buNone/>
            </a:pPr>
            <a:r>
              <a:rPr lang="en-US" sz="137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container runs the same way everywhere: laptop, server, cloud.</a:t>
            </a:r>
            <a:endParaRPr lang="en-US" sz="1370" dirty="0"/>
          </a:p>
        </p:txBody>
      </p:sp>
      <p:pic>
        <p:nvPicPr>
          <p:cNvPr id="7" name="Image 0" descr="/mnt/data/mlops_slide_images/slide_23_docker_promise.png"/>
          <p:cNvPicPr>
            <a:picLocks noChangeAspect="1"/>
          </p:cNvPicPr>
          <p:nvPr/>
        </p:nvPicPr>
        <p:blipFill>
          <a:blip r:embed="rId3"/>
          <a:srcRect l="15694" r="15694"/>
          <a:stretch/>
        </p:blipFill>
        <p:spPr>
          <a:xfrm>
            <a:off x="6537960" y="1508760"/>
            <a:ext cx="5074920" cy="4160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48840" cy="292608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503152" y="16459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9552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Terms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21792" y="1664208"/>
            <a:ext cx="557784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Dockerfile: instructions for building the environment — like a recipe.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Image: the built result from a Dockerfile; a read-only template.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Container: a running instance of an image. You can start, stop, and delete it.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Registry: a place to store and share images, such as Docker Hub or a private registry.</a:t>
            </a:r>
            <a:endParaRPr lang="en-US" sz="1500" dirty="0"/>
          </a:p>
        </p:txBody>
      </p:sp>
      <p:pic>
        <p:nvPicPr>
          <p:cNvPr id="7" name="Image 0" descr="/mnt/data/mlops_slide_images/slide_24_docker_terms_flow.png"/>
          <p:cNvPicPr>
            <a:picLocks noChangeAspect="1"/>
          </p:cNvPicPr>
          <p:nvPr/>
        </p:nvPicPr>
        <p:blipFill>
          <a:blip r:embed="rId3"/>
          <a:srcRect l="15694" r="15694"/>
          <a:stretch/>
        </p:blipFill>
        <p:spPr>
          <a:xfrm>
            <a:off x="6537960" y="1508760"/>
            <a:ext cx="5074920" cy="4160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48840" cy="292608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503152" y="16459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9552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Dockerfile Example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1097280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tiny recipe for a reproducible environment.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6492240" cy="3566160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FROM python:3.11-slim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WORKDIR /app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COPY requirements.txt 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RUN pip install --no-cache-dir -r requirements.txt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COPY . 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CMD ["python", "train.py"]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543800" y="1828800"/>
            <a:ext cx="3931920" cy="3108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Start from a known Python base image.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Install exact dependencies from requirements.txt.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Copy project files into the container.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Define the default command.</a:t>
            </a:r>
            <a:endParaRPr lang="en-US" sz="16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48840" cy="292608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503152" y="16459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9552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Dockerfile Instructions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1097280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each line means.</a:t>
            </a:r>
            <a:endParaRPr lang="en-US" sz="1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0200"/>
          <a:ext cx="10652760" cy="448056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12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3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Instruction</a:t>
                      </a:r>
                      <a:endParaRPr lang="en-US" sz="13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3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Meaning</a:t>
                      </a:r>
                      <a:endParaRPr lang="en-US" sz="13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3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FROM python:3.11-slim</a:t>
                      </a:r>
                      <a:endParaRPr lang="en-US" sz="13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3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Start from a light Python base image</a:t>
                      </a:r>
                      <a:endParaRPr lang="en-US" sz="13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3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WORKDIR /app</a:t>
                      </a:r>
                      <a:endParaRPr lang="en-US" sz="13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3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Set the working directory inside the container</a:t>
                      </a:r>
                      <a:endParaRPr lang="en-US" sz="13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3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COPY requirements.txt .</a:t>
                      </a:r>
                      <a:endParaRPr lang="en-US" sz="13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3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Copy the dependency file</a:t>
                      </a:r>
                      <a:endParaRPr lang="en-US" sz="13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3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RUN pip install ...</a:t>
                      </a:r>
                      <a:endParaRPr lang="en-US" sz="13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3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Install required libraries</a:t>
                      </a:r>
                      <a:endParaRPr lang="en-US" sz="13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3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COPY . .</a:t>
                      </a:r>
                      <a:endParaRPr lang="en-US" sz="13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3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Copy the rest of the project code</a:t>
                      </a:r>
                      <a:endParaRPr lang="en-US" sz="13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3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CMD ...</a:t>
                      </a:r>
                      <a:endParaRPr lang="en-US" sz="13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3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Default command to run when the container starts</a:t>
                      </a:r>
                      <a:endParaRPr lang="en-US" sz="13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48840" cy="292608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503152" y="16459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9552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Basic Docker CLI Commands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1097280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Build, tag, and run the image.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6217920" cy="2743200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Build an image and tag it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docker build -t loan-model-api:v1 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Run the API and map ports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docker run -p 8000:8000 loan-model-api:v1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0" y="1874520"/>
            <a:ext cx="4114800" cy="2468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-t tags the image with a name and version.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-p maps a port on your host to the container’s port.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Always use meaningful tags to version your images.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48840" cy="292608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503152" y="16459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9552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Important Clarification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21792" y="1664208"/>
            <a:ext cx="10972800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4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Docker does not make your model more accurate, faster, or smarter.</a:t>
            </a:r>
            <a:endParaRPr lang="en-US" sz="1440" dirty="0"/>
          </a:p>
          <a:p>
            <a:pPr marL="0" indent="0">
              <a:buNone/>
            </a:pPr>
            <a:r>
              <a:rPr lang="en-US" sz="14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Docker’s job is operational:</a:t>
            </a:r>
            <a:endParaRPr lang="en-US" sz="1440" dirty="0"/>
          </a:p>
          <a:p>
            <a:pPr marL="0" indent="0">
              <a:buNone/>
            </a:pPr>
            <a:r>
              <a:rPr lang="en-US" sz="14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It makes the execution environment repeatable.</a:t>
            </a:r>
            <a:endParaRPr lang="en-US" sz="1440" dirty="0"/>
          </a:p>
          <a:p>
            <a:pPr marL="0" indent="0">
              <a:buNone/>
            </a:pPr>
            <a:r>
              <a:rPr lang="en-US" sz="14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It makes the application portable.</a:t>
            </a:r>
            <a:endParaRPr lang="en-US" sz="1440" dirty="0"/>
          </a:p>
          <a:p>
            <a:pPr marL="0" indent="0">
              <a:buNone/>
            </a:pPr>
            <a:r>
              <a:rPr lang="en-US" sz="14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It helps teams avoid the “works on my machine” problem.</a:t>
            </a:r>
            <a:endParaRPr lang="en-US" sz="1440" dirty="0"/>
          </a:p>
          <a:p>
            <a:pPr marL="0" indent="0">
              <a:buNone/>
            </a:pPr>
            <a:r>
              <a:rPr lang="en-US" sz="14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Think of Docker as a standard shipping container: it protects the cargo and makes transport uniform, but it does not improve the cargo itself.</a:t>
            </a:r>
            <a:endParaRPr lang="en-US" sz="1440" dirty="0"/>
          </a:p>
        </p:txBody>
      </p:sp>
      <p:sp>
        <p:nvSpPr>
          <p:cNvPr id="7" name="Text 5"/>
          <p:cNvSpPr/>
          <p:nvPr/>
        </p:nvSpPr>
        <p:spPr>
          <a:xfrm>
            <a:off x="658368" y="5961888"/>
            <a:ext cx="10789920" cy="50292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Docker protects the environment, not the model’s intelligence.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48840" cy="292608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503152" y="16459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9552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Exercise: What Must Be Documented?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21792" y="1664208"/>
            <a:ext cx="1097280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“My model works on my system. On my friend’s computer it fails.” What information should be fixed and documented?</a:t>
            </a:r>
            <a:endParaRPr lang="en-US" sz="1620" dirty="0"/>
          </a:p>
          <a:p>
            <a:pPr marL="0" indent="0">
              <a:buNone/>
            </a:pPr>
            <a:r>
              <a:rPr lang="en-US" sz="16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Expected answers: Python version, exact library versions, model file, file paths or relative paths, environment variables, and the command to run the application.</a:t>
            </a:r>
            <a:endParaRPr lang="en-US" sz="1620" dirty="0"/>
          </a:p>
          <a:p>
            <a:pPr marL="0" indent="0">
              <a:buNone/>
            </a:pPr>
            <a:r>
              <a:rPr lang="en-US" sz="16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Docker encodes all of this in a Dockerfile and ensures consistency.</a:t>
            </a:r>
            <a:endParaRPr lang="en-US" sz="162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48840" cy="292608"/>
          </a:xfrm>
          <a:prstGeom prst="rect">
            <a:avLst/>
          </a:prstGeom>
          <a:solidFill>
            <a:srgbClr val="06B6D4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Serving with APIs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503152" y="16459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9552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Not Just Load the .pkl File in the Application?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21792" y="1664208"/>
            <a:ext cx="557784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loan approval system could be a web app, mobile backend, or core banking system — none of them understand Python pickle files.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An API provides a standard communication path that any client can call over the network.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Benefits: decouples the model, defines inputs/outputs, enables latency/error monitoring, and allows upgrade or rollback.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Common protocols: REST (JSON) or gRPC.</a:t>
            </a:r>
            <a:endParaRPr lang="en-US" sz="1380" dirty="0"/>
          </a:p>
        </p:txBody>
      </p:sp>
      <p:pic>
        <p:nvPicPr>
          <p:cNvPr id="7" name="Image 0" descr="/mnt/data/mlops_slide_images/slide_30_api_vs_pkl.png"/>
          <p:cNvPicPr>
            <a:picLocks noChangeAspect="1"/>
          </p:cNvPicPr>
          <p:nvPr/>
        </p:nvPicPr>
        <p:blipFill>
          <a:blip r:embed="rId3"/>
          <a:srcRect l="15694" r="15694"/>
          <a:stretch/>
        </p:blipFill>
        <p:spPr>
          <a:xfrm>
            <a:off x="6537960" y="1508760"/>
            <a:ext cx="5074920" cy="4160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48840" cy="292608"/>
          </a:xfrm>
          <a:prstGeom prst="rect">
            <a:avLst/>
          </a:prstGeom>
          <a:solidFill>
            <a:srgbClr val="06B6D4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Serving with APIs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503152" y="16459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9552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FastAPI – A Modern Python Web Framework for APIs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21792" y="1664208"/>
            <a:ext cx="557784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Built on Python type hints — automatic request validation.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Automatic interactive documentation: Swagger UI.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High performance with async support.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Perfect for wrapping a machine learning model: input schema, /health endpoint, /predict endpoint, lightweight and container-friendly.</a:t>
            </a:r>
            <a:endParaRPr lang="en-US" sz="1450" dirty="0"/>
          </a:p>
        </p:txBody>
      </p:sp>
      <p:pic>
        <p:nvPicPr>
          <p:cNvPr id="7" name="Image 0" descr="/mnt/data/mlops_slide_images/slide_31_fastapi_swagger.png"/>
          <p:cNvPicPr>
            <a:picLocks noChangeAspect="1"/>
          </p:cNvPicPr>
          <p:nvPr/>
        </p:nvPicPr>
        <p:blipFill>
          <a:blip r:embed="rId3"/>
          <a:srcRect l="15694" r="15694"/>
          <a:stretch/>
        </p:blipFill>
        <p:spPr>
          <a:xfrm>
            <a:off x="6537960" y="1508760"/>
            <a:ext cx="5074920" cy="4160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48840" cy="292608"/>
          </a:xfrm>
          <a:prstGeom prst="rect">
            <a:avLst/>
          </a:prstGeom>
          <a:solidFill>
            <a:srgbClr val="06B6D4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Serving with APIs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503152" y="16459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9552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Code (Part 1)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1097280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Imports, app initialization, and input schema.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508760"/>
            <a:ext cx="6035040" cy="4434840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37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from fastapi import FastAPI</a:t>
            </a:r>
            <a:endParaRPr lang="en-US" sz="1370" dirty="0"/>
          </a:p>
          <a:p>
            <a:pPr marL="0" indent="0">
              <a:buNone/>
            </a:pPr>
            <a:r>
              <a:rPr lang="en-US" sz="137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from pydantic import BaseModel</a:t>
            </a:r>
            <a:endParaRPr lang="en-US" sz="1370" dirty="0"/>
          </a:p>
          <a:p>
            <a:pPr marL="0" indent="0">
              <a:buNone/>
            </a:pPr>
            <a:r>
              <a:rPr lang="en-US" sz="137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import joblib</a:t>
            </a:r>
            <a:endParaRPr lang="en-US" sz="1370" dirty="0"/>
          </a:p>
          <a:p>
            <a:pPr marL="0" indent="0">
              <a:buNone/>
            </a:pPr>
            <a:endParaRPr lang="en-US" sz="1370" dirty="0"/>
          </a:p>
          <a:p>
            <a:pPr marL="0" indent="0">
              <a:buNone/>
            </a:pPr>
            <a:r>
              <a:rPr lang="en-US" sz="137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app = FastAPI()</a:t>
            </a:r>
            <a:endParaRPr lang="en-US" sz="1370" dirty="0"/>
          </a:p>
          <a:p>
            <a:pPr marL="0" indent="0">
              <a:buNone/>
            </a:pPr>
            <a:r>
              <a:rPr lang="en-US" sz="137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model = joblib.load("models/loan_model.pkl")</a:t>
            </a:r>
            <a:endParaRPr lang="en-US" sz="1370" dirty="0"/>
          </a:p>
          <a:p>
            <a:pPr marL="0" indent="0">
              <a:buNone/>
            </a:pPr>
            <a:endParaRPr lang="en-US" sz="1370" dirty="0"/>
          </a:p>
          <a:p>
            <a:pPr marL="0" indent="0">
              <a:buNone/>
            </a:pPr>
            <a:r>
              <a:rPr lang="en-US" sz="137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class LoanRequest(BaseModel):</a:t>
            </a:r>
            <a:endParaRPr lang="en-US" sz="1370" dirty="0"/>
          </a:p>
          <a:p>
            <a:pPr marL="0" indent="0">
              <a:buNone/>
            </a:pPr>
            <a:r>
              <a:rPr lang="en-US" sz="137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age: int</a:t>
            </a:r>
            <a:endParaRPr lang="en-US" sz="1370" dirty="0"/>
          </a:p>
          <a:p>
            <a:pPr marL="0" indent="0">
              <a:buNone/>
            </a:pPr>
            <a:r>
              <a:rPr lang="en-US" sz="137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income: float</a:t>
            </a:r>
            <a:endParaRPr lang="en-US" sz="1370" dirty="0"/>
          </a:p>
          <a:p>
            <a:pPr marL="0" indent="0">
              <a:buNone/>
            </a:pPr>
            <a:r>
              <a:rPr lang="en-US" sz="137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credit_score: int</a:t>
            </a:r>
            <a:endParaRPr lang="en-US" sz="1370" dirty="0"/>
          </a:p>
        </p:txBody>
      </p:sp>
      <p:sp>
        <p:nvSpPr>
          <p:cNvPr id="8" name="Text 6"/>
          <p:cNvSpPr/>
          <p:nvPr/>
        </p:nvSpPr>
        <p:spPr>
          <a:xfrm>
            <a:off x="7086600" y="1783080"/>
            <a:ext cx="4389120" cy="3291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FastAPI() creates the application.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joblib.load() loads the trained model once at startup, not on every request.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LoanRequest defines the exact fields and types the API expects.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Requests with missing or wrong types are automatically rejected.</a:t>
            </a:r>
            <a:endParaRPr lang="en-US" sz="15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48840" cy="292608"/>
          </a:xfrm>
          <a:prstGeom prst="rect">
            <a:avLst/>
          </a:prstGeom>
          <a:solidFill>
            <a:srgbClr val="06B6D4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Serving with APIs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503152" y="16459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9552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Code (Part 2)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1097280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Endpoints for health checking and prediction.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6355080" cy="4892040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@app.get("/health")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def health():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return {"status": "ok"}</a:t>
            </a:r>
            <a:endParaRPr lang="en-US" sz="1260" dirty="0"/>
          </a:p>
          <a:p>
            <a:pPr marL="0" indent="0">
              <a:buNone/>
            </a:pP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@app.post("/predict")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def predict(req: LoanRequest):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x = [[req.age, req.income, req.credit_score]]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prob = model.predict_proba(x)[0, 1]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return {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"label": int(prob &gt;= 0.5),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"probability": float(prob)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}</a:t>
            </a:r>
            <a:endParaRPr lang="en-US" sz="1260" dirty="0"/>
          </a:p>
        </p:txBody>
      </p:sp>
      <p:sp>
        <p:nvSpPr>
          <p:cNvPr id="8" name="Text 6"/>
          <p:cNvSpPr/>
          <p:nvPr/>
        </p:nvSpPr>
        <p:spPr>
          <a:xfrm>
            <a:off x="7360920" y="1874520"/>
            <a:ext cx="3977640" cy="2743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/health tells infrastructure that the service is alive.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/predict receives a JSON request and returns a prediction.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Returning probability keeps the output useful for business decisions and monitoring.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48840" cy="292608"/>
          </a:xfrm>
          <a:prstGeom prst="rect">
            <a:avLst/>
          </a:prstGeom>
          <a:solidFill>
            <a:srgbClr val="06B6D4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Serving with APIs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503152" y="16459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9552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Request and Response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1097280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standard JSON conversation with the model API.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645920"/>
            <a:ext cx="4754880" cy="3291840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POST /predict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"age": 42,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"income": 72000,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"credit_score": 680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06440" y="3063240"/>
            <a:ext cx="82296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812280" y="1645920"/>
            <a:ext cx="4480560" cy="3291840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200 OK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"label": 0,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"probability": 0.23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5715000"/>
            <a:ext cx="9966960" cy="502920"/>
          </a:xfrm>
          <a:prstGeom prst="rect">
            <a:avLst/>
          </a:prstGeom>
          <a:solidFill>
            <a:srgbClr val="06B6D4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JSON makes the model usable by web apps, mobile apps, and banking systems.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48840" cy="292608"/>
          </a:xfrm>
          <a:prstGeom prst="rect">
            <a:avLst/>
          </a:prstGeom>
          <a:solidFill>
            <a:srgbClr val="06B6D4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Serving with APIs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503152" y="16459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9552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Improved Dockerfile for Serving the API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1097280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Lighter image, explicit port, and uvicorn server.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6629400" cy="4526280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FROM python:3.11-slim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WORKDIR /app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COPY requirements.txt .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RUN pip install --no-cache-dir -r requirements.txt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COPY app/ app/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COPY models/ models/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EXPOSE 8000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CMD ["uvicorn", "app.main:app", "--host", "0.0.0.0", "--port", "8000"]</a:t>
            </a:r>
            <a:endParaRPr lang="en-US" sz="1240" dirty="0"/>
          </a:p>
        </p:txBody>
      </p:sp>
      <p:sp>
        <p:nvSpPr>
          <p:cNvPr id="8" name="Text 6"/>
          <p:cNvSpPr/>
          <p:nvPr/>
        </p:nvSpPr>
        <p:spPr>
          <a:xfrm>
            <a:off x="7543800" y="1920240"/>
            <a:ext cx="3886200" cy="2560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Copy only app/ and models/ folders, not the whole project.</a:t>
            </a:r>
            <a:endParaRPr lang="en-US" sz="1620" dirty="0"/>
          </a:p>
          <a:p>
            <a:pPr marL="0" indent="0">
              <a:buNone/>
            </a:pPr>
            <a:r>
              <a:rPr lang="en-US" sz="16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EXPOSE 8000 documents the container port.</a:t>
            </a:r>
            <a:endParaRPr lang="en-US" sz="1620" dirty="0"/>
          </a:p>
          <a:p>
            <a:pPr marL="0" indent="0">
              <a:buNone/>
            </a:pPr>
            <a:r>
              <a:rPr lang="en-US" sz="16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uvicorn is the ASGI server that runs FastAPI.</a:t>
            </a:r>
            <a:endParaRPr lang="en-US" sz="162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48840" cy="292608"/>
          </a:xfrm>
          <a:prstGeom prst="rect">
            <a:avLst/>
          </a:prstGeom>
          <a:solidFill>
            <a:srgbClr val="06B6D4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Serving with APIs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503152" y="16459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9552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/health Endpoint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21792" y="1664208"/>
            <a:ext cx="10972800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Returns {"status": "ok"} when the service is alive and ready.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Used by: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– Kubernetes liveness and readiness probes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– Load balancers to check healthy instances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– Monitoring tools to alert if service is down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real health check may also verify model loading and database connections.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Rule: every production service should have a health endpoint.</a:t>
            </a:r>
            <a:endParaRPr lang="en-US" sz="1520" dirty="0"/>
          </a:p>
        </p:txBody>
      </p:sp>
      <p:sp>
        <p:nvSpPr>
          <p:cNvPr id="7" name="Text 5"/>
          <p:cNvSpPr/>
          <p:nvPr/>
        </p:nvSpPr>
        <p:spPr>
          <a:xfrm>
            <a:off x="658368" y="5961888"/>
            <a:ext cx="10789920" cy="502920"/>
          </a:xfrm>
          <a:prstGeom prst="rect">
            <a:avLst/>
          </a:prstGeom>
          <a:solidFill>
            <a:srgbClr val="06B6D4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Tiny endpoint, huge operational value.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48840" cy="292608"/>
          </a:xfrm>
          <a:prstGeom prst="rect">
            <a:avLst/>
          </a:prstGeom>
          <a:solidFill>
            <a:srgbClr val="06B6D4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Serving with APIs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503152" y="16459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9552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 for Students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21792" y="1664208"/>
            <a:ext cx="10972800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Should the API return only the final label (0 or 1) or also the probability?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Correct approach: return both.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business may use a threshold different from 0.5.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You might want to rank applicants, not just classify them.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Downstream metrics like AUC and expected profit need probabilities.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Monitoring prediction distribution shifts is easier with probabilities.</a:t>
            </a:r>
            <a:endParaRPr lang="en-US" sz="1520" dirty="0"/>
          </a:p>
        </p:txBody>
      </p:sp>
      <p:sp>
        <p:nvSpPr>
          <p:cNvPr id="7" name="Text 5"/>
          <p:cNvSpPr/>
          <p:nvPr/>
        </p:nvSpPr>
        <p:spPr>
          <a:xfrm>
            <a:off x="658368" y="5961888"/>
            <a:ext cx="10789920" cy="502920"/>
          </a:xfrm>
          <a:prstGeom prst="rect">
            <a:avLst/>
          </a:prstGeom>
          <a:solidFill>
            <a:srgbClr val="06B6D4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 single 0/1 output discards valuable information.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48840" cy="292608"/>
          </a:xfrm>
          <a:prstGeom prst="rect">
            <a:avLst/>
          </a:prstGeom>
          <a:solidFill>
            <a:srgbClr val="06B6D4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Serving with APIs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503152" y="16459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9552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Happens When You Don't Track Experiments?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1097280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a few weeks, your project folder becomes a mystery novel.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691640"/>
            <a:ext cx="5120640" cy="3246120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runs/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├── model.pkl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├── model_final.pkl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├── model_final2.pkl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├── best_model.pkl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└── best_model_REAL_FINAL.pkl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46520" y="1645920"/>
            <a:ext cx="4663440" cy="3474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one had the best F1 score?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dataset was it trained on?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hyperparameters were used?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Is it safe to deploy?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Without systematic tracking, the model with “final” in the name is often just a guess.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5623560"/>
            <a:ext cx="10332720" cy="502920"/>
          </a:xfrm>
          <a:prstGeom prst="rect">
            <a:avLst/>
          </a:prstGeom>
          <a:solidFill>
            <a:srgbClr val="06B6D4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final_final_v3_really_final.pkl is not a versioning system 🙂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48840" cy="29260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MLflow &amp; Registry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503152" y="16459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9552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MLflow: The Experiment Tracking and Model Management Tool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21792" y="1664208"/>
            <a:ext cx="557784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MLflow Tracking: record parameters, metrics, code version, and artifacts for each run; compare runs in a UI.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MLflow Projects: package the training code in a reproducible format: conda or Docker.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MLflow Models: save the model in a standard deployable format called a flavor.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MLflow Model Registry: manage model versions, stages, and deployment.</a:t>
            </a:r>
            <a:endParaRPr lang="en-US" sz="1330" dirty="0"/>
          </a:p>
        </p:txBody>
      </p:sp>
      <p:pic>
        <p:nvPicPr>
          <p:cNvPr id="7" name="Image 0" descr="/mnt/data/mlops_slide_images/slide_39_mlflow_components.png"/>
          <p:cNvPicPr>
            <a:picLocks noChangeAspect="1"/>
          </p:cNvPicPr>
          <p:nvPr/>
        </p:nvPicPr>
        <p:blipFill>
          <a:blip r:embed="rId3"/>
          <a:srcRect l="15694" r="15694"/>
          <a:stretch/>
        </p:blipFill>
        <p:spPr>
          <a:xfrm>
            <a:off x="6537960" y="1508760"/>
            <a:ext cx="5074920" cy="4160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48840" cy="29260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MLflow &amp; Registry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503152" y="16459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9552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Logging a Run with MLflow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1097280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detail of this run is now stored and queryable.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6035040" cy="4389120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import mlflow</a:t>
            </a:r>
            <a:endParaRPr lang="en-US" sz="1380" dirty="0"/>
          </a:p>
          <a:p>
            <a:pPr marL="0" indent="0">
              <a:buNone/>
            </a:pP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with mlflow.start_run():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mlflow.log_param("model", "RandomForest")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mlflow.log_param("max_depth", 5)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mlflow.log_metric("f1", f1_score)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mlflow.log_metric("auc", auc)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mlflow.sklearn.log_model(model, "model")</a:t>
            </a:r>
            <a:endParaRPr lang="en-US" sz="1380" dirty="0"/>
          </a:p>
        </p:txBody>
      </p:sp>
      <p:sp>
        <p:nvSpPr>
          <p:cNvPr id="8" name="Text 6"/>
          <p:cNvSpPr/>
          <p:nvPr/>
        </p:nvSpPr>
        <p:spPr>
          <a:xfrm>
            <a:off x="7223760" y="2011680"/>
            <a:ext cx="4114800" cy="2468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Parameters, metrics, and artifacts become searchable.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You can compare runs instead of guessing from file names.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Six months later, MLflow acts like your external memory.</a:t>
            </a:r>
            <a:endParaRPr lang="en-US" sz="16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48840" cy="29260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MLflow &amp; Registry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503152" y="16459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9552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Logging Checklist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21792" y="1664208"/>
            <a:ext cx="10972800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✅ Parameters: model type, n_estimators, max_depth, learning_rate, batch_size, data version.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✅ Metrics: accuracy, precision, recall, F1, AUC, log loss.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✅ Artifacts: trained model file, confusion matrix plot, feature importance chart, dataset snapshot path.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✅ Tags: short description of experiment goal, runner, date.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Why log everything? When you look back six months later, you will have forgotten every detail.</a:t>
            </a:r>
            <a:endParaRPr lang="en-US" sz="1420" dirty="0"/>
          </a:p>
        </p:txBody>
      </p:sp>
      <p:sp>
        <p:nvSpPr>
          <p:cNvPr id="7" name="Text 5"/>
          <p:cNvSpPr/>
          <p:nvPr/>
        </p:nvSpPr>
        <p:spPr>
          <a:xfrm>
            <a:off x="658368" y="5961888"/>
            <a:ext cx="10789920" cy="502920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MLflow is your external memory.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48840" cy="29260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MLflow &amp; Registry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503152" y="16459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9552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Registry: Managing Model Versions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1097280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registry stores model versions and assigns each a stage.</a:t>
            </a:r>
            <a:endParaRPr lang="en-US" sz="12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08760"/>
          <a:ext cx="5577840" cy="39319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63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4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Stage</a:t>
                      </a:r>
                      <a:endParaRPr lang="en-US" sz="12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4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Meaning</a:t>
                      </a:r>
                      <a:endParaRPr lang="en-US" sz="12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4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Development</a:t>
                      </a:r>
                      <a:endParaRPr lang="en-US" sz="12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4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model is actively experimented with; not ready for production use.</a:t>
                      </a:r>
                      <a:endParaRPr lang="en-US" sz="12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4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Staging</a:t>
                      </a:r>
                      <a:endParaRPr lang="en-US" sz="12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4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model is under final validation; shadow testing may be running.</a:t>
                      </a:r>
                      <a:endParaRPr lang="en-US" sz="12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4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Production</a:t>
                      </a:r>
                      <a:endParaRPr lang="en-US" sz="12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4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model is serving real traffic in the live environment.</a:t>
                      </a:r>
                      <a:endParaRPr lang="en-US" sz="12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4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Archived</a:t>
                      </a:r>
                      <a:endParaRPr lang="en-US" sz="12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4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model is old, replaced, or deprecated; kept for audit.</a:t>
                      </a:r>
                      <a:endParaRPr lang="en-US" sz="12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Image 0" descr="/mnt/data/mlops_slide_images/slide_42_model_registry_stages.png"/>
          <p:cNvPicPr>
            <a:picLocks noChangeAspect="1"/>
          </p:cNvPicPr>
          <p:nvPr/>
        </p:nvPicPr>
        <p:blipFill>
          <a:blip r:embed="rId3"/>
          <a:srcRect l="6607" r="6607"/>
          <a:stretch/>
        </p:blipFill>
        <p:spPr>
          <a:xfrm>
            <a:off x="6492240" y="1600200"/>
            <a:ext cx="4937760" cy="3200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629400" y="5074920"/>
            <a:ext cx="4663440" cy="56692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Promotion from one stage to the next should be deliberate, with required checks.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48840" cy="29260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MLflow &amp; Registry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503152" y="16459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9552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Registry Helps in Practice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21792" y="1664208"/>
            <a:ext cx="1097280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Clarity: everyone knows exactly which model is in production.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Rollback: if the new model performs poorly, you can redeploy the previous Production model.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Auditability: trace which model was active at any point in time.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Separation of duties: a data scientist can promote to Staging; an ML engineer or automated gate promotes to Production.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48840" cy="29260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MLflow &amp; Registry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503152" y="16459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9552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MLflow Is a Tool, Not a Decision Maker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21792" y="1664208"/>
            <a:ext cx="1097280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MLflow organizes information and makes it searchable.</a:t>
            </a:r>
            <a:endParaRPr lang="en-US" sz="1530" dirty="0"/>
          </a:p>
          <a:p>
            <a:pPr marL="0" indent="0">
              <a:buNone/>
            </a:pPr>
            <a:r>
              <a:rPr lang="en-US" sz="15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It does not tell you which model to deploy.</a:t>
            </a:r>
            <a:endParaRPr lang="en-US" sz="1530" dirty="0"/>
          </a:p>
          <a:p>
            <a:pPr marL="0" indent="0">
              <a:buNone/>
            </a:pPr>
            <a:r>
              <a:rPr lang="en-US" sz="15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deployment decision still requires:</a:t>
            </a:r>
            <a:endParaRPr lang="en-US" sz="1530" dirty="0"/>
          </a:p>
          <a:p>
            <a:pPr marL="0" indent="0">
              <a:buNone/>
            </a:pPr>
            <a:r>
              <a:rPr lang="en-US" sz="15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– Technical analysis: metrics, robustness, latency</a:t>
            </a:r>
            <a:endParaRPr lang="en-US" sz="1530" dirty="0"/>
          </a:p>
          <a:p>
            <a:pPr marL="0" indent="0">
              <a:buNone/>
            </a:pPr>
            <a:r>
              <a:rPr lang="en-US" sz="15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– Business context: cost of errors, customer impact, legal constraints</a:t>
            </a:r>
            <a:endParaRPr lang="en-US" sz="1530" dirty="0"/>
          </a:p>
          <a:p>
            <a:pPr marL="0" indent="0">
              <a:buNone/>
            </a:pPr>
            <a:r>
              <a:rPr lang="en-US" sz="15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MLflow is the lab notebook; the scientist still draws the conclusions.</a:t>
            </a:r>
            <a:endParaRPr lang="en-US" sz="153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48840" cy="29260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MLflow &amp; Registry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503152" y="16459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9552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Exercise (1 minute)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21792" y="1664208"/>
            <a:ext cx="10972800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Name three distinct types of information MLflow records for each experiment run.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Expected answers: Parameters, Metrics, Artifacts.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Additionally, MLflow stores tags and the code version.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Ask yourself: which of these do you currently document when you train a model in your own projects?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58368" y="5961888"/>
            <a:ext cx="10789920" cy="502920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Parameter + metric + artifact = a run you can understand later.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48840" cy="292608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Kubernetes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503152" y="16459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9552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Docker Alone Is Not Enough for Production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21792" y="1664208"/>
            <a:ext cx="1097280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4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Docker runs one container on one machine. Production has bigger problems:</a:t>
            </a:r>
            <a:endParaRPr lang="en-US" sz="1440" dirty="0"/>
          </a:p>
          <a:p>
            <a:pPr marL="0" indent="0">
              <a:buNone/>
            </a:pPr>
            <a:r>
              <a:rPr lang="en-US" sz="14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Crashes: if the API container dies, the service is down until someone restarts it.</a:t>
            </a:r>
            <a:endParaRPr lang="en-US" sz="1440" dirty="0"/>
          </a:p>
          <a:p>
            <a:pPr marL="0" indent="0">
              <a:buNone/>
            </a:pPr>
            <a:r>
              <a:rPr lang="en-US" sz="14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Traffic spikes: a single container may not handle many concurrent loan requests.</a:t>
            </a:r>
            <a:endParaRPr lang="en-US" sz="1440" dirty="0"/>
          </a:p>
          <a:p>
            <a:pPr marL="0" indent="0">
              <a:buNone/>
            </a:pPr>
            <a:r>
              <a:rPr lang="en-US" sz="14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Zero-downtime updates: replacing a model should not interrupt users.</a:t>
            </a:r>
            <a:endParaRPr lang="en-US" sz="1440" dirty="0"/>
          </a:p>
          <a:p>
            <a:pPr marL="0" indent="0">
              <a:buNone/>
            </a:pPr>
            <a:r>
              <a:rPr lang="en-US" sz="14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Multiple replicas and multi-service dependencies need orchestration.</a:t>
            </a:r>
            <a:endParaRPr lang="en-US" sz="1440" dirty="0"/>
          </a:p>
          <a:p>
            <a:pPr marL="0" indent="0">
              <a:buNone/>
            </a:pPr>
            <a:r>
              <a:rPr lang="en-US" sz="14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Kubernetes manages a cluster of machines and orchestrates containers across them.</a:t>
            </a:r>
            <a:endParaRPr lang="en-US" sz="144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48840" cy="292608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Kubernetes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503152" y="16459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9552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Docker and Kubernetes Are Not Competitors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1097280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are complementary parts of the production stack.</a:t>
            </a:r>
            <a:endParaRPr lang="en-US" sz="1200" dirty="0"/>
          </a:p>
        </p:txBody>
      </p:sp>
      <p:pic>
        <p:nvPicPr>
          <p:cNvPr id="7" name="Image 0" descr="/mnt/data/mlops_slide_images/slide_47_docker_kubernetes_complement.png"/>
          <p:cNvPicPr>
            <a:picLocks noChangeAspect="1"/>
          </p:cNvPicPr>
          <p:nvPr/>
        </p:nvPicPr>
        <p:blipFill>
          <a:blip r:embed="rId3"/>
          <a:srcRect t="26958" b="26958"/>
          <a:stretch/>
        </p:blipFill>
        <p:spPr>
          <a:xfrm>
            <a:off x="777240" y="1444752"/>
            <a:ext cx="10652760" cy="2761488"/>
          </a:xfrm>
          <a:prstGeom prst="rect">
            <a:avLst/>
          </a:prstGeom>
        </p:spPr>
      </p:pic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4343400"/>
          <a:ext cx="10835640" cy="17830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9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Aspect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Docker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Kubernetes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Role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Packages and runs a single container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Manages many containers across many servers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Focus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One container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Entire cluster of services and replicas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Scaling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Manual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Automatic declarative replicas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Self-healing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None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Restarts failed Pods automatically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Updates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Manual stop-and-start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Rolling updates with zero downtime and rollback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48840" cy="292608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Kubernetes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503152" y="16459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9552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Kubernetes Terms in Plain Language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21792" y="1664208"/>
            <a:ext cx="557784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Cluster: a set of machines controlled by Kubernetes.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Node: a single physical or virtual machine inside the cluster.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Pod: the smallest deployable unit, typically containing our API container.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Deployment: defines replicas, image, and update strategy.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Service: a stable network address in front of Pods.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ConfigMap / Secret: store configuration and sensitive values separately from code.</a:t>
            </a:r>
            <a:endParaRPr lang="en-US" sz="1280" dirty="0"/>
          </a:p>
        </p:txBody>
      </p:sp>
      <p:pic>
        <p:nvPicPr>
          <p:cNvPr id="7" name="Image 0" descr="/mnt/data/mlops_slide_images/slide_48_kubernetes_terms.png"/>
          <p:cNvPicPr>
            <a:picLocks noChangeAspect="1"/>
          </p:cNvPicPr>
          <p:nvPr/>
        </p:nvPicPr>
        <p:blipFill>
          <a:blip r:embed="rId3"/>
          <a:srcRect l="15694" r="15694"/>
          <a:stretch/>
        </p:blipFill>
        <p:spPr>
          <a:xfrm>
            <a:off x="6537960" y="1508760"/>
            <a:ext cx="5074920" cy="4160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48840" cy="292608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Kubernetes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503152" y="16459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9552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Kubernetes Deployment Manifest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1097280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three instances of loan-model-api:v1 running at all times.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536192"/>
            <a:ext cx="5989320" cy="4892040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apiVersion: apps/v1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kind: Deployment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metadata: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name: loan-model-api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spec: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replicas: 3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selector: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matchLabels: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app: loan-model-api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template: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metadata: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labels: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app: loan-model-api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spec: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containers: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- name: api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image: loan-model-api:v1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ports: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- containerPort: 8000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995160" y="2011680"/>
            <a:ext cx="4251960" cy="2560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6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If a Pod crashes, a new one is created automatically.</a:t>
            </a:r>
            <a:endParaRPr lang="en-US" sz="1680" dirty="0"/>
          </a:p>
          <a:p>
            <a:pPr marL="0" indent="0">
              <a:buNone/>
            </a:pPr>
            <a:r>
              <a:rPr lang="en-US" sz="16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 update the model, change the image tag.</a:t>
            </a:r>
            <a:endParaRPr lang="en-US" sz="1680" dirty="0"/>
          </a:p>
          <a:p>
            <a:pPr marL="0" indent="0">
              <a:buNone/>
            </a:pPr>
            <a:r>
              <a:rPr lang="en-US" sz="16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Kubernetes performs a rolling update.</a:t>
            </a:r>
            <a:endParaRPr lang="en-US" sz="168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48840" cy="292608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Kubernetes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503152" y="16459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9552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Exposing Pods via a Service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1097280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Pods come and go, but the Service address stays stable.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600200"/>
            <a:ext cx="5029200" cy="4023360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apiVersion: v1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kind: Service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metadata: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name: loan-model-service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spec: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selector: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app: loan-model-api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ports: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- protocol: TCP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port: 80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targetPort: 8000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6400800" y="2560320"/>
            <a:ext cx="857707" cy="585216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37376" y="2724912"/>
            <a:ext cx="7845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Client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276795" y="2852928"/>
            <a:ext cx="9144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386523" y="2560320"/>
            <a:ext cx="857707" cy="585216"/>
          </a:xfrm>
          <a:prstGeom prst="roundRect">
            <a:avLst>
              <a:gd name="adj" fmla="val 18750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23099" y="2724912"/>
            <a:ext cx="7845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Service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262518" y="2852928"/>
            <a:ext cx="9144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372246" y="2560320"/>
            <a:ext cx="857707" cy="585216"/>
          </a:xfrm>
          <a:prstGeom prst="roundRect">
            <a:avLst>
              <a:gd name="adj" fmla="val 18750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08822" y="2724912"/>
            <a:ext cx="7845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Pod 1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248242" y="2852928"/>
            <a:ext cx="9144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357970" y="2560320"/>
            <a:ext cx="857707" cy="585216"/>
          </a:xfrm>
          <a:prstGeom prst="roundRect">
            <a:avLst>
              <a:gd name="adj" fmla="val 18750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94546" y="2724912"/>
            <a:ext cx="7845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Pod 2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0233965" y="2852928"/>
            <a:ext cx="9144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343693" y="2560320"/>
            <a:ext cx="857707" cy="585216"/>
          </a:xfrm>
          <a:prstGeom prst="roundRect">
            <a:avLst>
              <a:gd name="adj" fmla="val 18750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80269" y="2724912"/>
            <a:ext cx="7845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Pod 3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400800" y="4709160"/>
            <a:ext cx="4800600" cy="59436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The Service load-balances requests across healthy Pods.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48840" cy="292608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Kubernetes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503152" y="16459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9552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resulting architecture: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21792" y="1664208"/>
            <a:ext cx="557784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Service load-balances requests across the healthy Pods.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Clients call one stable address.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Kubernetes routes traffic to available replicas.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If one Pod dies, traffic continues to the others.</a:t>
            </a:r>
            <a:endParaRPr lang="en-US" sz="1550" dirty="0"/>
          </a:p>
        </p:txBody>
      </p:sp>
      <p:pic>
        <p:nvPicPr>
          <p:cNvPr id="7" name="Image 0" descr="/mnt/data/mlops_slide_images/slide_51_k8s_service_architecture.png"/>
          <p:cNvPicPr>
            <a:picLocks noChangeAspect="1"/>
          </p:cNvPicPr>
          <p:nvPr/>
        </p:nvPicPr>
        <p:blipFill>
          <a:blip r:embed="rId3"/>
          <a:srcRect l="15694" r="15694"/>
          <a:stretch/>
        </p:blipFill>
        <p:spPr>
          <a:xfrm>
            <a:off x="6537960" y="1508760"/>
            <a:ext cx="5074920" cy="4160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48840" cy="292608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Kubernetes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503152" y="16459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9552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Production-Grade Features That Keep Your Model Healthy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21792" y="1664208"/>
            <a:ext cx="1097280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51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Self-healing: if a Pod crashes, Kubernetes replaces it automatically.</a:t>
            </a:r>
            <a:endParaRPr lang="en-US" sz="1510" dirty="0"/>
          </a:p>
          <a:p>
            <a:pPr marL="0" indent="0">
              <a:buNone/>
            </a:pPr>
            <a:r>
              <a:rPr lang="en-US" sz="151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Scaling: when traffic increases, Kubernetes can increase the number of Pods.</a:t>
            </a:r>
            <a:endParaRPr lang="en-US" sz="1510" dirty="0"/>
          </a:p>
          <a:p>
            <a:pPr marL="0" indent="0">
              <a:buNone/>
            </a:pPr>
            <a:r>
              <a:rPr lang="en-US" sz="151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Rolling update: new model versions replace old Pods one at a time — no downtime.</a:t>
            </a:r>
            <a:endParaRPr lang="en-US" sz="1510" dirty="0"/>
          </a:p>
          <a:p>
            <a:pPr marL="0" indent="0">
              <a:buNone/>
            </a:pPr>
            <a:r>
              <a:rPr lang="en-US" sz="151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Rollback: if the new model shows errors or worse performance, you can roll back.</a:t>
            </a:r>
            <a:endParaRPr lang="en-US" sz="1510" dirty="0"/>
          </a:p>
          <a:p>
            <a:pPr marL="0" indent="0">
              <a:buNone/>
            </a:pPr>
            <a:r>
              <a:rPr lang="en-US" sz="151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These properties turn a fragile single-container setup into a resilient production system.</a:t>
            </a:r>
            <a:endParaRPr lang="en-US" sz="151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48840" cy="292608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Monitoring, Drift &amp; Retraining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503152" y="16459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9552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Standard Monitoring Is Not Enough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21792" y="1664208"/>
            <a:ext cx="557784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29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Traditional monitoring checks whether the service is up: latency, error rate, CPU, memory.</a:t>
            </a:r>
            <a:endParaRPr lang="en-US" sz="1290" dirty="0"/>
          </a:p>
          <a:p>
            <a:pPr marL="0" indent="0">
              <a:buNone/>
            </a:pPr>
            <a:r>
              <a:rPr lang="en-US" sz="129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For an ML model, all these can be green and the model can still be broken.</a:t>
            </a:r>
            <a:endParaRPr lang="en-US" sz="1290" dirty="0"/>
          </a:p>
          <a:p>
            <a:pPr marL="0" indent="0">
              <a:buNone/>
            </a:pPr>
            <a:r>
              <a:rPr lang="en-US" sz="129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It might return the same prediction for every input.</a:t>
            </a:r>
            <a:endParaRPr lang="en-US" sz="1290" dirty="0"/>
          </a:p>
          <a:p>
            <a:pPr marL="0" indent="0">
              <a:buNone/>
            </a:pPr>
            <a:r>
              <a:rPr lang="en-US" sz="129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Customer demographics might have shifted.</a:t>
            </a:r>
            <a:endParaRPr lang="en-US" sz="1290" dirty="0"/>
          </a:p>
          <a:p>
            <a:pPr marL="0" indent="0">
              <a:buNone/>
            </a:pPr>
            <a:r>
              <a:rPr lang="en-US" sz="129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relationship between income and default risk may have changed.</a:t>
            </a:r>
            <a:endParaRPr lang="en-US" sz="1290" dirty="0"/>
          </a:p>
          <a:p>
            <a:pPr marL="0" indent="0">
              <a:buNone/>
            </a:pPr>
            <a:r>
              <a:rPr lang="en-US" sz="129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“Service alive” is not the same as “model working correctly.”</a:t>
            </a:r>
            <a:endParaRPr lang="en-US" sz="1290" dirty="0"/>
          </a:p>
        </p:txBody>
      </p:sp>
      <p:pic>
        <p:nvPicPr>
          <p:cNvPr id="7" name="Image 0" descr="/mnt/data/mlops_slide_images/slide_53_monitoring_not_enough.png"/>
          <p:cNvPicPr>
            <a:picLocks noChangeAspect="1"/>
          </p:cNvPicPr>
          <p:nvPr/>
        </p:nvPicPr>
        <p:blipFill>
          <a:blip r:embed="rId3"/>
          <a:srcRect l="15694" r="15694"/>
          <a:stretch/>
        </p:blipFill>
        <p:spPr>
          <a:xfrm>
            <a:off x="6537960" y="1508760"/>
            <a:ext cx="5074920" cy="4160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48840" cy="292608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Monitoring, Drift &amp; Retraining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503152" y="16459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9552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Complete Monitoring View for the Loan Model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1097280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category can silently degrade and must be tracked.</a:t>
            </a:r>
            <a:endParaRPr lang="en-US" sz="12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08760"/>
          <a:ext cx="11018520" cy="4526277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6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66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Category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to Watch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Example Metric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System Metrics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Infrastructure health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Latency, error rate, CPU, memory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Data Quality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Incoming data integrity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Missing values in credit_score, schema changes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Input Distribution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Feature distributions over time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Average applicant age, income distribution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Prediction Distribution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Output behavior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Ratio of high-risk vs low-risk predictions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Performance Metrics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Model quality when labels arrive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Accuracy, F1, precision, recall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Business Metrics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Real-world impact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Default rate, approval rate, complaints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48840" cy="292608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Monitoring, Drift &amp; Retraining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503152" y="16459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9552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 Every Request for Future Analysis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1097280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 logs are the bridge between serving and real evaluation.</a:t>
            </a:r>
            <a:endParaRPr lang="en-US" sz="12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08760"/>
          <a:ext cx="10972800" cy="192024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request_id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timestamp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features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prediction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probability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model_version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1001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2026-05-01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age=42, income=72k, score=680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0.23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v3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1002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2026-05-01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age=59, income=41k, score=590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0.81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v3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1003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2026-05-02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age=35, income=88k, score=720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0.12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v3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22960" y="3886200"/>
            <a:ext cx="10378440" cy="1645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Store these logs securely and watch out for PII regulations.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When the ground truth label arrives months later, join it with the log to compute real performance.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Until then, monitor input and prediction distributions for early drift signals.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48840" cy="292608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Monitoring, Drift &amp; Retraining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503152" y="16459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9552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Drift: When the World Changes Around Your Model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1097280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reference and current distributions over time.</a:t>
            </a:r>
            <a:endParaRPr lang="en-US" sz="12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08760"/>
          <a:ext cx="5897880" cy="4206240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Drift Type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Definition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Loan Model Example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Data Drift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Input feature distribution changes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Average applicant age moves from 35 to 55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Prediction Drift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Model prediction distribution changes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Model flags 80% of applicants as high-risk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Concept Drift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Relationship between inputs and target changes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 income no longer means low risk after a crash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Label Drift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Actual outcome distribution shifts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Default rate increases due to recession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Performance Degradation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Model metrics drop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F1 falls from 0.84 to 0.68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8" name="Image 0" descr="/mnt/data/mlops_slide_images/slide_56_data_drift_histograms.png"/>
          <p:cNvPicPr>
            <a:picLocks noChangeAspect="1"/>
          </p:cNvPicPr>
          <p:nvPr/>
        </p:nvPicPr>
        <p:blipFill>
          <a:blip r:embed="rId3"/>
          <a:srcRect l="13474" r="13474"/>
          <a:stretch/>
        </p:blipFill>
        <p:spPr>
          <a:xfrm>
            <a:off x="6720840" y="1737360"/>
            <a:ext cx="4572000" cy="35204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48840" cy="292608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Monitoring, Drift &amp; Retraining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503152" y="16459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9552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Detect Drift Without Complex Tools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21792" y="1664208"/>
            <a:ext cx="1097280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Reference Data, such as training data or a stable production window, with Current Data.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For numerical features: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– Compare mean, median, and standard deviation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– Plot reference vs current histograms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– Use statistical tests like the Kolmogorov-Smirnov test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For categorical features: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– Compare frequency distributions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– Use chi-squared test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Industry metric: Population Stability Index (PSI) for a single score.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Goal: raise a flag when incoming data looks significantly different from training data.</a:t>
            </a:r>
            <a:endParaRPr lang="en-US" sz="138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48840" cy="292608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Monitoring, Drift &amp; Retraining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503152" y="16459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9552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Drift Does Not Automatically Mean “Retrain Now”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21792" y="1664208"/>
            <a:ext cx="10972800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41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Some drift is natural and expected: holiday shopping behavior or seasonal loan applicants.</a:t>
            </a:r>
            <a:endParaRPr lang="en-US" sz="1410" dirty="0"/>
          </a:p>
          <a:p>
            <a:pPr marL="0" indent="0">
              <a:buNone/>
            </a:pPr>
            <a:r>
              <a:rPr lang="en-US" sz="141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matters is the impact of drift.</a:t>
            </a:r>
            <a:endParaRPr lang="en-US" sz="1410" dirty="0"/>
          </a:p>
          <a:p>
            <a:pPr marL="0" indent="0">
              <a:buNone/>
            </a:pPr>
            <a:r>
              <a:rPr lang="en-US" sz="141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Has model performance actually degraded?</a:t>
            </a:r>
            <a:endParaRPr lang="en-US" sz="1410" dirty="0"/>
          </a:p>
          <a:p>
            <a:pPr marL="0" indent="0">
              <a:buNone/>
            </a:pPr>
            <a:r>
              <a:rPr lang="en-US" sz="141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Are predictions causing business harm?</a:t>
            </a:r>
            <a:endParaRPr lang="en-US" sz="1410" dirty="0"/>
          </a:p>
          <a:p>
            <a:pPr marL="0" indent="0">
              <a:buNone/>
            </a:pPr>
            <a:r>
              <a:rPr lang="en-US" sz="141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Is the incoming data valid, or is there a broken data pipeline?</a:t>
            </a:r>
            <a:endParaRPr lang="en-US" sz="1410" dirty="0"/>
          </a:p>
          <a:p>
            <a:pPr marL="0" indent="0">
              <a:buNone/>
            </a:pPr>
            <a:r>
              <a:rPr lang="en-US" sz="141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Common mistake: seeing drift and immediately deploying a retrained model.</a:t>
            </a:r>
            <a:endParaRPr lang="en-US" sz="1410" dirty="0"/>
          </a:p>
          <a:p>
            <a:pPr marL="0" indent="0">
              <a:buNone/>
            </a:pPr>
            <a:r>
              <a:rPr lang="en-US" sz="141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First investigate data quality, feature pipeline, and performance on recent labeled data.</a:t>
            </a:r>
            <a:endParaRPr lang="en-US" sz="1410" dirty="0"/>
          </a:p>
        </p:txBody>
      </p:sp>
      <p:sp>
        <p:nvSpPr>
          <p:cNvPr id="7" name="Text 5"/>
          <p:cNvSpPr/>
          <p:nvPr/>
        </p:nvSpPr>
        <p:spPr>
          <a:xfrm>
            <a:off x="658368" y="5961888"/>
            <a:ext cx="10789920" cy="502920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Drift is a signal to investigate, not an automatic deploy button.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48840" cy="292608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Monitoring, Drift &amp; Retraining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503152" y="16459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9552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Retraining Decision Logic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21792" y="1664208"/>
            <a:ext cx="5577840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Drift detected?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Is the input data valid: no broken pipeline or missing values flooding?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Has model performance actually dropped on recent labeled data?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 we have enough new, verified labels?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Train a candidate model.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candidate with current production model: metrics, fairness, latency.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Deploy, reject, investigate further, or rollback.</a:t>
            </a:r>
            <a:endParaRPr lang="en-US" sz="1270" dirty="0"/>
          </a:p>
        </p:txBody>
      </p:sp>
      <p:pic>
        <p:nvPicPr>
          <p:cNvPr id="7" name="Image 0" descr="/mnt/data/mlops_slide_images/slide_59_retraining_decision_flow.png"/>
          <p:cNvPicPr>
            <a:picLocks noChangeAspect="1"/>
          </p:cNvPicPr>
          <p:nvPr/>
        </p:nvPicPr>
        <p:blipFill>
          <a:blip r:embed="rId3"/>
          <a:srcRect l="15694" r="15694"/>
          <a:stretch/>
        </p:blipFill>
        <p:spPr>
          <a:xfrm>
            <a:off x="6537960" y="1508760"/>
            <a:ext cx="5074920" cy="4160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5961888"/>
            <a:ext cx="10789920" cy="502920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If any answer is No, address that problem first — do not blindly retrain.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48840" cy="292608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Monitoring, Drift &amp; Retraining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503152" y="16459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9552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Four Approaches to Retraining, from Simple to Advanced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1097280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a strategy based on risk, monitoring maturity, and team capacity.</a:t>
            </a:r>
            <a:endParaRPr lang="en-US" sz="1200" dirty="0"/>
          </a:p>
        </p:txBody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08760"/>
          <a:ext cx="11018520" cy="406908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38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Strategy</a:t>
                      </a:r>
                      <a:endParaRPr lang="en-US" sz="9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How It Works</a:t>
                      </a:r>
                      <a:endParaRPr lang="en-US" sz="9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Advantage</a:t>
                      </a:r>
                      <a:endParaRPr lang="en-US" sz="9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Risk</a:t>
                      </a:r>
                      <a:endParaRPr lang="en-US" sz="9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38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Manual</a:t>
                      </a:r>
                      <a:endParaRPr lang="en-US" sz="9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Human decides to train and deploy</a:t>
                      </a:r>
                      <a:endParaRPr lang="en-US" sz="9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Full control</a:t>
                      </a:r>
                      <a:endParaRPr lang="en-US" sz="9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Slow, may miss degradation</a:t>
                      </a:r>
                      <a:endParaRPr lang="en-US" sz="9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38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Scheduled</a:t>
                      </a:r>
                      <a:endParaRPr lang="en-US" sz="9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Retrain on a calendar, e.g., monthly</a:t>
                      </a:r>
                      <a:endParaRPr lang="en-US" sz="9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Regular, predictable</a:t>
                      </a:r>
                      <a:endParaRPr lang="en-US" sz="9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May retrain when not needed, or too late</a:t>
                      </a:r>
                      <a:endParaRPr lang="en-US" sz="9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38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Trigger-based</a:t>
                      </a:r>
                      <a:endParaRPr lang="en-US" sz="9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Retrain when drift or performance drop exceeds threshold</a:t>
                      </a:r>
                      <a:endParaRPr lang="en-US" sz="9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Reactive to real change</a:t>
                      </a:r>
                      <a:endParaRPr lang="en-US" sz="9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Requires good monitoring and thresholds</a:t>
                      </a:r>
                      <a:endParaRPr lang="en-US" sz="9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38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Continuous Training</a:t>
                      </a:r>
                      <a:endParaRPr lang="en-US" sz="9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Fully automated pipeline: data → train → test → deploy</a:t>
                      </a:r>
                      <a:endParaRPr lang="en-US" sz="9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Fast adaptation, scalable</a:t>
                      </a:r>
                      <a:endParaRPr lang="en-US" sz="9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Complex, risk of bad deployments</a:t>
                      </a:r>
                      <a:endParaRPr lang="en-US" sz="9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22960" y="5897880"/>
            <a:ext cx="10515600" cy="438912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For an undergraduate-level system, manual or scheduled retraining is a good starting point.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48840" cy="292608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Monitoring, Drift &amp; Retraining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503152" y="16459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9552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Before Deploying a New Model, Verify: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21792" y="1664208"/>
            <a:ext cx="1097280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51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✅ It performs better on the new test set.</a:t>
            </a:r>
            <a:endParaRPr lang="en-US" sz="1510" dirty="0"/>
          </a:p>
          <a:p>
            <a:pPr marL="0" indent="0">
              <a:buNone/>
            </a:pPr>
            <a:r>
              <a:rPr lang="en-US" sz="151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✅ It does not regress severely on the old test set.</a:t>
            </a:r>
            <a:endParaRPr lang="en-US" sz="1510" dirty="0"/>
          </a:p>
          <a:p>
            <a:pPr marL="0" indent="0">
              <a:buNone/>
            </a:pPr>
            <a:r>
              <a:rPr lang="en-US" sz="151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✅ Important metrics beyond accuracy are checked, especially recall for high-risk class.</a:t>
            </a:r>
            <a:endParaRPr lang="en-US" sz="1510" dirty="0"/>
          </a:p>
          <a:p>
            <a:pPr marL="0" indent="0">
              <a:buNone/>
            </a:pPr>
            <a:r>
              <a:rPr lang="en-US" sz="151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✅ Latency is acceptable.</a:t>
            </a:r>
            <a:endParaRPr lang="en-US" sz="1510" dirty="0"/>
          </a:p>
          <a:p>
            <a:pPr marL="0" indent="0">
              <a:buNone/>
            </a:pPr>
            <a:r>
              <a:rPr lang="en-US" sz="151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✅ It behaves fairly across different user groups.</a:t>
            </a:r>
            <a:endParaRPr lang="en-US" sz="1510" dirty="0"/>
          </a:p>
          <a:p>
            <a:pPr marL="0" indent="0">
              <a:buNone/>
            </a:pPr>
            <a:r>
              <a:rPr lang="en-US" sz="151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✅ Rollback is possible.</a:t>
            </a:r>
            <a:endParaRPr lang="en-US" sz="1510" dirty="0"/>
          </a:p>
          <a:p>
            <a:pPr marL="0" indent="0">
              <a:buNone/>
            </a:pPr>
            <a:r>
              <a:rPr lang="en-US" sz="151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✅ Model version, data version, and code are recorded in MLflow.</a:t>
            </a:r>
            <a:endParaRPr lang="en-US" sz="151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48840" cy="292608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Monitoring, Drift &amp; Retraining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503152" y="16459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9552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Complete MLOps Pipeline: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21792" y="1664208"/>
            <a:ext cx="557784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37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Data → Train → Track (MLflow) → Register → Docker Image → Deploy (Kubernetes) → Monitor (System, Data, Drift) → Retrain / Validate / Rollback</a:t>
            </a:r>
            <a:endParaRPr lang="en-US" sz="1370" dirty="0"/>
          </a:p>
          <a:p>
            <a:pPr marL="0" indent="0">
              <a:buNone/>
            </a:pPr>
            <a:r>
              <a:rPr lang="en-US" sz="137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Class Exercise (2 minutes): in groups, design a spam-detection MLOps pipeline.</a:t>
            </a:r>
            <a:endParaRPr lang="en-US" sz="1370" dirty="0"/>
          </a:p>
          <a:p>
            <a:pPr marL="0" indent="0">
              <a:buNone/>
            </a:pPr>
            <a:r>
              <a:rPr lang="en-US" sz="137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Name the components you need: data, train script, MLflow, Docker API, Kubernetes deployment, monitoring, retraining.</a:t>
            </a:r>
            <a:endParaRPr lang="en-US" sz="1370" dirty="0"/>
          </a:p>
        </p:txBody>
      </p:sp>
      <p:pic>
        <p:nvPicPr>
          <p:cNvPr id="7" name="Image 0" descr="/mnt/data/mlops_slide_images/slide_62_complete_mlops_pipeline.png"/>
          <p:cNvPicPr>
            <a:picLocks noChangeAspect="1"/>
          </p:cNvPicPr>
          <p:nvPr/>
        </p:nvPicPr>
        <p:blipFill>
          <a:blip r:embed="rId3"/>
          <a:srcRect l="15694" r="15694"/>
          <a:stretch/>
        </p:blipFill>
        <p:spPr>
          <a:xfrm>
            <a:off x="6537960" y="1508760"/>
            <a:ext cx="5074920" cy="4160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5961888"/>
            <a:ext cx="10789920" cy="502920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Design your own spam-detection pipeline.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48840" cy="292608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Monitoring, Drift &amp; Retraining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503152" y="16459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9552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End-of-Class Questions: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21792" y="1664208"/>
            <a:ext cx="1097280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is the difference between Docker and Kubernetes?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Why is MLflow useful for ML projects?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is the difference between Data Drift and Concept Drift?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Why shouldn’t you retrain the model immediately at the first sign of drift?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For a loan model, which metrics are more important than accuracy?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5404</Words>
  <Application>Microsoft Office PowerPoint</Application>
  <PresentationFormat>Widescreen</PresentationFormat>
  <Paragraphs>850</Paragraphs>
  <Slides>63</Slides>
  <Notes>63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9" baseType="lpstr">
      <vt:lpstr>Aptos</vt:lpstr>
      <vt:lpstr>Aptos Display</vt:lpstr>
      <vt:lpstr>Arial</vt:lpstr>
      <vt:lpstr>Calibri</vt:lpstr>
      <vt:lpstr>Cascadia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Tehran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MLOps</dc:title>
  <dc:subject>MLOps presentation</dc:subject>
  <dc:creator>Mohammad Amanlou / rebuilt by OpenAI</dc:creator>
  <cp:lastModifiedBy>a</cp:lastModifiedBy>
  <cp:revision>4</cp:revision>
  <dcterms:created xsi:type="dcterms:W3CDTF">2026-05-21T13:21:41Z</dcterms:created>
  <dcterms:modified xsi:type="dcterms:W3CDTF">2026-05-21T15:23:14Z</dcterms:modified>
</cp:coreProperties>
</file>