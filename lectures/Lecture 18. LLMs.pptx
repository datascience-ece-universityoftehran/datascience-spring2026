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notesMasterIdLst>
    <p:notesMasterId r:id="rId57"/>
  </p:notesMasterIdLst>
  <p:sldIdLst>
    <p:sldId id="367" r:id="rId2"/>
    <p:sldId id="457" r:id="rId3"/>
    <p:sldId id="517" r:id="rId4"/>
    <p:sldId id="519" r:id="rId5"/>
    <p:sldId id="520" r:id="rId6"/>
    <p:sldId id="523" r:id="rId7"/>
    <p:sldId id="521" r:id="rId8"/>
    <p:sldId id="562" r:id="rId9"/>
    <p:sldId id="522" r:id="rId10"/>
    <p:sldId id="512" r:id="rId11"/>
    <p:sldId id="310" r:id="rId12"/>
    <p:sldId id="492" r:id="rId13"/>
    <p:sldId id="493" r:id="rId14"/>
    <p:sldId id="494" r:id="rId15"/>
    <p:sldId id="1912" r:id="rId16"/>
    <p:sldId id="2014" r:id="rId17"/>
    <p:sldId id="2015" r:id="rId18"/>
    <p:sldId id="1926" r:id="rId19"/>
    <p:sldId id="495" r:id="rId20"/>
    <p:sldId id="513" r:id="rId21"/>
    <p:sldId id="360" r:id="rId22"/>
    <p:sldId id="526" r:id="rId23"/>
    <p:sldId id="371" r:id="rId24"/>
    <p:sldId id="372" r:id="rId25"/>
    <p:sldId id="525" r:id="rId26"/>
    <p:sldId id="527" r:id="rId27"/>
    <p:sldId id="373" r:id="rId28"/>
    <p:sldId id="377" r:id="rId29"/>
    <p:sldId id="381" r:id="rId30"/>
    <p:sldId id="514" r:id="rId31"/>
    <p:sldId id="391" r:id="rId32"/>
    <p:sldId id="392" r:id="rId33"/>
    <p:sldId id="515" r:id="rId34"/>
    <p:sldId id="265" r:id="rId35"/>
    <p:sldId id="266" r:id="rId36"/>
    <p:sldId id="411" r:id="rId37"/>
    <p:sldId id="386" r:id="rId38"/>
    <p:sldId id="387" r:id="rId39"/>
    <p:sldId id="388" r:id="rId40"/>
    <p:sldId id="557" r:id="rId41"/>
    <p:sldId id="563" r:id="rId42"/>
    <p:sldId id="564" r:id="rId43"/>
    <p:sldId id="565" r:id="rId44"/>
    <p:sldId id="567" r:id="rId45"/>
    <p:sldId id="568" r:id="rId46"/>
    <p:sldId id="569" r:id="rId47"/>
    <p:sldId id="570" r:id="rId48"/>
    <p:sldId id="571" r:id="rId49"/>
    <p:sldId id="258" r:id="rId50"/>
    <p:sldId id="1989" r:id="rId51"/>
    <p:sldId id="602" r:id="rId52"/>
    <p:sldId id="614" r:id="rId53"/>
    <p:sldId id="603" r:id="rId54"/>
    <p:sldId id="1990" r:id="rId55"/>
    <p:sldId id="613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99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24" autoAdjust="0"/>
    <p:restoredTop sz="94057" autoAdjust="0"/>
  </p:normalViewPr>
  <p:slideViewPr>
    <p:cSldViewPr snapToGrid="0">
      <p:cViewPr varScale="1">
        <p:scale>
          <a:sx n="88" d="100"/>
          <a:sy n="88" d="100"/>
        </p:scale>
        <p:origin x="9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2812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dollah Yaghoobzadeh" userId="6e47bfdd41a25f50" providerId="LiveId" clId="{7E68FCE6-4061-46C4-8037-74AC9E894220}"/>
    <pc:docChg chg="delSld">
      <pc:chgData name="Yadollah Yaghoobzadeh" userId="6e47bfdd41a25f50" providerId="LiveId" clId="{7E68FCE6-4061-46C4-8037-74AC9E894220}" dt="2026-05-30T04:34:49.362" v="1" actId="47"/>
      <pc:docMkLst>
        <pc:docMk/>
      </pc:docMkLst>
      <pc:sldChg chg="del">
        <pc:chgData name="Yadollah Yaghoobzadeh" userId="6e47bfdd41a25f50" providerId="LiveId" clId="{7E68FCE6-4061-46C4-8037-74AC9E894220}" dt="2026-05-30T04:34:48.325" v="0" actId="47"/>
        <pc:sldMkLst>
          <pc:docMk/>
          <pc:sldMk cId="7363662" sldId="2018"/>
        </pc:sldMkLst>
      </pc:sldChg>
      <pc:sldChg chg="del">
        <pc:chgData name="Yadollah Yaghoobzadeh" userId="6e47bfdd41a25f50" providerId="LiveId" clId="{7E68FCE6-4061-46C4-8037-74AC9E894220}" dt="2026-05-30T04:34:49.362" v="1" actId="47"/>
        <pc:sldMkLst>
          <pc:docMk/>
          <pc:sldMk cId="1678118594" sldId="2019"/>
        </pc:sldMkLst>
      </pc:sldChg>
    </pc:docChg>
  </pc:docChgLst>
  <pc:docChgLst>
    <pc:chgData name="Yadollah Yaghoobzadeh" userId="6e47bfdd41a25f50" providerId="LiveId" clId="{75921ECD-35D7-485E-BE24-10EA5329EB22}"/>
    <pc:docChg chg="custSel addSld delSld modSld modMainMaster">
      <pc:chgData name="Yadollah Yaghoobzadeh" userId="6e47bfdd41a25f50" providerId="LiveId" clId="{75921ECD-35D7-485E-BE24-10EA5329EB22}" dt="2026-05-17T06:21:27.317" v="55" actId="27636"/>
      <pc:docMkLst>
        <pc:docMk/>
      </pc:docMkLst>
      <pc:sldChg chg="add">
        <pc:chgData name="Yadollah Yaghoobzadeh" userId="6e47bfdd41a25f50" providerId="LiveId" clId="{75921ECD-35D7-485E-BE24-10EA5329EB22}" dt="2026-05-17T06:21:27.086" v="38"/>
        <pc:sldMkLst>
          <pc:docMk/>
          <pc:sldMk cId="514305899" sldId="258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3383748980" sldId="265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201054559" sldId="266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71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72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73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75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77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78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79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80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81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82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83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84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86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92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93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94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95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97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98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99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300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301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302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303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304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305"/>
        </pc:sldMkLst>
      </pc:sldChg>
      <pc:sldChg chg="add setBg">
        <pc:chgData name="Yadollah Yaghoobzadeh" userId="6e47bfdd41a25f50" providerId="LiveId" clId="{75921ECD-35D7-485E-BE24-10EA5329EB22}" dt="2026-05-17T06:21:27.086" v="38"/>
        <pc:sldMkLst>
          <pc:docMk/>
          <pc:sldMk cId="2268663919" sldId="310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1277546200" sldId="353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563572889" sldId="360"/>
        </pc:sldMkLst>
      </pc:sldChg>
      <pc:sldChg chg="modSp mod">
        <pc:chgData name="Yadollah Yaghoobzadeh" userId="6e47bfdd41a25f50" providerId="LiveId" clId="{75921ECD-35D7-485E-BE24-10EA5329EB22}" dt="2026-05-17T06:20:56.885" v="35" actId="20577"/>
        <pc:sldMkLst>
          <pc:docMk/>
          <pc:sldMk cId="1616806445" sldId="367"/>
        </pc:sldMkLst>
        <pc:spChg chg="mod">
          <ac:chgData name="Yadollah Yaghoobzadeh" userId="6e47bfdd41a25f50" providerId="LiveId" clId="{75921ECD-35D7-485E-BE24-10EA5329EB22}" dt="2026-05-17T06:20:56.885" v="35" actId="20577"/>
          <ac:spMkLst>
            <pc:docMk/>
            <pc:sldMk cId="1616806445" sldId="367"/>
            <ac:spMk id="5" creationId="{BBCCB048-B67C-E79B-1CAC-1D9CA1807D4A}"/>
          </ac:spMkLst>
        </pc:spChg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454312306" sldId="368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4226337331" sldId="369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514117378" sldId="370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3305632738" sldId="371"/>
        </pc:sldMkLst>
      </pc:sldChg>
      <pc:sldChg chg="modSp add mod">
        <pc:chgData name="Yadollah Yaghoobzadeh" userId="6e47bfdd41a25f50" providerId="LiveId" clId="{75921ECD-35D7-485E-BE24-10EA5329EB22}" dt="2026-05-17T06:21:27.230" v="47" actId="27636"/>
        <pc:sldMkLst>
          <pc:docMk/>
          <pc:sldMk cId="276018657" sldId="372"/>
        </pc:sldMkLst>
        <pc:spChg chg="mod">
          <ac:chgData name="Yadollah Yaghoobzadeh" userId="6e47bfdd41a25f50" providerId="LiveId" clId="{75921ECD-35D7-485E-BE24-10EA5329EB22}" dt="2026-05-17T06:21:27.230" v="47" actId="27636"/>
          <ac:spMkLst>
            <pc:docMk/>
            <pc:sldMk cId="276018657" sldId="372"/>
            <ac:spMk id="2" creationId="{6D03E99D-0E49-EA39-AF60-9D26ED4DCDFD}"/>
          </ac:spMkLst>
        </pc:spChg>
      </pc:sldChg>
      <pc:sldChg chg="modSp add mod">
        <pc:chgData name="Yadollah Yaghoobzadeh" userId="6e47bfdd41a25f50" providerId="LiveId" clId="{75921ECD-35D7-485E-BE24-10EA5329EB22}" dt="2026-05-17T06:21:27.232" v="48" actId="27636"/>
        <pc:sldMkLst>
          <pc:docMk/>
          <pc:sldMk cId="2967625991" sldId="373"/>
        </pc:sldMkLst>
        <pc:spChg chg="mod">
          <ac:chgData name="Yadollah Yaghoobzadeh" userId="6e47bfdd41a25f50" providerId="LiveId" clId="{75921ECD-35D7-485E-BE24-10EA5329EB22}" dt="2026-05-17T06:21:27.232" v="48" actId="27636"/>
          <ac:spMkLst>
            <pc:docMk/>
            <pc:sldMk cId="2967625991" sldId="373"/>
            <ac:spMk id="4" creationId="{1DFD8370-6FB6-E1B9-101B-0EC17DBD36FB}"/>
          </ac:spMkLst>
        </pc:spChg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1631415618" sldId="375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731954837" sldId="376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80648139" sldId="377"/>
        </pc:sldMkLst>
      </pc:sldChg>
      <pc:sldChg chg="modSp add mod">
        <pc:chgData name="Yadollah Yaghoobzadeh" userId="6e47bfdd41a25f50" providerId="LiveId" clId="{75921ECD-35D7-485E-BE24-10EA5329EB22}" dt="2026-05-17T06:21:27.241" v="49" actId="27636"/>
        <pc:sldMkLst>
          <pc:docMk/>
          <pc:sldMk cId="4047389035" sldId="381"/>
        </pc:sldMkLst>
        <pc:spChg chg="mod">
          <ac:chgData name="Yadollah Yaghoobzadeh" userId="6e47bfdd41a25f50" providerId="LiveId" clId="{75921ECD-35D7-485E-BE24-10EA5329EB22}" dt="2026-05-17T06:21:27.241" v="49" actId="27636"/>
          <ac:spMkLst>
            <pc:docMk/>
            <pc:sldMk cId="4047389035" sldId="381"/>
            <ac:spMk id="3" creationId="{1A29863E-FC32-EFFA-BDC5-C72A19BA44D9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807353994" sldId="386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899741874" sldId="387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640457201" sldId="388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628786386" sldId="391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462444708" sldId="392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3725704901" sldId="396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1449154557" sldId="397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1708192411" sldId="398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1877443041" sldId="399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3598542040" sldId="400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3089343497" sldId="401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1485323507" sldId="407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585223782" sldId="411"/>
        </pc:sldMkLst>
      </pc:sldChg>
      <pc:sldChg chg="modSp add mod">
        <pc:chgData name="Yadollah Yaghoobzadeh" userId="6e47bfdd41a25f50" providerId="LiveId" clId="{75921ECD-35D7-485E-BE24-10EA5329EB22}" dt="2026-05-17T06:21:27.194" v="39" actId="27636"/>
        <pc:sldMkLst>
          <pc:docMk/>
          <pc:sldMk cId="1229189862" sldId="457"/>
        </pc:sldMkLst>
        <pc:spChg chg="mod">
          <ac:chgData name="Yadollah Yaghoobzadeh" userId="6e47bfdd41a25f50" providerId="LiveId" clId="{75921ECD-35D7-485E-BE24-10EA5329EB22}" dt="2026-05-17T06:21:27.194" v="39" actId="27636"/>
          <ac:spMkLst>
            <pc:docMk/>
            <pc:sldMk cId="1229189862" sldId="457"/>
            <ac:spMk id="3" creationId="{2580E472-DD54-6526-7C72-57C028BDA430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603090522" sldId="492"/>
        </pc:sldMkLst>
      </pc:sldChg>
      <pc:sldChg chg="modSp add mod">
        <pc:chgData name="Yadollah Yaghoobzadeh" userId="6e47bfdd41a25f50" providerId="LiveId" clId="{75921ECD-35D7-485E-BE24-10EA5329EB22}" dt="2026-05-17T06:21:27.214" v="43" actId="27636"/>
        <pc:sldMkLst>
          <pc:docMk/>
          <pc:sldMk cId="2690720809" sldId="493"/>
        </pc:sldMkLst>
        <pc:spChg chg="mod">
          <ac:chgData name="Yadollah Yaghoobzadeh" userId="6e47bfdd41a25f50" providerId="LiveId" clId="{75921ECD-35D7-485E-BE24-10EA5329EB22}" dt="2026-05-17T06:21:27.214" v="43" actId="27636"/>
          <ac:spMkLst>
            <pc:docMk/>
            <pc:sldMk cId="2690720809" sldId="493"/>
            <ac:spMk id="3" creationId="{2C06B958-47C6-1E2F-9DE5-3E134B672EF2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346161491" sldId="494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437056036" sldId="495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104509797" sldId="512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876272827" sldId="513"/>
        </pc:sldMkLst>
      </pc:sldChg>
      <pc:sldChg chg="modSp add mod">
        <pc:chgData name="Yadollah Yaghoobzadeh" userId="6e47bfdd41a25f50" providerId="LiveId" clId="{75921ECD-35D7-485E-BE24-10EA5329EB22}" dt="2026-05-17T06:21:27.243" v="50" actId="27636"/>
        <pc:sldMkLst>
          <pc:docMk/>
          <pc:sldMk cId="545939205" sldId="514"/>
        </pc:sldMkLst>
        <pc:spChg chg="mod">
          <ac:chgData name="Yadollah Yaghoobzadeh" userId="6e47bfdd41a25f50" providerId="LiveId" clId="{75921ECD-35D7-485E-BE24-10EA5329EB22}" dt="2026-05-17T06:21:27.243" v="50" actId="27636"/>
          <ac:spMkLst>
            <pc:docMk/>
            <pc:sldMk cId="545939205" sldId="514"/>
            <ac:spMk id="2" creationId="{EF2B6709-E781-8DFF-1BC6-DC504D830704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940234959" sldId="515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588456485" sldId="517"/>
        </pc:sldMkLst>
      </pc:sldChg>
      <pc:sldChg chg="modSp add mod">
        <pc:chgData name="Yadollah Yaghoobzadeh" userId="6e47bfdd41a25f50" providerId="LiveId" clId="{75921ECD-35D7-485E-BE24-10EA5329EB22}" dt="2026-05-17T06:21:27.200" v="40" actId="27636"/>
        <pc:sldMkLst>
          <pc:docMk/>
          <pc:sldMk cId="3368019862" sldId="519"/>
        </pc:sldMkLst>
        <pc:spChg chg="mod">
          <ac:chgData name="Yadollah Yaghoobzadeh" userId="6e47bfdd41a25f50" providerId="LiveId" clId="{75921ECD-35D7-485E-BE24-10EA5329EB22}" dt="2026-05-17T06:21:27.200" v="40" actId="27636"/>
          <ac:spMkLst>
            <pc:docMk/>
            <pc:sldMk cId="3368019862" sldId="519"/>
            <ac:spMk id="2" creationId="{80988266-76A6-7354-0B68-CAA3F8D275CA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237392664" sldId="520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3889227931" sldId="521"/>
        </pc:sldMkLst>
      </pc:sldChg>
      <pc:sldChg chg="modSp add mod">
        <pc:chgData name="Yadollah Yaghoobzadeh" userId="6e47bfdd41a25f50" providerId="LiveId" clId="{75921ECD-35D7-485E-BE24-10EA5329EB22}" dt="2026-05-17T06:21:27.212" v="42" actId="27636"/>
        <pc:sldMkLst>
          <pc:docMk/>
          <pc:sldMk cId="2722860328" sldId="522"/>
        </pc:sldMkLst>
        <pc:spChg chg="mod">
          <ac:chgData name="Yadollah Yaghoobzadeh" userId="6e47bfdd41a25f50" providerId="LiveId" clId="{75921ECD-35D7-485E-BE24-10EA5329EB22}" dt="2026-05-17T06:21:27.212" v="42" actId="27636"/>
          <ac:spMkLst>
            <pc:docMk/>
            <pc:sldMk cId="2722860328" sldId="522"/>
            <ac:spMk id="2" creationId="{F26AF1C0-9050-1E06-35EE-01A045FB6345}"/>
          </ac:spMkLst>
        </pc:spChg>
      </pc:sldChg>
      <pc:sldChg chg="modSp add mod">
        <pc:chgData name="Yadollah Yaghoobzadeh" userId="6e47bfdd41a25f50" providerId="LiveId" clId="{75921ECD-35D7-485E-BE24-10EA5329EB22}" dt="2026-05-17T06:21:27.208" v="41" actId="27636"/>
        <pc:sldMkLst>
          <pc:docMk/>
          <pc:sldMk cId="2365103576" sldId="523"/>
        </pc:sldMkLst>
        <pc:spChg chg="mod">
          <ac:chgData name="Yadollah Yaghoobzadeh" userId="6e47bfdd41a25f50" providerId="LiveId" clId="{75921ECD-35D7-485E-BE24-10EA5329EB22}" dt="2026-05-17T06:21:27.208" v="41" actId="27636"/>
          <ac:spMkLst>
            <pc:docMk/>
            <pc:sldMk cId="2365103576" sldId="523"/>
            <ac:spMk id="3" creationId="{4E2B5C45-CBA4-94C8-4762-FA017B98693B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435469503" sldId="525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863771730" sldId="526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106802785" sldId="527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361783616" sldId="557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823137805" sldId="562"/>
        </pc:sldMkLst>
      </pc:sldChg>
      <pc:sldChg chg="modSp add mod">
        <pc:chgData name="Yadollah Yaghoobzadeh" userId="6e47bfdd41a25f50" providerId="LiveId" clId="{75921ECD-35D7-485E-BE24-10EA5329EB22}" dt="2026-05-17T06:21:27.287" v="51" actId="27636"/>
        <pc:sldMkLst>
          <pc:docMk/>
          <pc:sldMk cId="2166518439" sldId="563"/>
        </pc:sldMkLst>
        <pc:spChg chg="mod">
          <ac:chgData name="Yadollah Yaghoobzadeh" userId="6e47bfdd41a25f50" providerId="LiveId" clId="{75921ECD-35D7-485E-BE24-10EA5329EB22}" dt="2026-05-17T06:21:27.287" v="51" actId="27636"/>
          <ac:spMkLst>
            <pc:docMk/>
            <pc:sldMk cId="2166518439" sldId="563"/>
            <ac:spMk id="3" creationId="{1A329C0B-8AF8-C341-E58C-DB8B18DCCF2B}"/>
          </ac:spMkLst>
        </pc:spChg>
      </pc:sldChg>
      <pc:sldChg chg="modSp add mod">
        <pc:chgData name="Yadollah Yaghoobzadeh" userId="6e47bfdd41a25f50" providerId="LiveId" clId="{75921ECD-35D7-485E-BE24-10EA5329EB22}" dt="2026-05-17T06:21:27.301" v="53" actId="27636"/>
        <pc:sldMkLst>
          <pc:docMk/>
          <pc:sldMk cId="1385090680" sldId="564"/>
        </pc:sldMkLst>
        <pc:spChg chg="mod">
          <ac:chgData name="Yadollah Yaghoobzadeh" userId="6e47bfdd41a25f50" providerId="LiveId" clId="{75921ECD-35D7-485E-BE24-10EA5329EB22}" dt="2026-05-17T06:21:27.301" v="53" actId="27636"/>
          <ac:spMkLst>
            <pc:docMk/>
            <pc:sldMk cId="1385090680" sldId="564"/>
            <ac:spMk id="2" creationId="{362B89F1-CE3C-A930-C129-CB6BF56A2EF3}"/>
          </ac:spMkLst>
        </pc:spChg>
        <pc:spChg chg="mod">
          <ac:chgData name="Yadollah Yaghoobzadeh" userId="6e47bfdd41a25f50" providerId="LiveId" clId="{75921ECD-35D7-485E-BE24-10EA5329EB22}" dt="2026-05-17T06:21:27.301" v="52" actId="27636"/>
          <ac:spMkLst>
            <pc:docMk/>
            <pc:sldMk cId="1385090680" sldId="564"/>
            <ac:spMk id="3" creationId="{9C611A69-1494-D86E-5D54-4FB053BB1E56}"/>
          </ac:spMkLst>
        </pc:spChg>
      </pc:sldChg>
      <pc:sldChg chg="modSp add mod">
        <pc:chgData name="Yadollah Yaghoobzadeh" userId="6e47bfdd41a25f50" providerId="LiveId" clId="{75921ECD-35D7-485E-BE24-10EA5329EB22}" dt="2026-05-17T06:21:27.304" v="54" actId="27636"/>
        <pc:sldMkLst>
          <pc:docMk/>
          <pc:sldMk cId="1924463976" sldId="565"/>
        </pc:sldMkLst>
        <pc:spChg chg="mod">
          <ac:chgData name="Yadollah Yaghoobzadeh" userId="6e47bfdd41a25f50" providerId="LiveId" clId="{75921ECD-35D7-485E-BE24-10EA5329EB22}" dt="2026-05-17T06:21:27.304" v="54" actId="27636"/>
          <ac:spMkLst>
            <pc:docMk/>
            <pc:sldMk cId="1924463976" sldId="565"/>
            <ac:spMk id="7" creationId="{C1C51D22-85D5-2C42-A3C4-742CD79A50CD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371044156" sldId="567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890348173" sldId="568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724314125" sldId="569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3670223069" sldId="570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741937137" sldId="571"/>
        </pc:sldMkLst>
      </pc:sldChg>
      <pc:sldChg chg="modSp add mod">
        <pc:chgData name="Yadollah Yaghoobzadeh" userId="6e47bfdd41a25f50" providerId="LiveId" clId="{75921ECD-35D7-485E-BE24-10EA5329EB22}" dt="2026-05-17T06:21:27.317" v="55" actId="27636"/>
        <pc:sldMkLst>
          <pc:docMk/>
          <pc:sldMk cId="4171675283" sldId="602"/>
        </pc:sldMkLst>
        <pc:spChg chg="mod">
          <ac:chgData name="Yadollah Yaghoobzadeh" userId="6e47bfdd41a25f50" providerId="LiveId" clId="{75921ECD-35D7-485E-BE24-10EA5329EB22}" dt="2026-05-17T06:21:27.317" v="55" actId="27636"/>
          <ac:spMkLst>
            <pc:docMk/>
            <pc:sldMk cId="4171675283" sldId="602"/>
            <ac:spMk id="20483" creationId="{00000000-0000-0000-0000-000000000000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4160694351" sldId="603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978527269" sldId="613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286910321" sldId="614"/>
        </pc:sldMkLst>
      </pc:sldChg>
      <pc:sldChg chg="modSp add mod">
        <pc:chgData name="Yadollah Yaghoobzadeh" userId="6e47bfdd41a25f50" providerId="LiveId" clId="{75921ECD-35D7-485E-BE24-10EA5329EB22}" dt="2026-05-17T06:21:27.218" v="44" actId="27636"/>
        <pc:sldMkLst>
          <pc:docMk/>
          <pc:sldMk cId="3392579955" sldId="1912"/>
        </pc:sldMkLst>
        <pc:spChg chg="mod">
          <ac:chgData name="Yadollah Yaghoobzadeh" userId="6e47bfdd41a25f50" providerId="LiveId" clId="{75921ECD-35D7-485E-BE24-10EA5329EB22}" dt="2026-05-17T06:21:27.218" v="44" actId="27636"/>
          <ac:spMkLst>
            <pc:docMk/>
            <pc:sldMk cId="3392579955" sldId="1912"/>
            <ac:spMk id="2" creationId="{8CE2912D-A118-5079-D10E-E43439FE4860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080107590" sldId="1926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574848999" sldId="1989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802611643" sldId="1990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3105107390" sldId="2014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612557404" sldId="2015"/>
        </pc:sldMkLst>
      </pc:sldChg>
      <pc:sldChg chg="modSp add mod">
        <pc:chgData name="Yadollah Yaghoobzadeh" userId="6e47bfdd41a25f50" providerId="LiveId" clId="{75921ECD-35D7-485E-BE24-10EA5329EB22}" dt="2026-05-17T06:21:27.224" v="45" actId="27636"/>
        <pc:sldMkLst>
          <pc:docMk/>
          <pc:sldMk cId="7363662" sldId="2018"/>
        </pc:sldMkLst>
        <pc:spChg chg="mod">
          <ac:chgData name="Yadollah Yaghoobzadeh" userId="6e47bfdd41a25f50" providerId="LiveId" clId="{75921ECD-35D7-485E-BE24-10EA5329EB22}" dt="2026-05-17T06:21:27.224" v="45" actId="27636"/>
          <ac:spMkLst>
            <pc:docMk/>
            <pc:sldMk cId="7363662" sldId="2018"/>
            <ac:spMk id="2" creationId="{E111C60E-E1AE-B244-F6A3-78D074A4E74E}"/>
          </ac:spMkLst>
        </pc:spChg>
      </pc:sldChg>
      <pc:sldChg chg="modSp add mod">
        <pc:chgData name="Yadollah Yaghoobzadeh" userId="6e47bfdd41a25f50" providerId="LiveId" clId="{75921ECD-35D7-485E-BE24-10EA5329EB22}" dt="2026-05-17T06:21:27.227" v="46" actId="27636"/>
        <pc:sldMkLst>
          <pc:docMk/>
          <pc:sldMk cId="1678118594" sldId="2019"/>
        </pc:sldMkLst>
        <pc:spChg chg="mod">
          <ac:chgData name="Yadollah Yaghoobzadeh" userId="6e47bfdd41a25f50" providerId="LiveId" clId="{75921ECD-35D7-485E-BE24-10EA5329EB22}" dt="2026-05-17T06:21:27.227" v="46" actId="27636"/>
          <ac:spMkLst>
            <pc:docMk/>
            <pc:sldMk cId="1678118594" sldId="2019"/>
            <ac:spMk id="2" creationId="{78BFA2AF-E6DB-E37D-43CE-0F420194DA7F}"/>
          </ac:spMkLst>
        </pc:spChg>
      </pc:sldChg>
      <pc:sldMasterChg chg="delSldLayout modSldLayout">
        <pc:chgData name="Yadollah Yaghoobzadeh" userId="6e47bfdd41a25f50" providerId="LiveId" clId="{75921ECD-35D7-485E-BE24-10EA5329EB22}" dt="2026-05-17T06:21:06.045" v="37" actId="20577"/>
        <pc:sldMasterMkLst>
          <pc:docMk/>
          <pc:sldMasterMk cId="171950421" sldId="2147483779"/>
        </pc:sldMasterMkLst>
        <pc:sldLayoutChg chg="modSp mod">
          <pc:chgData name="Yadollah Yaghoobzadeh" userId="6e47bfdd41a25f50" providerId="LiveId" clId="{75921ECD-35D7-485E-BE24-10EA5329EB22}" dt="2026-05-17T06:21:06.045" v="37" actId="20577"/>
          <pc:sldLayoutMkLst>
            <pc:docMk/>
            <pc:sldMasterMk cId="171950421" sldId="2147483779"/>
            <pc:sldLayoutMk cId="367002956" sldId="2147483791"/>
          </pc:sldLayoutMkLst>
          <pc:spChg chg="mod">
            <ac:chgData name="Yadollah Yaghoobzadeh" userId="6e47bfdd41a25f50" providerId="LiveId" clId="{75921ECD-35D7-485E-BE24-10EA5329EB22}" dt="2026-05-17T06:21:06.045" v="37" actId="20577"/>
            <ac:spMkLst>
              <pc:docMk/>
              <pc:sldMasterMk cId="171950421" sldId="2147483779"/>
              <pc:sldLayoutMk cId="367002956" sldId="2147483791"/>
              <ac:spMk id="3" creationId="{589C87D7-4FFF-3090-7978-ACE9D0723D25}"/>
            </ac:spMkLst>
          </pc:spChg>
        </pc:sldLayoutChg>
        <pc:sldLayoutChg chg="del">
          <pc:chgData name="Yadollah Yaghoobzadeh" userId="6e47bfdd41a25f50" providerId="LiveId" clId="{75921ECD-35D7-485E-BE24-10EA5329EB22}" dt="2026-05-17T06:20:13.421" v="0" actId="47"/>
          <pc:sldLayoutMkLst>
            <pc:docMk/>
            <pc:sldMasterMk cId="171950421" sldId="2147483779"/>
            <pc:sldLayoutMk cId="2541672312" sldId="2147483792"/>
          </pc:sldLayoutMkLst>
        </pc:sldLayoutChg>
        <pc:sldLayoutChg chg="del">
          <pc:chgData name="Yadollah Yaghoobzadeh" userId="6e47bfdd41a25f50" providerId="LiveId" clId="{75921ECD-35D7-485E-BE24-10EA5329EB22}" dt="2026-05-17T06:20:13.421" v="0" actId="47"/>
          <pc:sldLayoutMkLst>
            <pc:docMk/>
            <pc:sldMasterMk cId="171950421" sldId="2147483779"/>
            <pc:sldLayoutMk cId="4022510976" sldId="2147483793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74E6BC-3E17-AC43-AAE6-4B1DBA6952DF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4D75875C-E5F8-C046-9EE0-B75B5F5BB975}">
      <dgm:prSet custT="1"/>
      <dgm:spPr/>
      <dgm:t>
        <a:bodyPr/>
        <a:lstStyle/>
        <a:p>
          <a:r>
            <a:rPr lang="en-US" sz="2000" dirty="0"/>
            <a:t>Word vectors &amp; task-specific architectures (word2vec)</a:t>
          </a:r>
        </a:p>
      </dgm:t>
    </dgm:pt>
    <dgm:pt modelId="{643DA25E-D589-364B-BE30-D798965663C1}" type="parTrans" cxnId="{7D5BCD82-9465-C549-8FB0-66805EDE114F}">
      <dgm:prSet/>
      <dgm:spPr/>
      <dgm:t>
        <a:bodyPr/>
        <a:lstStyle/>
        <a:p>
          <a:endParaRPr lang="en-US" sz="2400"/>
        </a:p>
      </dgm:t>
    </dgm:pt>
    <dgm:pt modelId="{A2B23F53-A323-3D4E-B77F-3171D924DAD9}" type="sibTrans" cxnId="{7D5BCD82-9465-C549-8FB0-66805EDE114F}">
      <dgm:prSet custT="1"/>
      <dgm:spPr/>
      <dgm:t>
        <a:bodyPr/>
        <a:lstStyle/>
        <a:p>
          <a:endParaRPr lang="en-US" sz="1800"/>
        </a:p>
      </dgm:t>
    </dgm:pt>
    <dgm:pt modelId="{1ED251BB-7C29-FB42-A1E4-CC5302DA9F3C}">
      <dgm:prSet custT="1"/>
      <dgm:spPr/>
      <dgm:t>
        <a:bodyPr/>
        <a:lstStyle/>
        <a:p>
          <a:pPr algn="ctr"/>
          <a:r>
            <a:rPr lang="en-US" sz="2000" dirty="0"/>
            <a:t>Pre-train &amp; fine-tune (BERT) </a:t>
          </a:r>
        </a:p>
      </dgm:t>
    </dgm:pt>
    <dgm:pt modelId="{CEDF8F68-EB92-9642-B8A4-7BD206973A94}" type="parTrans" cxnId="{C9FFA88F-C1B6-C348-AC33-1EED011015C3}">
      <dgm:prSet/>
      <dgm:spPr/>
      <dgm:t>
        <a:bodyPr/>
        <a:lstStyle/>
        <a:p>
          <a:endParaRPr lang="en-US" sz="2400"/>
        </a:p>
      </dgm:t>
    </dgm:pt>
    <dgm:pt modelId="{BA999C55-F93F-1145-981F-6EDA4A0D4721}" type="sibTrans" cxnId="{C9FFA88F-C1B6-C348-AC33-1EED011015C3}">
      <dgm:prSet custT="1"/>
      <dgm:spPr/>
      <dgm:t>
        <a:bodyPr/>
        <a:lstStyle/>
        <a:p>
          <a:endParaRPr lang="en-US" sz="1800"/>
        </a:p>
      </dgm:t>
    </dgm:pt>
    <dgm:pt modelId="{E7E675D1-D0CA-9943-A93A-7E61EC20F825}">
      <dgm:prSet custT="1"/>
      <dgm:spPr/>
      <dgm:t>
        <a:bodyPr/>
        <a:lstStyle/>
        <a:p>
          <a:r>
            <a:rPr lang="en-US" sz="2000" dirty="0"/>
            <a:t>LLMs &amp; in-context learning (GPT3)</a:t>
          </a:r>
        </a:p>
      </dgm:t>
    </dgm:pt>
    <dgm:pt modelId="{5E5A24E2-4F9F-0243-B432-9F8273AFB278}" type="parTrans" cxnId="{006D9060-A4D7-7E44-898E-E7467FE4BDDA}">
      <dgm:prSet/>
      <dgm:spPr/>
      <dgm:t>
        <a:bodyPr/>
        <a:lstStyle/>
        <a:p>
          <a:endParaRPr lang="en-US" sz="2400"/>
        </a:p>
      </dgm:t>
    </dgm:pt>
    <dgm:pt modelId="{F4B5B791-08F4-104B-B099-AFB415DFA019}" type="sibTrans" cxnId="{006D9060-A4D7-7E44-898E-E7467FE4BDDA}">
      <dgm:prSet custT="1"/>
      <dgm:spPr/>
      <dgm:t>
        <a:bodyPr/>
        <a:lstStyle/>
        <a:p>
          <a:endParaRPr lang="en-US" sz="1800"/>
        </a:p>
      </dgm:t>
    </dgm:pt>
    <dgm:pt modelId="{10F7EB93-9E55-2040-8E9F-C72D8B4214AF}">
      <dgm:prSet custT="1"/>
      <dgm:spPr/>
      <dgm:t>
        <a:bodyPr/>
        <a:lstStyle/>
        <a:p>
          <a:r>
            <a:rPr lang="en-US" sz="2000" dirty="0"/>
            <a:t>Instruction tuning &amp; RLHF (</a:t>
          </a:r>
          <a:r>
            <a:rPr lang="en-US" sz="2000" dirty="0" err="1"/>
            <a:t>ChatGPT</a:t>
          </a:r>
          <a:r>
            <a:rPr lang="en-US" sz="2000" dirty="0"/>
            <a:t>)</a:t>
          </a:r>
        </a:p>
      </dgm:t>
    </dgm:pt>
    <dgm:pt modelId="{80C87C9C-514A-A145-95D0-14E9154681E1}" type="parTrans" cxnId="{898A67CC-19BD-C64A-AF51-BFF0847F2FF8}">
      <dgm:prSet/>
      <dgm:spPr/>
      <dgm:t>
        <a:bodyPr/>
        <a:lstStyle/>
        <a:p>
          <a:endParaRPr lang="en-US" sz="2400"/>
        </a:p>
      </dgm:t>
    </dgm:pt>
    <dgm:pt modelId="{761FD97E-677E-F043-BAF4-4A5A5FE9B3AE}" type="sibTrans" cxnId="{898A67CC-19BD-C64A-AF51-BFF0847F2FF8}">
      <dgm:prSet/>
      <dgm:spPr/>
      <dgm:t>
        <a:bodyPr/>
        <a:lstStyle/>
        <a:p>
          <a:endParaRPr lang="en-US" sz="2400"/>
        </a:p>
      </dgm:t>
    </dgm:pt>
    <dgm:pt modelId="{559C6B93-C908-48A2-8BBA-B21C695E0430}">
      <dgm:prSet custT="1"/>
      <dgm:spPr/>
      <dgm:t>
        <a:bodyPr/>
        <a:lstStyle/>
        <a:p>
          <a:r>
            <a:rPr lang="en-US" sz="2000" dirty="0"/>
            <a:t>RL post-training (O1 &amp; </a:t>
          </a:r>
          <a:r>
            <a:rPr lang="en-US" sz="2000" dirty="0" err="1"/>
            <a:t>Deepseek</a:t>
          </a:r>
          <a:r>
            <a:rPr lang="en-US" sz="2000" dirty="0"/>
            <a:t> R1)</a:t>
          </a:r>
        </a:p>
      </dgm:t>
    </dgm:pt>
    <dgm:pt modelId="{DE817CB1-67C9-439E-9ADA-9FC592E5180E}" type="parTrans" cxnId="{623F85D3-AE25-4678-86CF-013602EBC1F6}">
      <dgm:prSet/>
      <dgm:spPr/>
      <dgm:t>
        <a:bodyPr/>
        <a:lstStyle/>
        <a:p>
          <a:endParaRPr lang="en-US"/>
        </a:p>
      </dgm:t>
    </dgm:pt>
    <dgm:pt modelId="{2A72A1E5-55FC-4670-938D-DE183FA1ADCC}" type="sibTrans" cxnId="{623F85D3-AE25-4678-86CF-013602EBC1F6}">
      <dgm:prSet/>
      <dgm:spPr/>
      <dgm:t>
        <a:bodyPr/>
        <a:lstStyle/>
        <a:p>
          <a:endParaRPr lang="en-US"/>
        </a:p>
      </dgm:t>
    </dgm:pt>
    <dgm:pt modelId="{E155D8B6-FAFA-FD42-8B0E-30DDDBA9B8CD}" type="pres">
      <dgm:prSet presAssocID="{CC74E6BC-3E17-AC43-AAE6-4B1DBA6952DF}" presName="Name0" presStyleCnt="0">
        <dgm:presLayoutVars>
          <dgm:dir/>
          <dgm:resizeHandles val="exact"/>
        </dgm:presLayoutVars>
      </dgm:prSet>
      <dgm:spPr/>
    </dgm:pt>
    <dgm:pt modelId="{0026271B-BD5B-EA4F-A2D4-8362B70402E4}" type="pres">
      <dgm:prSet presAssocID="{4D75875C-E5F8-C046-9EE0-B75B5F5BB975}" presName="node" presStyleLbl="node1" presStyleIdx="0" presStyleCnt="5">
        <dgm:presLayoutVars>
          <dgm:bulletEnabled val="1"/>
        </dgm:presLayoutVars>
      </dgm:prSet>
      <dgm:spPr/>
    </dgm:pt>
    <dgm:pt modelId="{8E1A8173-E832-4D46-9752-C16D18393F2B}" type="pres">
      <dgm:prSet presAssocID="{A2B23F53-A323-3D4E-B77F-3171D924DAD9}" presName="sibTrans" presStyleLbl="sibTrans2D1" presStyleIdx="0" presStyleCnt="4"/>
      <dgm:spPr/>
    </dgm:pt>
    <dgm:pt modelId="{A123CC9C-5314-204F-87AD-7F48055B535E}" type="pres">
      <dgm:prSet presAssocID="{A2B23F53-A323-3D4E-B77F-3171D924DAD9}" presName="connectorText" presStyleLbl="sibTrans2D1" presStyleIdx="0" presStyleCnt="4"/>
      <dgm:spPr/>
    </dgm:pt>
    <dgm:pt modelId="{3421F521-5EE9-BD4F-AC0A-7FC6AC4869DA}" type="pres">
      <dgm:prSet presAssocID="{1ED251BB-7C29-FB42-A1E4-CC5302DA9F3C}" presName="node" presStyleLbl="node1" presStyleIdx="1" presStyleCnt="5">
        <dgm:presLayoutVars>
          <dgm:bulletEnabled val="1"/>
        </dgm:presLayoutVars>
      </dgm:prSet>
      <dgm:spPr/>
    </dgm:pt>
    <dgm:pt modelId="{D4D8AD77-E8AE-DD49-8A98-0917D9B762DD}" type="pres">
      <dgm:prSet presAssocID="{BA999C55-F93F-1145-981F-6EDA4A0D4721}" presName="sibTrans" presStyleLbl="sibTrans2D1" presStyleIdx="1" presStyleCnt="4"/>
      <dgm:spPr/>
    </dgm:pt>
    <dgm:pt modelId="{F93661DD-F69A-F244-A952-0C7E046F3424}" type="pres">
      <dgm:prSet presAssocID="{BA999C55-F93F-1145-981F-6EDA4A0D4721}" presName="connectorText" presStyleLbl="sibTrans2D1" presStyleIdx="1" presStyleCnt="4"/>
      <dgm:spPr/>
    </dgm:pt>
    <dgm:pt modelId="{B443C485-FFEC-9C4F-8667-7DFB467F1F6A}" type="pres">
      <dgm:prSet presAssocID="{E7E675D1-D0CA-9943-A93A-7E61EC20F825}" presName="node" presStyleLbl="node1" presStyleIdx="2" presStyleCnt="5">
        <dgm:presLayoutVars>
          <dgm:bulletEnabled val="1"/>
        </dgm:presLayoutVars>
      </dgm:prSet>
      <dgm:spPr/>
    </dgm:pt>
    <dgm:pt modelId="{44C6E477-7E93-9A4E-ACC6-4ADAAC1296D6}" type="pres">
      <dgm:prSet presAssocID="{F4B5B791-08F4-104B-B099-AFB415DFA019}" presName="sibTrans" presStyleLbl="sibTrans2D1" presStyleIdx="2" presStyleCnt="4"/>
      <dgm:spPr/>
    </dgm:pt>
    <dgm:pt modelId="{9C012547-A66D-5041-89F4-9A439CABBD3B}" type="pres">
      <dgm:prSet presAssocID="{F4B5B791-08F4-104B-B099-AFB415DFA019}" presName="connectorText" presStyleLbl="sibTrans2D1" presStyleIdx="2" presStyleCnt="4"/>
      <dgm:spPr/>
    </dgm:pt>
    <dgm:pt modelId="{E8EA05E3-7091-574F-A5BA-B58C0F43F37A}" type="pres">
      <dgm:prSet presAssocID="{10F7EB93-9E55-2040-8E9F-C72D8B4214AF}" presName="node" presStyleLbl="node1" presStyleIdx="3" presStyleCnt="5">
        <dgm:presLayoutVars>
          <dgm:bulletEnabled val="1"/>
        </dgm:presLayoutVars>
      </dgm:prSet>
      <dgm:spPr/>
    </dgm:pt>
    <dgm:pt modelId="{85483EFF-9DA0-46E7-9AAB-F48027FE7DA6}" type="pres">
      <dgm:prSet presAssocID="{761FD97E-677E-F043-BAF4-4A5A5FE9B3AE}" presName="sibTrans" presStyleLbl="sibTrans2D1" presStyleIdx="3" presStyleCnt="4"/>
      <dgm:spPr/>
    </dgm:pt>
    <dgm:pt modelId="{C8C8FA80-26BE-441F-B7DC-5A71A76C7278}" type="pres">
      <dgm:prSet presAssocID="{761FD97E-677E-F043-BAF4-4A5A5FE9B3AE}" presName="connectorText" presStyleLbl="sibTrans2D1" presStyleIdx="3" presStyleCnt="4"/>
      <dgm:spPr/>
    </dgm:pt>
    <dgm:pt modelId="{E4A440DD-667F-4A86-8005-831E4BBD7395}" type="pres">
      <dgm:prSet presAssocID="{559C6B93-C908-48A2-8BBA-B21C695E0430}" presName="node" presStyleLbl="node1" presStyleIdx="4" presStyleCnt="5">
        <dgm:presLayoutVars>
          <dgm:bulletEnabled val="1"/>
        </dgm:presLayoutVars>
      </dgm:prSet>
      <dgm:spPr/>
    </dgm:pt>
  </dgm:ptLst>
  <dgm:cxnLst>
    <dgm:cxn modelId="{D403FD12-06D3-41EF-A919-D59A83FF2864}" type="presOf" srcId="{761FD97E-677E-F043-BAF4-4A5A5FE9B3AE}" destId="{C8C8FA80-26BE-441F-B7DC-5A71A76C7278}" srcOrd="1" destOrd="0" presId="urn:microsoft.com/office/officeart/2005/8/layout/process1"/>
    <dgm:cxn modelId="{920FF01D-E823-8C4A-8C18-5501C6FE8493}" type="presOf" srcId="{10F7EB93-9E55-2040-8E9F-C72D8B4214AF}" destId="{E8EA05E3-7091-574F-A5BA-B58C0F43F37A}" srcOrd="0" destOrd="0" presId="urn:microsoft.com/office/officeart/2005/8/layout/process1"/>
    <dgm:cxn modelId="{40720231-E918-47D1-BDCF-368EFDAAC61B}" type="presOf" srcId="{761FD97E-677E-F043-BAF4-4A5A5FE9B3AE}" destId="{85483EFF-9DA0-46E7-9AAB-F48027FE7DA6}" srcOrd="0" destOrd="0" presId="urn:microsoft.com/office/officeart/2005/8/layout/process1"/>
    <dgm:cxn modelId="{C4D3E55C-86B9-7740-B4C1-F9C3483480F1}" type="presOf" srcId="{F4B5B791-08F4-104B-B099-AFB415DFA019}" destId="{9C012547-A66D-5041-89F4-9A439CABBD3B}" srcOrd="1" destOrd="0" presId="urn:microsoft.com/office/officeart/2005/8/layout/process1"/>
    <dgm:cxn modelId="{006D9060-A4D7-7E44-898E-E7467FE4BDDA}" srcId="{CC74E6BC-3E17-AC43-AAE6-4B1DBA6952DF}" destId="{E7E675D1-D0CA-9943-A93A-7E61EC20F825}" srcOrd="2" destOrd="0" parTransId="{5E5A24E2-4F9F-0243-B432-9F8273AFB278}" sibTransId="{F4B5B791-08F4-104B-B099-AFB415DFA019}"/>
    <dgm:cxn modelId="{1BEA4B64-8131-384F-AC7F-54A5D5DDA972}" type="presOf" srcId="{BA999C55-F93F-1145-981F-6EDA4A0D4721}" destId="{D4D8AD77-E8AE-DD49-8A98-0917D9B762DD}" srcOrd="0" destOrd="0" presId="urn:microsoft.com/office/officeart/2005/8/layout/process1"/>
    <dgm:cxn modelId="{E3719352-8236-6B49-A29B-78261FDB9A7F}" type="presOf" srcId="{A2B23F53-A323-3D4E-B77F-3171D924DAD9}" destId="{A123CC9C-5314-204F-87AD-7F48055B535E}" srcOrd="1" destOrd="0" presId="urn:microsoft.com/office/officeart/2005/8/layout/process1"/>
    <dgm:cxn modelId="{E2E34753-374D-0C48-AB07-3EA8D7EFAEDD}" type="presOf" srcId="{F4B5B791-08F4-104B-B099-AFB415DFA019}" destId="{44C6E477-7E93-9A4E-ACC6-4ADAAC1296D6}" srcOrd="0" destOrd="0" presId="urn:microsoft.com/office/officeart/2005/8/layout/process1"/>
    <dgm:cxn modelId="{4DC1A878-DB30-4ACE-8CCA-ADB680D5668D}" type="presOf" srcId="{559C6B93-C908-48A2-8BBA-B21C695E0430}" destId="{E4A440DD-667F-4A86-8005-831E4BBD7395}" srcOrd="0" destOrd="0" presId="urn:microsoft.com/office/officeart/2005/8/layout/process1"/>
    <dgm:cxn modelId="{7D5BCD82-9465-C549-8FB0-66805EDE114F}" srcId="{CC74E6BC-3E17-AC43-AAE6-4B1DBA6952DF}" destId="{4D75875C-E5F8-C046-9EE0-B75B5F5BB975}" srcOrd="0" destOrd="0" parTransId="{643DA25E-D589-364B-BE30-D798965663C1}" sibTransId="{A2B23F53-A323-3D4E-B77F-3171D924DAD9}"/>
    <dgm:cxn modelId="{C9FFA88F-C1B6-C348-AC33-1EED011015C3}" srcId="{CC74E6BC-3E17-AC43-AAE6-4B1DBA6952DF}" destId="{1ED251BB-7C29-FB42-A1E4-CC5302DA9F3C}" srcOrd="1" destOrd="0" parTransId="{CEDF8F68-EB92-9642-B8A4-7BD206973A94}" sibTransId="{BA999C55-F93F-1145-981F-6EDA4A0D4721}"/>
    <dgm:cxn modelId="{6A06DD8F-EDBB-B744-9191-99CEFAC39DAC}" type="presOf" srcId="{CC74E6BC-3E17-AC43-AAE6-4B1DBA6952DF}" destId="{E155D8B6-FAFA-FD42-8B0E-30DDDBA9B8CD}" srcOrd="0" destOrd="0" presId="urn:microsoft.com/office/officeart/2005/8/layout/process1"/>
    <dgm:cxn modelId="{13BF25A8-6892-F443-B2D9-863D61FA12A3}" type="presOf" srcId="{E7E675D1-D0CA-9943-A93A-7E61EC20F825}" destId="{B443C485-FFEC-9C4F-8667-7DFB467F1F6A}" srcOrd="0" destOrd="0" presId="urn:microsoft.com/office/officeart/2005/8/layout/process1"/>
    <dgm:cxn modelId="{2F8EEEB4-8813-6C4F-81AE-69984FD2949E}" type="presOf" srcId="{4D75875C-E5F8-C046-9EE0-B75B5F5BB975}" destId="{0026271B-BD5B-EA4F-A2D4-8362B70402E4}" srcOrd="0" destOrd="0" presId="urn:microsoft.com/office/officeart/2005/8/layout/process1"/>
    <dgm:cxn modelId="{898A67CC-19BD-C64A-AF51-BFF0847F2FF8}" srcId="{CC74E6BC-3E17-AC43-AAE6-4B1DBA6952DF}" destId="{10F7EB93-9E55-2040-8E9F-C72D8B4214AF}" srcOrd="3" destOrd="0" parTransId="{80C87C9C-514A-A145-95D0-14E9154681E1}" sibTransId="{761FD97E-677E-F043-BAF4-4A5A5FE9B3AE}"/>
    <dgm:cxn modelId="{623F85D3-AE25-4678-86CF-013602EBC1F6}" srcId="{CC74E6BC-3E17-AC43-AAE6-4B1DBA6952DF}" destId="{559C6B93-C908-48A2-8BBA-B21C695E0430}" srcOrd="4" destOrd="0" parTransId="{DE817CB1-67C9-439E-9ADA-9FC592E5180E}" sibTransId="{2A72A1E5-55FC-4670-938D-DE183FA1ADCC}"/>
    <dgm:cxn modelId="{39DCD4DE-CA8A-E844-8485-E9FF5EE386CB}" type="presOf" srcId="{A2B23F53-A323-3D4E-B77F-3171D924DAD9}" destId="{8E1A8173-E832-4D46-9752-C16D18393F2B}" srcOrd="0" destOrd="0" presId="urn:microsoft.com/office/officeart/2005/8/layout/process1"/>
    <dgm:cxn modelId="{46F8A4DF-ED4E-6548-8B4F-E9B58D456B26}" type="presOf" srcId="{BA999C55-F93F-1145-981F-6EDA4A0D4721}" destId="{F93661DD-F69A-F244-A952-0C7E046F3424}" srcOrd="1" destOrd="0" presId="urn:microsoft.com/office/officeart/2005/8/layout/process1"/>
    <dgm:cxn modelId="{7378CBE4-A947-824D-8038-D3A55DA6B7A9}" type="presOf" srcId="{1ED251BB-7C29-FB42-A1E4-CC5302DA9F3C}" destId="{3421F521-5EE9-BD4F-AC0A-7FC6AC4869DA}" srcOrd="0" destOrd="0" presId="urn:microsoft.com/office/officeart/2005/8/layout/process1"/>
    <dgm:cxn modelId="{959D8AA2-C14A-A746-8CF8-3540F84B245D}" type="presParOf" srcId="{E155D8B6-FAFA-FD42-8B0E-30DDDBA9B8CD}" destId="{0026271B-BD5B-EA4F-A2D4-8362B70402E4}" srcOrd="0" destOrd="0" presId="urn:microsoft.com/office/officeart/2005/8/layout/process1"/>
    <dgm:cxn modelId="{B2184070-A4A8-DE4D-B9EC-F166CA9B2F91}" type="presParOf" srcId="{E155D8B6-FAFA-FD42-8B0E-30DDDBA9B8CD}" destId="{8E1A8173-E832-4D46-9752-C16D18393F2B}" srcOrd="1" destOrd="0" presId="urn:microsoft.com/office/officeart/2005/8/layout/process1"/>
    <dgm:cxn modelId="{CDBF53BF-EAB8-DA48-B790-6398769C7C77}" type="presParOf" srcId="{8E1A8173-E832-4D46-9752-C16D18393F2B}" destId="{A123CC9C-5314-204F-87AD-7F48055B535E}" srcOrd="0" destOrd="0" presId="urn:microsoft.com/office/officeart/2005/8/layout/process1"/>
    <dgm:cxn modelId="{B8522D96-1143-8945-86D0-82DC65249C35}" type="presParOf" srcId="{E155D8B6-FAFA-FD42-8B0E-30DDDBA9B8CD}" destId="{3421F521-5EE9-BD4F-AC0A-7FC6AC4869DA}" srcOrd="2" destOrd="0" presId="urn:microsoft.com/office/officeart/2005/8/layout/process1"/>
    <dgm:cxn modelId="{80C0D644-9427-D048-895D-381D181BEC48}" type="presParOf" srcId="{E155D8B6-FAFA-FD42-8B0E-30DDDBA9B8CD}" destId="{D4D8AD77-E8AE-DD49-8A98-0917D9B762DD}" srcOrd="3" destOrd="0" presId="urn:microsoft.com/office/officeart/2005/8/layout/process1"/>
    <dgm:cxn modelId="{DB5E01E8-D1EB-5E4F-AD31-C092715C316D}" type="presParOf" srcId="{D4D8AD77-E8AE-DD49-8A98-0917D9B762DD}" destId="{F93661DD-F69A-F244-A952-0C7E046F3424}" srcOrd="0" destOrd="0" presId="urn:microsoft.com/office/officeart/2005/8/layout/process1"/>
    <dgm:cxn modelId="{710E7320-B15C-AF47-94E9-74558EA77A6B}" type="presParOf" srcId="{E155D8B6-FAFA-FD42-8B0E-30DDDBA9B8CD}" destId="{B443C485-FFEC-9C4F-8667-7DFB467F1F6A}" srcOrd="4" destOrd="0" presId="urn:microsoft.com/office/officeart/2005/8/layout/process1"/>
    <dgm:cxn modelId="{C7421C14-B60F-7E48-A8C9-CEDA7812D0B7}" type="presParOf" srcId="{E155D8B6-FAFA-FD42-8B0E-30DDDBA9B8CD}" destId="{44C6E477-7E93-9A4E-ACC6-4ADAAC1296D6}" srcOrd="5" destOrd="0" presId="urn:microsoft.com/office/officeart/2005/8/layout/process1"/>
    <dgm:cxn modelId="{F71FA308-6AB7-F845-B321-2B2C13B754F2}" type="presParOf" srcId="{44C6E477-7E93-9A4E-ACC6-4ADAAC1296D6}" destId="{9C012547-A66D-5041-89F4-9A439CABBD3B}" srcOrd="0" destOrd="0" presId="urn:microsoft.com/office/officeart/2005/8/layout/process1"/>
    <dgm:cxn modelId="{F0AA7BD4-7B41-DD49-8E17-4AB830CB1F03}" type="presParOf" srcId="{E155D8B6-FAFA-FD42-8B0E-30DDDBA9B8CD}" destId="{E8EA05E3-7091-574F-A5BA-B58C0F43F37A}" srcOrd="6" destOrd="0" presId="urn:microsoft.com/office/officeart/2005/8/layout/process1"/>
    <dgm:cxn modelId="{5ED7D450-71D2-4E9C-A581-7505216BCBD1}" type="presParOf" srcId="{E155D8B6-FAFA-FD42-8B0E-30DDDBA9B8CD}" destId="{85483EFF-9DA0-46E7-9AAB-F48027FE7DA6}" srcOrd="7" destOrd="0" presId="urn:microsoft.com/office/officeart/2005/8/layout/process1"/>
    <dgm:cxn modelId="{83981F1B-2750-41FB-B6C5-F709809EA0FA}" type="presParOf" srcId="{85483EFF-9DA0-46E7-9AAB-F48027FE7DA6}" destId="{C8C8FA80-26BE-441F-B7DC-5A71A76C7278}" srcOrd="0" destOrd="0" presId="urn:microsoft.com/office/officeart/2005/8/layout/process1"/>
    <dgm:cxn modelId="{80110999-1DCA-4455-99B3-8DBBBF2FDF1C}" type="presParOf" srcId="{E155D8B6-FAFA-FD42-8B0E-30DDDBA9B8CD}" destId="{E4A440DD-667F-4A86-8005-831E4BBD7395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74E6BC-3E17-AC43-AAE6-4B1DBA6952DF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4D75875C-E5F8-C046-9EE0-B75B5F5BB975}">
      <dgm:prSet custT="1"/>
      <dgm:spPr/>
      <dgm:t>
        <a:bodyPr/>
        <a:lstStyle/>
        <a:p>
          <a:r>
            <a:rPr lang="en-US" sz="2000" dirty="0"/>
            <a:t>Word vectors &amp; task-specific architectures (word2vec)</a:t>
          </a:r>
        </a:p>
      </dgm:t>
    </dgm:pt>
    <dgm:pt modelId="{643DA25E-D589-364B-BE30-D798965663C1}" type="parTrans" cxnId="{7D5BCD82-9465-C549-8FB0-66805EDE114F}">
      <dgm:prSet/>
      <dgm:spPr/>
      <dgm:t>
        <a:bodyPr/>
        <a:lstStyle/>
        <a:p>
          <a:endParaRPr lang="en-US" sz="2400"/>
        </a:p>
      </dgm:t>
    </dgm:pt>
    <dgm:pt modelId="{A2B23F53-A323-3D4E-B77F-3171D924DAD9}" type="sibTrans" cxnId="{7D5BCD82-9465-C549-8FB0-66805EDE114F}">
      <dgm:prSet custT="1"/>
      <dgm:spPr/>
      <dgm:t>
        <a:bodyPr/>
        <a:lstStyle/>
        <a:p>
          <a:endParaRPr lang="en-US" sz="1800"/>
        </a:p>
      </dgm:t>
    </dgm:pt>
    <dgm:pt modelId="{1ED251BB-7C29-FB42-A1E4-CC5302DA9F3C}">
      <dgm:prSet custT="1"/>
      <dgm:spPr/>
      <dgm:t>
        <a:bodyPr/>
        <a:lstStyle/>
        <a:p>
          <a:pPr algn="ctr"/>
          <a:r>
            <a:rPr lang="en-US" sz="2000" dirty="0"/>
            <a:t>Pre-train &amp; fine-tune (BERT) </a:t>
          </a:r>
        </a:p>
      </dgm:t>
    </dgm:pt>
    <dgm:pt modelId="{CEDF8F68-EB92-9642-B8A4-7BD206973A94}" type="parTrans" cxnId="{C9FFA88F-C1B6-C348-AC33-1EED011015C3}">
      <dgm:prSet/>
      <dgm:spPr/>
      <dgm:t>
        <a:bodyPr/>
        <a:lstStyle/>
        <a:p>
          <a:endParaRPr lang="en-US" sz="2400"/>
        </a:p>
      </dgm:t>
    </dgm:pt>
    <dgm:pt modelId="{BA999C55-F93F-1145-981F-6EDA4A0D4721}" type="sibTrans" cxnId="{C9FFA88F-C1B6-C348-AC33-1EED011015C3}">
      <dgm:prSet custT="1"/>
      <dgm:spPr/>
      <dgm:t>
        <a:bodyPr/>
        <a:lstStyle/>
        <a:p>
          <a:endParaRPr lang="en-US" sz="1800"/>
        </a:p>
      </dgm:t>
    </dgm:pt>
    <dgm:pt modelId="{E7E675D1-D0CA-9943-A93A-7E61EC20F825}">
      <dgm:prSet custT="1"/>
      <dgm:spPr/>
      <dgm:t>
        <a:bodyPr/>
        <a:lstStyle/>
        <a:p>
          <a:r>
            <a:rPr lang="en-US" sz="2000" dirty="0"/>
            <a:t>LLMs &amp; in-context learning (GPT3)</a:t>
          </a:r>
        </a:p>
      </dgm:t>
    </dgm:pt>
    <dgm:pt modelId="{5E5A24E2-4F9F-0243-B432-9F8273AFB278}" type="parTrans" cxnId="{006D9060-A4D7-7E44-898E-E7467FE4BDDA}">
      <dgm:prSet/>
      <dgm:spPr/>
      <dgm:t>
        <a:bodyPr/>
        <a:lstStyle/>
        <a:p>
          <a:endParaRPr lang="en-US" sz="2400"/>
        </a:p>
      </dgm:t>
    </dgm:pt>
    <dgm:pt modelId="{F4B5B791-08F4-104B-B099-AFB415DFA019}" type="sibTrans" cxnId="{006D9060-A4D7-7E44-898E-E7467FE4BDDA}">
      <dgm:prSet custT="1"/>
      <dgm:spPr/>
      <dgm:t>
        <a:bodyPr/>
        <a:lstStyle/>
        <a:p>
          <a:endParaRPr lang="en-US" sz="1800"/>
        </a:p>
      </dgm:t>
    </dgm:pt>
    <dgm:pt modelId="{10F7EB93-9E55-2040-8E9F-C72D8B4214AF}">
      <dgm:prSet custT="1"/>
      <dgm:spPr/>
      <dgm:t>
        <a:bodyPr/>
        <a:lstStyle/>
        <a:p>
          <a:r>
            <a:rPr lang="en-US" sz="2000" dirty="0"/>
            <a:t>Instruction tuning &amp; RLHF (</a:t>
          </a:r>
          <a:r>
            <a:rPr lang="en-US" sz="2000" dirty="0" err="1"/>
            <a:t>ChatGPT</a:t>
          </a:r>
          <a:r>
            <a:rPr lang="en-US" sz="2000" dirty="0"/>
            <a:t>)</a:t>
          </a:r>
        </a:p>
      </dgm:t>
    </dgm:pt>
    <dgm:pt modelId="{80C87C9C-514A-A145-95D0-14E9154681E1}" type="parTrans" cxnId="{898A67CC-19BD-C64A-AF51-BFF0847F2FF8}">
      <dgm:prSet/>
      <dgm:spPr/>
      <dgm:t>
        <a:bodyPr/>
        <a:lstStyle/>
        <a:p>
          <a:endParaRPr lang="en-US" sz="2400"/>
        </a:p>
      </dgm:t>
    </dgm:pt>
    <dgm:pt modelId="{761FD97E-677E-F043-BAF4-4A5A5FE9B3AE}" type="sibTrans" cxnId="{898A67CC-19BD-C64A-AF51-BFF0847F2FF8}">
      <dgm:prSet/>
      <dgm:spPr/>
      <dgm:t>
        <a:bodyPr/>
        <a:lstStyle/>
        <a:p>
          <a:endParaRPr lang="en-US" sz="2400"/>
        </a:p>
      </dgm:t>
    </dgm:pt>
    <dgm:pt modelId="{559C6B93-C908-48A2-8BBA-B21C695E0430}">
      <dgm:prSet custT="1"/>
      <dgm:spPr/>
      <dgm:t>
        <a:bodyPr/>
        <a:lstStyle/>
        <a:p>
          <a:r>
            <a:rPr lang="en-US" sz="2000" dirty="0"/>
            <a:t>RL post-training (O1 &amp; </a:t>
          </a:r>
          <a:r>
            <a:rPr lang="en-US" sz="2000" dirty="0" err="1"/>
            <a:t>Deepseek</a:t>
          </a:r>
          <a:r>
            <a:rPr lang="en-US" sz="2000" dirty="0"/>
            <a:t> R1)</a:t>
          </a:r>
        </a:p>
      </dgm:t>
    </dgm:pt>
    <dgm:pt modelId="{DE817CB1-67C9-439E-9ADA-9FC592E5180E}" type="parTrans" cxnId="{623F85D3-AE25-4678-86CF-013602EBC1F6}">
      <dgm:prSet/>
      <dgm:spPr/>
      <dgm:t>
        <a:bodyPr/>
        <a:lstStyle/>
        <a:p>
          <a:endParaRPr lang="en-US"/>
        </a:p>
      </dgm:t>
    </dgm:pt>
    <dgm:pt modelId="{2A72A1E5-55FC-4670-938D-DE183FA1ADCC}" type="sibTrans" cxnId="{623F85D3-AE25-4678-86CF-013602EBC1F6}">
      <dgm:prSet/>
      <dgm:spPr/>
      <dgm:t>
        <a:bodyPr/>
        <a:lstStyle/>
        <a:p>
          <a:endParaRPr lang="en-US"/>
        </a:p>
      </dgm:t>
    </dgm:pt>
    <dgm:pt modelId="{E155D8B6-FAFA-FD42-8B0E-30DDDBA9B8CD}" type="pres">
      <dgm:prSet presAssocID="{CC74E6BC-3E17-AC43-AAE6-4B1DBA6952DF}" presName="Name0" presStyleCnt="0">
        <dgm:presLayoutVars>
          <dgm:dir/>
          <dgm:resizeHandles val="exact"/>
        </dgm:presLayoutVars>
      </dgm:prSet>
      <dgm:spPr/>
    </dgm:pt>
    <dgm:pt modelId="{0026271B-BD5B-EA4F-A2D4-8362B70402E4}" type="pres">
      <dgm:prSet presAssocID="{4D75875C-E5F8-C046-9EE0-B75B5F5BB975}" presName="node" presStyleLbl="node1" presStyleIdx="0" presStyleCnt="5" custScaleX="122603" custScaleY="106949">
        <dgm:presLayoutVars>
          <dgm:bulletEnabled val="1"/>
        </dgm:presLayoutVars>
      </dgm:prSet>
      <dgm:spPr/>
    </dgm:pt>
    <dgm:pt modelId="{8E1A8173-E832-4D46-9752-C16D18393F2B}" type="pres">
      <dgm:prSet presAssocID="{A2B23F53-A323-3D4E-B77F-3171D924DAD9}" presName="sibTrans" presStyleLbl="sibTrans2D1" presStyleIdx="0" presStyleCnt="4"/>
      <dgm:spPr/>
    </dgm:pt>
    <dgm:pt modelId="{A123CC9C-5314-204F-87AD-7F48055B535E}" type="pres">
      <dgm:prSet presAssocID="{A2B23F53-A323-3D4E-B77F-3171D924DAD9}" presName="connectorText" presStyleLbl="sibTrans2D1" presStyleIdx="0" presStyleCnt="4"/>
      <dgm:spPr/>
    </dgm:pt>
    <dgm:pt modelId="{3421F521-5EE9-BD4F-AC0A-7FC6AC4869DA}" type="pres">
      <dgm:prSet presAssocID="{1ED251BB-7C29-FB42-A1E4-CC5302DA9F3C}" presName="node" presStyleLbl="node1" presStyleIdx="1" presStyleCnt="5" custScaleX="113609" custScaleY="99822">
        <dgm:presLayoutVars>
          <dgm:bulletEnabled val="1"/>
        </dgm:presLayoutVars>
      </dgm:prSet>
      <dgm:spPr/>
    </dgm:pt>
    <dgm:pt modelId="{D4D8AD77-E8AE-DD49-8A98-0917D9B762DD}" type="pres">
      <dgm:prSet presAssocID="{BA999C55-F93F-1145-981F-6EDA4A0D4721}" presName="sibTrans" presStyleLbl="sibTrans2D1" presStyleIdx="1" presStyleCnt="4"/>
      <dgm:spPr/>
    </dgm:pt>
    <dgm:pt modelId="{F93661DD-F69A-F244-A952-0C7E046F3424}" type="pres">
      <dgm:prSet presAssocID="{BA999C55-F93F-1145-981F-6EDA4A0D4721}" presName="connectorText" presStyleLbl="sibTrans2D1" presStyleIdx="1" presStyleCnt="4"/>
      <dgm:spPr/>
    </dgm:pt>
    <dgm:pt modelId="{B443C485-FFEC-9C4F-8667-7DFB467F1F6A}" type="pres">
      <dgm:prSet presAssocID="{E7E675D1-D0CA-9943-A93A-7E61EC20F825}" presName="node" presStyleLbl="node1" presStyleIdx="2" presStyleCnt="5">
        <dgm:presLayoutVars>
          <dgm:bulletEnabled val="1"/>
        </dgm:presLayoutVars>
      </dgm:prSet>
      <dgm:spPr/>
    </dgm:pt>
    <dgm:pt modelId="{44C6E477-7E93-9A4E-ACC6-4ADAAC1296D6}" type="pres">
      <dgm:prSet presAssocID="{F4B5B791-08F4-104B-B099-AFB415DFA019}" presName="sibTrans" presStyleLbl="sibTrans2D1" presStyleIdx="2" presStyleCnt="4"/>
      <dgm:spPr/>
    </dgm:pt>
    <dgm:pt modelId="{9C012547-A66D-5041-89F4-9A439CABBD3B}" type="pres">
      <dgm:prSet presAssocID="{F4B5B791-08F4-104B-B099-AFB415DFA019}" presName="connectorText" presStyleLbl="sibTrans2D1" presStyleIdx="2" presStyleCnt="4"/>
      <dgm:spPr/>
    </dgm:pt>
    <dgm:pt modelId="{E8EA05E3-7091-574F-A5BA-B58C0F43F37A}" type="pres">
      <dgm:prSet presAssocID="{10F7EB93-9E55-2040-8E9F-C72D8B4214AF}" presName="node" presStyleLbl="node1" presStyleIdx="3" presStyleCnt="5">
        <dgm:presLayoutVars>
          <dgm:bulletEnabled val="1"/>
        </dgm:presLayoutVars>
      </dgm:prSet>
      <dgm:spPr/>
    </dgm:pt>
    <dgm:pt modelId="{85483EFF-9DA0-46E7-9AAB-F48027FE7DA6}" type="pres">
      <dgm:prSet presAssocID="{761FD97E-677E-F043-BAF4-4A5A5FE9B3AE}" presName="sibTrans" presStyleLbl="sibTrans2D1" presStyleIdx="3" presStyleCnt="4"/>
      <dgm:spPr/>
    </dgm:pt>
    <dgm:pt modelId="{C8C8FA80-26BE-441F-B7DC-5A71A76C7278}" type="pres">
      <dgm:prSet presAssocID="{761FD97E-677E-F043-BAF4-4A5A5FE9B3AE}" presName="connectorText" presStyleLbl="sibTrans2D1" presStyleIdx="3" presStyleCnt="4"/>
      <dgm:spPr/>
    </dgm:pt>
    <dgm:pt modelId="{E4A440DD-667F-4A86-8005-831E4BBD7395}" type="pres">
      <dgm:prSet presAssocID="{559C6B93-C908-48A2-8BBA-B21C695E0430}" presName="node" presStyleLbl="node1" presStyleIdx="4" presStyleCnt="5">
        <dgm:presLayoutVars>
          <dgm:bulletEnabled val="1"/>
        </dgm:presLayoutVars>
      </dgm:prSet>
      <dgm:spPr/>
    </dgm:pt>
  </dgm:ptLst>
  <dgm:cxnLst>
    <dgm:cxn modelId="{D403FD12-06D3-41EF-A919-D59A83FF2864}" type="presOf" srcId="{761FD97E-677E-F043-BAF4-4A5A5FE9B3AE}" destId="{C8C8FA80-26BE-441F-B7DC-5A71A76C7278}" srcOrd="1" destOrd="0" presId="urn:microsoft.com/office/officeart/2005/8/layout/process1"/>
    <dgm:cxn modelId="{920FF01D-E823-8C4A-8C18-5501C6FE8493}" type="presOf" srcId="{10F7EB93-9E55-2040-8E9F-C72D8B4214AF}" destId="{E8EA05E3-7091-574F-A5BA-B58C0F43F37A}" srcOrd="0" destOrd="0" presId="urn:microsoft.com/office/officeart/2005/8/layout/process1"/>
    <dgm:cxn modelId="{40720231-E918-47D1-BDCF-368EFDAAC61B}" type="presOf" srcId="{761FD97E-677E-F043-BAF4-4A5A5FE9B3AE}" destId="{85483EFF-9DA0-46E7-9AAB-F48027FE7DA6}" srcOrd="0" destOrd="0" presId="urn:microsoft.com/office/officeart/2005/8/layout/process1"/>
    <dgm:cxn modelId="{C4D3E55C-86B9-7740-B4C1-F9C3483480F1}" type="presOf" srcId="{F4B5B791-08F4-104B-B099-AFB415DFA019}" destId="{9C012547-A66D-5041-89F4-9A439CABBD3B}" srcOrd="1" destOrd="0" presId="urn:microsoft.com/office/officeart/2005/8/layout/process1"/>
    <dgm:cxn modelId="{006D9060-A4D7-7E44-898E-E7467FE4BDDA}" srcId="{CC74E6BC-3E17-AC43-AAE6-4B1DBA6952DF}" destId="{E7E675D1-D0CA-9943-A93A-7E61EC20F825}" srcOrd="2" destOrd="0" parTransId="{5E5A24E2-4F9F-0243-B432-9F8273AFB278}" sibTransId="{F4B5B791-08F4-104B-B099-AFB415DFA019}"/>
    <dgm:cxn modelId="{1BEA4B64-8131-384F-AC7F-54A5D5DDA972}" type="presOf" srcId="{BA999C55-F93F-1145-981F-6EDA4A0D4721}" destId="{D4D8AD77-E8AE-DD49-8A98-0917D9B762DD}" srcOrd="0" destOrd="0" presId="urn:microsoft.com/office/officeart/2005/8/layout/process1"/>
    <dgm:cxn modelId="{E3719352-8236-6B49-A29B-78261FDB9A7F}" type="presOf" srcId="{A2B23F53-A323-3D4E-B77F-3171D924DAD9}" destId="{A123CC9C-5314-204F-87AD-7F48055B535E}" srcOrd="1" destOrd="0" presId="urn:microsoft.com/office/officeart/2005/8/layout/process1"/>
    <dgm:cxn modelId="{E2E34753-374D-0C48-AB07-3EA8D7EFAEDD}" type="presOf" srcId="{F4B5B791-08F4-104B-B099-AFB415DFA019}" destId="{44C6E477-7E93-9A4E-ACC6-4ADAAC1296D6}" srcOrd="0" destOrd="0" presId="urn:microsoft.com/office/officeart/2005/8/layout/process1"/>
    <dgm:cxn modelId="{4DC1A878-DB30-4ACE-8CCA-ADB680D5668D}" type="presOf" srcId="{559C6B93-C908-48A2-8BBA-B21C695E0430}" destId="{E4A440DD-667F-4A86-8005-831E4BBD7395}" srcOrd="0" destOrd="0" presId="urn:microsoft.com/office/officeart/2005/8/layout/process1"/>
    <dgm:cxn modelId="{7D5BCD82-9465-C549-8FB0-66805EDE114F}" srcId="{CC74E6BC-3E17-AC43-AAE6-4B1DBA6952DF}" destId="{4D75875C-E5F8-C046-9EE0-B75B5F5BB975}" srcOrd="0" destOrd="0" parTransId="{643DA25E-D589-364B-BE30-D798965663C1}" sibTransId="{A2B23F53-A323-3D4E-B77F-3171D924DAD9}"/>
    <dgm:cxn modelId="{C9FFA88F-C1B6-C348-AC33-1EED011015C3}" srcId="{CC74E6BC-3E17-AC43-AAE6-4B1DBA6952DF}" destId="{1ED251BB-7C29-FB42-A1E4-CC5302DA9F3C}" srcOrd="1" destOrd="0" parTransId="{CEDF8F68-EB92-9642-B8A4-7BD206973A94}" sibTransId="{BA999C55-F93F-1145-981F-6EDA4A0D4721}"/>
    <dgm:cxn modelId="{6A06DD8F-EDBB-B744-9191-99CEFAC39DAC}" type="presOf" srcId="{CC74E6BC-3E17-AC43-AAE6-4B1DBA6952DF}" destId="{E155D8B6-FAFA-FD42-8B0E-30DDDBA9B8CD}" srcOrd="0" destOrd="0" presId="urn:microsoft.com/office/officeart/2005/8/layout/process1"/>
    <dgm:cxn modelId="{13BF25A8-6892-F443-B2D9-863D61FA12A3}" type="presOf" srcId="{E7E675D1-D0CA-9943-A93A-7E61EC20F825}" destId="{B443C485-FFEC-9C4F-8667-7DFB467F1F6A}" srcOrd="0" destOrd="0" presId="urn:microsoft.com/office/officeart/2005/8/layout/process1"/>
    <dgm:cxn modelId="{2F8EEEB4-8813-6C4F-81AE-69984FD2949E}" type="presOf" srcId="{4D75875C-E5F8-C046-9EE0-B75B5F5BB975}" destId="{0026271B-BD5B-EA4F-A2D4-8362B70402E4}" srcOrd="0" destOrd="0" presId="urn:microsoft.com/office/officeart/2005/8/layout/process1"/>
    <dgm:cxn modelId="{898A67CC-19BD-C64A-AF51-BFF0847F2FF8}" srcId="{CC74E6BC-3E17-AC43-AAE6-4B1DBA6952DF}" destId="{10F7EB93-9E55-2040-8E9F-C72D8B4214AF}" srcOrd="3" destOrd="0" parTransId="{80C87C9C-514A-A145-95D0-14E9154681E1}" sibTransId="{761FD97E-677E-F043-BAF4-4A5A5FE9B3AE}"/>
    <dgm:cxn modelId="{623F85D3-AE25-4678-86CF-013602EBC1F6}" srcId="{CC74E6BC-3E17-AC43-AAE6-4B1DBA6952DF}" destId="{559C6B93-C908-48A2-8BBA-B21C695E0430}" srcOrd="4" destOrd="0" parTransId="{DE817CB1-67C9-439E-9ADA-9FC592E5180E}" sibTransId="{2A72A1E5-55FC-4670-938D-DE183FA1ADCC}"/>
    <dgm:cxn modelId="{39DCD4DE-CA8A-E844-8485-E9FF5EE386CB}" type="presOf" srcId="{A2B23F53-A323-3D4E-B77F-3171D924DAD9}" destId="{8E1A8173-E832-4D46-9752-C16D18393F2B}" srcOrd="0" destOrd="0" presId="urn:microsoft.com/office/officeart/2005/8/layout/process1"/>
    <dgm:cxn modelId="{46F8A4DF-ED4E-6548-8B4F-E9B58D456B26}" type="presOf" srcId="{BA999C55-F93F-1145-981F-6EDA4A0D4721}" destId="{F93661DD-F69A-F244-A952-0C7E046F3424}" srcOrd="1" destOrd="0" presId="urn:microsoft.com/office/officeart/2005/8/layout/process1"/>
    <dgm:cxn modelId="{7378CBE4-A947-824D-8038-D3A55DA6B7A9}" type="presOf" srcId="{1ED251BB-7C29-FB42-A1E4-CC5302DA9F3C}" destId="{3421F521-5EE9-BD4F-AC0A-7FC6AC4869DA}" srcOrd="0" destOrd="0" presId="urn:microsoft.com/office/officeart/2005/8/layout/process1"/>
    <dgm:cxn modelId="{959D8AA2-C14A-A746-8CF8-3540F84B245D}" type="presParOf" srcId="{E155D8B6-FAFA-FD42-8B0E-30DDDBA9B8CD}" destId="{0026271B-BD5B-EA4F-A2D4-8362B70402E4}" srcOrd="0" destOrd="0" presId="urn:microsoft.com/office/officeart/2005/8/layout/process1"/>
    <dgm:cxn modelId="{B2184070-A4A8-DE4D-B9EC-F166CA9B2F91}" type="presParOf" srcId="{E155D8B6-FAFA-FD42-8B0E-30DDDBA9B8CD}" destId="{8E1A8173-E832-4D46-9752-C16D18393F2B}" srcOrd="1" destOrd="0" presId="urn:microsoft.com/office/officeart/2005/8/layout/process1"/>
    <dgm:cxn modelId="{CDBF53BF-EAB8-DA48-B790-6398769C7C77}" type="presParOf" srcId="{8E1A8173-E832-4D46-9752-C16D18393F2B}" destId="{A123CC9C-5314-204F-87AD-7F48055B535E}" srcOrd="0" destOrd="0" presId="urn:microsoft.com/office/officeart/2005/8/layout/process1"/>
    <dgm:cxn modelId="{B8522D96-1143-8945-86D0-82DC65249C35}" type="presParOf" srcId="{E155D8B6-FAFA-FD42-8B0E-30DDDBA9B8CD}" destId="{3421F521-5EE9-BD4F-AC0A-7FC6AC4869DA}" srcOrd="2" destOrd="0" presId="urn:microsoft.com/office/officeart/2005/8/layout/process1"/>
    <dgm:cxn modelId="{80C0D644-9427-D048-895D-381D181BEC48}" type="presParOf" srcId="{E155D8B6-FAFA-FD42-8B0E-30DDDBA9B8CD}" destId="{D4D8AD77-E8AE-DD49-8A98-0917D9B762DD}" srcOrd="3" destOrd="0" presId="urn:microsoft.com/office/officeart/2005/8/layout/process1"/>
    <dgm:cxn modelId="{DB5E01E8-D1EB-5E4F-AD31-C092715C316D}" type="presParOf" srcId="{D4D8AD77-E8AE-DD49-8A98-0917D9B762DD}" destId="{F93661DD-F69A-F244-A952-0C7E046F3424}" srcOrd="0" destOrd="0" presId="urn:microsoft.com/office/officeart/2005/8/layout/process1"/>
    <dgm:cxn modelId="{710E7320-B15C-AF47-94E9-74558EA77A6B}" type="presParOf" srcId="{E155D8B6-FAFA-FD42-8B0E-30DDDBA9B8CD}" destId="{B443C485-FFEC-9C4F-8667-7DFB467F1F6A}" srcOrd="4" destOrd="0" presId="urn:microsoft.com/office/officeart/2005/8/layout/process1"/>
    <dgm:cxn modelId="{C7421C14-B60F-7E48-A8C9-CEDA7812D0B7}" type="presParOf" srcId="{E155D8B6-FAFA-FD42-8B0E-30DDDBA9B8CD}" destId="{44C6E477-7E93-9A4E-ACC6-4ADAAC1296D6}" srcOrd="5" destOrd="0" presId="urn:microsoft.com/office/officeart/2005/8/layout/process1"/>
    <dgm:cxn modelId="{F71FA308-6AB7-F845-B321-2B2C13B754F2}" type="presParOf" srcId="{44C6E477-7E93-9A4E-ACC6-4ADAAC1296D6}" destId="{9C012547-A66D-5041-89F4-9A439CABBD3B}" srcOrd="0" destOrd="0" presId="urn:microsoft.com/office/officeart/2005/8/layout/process1"/>
    <dgm:cxn modelId="{F0AA7BD4-7B41-DD49-8E17-4AB830CB1F03}" type="presParOf" srcId="{E155D8B6-FAFA-FD42-8B0E-30DDDBA9B8CD}" destId="{E8EA05E3-7091-574F-A5BA-B58C0F43F37A}" srcOrd="6" destOrd="0" presId="urn:microsoft.com/office/officeart/2005/8/layout/process1"/>
    <dgm:cxn modelId="{5ED7D450-71D2-4E9C-A581-7505216BCBD1}" type="presParOf" srcId="{E155D8B6-FAFA-FD42-8B0E-30DDDBA9B8CD}" destId="{85483EFF-9DA0-46E7-9AAB-F48027FE7DA6}" srcOrd="7" destOrd="0" presId="urn:microsoft.com/office/officeart/2005/8/layout/process1"/>
    <dgm:cxn modelId="{83981F1B-2750-41FB-B6C5-F709809EA0FA}" type="presParOf" srcId="{85483EFF-9DA0-46E7-9AAB-F48027FE7DA6}" destId="{C8C8FA80-26BE-441F-B7DC-5A71A76C7278}" srcOrd="0" destOrd="0" presId="urn:microsoft.com/office/officeart/2005/8/layout/process1"/>
    <dgm:cxn modelId="{80110999-1DCA-4455-99B3-8DBBBF2FDF1C}" type="presParOf" srcId="{E155D8B6-FAFA-FD42-8B0E-30DDDBA9B8CD}" destId="{E4A440DD-667F-4A86-8005-831E4BBD7395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C74E6BC-3E17-AC43-AAE6-4B1DBA6952DF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4D75875C-E5F8-C046-9EE0-B75B5F5BB975}">
      <dgm:prSet custT="1"/>
      <dgm:spPr/>
      <dgm:t>
        <a:bodyPr/>
        <a:lstStyle/>
        <a:p>
          <a:r>
            <a:rPr lang="en-US" sz="2000" dirty="0"/>
            <a:t>Word vectors &amp; task-specific architectures (word2vec)</a:t>
          </a:r>
        </a:p>
      </dgm:t>
    </dgm:pt>
    <dgm:pt modelId="{643DA25E-D589-364B-BE30-D798965663C1}" type="parTrans" cxnId="{7D5BCD82-9465-C549-8FB0-66805EDE114F}">
      <dgm:prSet/>
      <dgm:spPr/>
      <dgm:t>
        <a:bodyPr/>
        <a:lstStyle/>
        <a:p>
          <a:endParaRPr lang="en-US" sz="2400"/>
        </a:p>
      </dgm:t>
    </dgm:pt>
    <dgm:pt modelId="{A2B23F53-A323-3D4E-B77F-3171D924DAD9}" type="sibTrans" cxnId="{7D5BCD82-9465-C549-8FB0-66805EDE114F}">
      <dgm:prSet custT="1"/>
      <dgm:spPr/>
      <dgm:t>
        <a:bodyPr/>
        <a:lstStyle/>
        <a:p>
          <a:endParaRPr lang="en-US" sz="1800"/>
        </a:p>
      </dgm:t>
    </dgm:pt>
    <dgm:pt modelId="{1ED251BB-7C29-FB42-A1E4-CC5302DA9F3C}">
      <dgm:prSet custT="1"/>
      <dgm:spPr/>
      <dgm:t>
        <a:bodyPr/>
        <a:lstStyle/>
        <a:p>
          <a:pPr algn="ctr"/>
          <a:r>
            <a:rPr lang="en-US" sz="2000" dirty="0">
              <a:solidFill>
                <a:srgbClr val="C00000"/>
              </a:solidFill>
            </a:rPr>
            <a:t>Pre-train &amp; fine-tune (BERT) </a:t>
          </a:r>
        </a:p>
      </dgm:t>
    </dgm:pt>
    <dgm:pt modelId="{CEDF8F68-EB92-9642-B8A4-7BD206973A94}" type="parTrans" cxnId="{C9FFA88F-C1B6-C348-AC33-1EED011015C3}">
      <dgm:prSet/>
      <dgm:spPr/>
      <dgm:t>
        <a:bodyPr/>
        <a:lstStyle/>
        <a:p>
          <a:endParaRPr lang="en-US" sz="2400"/>
        </a:p>
      </dgm:t>
    </dgm:pt>
    <dgm:pt modelId="{BA999C55-F93F-1145-981F-6EDA4A0D4721}" type="sibTrans" cxnId="{C9FFA88F-C1B6-C348-AC33-1EED011015C3}">
      <dgm:prSet custT="1"/>
      <dgm:spPr/>
      <dgm:t>
        <a:bodyPr/>
        <a:lstStyle/>
        <a:p>
          <a:endParaRPr lang="en-US" sz="1800"/>
        </a:p>
      </dgm:t>
    </dgm:pt>
    <dgm:pt modelId="{E7E675D1-D0CA-9943-A93A-7E61EC20F825}">
      <dgm:prSet custT="1"/>
      <dgm:spPr/>
      <dgm:t>
        <a:bodyPr/>
        <a:lstStyle/>
        <a:p>
          <a:r>
            <a:rPr lang="en-US" sz="2000" dirty="0">
              <a:solidFill>
                <a:schemeClr val="tx1"/>
              </a:solidFill>
            </a:rPr>
            <a:t>LLMs &amp; in-context learning (GPT3)</a:t>
          </a:r>
        </a:p>
      </dgm:t>
    </dgm:pt>
    <dgm:pt modelId="{5E5A24E2-4F9F-0243-B432-9F8273AFB278}" type="parTrans" cxnId="{006D9060-A4D7-7E44-898E-E7467FE4BDDA}">
      <dgm:prSet/>
      <dgm:spPr/>
      <dgm:t>
        <a:bodyPr/>
        <a:lstStyle/>
        <a:p>
          <a:endParaRPr lang="en-US" sz="2400"/>
        </a:p>
      </dgm:t>
    </dgm:pt>
    <dgm:pt modelId="{F4B5B791-08F4-104B-B099-AFB415DFA019}" type="sibTrans" cxnId="{006D9060-A4D7-7E44-898E-E7467FE4BDDA}">
      <dgm:prSet custT="1"/>
      <dgm:spPr/>
      <dgm:t>
        <a:bodyPr/>
        <a:lstStyle/>
        <a:p>
          <a:endParaRPr lang="en-US" sz="1800"/>
        </a:p>
      </dgm:t>
    </dgm:pt>
    <dgm:pt modelId="{10F7EB93-9E55-2040-8E9F-C72D8B4214AF}">
      <dgm:prSet custT="1"/>
      <dgm:spPr/>
      <dgm:t>
        <a:bodyPr/>
        <a:lstStyle/>
        <a:p>
          <a:r>
            <a:rPr lang="en-US" sz="2000" dirty="0"/>
            <a:t>Instruction tuning &amp; RLHF (</a:t>
          </a:r>
          <a:r>
            <a:rPr lang="en-US" sz="2000" dirty="0" err="1"/>
            <a:t>ChatGPT</a:t>
          </a:r>
          <a:r>
            <a:rPr lang="en-US" sz="2000" dirty="0"/>
            <a:t>)</a:t>
          </a:r>
        </a:p>
      </dgm:t>
    </dgm:pt>
    <dgm:pt modelId="{80C87C9C-514A-A145-95D0-14E9154681E1}" type="parTrans" cxnId="{898A67CC-19BD-C64A-AF51-BFF0847F2FF8}">
      <dgm:prSet/>
      <dgm:spPr/>
      <dgm:t>
        <a:bodyPr/>
        <a:lstStyle/>
        <a:p>
          <a:endParaRPr lang="en-US" sz="2400"/>
        </a:p>
      </dgm:t>
    </dgm:pt>
    <dgm:pt modelId="{761FD97E-677E-F043-BAF4-4A5A5FE9B3AE}" type="sibTrans" cxnId="{898A67CC-19BD-C64A-AF51-BFF0847F2FF8}">
      <dgm:prSet/>
      <dgm:spPr/>
      <dgm:t>
        <a:bodyPr/>
        <a:lstStyle/>
        <a:p>
          <a:endParaRPr lang="en-US" sz="2400"/>
        </a:p>
      </dgm:t>
    </dgm:pt>
    <dgm:pt modelId="{559C6B93-C908-48A2-8BBA-B21C695E0430}">
      <dgm:prSet custT="1"/>
      <dgm:spPr/>
      <dgm:t>
        <a:bodyPr/>
        <a:lstStyle/>
        <a:p>
          <a:r>
            <a:rPr lang="en-US" sz="2000" dirty="0"/>
            <a:t>RL post-training (O1 &amp; </a:t>
          </a:r>
          <a:r>
            <a:rPr lang="en-US" sz="2000" dirty="0" err="1"/>
            <a:t>Deepseek</a:t>
          </a:r>
          <a:r>
            <a:rPr lang="en-US" sz="2000" dirty="0"/>
            <a:t> R1)</a:t>
          </a:r>
        </a:p>
      </dgm:t>
    </dgm:pt>
    <dgm:pt modelId="{DE817CB1-67C9-439E-9ADA-9FC592E5180E}" type="parTrans" cxnId="{623F85D3-AE25-4678-86CF-013602EBC1F6}">
      <dgm:prSet/>
      <dgm:spPr/>
      <dgm:t>
        <a:bodyPr/>
        <a:lstStyle/>
        <a:p>
          <a:endParaRPr lang="en-US"/>
        </a:p>
      </dgm:t>
    </dgm:pt>
    <dgm:pt modelId="{2A72A1E5-55FC-4670-938D-DE183FA1ADCC}" type="sibTrans" cxnId="{623F85D3-AE25-4678-86CF-013602EBC1F6}">
      <dgm:prSet/>
      <dgm:spPr/>
      <dgm:t>
        <a:bodyPr/>
        <a:lstStyle/>
        <a:p>
          <a:endParaRPr lang="en-US"/>
        </a:p>
      </dgm:t>
    </dgm:pt>
    <dgm:pt modelId="{E155D8B6-FAFA-FD42-8B0E-30DDDBA9B8CD}" type="pres">
      <dgm:prSet presAssocID="{CC74E6BC-3E17-AC43-AAE6-4B1DBA6952DF}" presName="Name0" presStyleCnt="0">
        <dgm:presLayoutVars>
          <dgm:dir/>
          <dgm:resizeHandles val="exact"/>
        </dgm:presLayoutVars>
      </dgm:prSet>
      <dgm:spPr/>
    </dgm:pt>
    <dgm:pt modelId="{0026271B-BD5B-EA4F-A2D4-8362B70402E4}" type="pres">
      <dgm:prSet presAssocID="{4D75875C-E5F8-C046-9EE0-B75B5F5BB975}" presName="node" presStyleLbl="node1" presStyleIdx="0" presStyleCnt="5">
        <dgm:presLayoutVars>
          <dgm:bulletEnabled val="1"/>
        </dgm:presLayoutVars>
      </dgm:prSet>
      <dgm:spPr/>
    </dgm:pt>
    <dgm:pt modelId="{8E1A8173-E832-4D46-9752-C16D18393F2B}" type="pres">
      <dgm:prSet presAssocID="{A2B23F53-A323-3D4E-B77F-3171D924DAD9}" presName="sibTrans" presStyleLbl="sibTrans2D1" presStyleIdx="0" presStyleCnt="4"/>
      <dgm:spPr/>
    </dgm:pt>
    <dgm:pt modelId="{A123CC9C-5314-204F-87AD-7F48055B535E}" type="pres">
      <dgm:prSet presAssocID="{A2B23F53-A323-3D4E-B77F-3171D924DAD9}" presName="connectorText" presStyleLbl="sibTrans2D1" presStyleIdx="0" presStyleCnt="4"/>
      <dgm:spPr/>
    </dgm:pt>
    <dgm:pt modelId="{3421F521-5EE9-BD4F-AC0A-7FC6AC4869DA}" type="pres">
      <dgm:prSet presAssocID="{1ED251BB-7C29-FB42-A1E4-CC5302DA9F3C}" presName="node" presStyleLbl="node1" presStyleIdx="1" presStyleCnt="5">
        <dgm:presLayoutVars>
          <dgm:bulletEnabled val="1"/>
        </dgm:presLayoutVars>
      </dgm:prSet>
      <dgm:spPr/>
    </dgm:pt>
    <dgm:pt modelId="{D4D8AD77-E8AE-DD49-8A98-0917D9B762DD}" type="pres">
      <dgm:prSet presAssocID="{BA999C55-F93F-1145-981F-6EDA4A0D4721}" presName="sibTrans" presStyleLbl="sibTrans2D1" presStyleIdx="1" presStyleCnt="4"/>
      <dgm:spPr/>
    </dgm:pt>
    <dgm:pt modelId="{F93661DD-F69A-F244-A952-0C7E046F3424}" type="pres">
      <dgm:prSet presAssocID="{BA999C55-F93F-1145-981F-6EDA4A0D4721}" presName="connectorText" presStyleLbl="sibTrans2D1" presStyleIdx="1" presStyleCnt="4"/>
      <dgm:spPr/>
    </dgm:pt>
    <dgm:pt modelId="{B443C485-FFEC-9C4F-8667-7DFB467F1F6A}" type="pres">
      <dgm:prSet presAssocID="{E7E675D1-D0CA-9943-A93A-7E61EC20F825}" presName="node" presStyleLbl="node1" presStyleIdx="2" presStyleCnt="5">
        <dgm:presLayoutVars>
          <dgm:bulletEnabled val="1"/>
        </dgm:presLayoutVars>
      </dgm:prSet>
      <dgm:spPr/>
    </dgm:pt>
    <dgm:pt modelId="{44C6E477-7E93-9A4E-ACC6-4ADAAC1296D6}" type="pres">
      <dgm:prSet presAssocID="{F4B5B791-08F4-104B-B099-AFB415DFA019}" presName="sibTrans" presStyleLbl="sibTrans2D1" presStyleIdx="2" presStyleCnt="4"/>
      <dgm:spPr/>
    </dgm:pt>
    <dgm:pt modelId="{9C012547-A66D-5041-89F4-9A439CABBD3B}" type="pres">
      <dgm:prSet presAssocID="{F4B5B791-08F4-104B-B099-AFB415DFA019}" presName="connectorText" presStyleLbl="sibTrans2D1" presStyleIdx="2" presStyleCnt="4"/>
      <dgm:spPr/>
    </dgm:pt>
    <dgm:pt modelId="{E8EA05E3-7091-574F-A5BA-B58C0F43F37A}" type="pres">
      <dgm:prSet presAssocID="{10F7EB93-9E55-2040-8E9F-C72D8B4214AF}" presName="node" presStyleLbl="node1" presStyleIdx="3" presStyleCnt="5">
        <dgm:presLayoutVars>
          <dgm:bulletEnabled val="1"/>
        </dgm:presLayoutVars>
      </dgm:prSet>
      <dgm:spPr/>
    </dgm:pt>
    <dgm:pt modelId="{85483EFF-9DA0-46E7-9AAB-F48027FE7DA6}" type="pres">
      <dgm:prSet presAssocID="{761FD97E-677E-F043-BAF4-4A5A5FE9B3AE}" presName="sibTrans" presStyleLbl="sibTrans2D1" presStyleIdx="3" presStyleCnt="4"/>
      <dgm:spPr/>
    </dgm:pt>
    <dgm:pt modelId="{C8C8FA80-26BE-441F-B7DC-5A71A76C7278}" type="pres">
      <dgm:prSet presAssocID="{761FD97E-677E-F043-BAF4-4A5A5FE9B3AE}" presName="connectorText" presStyleLbl="sibTrans2D1" presStyleIdx="3" presStyleCnt="4"/>
      <dgm:spPr/>
    </dgm:pt>
    <dgm:pt modelId="{E4A440DD-667F-4A86-8005-831E4BBD7395}" type="pres">
      <dgm:prSet presAssocID="{559C6B93-C908-48A2-8BBA-B21C695E0430}" presName="node" presStyleLbl="node1" presStyleIdx="4" presStyleCnt="5">
        <dgm:presLayoutVars>
          <dgm:bulletEnabled val="1"/>
        </dgm:presLayoutVars>
      </dgm:prSet>
      <dgm:spPr/>
    </dgm:pt>
  </dgm:ptLst>
  <dgm:cxnLst>
    <dgm:cxn modelId="{D403FD12-06D3-41EF-A919-D59A83FF2864}" type="presOf" srcId="{761FD97E-677E-F043-BAF4-4A5A5FE9B3AE}" destId="{C8C8FA80-26BE-441F-B7DC-5A71A76C7278}" srcOrd="1" destOrd="0" presId="urn:microsoft.com/office/officeart/2005/8/layout/process1"/>
    <dgm:cxn modelId="{920FF01D-E823-8C4A-8C18-5501C6FE8493}" type="presOf" srcId="{10F7EB93-9E55-2040-8E9F-C72D8B4214AF}" destId="{E8EA05E3-7091-574F-A5BA-B58C0F43F37A}" srcOrd="0" destOrd="0" presId="urn:microsoft.com/office/officeart/2005/8/layout/process1"/>
    <dgm:cxn modelId="{40720231-E918-47D1-BDCF-368EFDAAC61B}" type="presOf" srcId="{761FD97E-677E-F043-BAF4-4A5A5FE9B3AE}" destId="{85483EFF-9DA0-46E7-9AAB-F48027FE7DA6}" srcOrd="0" destOrd="0" presId="urn:microsoft.com/office/officeart/2005/8/layout/process1"/>
    <dgm:cxn modelId="{C4D3E55C-86B9-7740-B4C1-F9C3483480F1}" type="presOf" srcId="{F4B5B791-08F4-104B-B099-AFB415DFA019}" destId="{9C012547-A66D-5041-89F4-9A439CABBD3B}" srcOrd="1" destOrd="0" presId="urn:microsoft.com/office/officeart/2005/8/layout/process1"/>
    <dgm:cxn modelId="{006D9060-A4D7-7E44-898E-E7467FE4BDDA}" srcId="{CC74E6BC-3E17-AC43-AAE6-4B1DBA6952DF}" destId="{E7E675D1-D0CA-9943-A93A-7E61EC20F825}" srcOrd="2" destOrd="0" parTransId="{5E5A24E2-4F9F-0243-B432-9F8273AFB278}" sibTransId="{F4B5B791-08F4-104B-B099-AFB415DFA019}"/>
    <dgm:cxn modelId="{1BEA4B64-8131-384F-AC7F-54A5D5DDA972}" type="presOf" srcId="{BA999C55-F93F-1145-981F-6EDA4A0D4721}" destId="{D4D8AD77-E8AE-DD49-8A98-0917D9B762DD}" srcOrd="0" destOrd="0" presId="urn:microsoft.com/office/officeart/2005/8/layout/process1"/>
    <dgm:cxn modelId="{E3719352-8236-6B49-A29B-78261FDB9A7F}" type="presOf" srcId="{A2B23F53-A323-3D4E-B77F-3171D924DAD9}" destId="{A123CC9C-5314-204F-87AD-7F48055B535E}" srcOrd="1" destOrd="0" presId="urn:microsoft.com/office/officeart/2005/8/layout/process1"/>
    <dgm:cxn modelId="{E2E34753-374D-0C48-AB07-3EA8D7EFAEDD}" type="presOf" srcId="{F4B5B791-08F4-104B-B099-AFB415DFA019}" destId="{44C6E477-7E93-9A4E-ACC6-4ADAAC1296D6}" srcOrd="0" destOrd="0" presId="urn:microsoft.com/office/officeart/2005/8/layout/process1"/>
    <dgm:cxn modelId="{4DC1A878-DB30-4ACE-8CCA-ADB680D5668D}" type="presOf" srcId="{559C6B93-C908-48A2-8BBA-B21C695E0430}" destId="{E4A440DD-667F-4A86-8005-831E4BBD7395}" srcOrd="0" destOrd="0" presId="urn:microsoft.com/office/officeart/2005/8/layout/process1"/>
    <dgm:cxn modelId="{7D5BCD82-9465-C549-8FB0-66805EDE114F}" srcId="{CC74E6BC-3E17-AC43-AAE6-4B1DBA6952DF}" destId="{4D75875C-E5F8-C046-9EE0-B75B5F5BB975}" srcOrd="0" destOrd="0" parTransId="{643DA25E-D589-364B-BE30-D798965663C1}" sibTransId="{A2B23F53-A323-3D4E-B77F-3171D924DAD9}"/>
    <dgm:cxn modelId="{C9FFA88F-C1B6-C348-AC33-1EED011015C3}" srcId="{CC74E6BC-3E17-AC43-AAE6-4B1DBA6952DF}" destId="{1ED251BB-7C29-FB42-A1E4-CC5302DA9F3C}" srcOrd="1" destOrd="0" parTransId="{CEDF8F68-EB92-9642-B8A4-7BD206973A94}" sibTransId="{BA999C55-F93F-1145-981F-6EDA4A0D4721}"/>
    <dgm:cxn modelId="{6A06DD8F-EDBB-B744-9191-99CEFAC39DAC}" type="presOf" srcId="{CC74E6BC-3E17-AC43-AAE6-4B1DBA6952DF}" destId="{E155D8B6-FAFA-FD42-8B0E-30DDDBA9B8CD}" srcOrd="0" destOrd="0" presId="urn:microsoft.com/office/officeart/2005/8/layout/process1"/>
    <dgm:cxn modelId="{13BF25A8-6892-F443-B2D9-863D61FA12A3}" type="presOf" srcId="{E7E675D1-D0CA-9943-A93A-7E61EC20F825}" destId="{B443C485-FFEC-9C4F-8667-7DFB467F1F6A}" srcOrd="0" destOrd="0" presId="urn:microsoft.com/office/officeart/2005/8/layout/process1"/>
    <dgm:cxn modelId="{2F8EEEB4-8813-6C4F-81AE-69984FD2949E}" type="presOf" srcId="{4D75875C-E5F8-C046-9EE0-B75B5F5BB975}" destId="{0026271B-BD5B-EA4F-A2D4-8362B70402E4}" srcOrd="0" destOrd="0" presId="urn:microsoft.com/office/officeart/2005/8/layout/process1"/>
    <dgm:cxn modelId="{898A67CC-19BD-C64A-AF51-BFF0847F2FF8}" srcId="{CC74E6BC-3E17-AC43-AAE6-4B1DBA6952DF}" destId="{10F7EB93-9E55-2040-8E9F-C72D8B4214AF}" srcOrd="3" destOrd="0" parTransId="{80C87C9C-514A-A145-95D0-14E9154681E1}" sibTransId="{761FD97E-677E-F043-BAF4-4A5A5FE9B3AE}"/>
    <dgm:cxn modelId="{623F85D3-AE25-4678-86CF-013602EBC1F6}" srcId="{CC74E6BC-3E17-AC43-AAE6-4B1DBA6952DF}" destId="{559C6B93-C908-48A2-8BBA-B21C695E0430}" srcOrd="4" destOrd="0" parTransId="{DE817CB1-67C9-439E-9ADA-9FC592E5180E}" sibTransId="{2A72A1E5-55FC-4670-938D-DE183FA1ADCC}"/>
    <dgm:cxn modelId="{39DCD4DE-CA8A-E844-8485-E9FF5EE386CB}" type="presOf" srcId="{A2B23F53-A323-3D4E-B77F-3171D924DAD9}" destId="{8E1A8173-E832-4D46-9752-C16D18393F2B}" srcOrd="0" destOrd="0" presId="urn:microsoft.com/office/officeart/2005/8/layout/process1"/>
    <dgm:cxn modelId="{46F8A4DF-ED4E-6548-8B4F-E9B58D456B26}" type="presOf" srcId="{BA999C55-F93F-1145-981F-6EDA4A0D4721}" destId="{F93661DD-F69A-F244-A952-0C7E046F3424}" srcOrd="1" destOrd="0" presId="urn:microsoft.com/office/officeart/2005/8/layout/process1"/>
    <dgm:cxn modelId="{7378CBE4-A947-824D-8038-D3A55DA6B7A9}" type="presOf" srcId="{1ED251BB-7C29-FB42-A1E4-CC5302DA9F3C}" destId="{3421F521-5EE9-BD4F-AC0A-7FC6AC4869DA}" srcOrd="0" destOrd="0" presId="urn:microsoft.com/office/officeart/2005/8/layout/process1"/>
    <dgm:cxn modelId="{959D8AA2-C14A-A746-8CF8-3540F84B245D}" type="presParOf" srcId="{E155D8B6-FAFA-FD42-8B0E-30DDDBA9B8CD}" destId="{0026271B-BD5B-EA4F-A2D4-8362B70402E4}" srcOrd="0" destOrd="0" presId="urn:microsoft.com/office/officeart/2005/8/layout/process1"/>
    <dgm:cxn modelId="{B2184070-A4A8-DE4D-B9EC-F166CA9B2F91}" type="presParOf" srcId="{E155D8B6-FAFA-FD42-8B0E-30DDDBA9B8CD}" destId="{8E1A8173-E832-4D46-9752-C16D18393F2B}" srcOrd="1" destOrd="0" presId="urn:microsoft.com/office/officeart/2005/8/layout/process1"/>
    <dgm:cxn modelId="{CDBF53BF-EAB8-DA48-B790-6398769C7C77}" type="presParOf" srcId="{8E1A8173-E832-4D46-9752-C16D18393F2B}" destId="{A123CC9C-5314-204F-87AD-7F48055B535E}" srcOrd="0" destOrd="0" presId="urn:microsoft.com/office/officeart/2005/8/layout/process1"/>
    <dgm:cxn modelId="{B8522D96-1143-8945-86D0-82DC65249C35}" type="presParOf" srcId="{E155D8B6-FAFA-FD42-8B0E-30DDDBA9B8CD}" destId="{3421F521-5EE9-BD4F-AC0A-7FC6AC4869DA}" srcOrd="2" destOrd="0" presId="urn:microsoft.com/office/officeart/2005/8/layout/process1"/>
    <dgm:cxn modelId="{80C0D644-9427-D048-895D-381D181BEC48}" type="presParOf" srcId="{E155D8B6-FAFA-FD42-8B0E-30DDDBA9B8CD}" destId="{D4D8AD77-E8AE-DD49-8A98-0917D9B762DD}" srcOrd="3" destOrd="0" presId="urn:microsoft.com/office/officeart/2005/8/layout/process1"/>
    <dgm:cxn modelId="{DB5E01E8-D1EB-5E4F-AD31-C092715C316D}" type="presParOf" srcId="{D4D8AD77-E8AE-DD49-8A98-0917D9B762DD}" destId="{F93661DD-F69A-F244-A952-0C7E046F3424}" srcOrd="0" destOrd="0" presId="urn:microsoft.com/office/officeart/2005/8/layout/process1"/>
    <dgm:cxn modelId="{710E7320-B15C-AF47-94E9-74558EA77A6B}" type="presParOf" srcId="{E155D8B6-FAFA-FD42-8B0E-30DDDBA9B8CD}" destId="{B443C485-FFEC-9C4F-8667-7DFB467F1F6A}" srcOrd="4" destOrd="0" presId="urn:microsoft.com/office/officeart/2005/8/layout/process1"/>
    <dgm:cxn modelId="{C7421C14-B60F-7E48-A8C9-CEDA7812D0B7}" type="presParOf" srcId="{E155D8B6-FAFA-FD42-8B0E-30DDDBA9B8CD}" destId="{44C6E477-7E93-9A4E-ACC6-4ADAAC1296D6}" srcOrd="5" destOrd="0" presId="urn:microsoft.com/office/officeart/2005/8/layout/process1"/>
    <dgm:cxn modelId="{F71FA308-6AB7-F845-B321-2B2C13B754F2}" type="presParOf" srcId="{44C6E477-7E93-9A4E-ACC6-4ADAAC1296D6}" destId="{9C012547-A66D-5041-89F4-9A439CABBD3B}" srcOrd="0" destOrd="0" presId="urn:microsoft.com/office/officeart/2005/8/layout/process1"/>
    <dgm:cxn modelId="{F0AA7BD4-7B41-DD49-8E17-4AB830CB1F03}" type="presParOf" srcId="{E155D8B6-FAFA-FD42-8B0E-30DDDBA9B8CD}" destId="{E8EA05E3-7091-574F-A5BA-B58C0F43F37A}" srcOrd="6" destOrd="0" presId="urn:microsoft.com/office/officeart/2005/8/layout/process1"/>
    <dgm:cxn modelId="{5ED7D450-71D2-4E9C-A581-7505216BCBD1}" type="presParOf" srcId="{E155D8B6-FAFA-FD42-8B0E-30DDDBA9B8CD}" destId="{85483EFF-9DA0-46E7-9AAB-F48027FE7DA6}" srcOrd="7" destOrd="0" presId="urn:microsoft.com/office/officeart/2005/8/layout/process1"/>
    <dgm:cxn modelId="{83981F1B-2750-41FB-B6C5-F709809EA0FA}" type="presParOf" srcId="{85483EFF-9DA0-46E7-9AAB-F48027FE7DA6}" destId="{C8C8FA80-26BE-441F-B7DC-5A71A76C7278}" srcOrd="0" destOrd="0" presId="urn:microsoft.com/office/officeart/2005/8/layout/process1"/>
    <dgm:cxn modelId="{80110999-1DCA-4455-99B3-8DBBBF2FDF1C}" type="presParOf" srcId="{E155D8B6-FAFA-FD42-8B0E-30DDDBA9B8CD}" destId="{E4A440DD-667F-4A86-8005-831E4BBD7395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C74E6BC-3E17-AC43-AAE6-4B1DBA6952DF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4D75875C-E5F8-C046-9EE0-B75B5F5BB975}">
      <dgm:prSet custT="1"/>
      <dgm:spPr/>
      <dgm:t>
        <a:bodyPr/>
        <a:lstStyle/>
        <a:p>
          <a:r>
            <a:rPr lang="en-US" sz="2000" dirty="0"/>
            <a:t>Word vectors &amp; task-specific architectures (word2vec)</a:t>
          </a:r>
        </a:p>
      </dgm:t>
    </dgm:pt>
    <dgm:pt modelId="{643DA25E-D589-364B-BE30-D798965663C1}" type="parTrans" cxnId="{7D5BCD82-9465-C549-8FB0-66805EDE114F}">
      <dgm:prSet/>
      <dgm:spPr/>
      <dgm:t>
        <a:bodyPr/>
        <a:lstStyle/>
        <a:p>
          <a:endParaRPr lang="en-US" sz="2400"/>
        </a:p>
      </dgm:t>
    </dgm:pt>
    <dgm:pt modelId="{A2B23F53-A323-3D4E-B77F-3171D924DAD9}" type="sibTrans" cxnId="{7D5BCD82-9465-C549-8FB0-66805EDE114F}">
      <dgm:prSet custT="1"/>
      <dgm:spPr/>
      <dgm:t>
        <a:bodyPr/>
        <a:lstStyle/>
        <a:p>
          <a:endParaRPr lang="en-US" sz="1800"/>
        </a:p>
      </dgm:t>
    </dgm:pt>
    <dgm:pt modelId="{1ED251BB-7C29-FB42-A1E4-CC5302DA9F3C}">
      <dgm:prSet custT="1"/>
      <dgm:spPr/>
      <dgm:t>
        <a:bodyPr/>
        <a:lstStyle/>
        <a:p>
          <a:pPr algn="ctr"/>
          <a:r>
            <a:rPr lang="en-US" sz="2000" dirty="0"/>
            <a:t>Pre-train &amp; fine-tune (BERT) </a:t>
          </a:r>
        </a:p>
      </dgm:t>
    </dgm:pt>
    <dgm:pt modelId="{CEDF8F68-EB92-9642-B8A4-7BD206973A94}" type="parTrans" cxnId="{C9FFA88F-C1B6-C348-AC33-1EED011015C3}">
      <dgm:prSet/>
      <dgm:spPr/>
      <dgm:t>
        <a:bodyPr/>
        <a:lstStyle/>
        <a:p>
          <a:endParaRPr lang="en-US" sz="2400"/>
        </a:p>
      </dgm:t>
    </dgm:pt>
    <dgm:pt modelId="{BA999C55-F93F-1145-981F-6EDA4A0D4721}" type="sibTrans" cxnId="{C9FFA88F-C1B6-C348-AC33-1EED011015C3}">
      <dgm:prSet custT="1"/>
      <dgm:spPr/>
      <dgm:t>
        <a:bodyPr/>
        <a:lstStyle/>
        <a:p>
          <a:endParaRPr lang="en-US" sz="1800"/>
        </a:p>
      </dgm:t>
    </dgm:pt>
    <dgm:pt modelId="{E7E675D1-D0CA-9943-A93A-7E61EC20F825}">
      <dgm:prSet custT="1"/>
      <dgm:spPr/>
      <dgm:t>
        <a:bodyPr/>
        <a:lstStyle/>
        <a:p>
          <a:r>
            <a:rPr lang="en-US" sz="2000" dirty="0">
              <a:solidFill>
                <a:srgbClr val="C00000"/>
              </a:solidFill>
            </a:rPr>
            <a:t>LLMs &amp; in-context learning (GPT3)</a:t>
          </a:r>
        </a:p>
      </dgm:t>
    </dgm:pt>
    <dgm:pt modelId="{5E5A24E2-4F9F-0243-B432-9F8273AFB278}" type="parTrans" cxnId="{006D9060-A4D7-7E44-898E-E7467FE4BDDA}">
      <dgm:prSet/>
      <dgm:spPr/>
      <dgm:t>
        <a:bodyPr/>
        <a:lstStyle/>
        <a:p>
          <a:endParaRPr lang="en-US" sz="2400"/>
        </a:p>
      </dgm:t>
    </dgm:pt>
    <dgm:pt modelId="{F4B5B791-08F4-104B-B099-AFB415DFA019}" type="sibTrans" cxnId="{006D9060-A4D7-7E44-898E-E7467FE4BDDA}">
      <dgm:prSet custT="1"/>
      <dgm:spPr/>
      <dgm:t>
        <a:bodyPr/>
        <a:lstStyle/>
        <a:p>
          <a:endParaRPr lang="en-US" sz="1800"/>
        </a:p>
      </dgm:t>
    </dgm:pt>
    <dgm:pt modelId="{10F7EB93-9E55-2040-8E9F-C72D8B4214AF}">
      <dgm:prSet custT="1"/>
      <dgm:spPr/>
      <dgm:t>
        <a:bodyPr/>
        <a:lstStyle/>
        <a:p>
          <a:r>
            <a:rPr lang="en-US" sz="2000" dirty="0">
              <a:solidFill>
                <a:schemeClr val="tx1"/>
              </a:solidFill>
            </a:rPr>
            <a:t>Instruction tuning &amp; RLHF (</a:t>
          </a:r>
          <a:r>
            <a:rPr lang="en-US" sz="2000" dirty="0" err="1">
              <a:solidFill>
                <a:schemeClr val="tx1"/>
              </a:solidFill>
            </a:rPr>
            <a:t>ChatGPT</a:t>
          </a:r>
          <a:r>
            <a:rPr lang="en-US" sz="2000" dirty="0">
              <a:solidFill>
                <a:schemeClr val="tx1"/>
              </a:solidFill>
            </a:rPr>
            <a:t>)</a:t>
          </a:r>
        </a:p>
      </dgm:t>
    </dgm:pt>
    <dgm:pt modelId="{80C87C9C-514A-A145-95D0-14E9154681E1}" type="parTrans" cxnId="{898A67CC-19BD-C64A-AF51-BFF0847F2FF8}">
      <dgm:prSet/>
      <dgm:spPr/>
      <dgm:t>
        <a:bodyPr/>
        <a:lstStyle/>
        <a:p>
          <a:endParaRPr lang="en-US" sz="2400"/>
        </a:p>
      </dgm:t>
    </dgm:pt>
    <dgm:pt modelId="{761FD97E-677E-F043-BAF4-4A5A5FE9B3AE}" type="sibTrans" cxnId="{898A67CC-19BD-C64A-AF51-BFF0847F2FF8}">
      <dgm:prSet/>
      <dgm:spPr/>
      <dgm:t>
        <a:bodyPr/>
        <a:lstStyle/>
        <a:p>
          <a:endParaRPr lang="en-US" sz="2400"/>
        </a:p>
      </dgm:t>
    </dgm:pt>
    <dgm:pt modelId="{559C6B93-C908-48A2-8BBA-B21C695E0430}">
      <dgm:prSet custT="1"/>
      <dgm:spPr/>
      <dgm:t>
        <a:bodyPr/>
        <a:lstStyle/>
        <a:p>
          <a:r>
            <a:rPr lang="en-US" sz="2000" dirty="0"/>
            <a:t>RL post-training (O1 &amp; </a:t>
          </a:r>
          <a:r>
            <a:rPr lang="en-US" sz="2000" dirty="0" err="1"/>
            <a:t>Deepseek</a:t>
          </a:r>
          <a:r>
            <a:rPr lang="en-US" sz="2000" dirty="0"/>
            <a:t> R1)</a:t>
          </a:r>
        </a:p>
      </dgm:t>
    </dgm:pt>
    <dgm:pt modelId="{DE817CB1-67C9-439E-9ADA-9FC592E5180E}" type="parTrans" cxnId="{623F85D3-AE25-4678-86CF-013602EBC1F6}">
      <dgm:prSet/>
      <dgm:spPr/>
      <dgm:t>
        <a:bodyPr/>
        <a:lstStyle/>
        <a:p>
          <a:endParaRPr lang="en-US"/>
        </a:p>
      </dgm:t>
    </dgm:pt>
    <dgm:pt modelId="{2A72A1E5-55FC-4670-938D-DE183FA1ADCC}" type="sibTrans" cxnId="{623F85D3-AE25-4678-86CF-013602EBC1F6}">
      <dgm:prSet/>
      <dgm:spPr/>
      <dgm:t>
        <a:bodyPr/>
        <a:lstStyle/>
        <a:p>
          <a:endParaRPr lang="en-US"/>
        </a:p>
      </dgm:t>
    </dgm:pt>
    <dgm:pt modelId="{E155D8B6-FAFA-FD42-8B0E-30DDDBA9B8CD}" type="pres">
      <dgm:prSet presAssocID="{CC74E6BC-3E17-AC43-AAE6-4B1DBA6952DF}" presName="Name0" presStyleCnt="0">
        <dgm:presLayoutVars>
          <dgm:dir/>
          <dgm:resizeHandles val="exact"/>
        </dgm:presLayoutVars>
      </dgm:prSet>
      <dgm:spPr/>
    </dgm:pt>
    <dgm:pt modelId="{0026271B-BD5B-EA4F-A2D4-8362B70402E4}" type="pres">
      <dgm:prSet presAssocID="{4D75875C-E5F8-C046-9EE0-B75B5F5BB975}" presName="node" presStyleLbl="node1" presStyleIdx="0" presStyleCnt="5">
        <dgm:presLayoutVars>
          <dgm:bulletEnabled val="1"/>
        </dgm:presLayoutVars>
      </dgm:prSet>
      <dgm:spPr/>
    </dgm:pt>
    <dgm:pt modelId="{8E1A8173-E832-4D46-9752-C16D18393F2B}" type="pres">
      <dgm:prSet presAssocID="{A2B23F53-A323-3D4E-B77F-3171D924DAD9}" presName="sibTrans" presStyleLbl="sibTrans2D1" presStyleIdx="0" presStyleCnt="4"/>
      <dgm:spPr/>
    </dgm:pt>
    <dgm:pt modelId="{A123CC9C-5314-204F-87AD-7F48055B535E}" type="pres">
      <dgm:prSet presAssocID="{A2B23F53-A323-3D4E-B77F-3171D924DAD9}" presName="connectorText" presStyleLbl="sibTrans2D1" presStyleIdx="0" presStyleCnt="4"/>
      <dgm:spPr/>
    </dgm:pt>
    <dgm:pt modelId="{3421F521-5EE9-BD4F-AC0A-7FC6AC4869DA}" type="pres">
      <dgm:prSet presAssocID="{1ED251BB-7C29-FB42-A1E4-CC5302DA9F3C}" presName="node" presStyleLbl="node1" presStyleIdx="1" presStyleCnt="5">
        <dgm:presLayoutVars>
          <dgm:bulletEnabled val="1"/>
        </dgm:presLayoutVars>
      </dgm:prSet>
      <dgm:spPr/>
    </dgm:pt>
    <dgm:pt modelId="{D4D8AD77-E8AE-DD49-8A98-0917D9B762DD}" type="pres">
      <dgm:prSet presAssocID="{BA999C55-F93F-1145-981F-6EDA4A0D4721}" presName="sibTrans" presStyleLbl="sibTrans2D1" presStyleIdx="1" presStyleCnt="4"/>
      <dgm:spPr/>
    </dgm:pt>
    <dgm:pt modelId="{F93661DD-F69A-F244-A952-0C7E046F3424}" type="pres">
      <dgm:prSet presAssocID="{BA999C55-F93F-1145-981F-6EDA4A0D4721}" presName="connectorText" presStyleLbl="sibTrans2D1" presStyleIdx="1" presStyleCnt="4"/>
      <dgm:spPr/>
    </dgm:pt>
    <dgm:pt modelId="{B443C485-FFEC-9C4F-8667-7DFB467F1F6A}" type="pres">
      <dgm:prSet presAssocID="{E7E675D1-D0CA-9943-A93A-7E61EC20F825}" presName="node" presStyleLbl="node1" presStyleIdx="2" presStyleCnt="5">
        <dgm:presLayoutVars>
          <dgm:bulletEnabled val="1"/>
        </dgm:presLayoutVars>
      </dgm:prSet>
      <dgm:spPr/>
    </dgm:pt>
    <dgm:pt modelId="{44C6E477-7E93-9A4E-ACC6-4ADAAC1296D6}" type="pres">
      <dgm:prSet presAssocID="{F4B5B791-08F4-104B-B099-AFB415DFA019}" presName="sibTrans" presStyleLbl="sibTrans2D1" presStyleIdx="2" presStyleCnt="4"/>
      <dgm:spPr/>
    </dgm:pt>
    <dgm:pt modelId="{9C012547-A66D-5041-89F4-9A439CABBD3B}" type="pres">
      <dgm:prSet presAssocID="{F4B5B791-08F4-104B-B099-AFB415DFA019}" presName="connectorText" presStyleLbl="sibTrans2D1" presStyleIdx="2" presStyleCnt="4"/>
      <dgm:spPr/>
    </dgm:pt>
    <dgm:pt modelId="{E8EA05E3-7091-574F-A5BA-B58C0F43F37A}" type="pres">
      <dgm:prSet presAssocID="{10F7EB93-9E55-2040-8E9F-C72D8B4214AF}" presName="node" presStyleLbl="node1" presStyleIdx="3" presStyleCnt="5">
        <dgm:presLayoutVars>
          <dgm:bulletEnabled val="1"/>
        </dgm:presLayoutVars>
      </dgm:prSet>
      <dgm:spPr/>
    </dgm:pt>
    <dgm:pt modelId="{85483EFF-9DA0-46E7-9AAB-F48027FE7DA6}" type="pres">
      <dgm:prSet presAssocID="{761FD97E-677E-F043-BAF4-4A5A5FE9B3AE}" presName="sibTrans" presStyleLbl="sibTrans2D1" presStyleIdx="3" presStyleCnt="4"/>
      <dgm:spPr/>
    </dgm:pt>
    <dgm:pt modelId="{C8C8FA80-26BE-441F-B7DC-5A71A76C7278}" type="pres">
      <dgm:prSet presAssocID="{761FD97E-677E-F043-BAF4-4A5A5FE9B3AE}" presName="connectorText" presStyleLbl="sibTrans2D1" presStyleIdx="3" presStyleCnt="4"/>
      <dgm:spPr/>
    </dgm:pt>
    <dgm:pt modelId="{E4A440DD-667F-4A86-8005-831E4BBD7395}" type="pres">
      <dgm:prSet presAssocID="{559C6B93-C908-48A2-8BBA-B21C695E0430}" presName="node" presStyleLbl="node1" presStyleIdx="4" presStyleCnt="5">
        <dgm:presLayoutVars>
          <dgm:bulletEnabled val="1"/>
        </dgm:presLayoutVars>
      </dgm:prSet>
      <dgm:spPr/>
    </dgm:pt>
  </dgm:ptLst>
  <dgm:cxnLst>
    <dgm:cxn modelId="{D403FD12-06D3-41EF-A919-D59A83FF2864}" type="presOf" srcId="{761FD97E-677E-F043-BAF4-4A5A5FE9B3AE}" destId="{C8C8FA80-26BE-441F-B7DC-5A71A76C7278}" srcOrd="1" destOrd="0" presId="urn:microsoft.com/office/officeart/2005/8/layout/process1"/>
    <dgm:cxn modelId="{920FF01D-E823-8C4A-8C18-5501C6FE8493}" type="presOf" srcId="{10F7EB93-9E55-2040-8E9F-C72D8B4214AF}" destId="{E8EA05E3-7091-574F-A5BA-B58C0F43F37A}" srcOrd="0" destOrd="0" presId="urn:microsoft.com/office/officeart/2005/8/layout/process1"/>
    <dgm:cxn modelId="{40720231-E918-47D1-BDCF-368EFDAAC61B}" type="presOf" srcId="{761FD97E-677E-F043-BAF4-4A5A5FE9B3AE}" destId="{85483EFF-9DA0-46E7-9AAB-F48027FE7DA6}" srcOrd="0" destOrd="0" presId="urn:microsoft.com/office/officeart/2005/8/layout/process1"/>
    <dgm:cxn modelId="{C4D3E55C-86B9-7740-B4C1-F9C3483480F1}" type="presOf" srcId="{F4B5B791-08F4-104B-B099-AFB415DFA019}" destId="{9C012547-A66D-5041-89F4-9A439CABBD3B}" srcOrd="1" destOrd="0" presId="urn:microsoft.com/office/officeart/2005/8/layout/process1"/>
    <dgm:cxn modelId="{006D9060-A4D7-7E44-898E-E7467FE4BDDA}" srcId="{CC74E6BC-3E17-AC43-AAE6-4B1DBA6952DF}" destId="{E7E675D1-D0CA-9943-A93A-7E61EC20F825}" srcOrd="2" destOrd="0" parTransId="{5E5A24E2-4F9F-0243-B432-9F8273AFB278}" sibTransId="{F4B5B791-08F4-104B-B099-AFB415DFA019}"/>
    <dgm:cxn modelId="{1BEA4B64-8131-384F-AC7F-54A5D5DDA972}" type="presOf" srcId="{BA999C55-F93F-1145-981F-6EDA4A0D4721}" destId="{D4D8AD77-E8AE-DD49-8A98-0917D9B762DD}" srcOrd="0" destOrd="0" presId="urn:microsoft.com/office/officeart/2005/8/layout/process1"/>
    <dgm:cxn modelId="{E3719352-8236-6B49-A29B-78261FDB9A7F}" type="presOf" srcId="{A2B23F53-A323-3D4E-B77F-3171D924DAD9}" destId="{A123CC9C-5314-204F-87AD-7F48055B535E}" srcOrd="1" destOrd="0" presId="urn:microsoft.com/office/officeart/2005/8/layout/process1"/>
    <dgm:cxn modelId="{E2E34753-374D-0C48-AB07-3EA8D7EFAEDD}" type="presOf" srcId="{F4B5B791-08F4-104B-B099-AFB415DFA019}" destId="{44C6E477-7E93-9A4E-ACC6-4ADAAC1296D6}" srcOrd="0" destOrd="0" presId="urn:microsoft.com/office/officeart/2005/8/layout/process1"/>
    <dgm:cxn modelId="{4DC1A878-DB30-4ACE-8CCA-ADB680D5668D}" type="presOf" srcId="{559C6B93-C908-48A2-8BBA-B21C695E0430}" destId="{E4A440DD-667F-4A86-8005-831E4BBD7395}" srcOrd="0" destOrd="0" presId="urn:microsoft.com/office/officeart/2005/8/layout/process1"/>
    <dgm:cxn modelId="{7D5BCD82-9465-C549-8FB0-66805EDE114F}" srcId="{CC74E6BC-3E17-AC43-AAE6-4B1DBA6952DF}" destId="{4D75875C-E5F8-C046-9EE0-B75B5F5BB975}" srcOrd="0" destOrd="0" parTransId="{643DA25E-D589-364B-BE30-D798965663C1}" sibTransId="{A2B23F53-A323-3D4E-B77F-3171D924DAD9}"/>
    <dgm:cxn modelId="{C9FFA88F-C1B6-C348-AC33-1EED011015C3}" srcId="{CC74E6BC-3E17-AC43-AAE6-4B1DBA6952DF}" destId="{1ED251BB-7C29-FB42-A1E4-CC5302DA9F3C}" srcOrd="1" destOrd="0" parTransId="{CEDF8F68-EB92-9642-B8A4-7BD206973A94}" sibTransId="{BA999C55-F93F-1145-981F-6EDA4A0D4721}"/>
    <dgm:cxn modelId="{6A06DD8F-EDBB-B744-9191-99CEFAC39DAC}" type="presOf" srcId="{CC74E6BC-3E17-AC43-AAE6-4B1DBA6952DF}" destId="{E155D8B6-FAFA-FD42-8B0E-30DDDBA9B8CD}" srcOrd="0" destOrd="0" presId="urn:microsoft.com/office/officeart/2005/8/layout/process1"/>
    <dgm:cxn modelId="{13BF25A8-6892-F443-B2D9-863D61FA12A3}" type="presOf" srcId="{E7E675D1-D0CA-9943-A93A-7E61EC20F825}" destId="{B443C485-FFEC-9C4F-8667-7DFB467F1F6A}" srcOrd="0" destOrd="0" presId="urn:microsoft.com/office/officeart/2005/8/layout/process1"/>
    <dgm:cxn modelId="{2F8EEEB4-8813-6C4F-81AE-69984FD2949E}" type="presOf" srcId="{4D75875C-E5F8-C046-9EE0-B75B5F5BB975}" destId="{0026271B-BD5B-EA4F-A2D4-8362B70402E4}" srcOrd="0" destOrd="0" presId="urn:microsoft.com/office/officeart/2005/8/layout/process1"/>
    <dgm:cxn modelId="{898A67CC-19BD-C64A-AF51-BFF0847F2FF8}" srcId="{CC74E6BC-3E17-AC43-AAE6-4B1DBA6952DF}" destId="{10F7EB93-9E55-2040-8E9F-C72D8B4214AF}" srcOrd="3" destOrd="0" parTransId="{80C87C9C-514A-A145-95D0-14E9154681E1}" sibTransId="{761FD97E-677E-F043-BAF4-4A5A5FE9B3AE}"/>
    <dgm:cxn modelId="{623F85D3-AE25-4678-86CF-013602EBC1F6}" srcId="{CC74E6BC-3E17-AC43-AAE6-4B1DBA6952DF}" destId="{559C6B93-C908-48A2-8BBA-B21C695E0430}" srcOrd="4" destOrd="0" parTransId="{DE817CB1-67C9-439E-9ADA-9FC592E5180E}" sibTransId="{2A72A1E5-55FC-4670-938D-DE183FA1ADCC}"/>
    <dgm:cxn modelId="{39DCD4DE-CA8A-E844-8485-E9FF5EE386CB}" type="presOf" srcId="{A2B23F53-A323-3D4E-B77F-3171D924DAD9}" destId="{8E1A8173-E832-4D46-9752-C16D18393F2B}" srcOrd="0" destOrd="0" presId="urn:microsoft.com/office/officeart/2005/8/layout/process1"/>
    <dgm:cxn modelId="{46F8A4DF-ED4E-6548-8B4F-E9B58D456B26}" type="presOf" srcId="{BA999C55-F93F-1145-981F-6EDA4A0D4721}" destId="{F93661DD-F69A-F244-A952-0C7E046F3424}" srcOrd="1" destOrd="0" presId="urn:microsoft.com/office/officeart/2005/8/layout/process1"/>
    <dgm:cxn modelId="{7378CBE4-A947-824D-8038-D3A55DA6B7A9}" type="presOf" srcId="{1ED251BB-7C29-FB42-A1E4-CC5302DA9F3C}" destId="{3421F521-5EE9-BD4F-AC0A-7FC6AC4869DA}" srcOrd="0" destOrd="0" presId="urn:microsoft.com/office/officeart/2005/8/layout/process1"/>
    <dgm:cxn modelId="{959D8AA2-C14A-A746-8CF8-3540F84B245D}" type="presParOf" srcId="{E155D8B6-FAFA-FD42-8B0E-30DDDBA9B8CD}" destId="{0026271B-BD5B-EA4F-A2D4-8362B70402E4}" srcOrd="0" destOrd="0" presId="urn:microsoft.com/office/officeart/2005/8/layout/process1"/>
    <dgm:cxn modelId="{B2184070-A4A8-DE4D-B9EC-F166CA9B2F91}" type="presParOf" srcId="{E155D8B6-FAFA-FD42-8B0E-30DDDBA9B8CD}" destId="{8E1A8173-E832-4D46-9752-C16D18393F2B}" srcOrd="1" destOrd="0" presId="urn:microsoft.com/office/officeart/2005/8/layout/process1"/>
    <dgm:cxn modelId="{CDBF53BF-EAB8-DA48-B790-6398769C7C77}" type="presParOf" srcId="{8E1A8173-E832-4D46-9752-C16D18393F2B}" destId="{A123CC9C-5314-204F-87AD-7F48055B535E}" srcOrd="0" destOrd="0" presId="urn:microsoft.com/office/officeart/2005/8/layout/process1"/>
    <dgm:cxn modelId="{B8522D96-1143-8945-86D0-82DC65249C35}" type="presParOf" srcId="{E155D8B6-FAFA-FD42-8B0E-30DDDBA9B8CD}" destId="{3421F521-5EE9-BD4F-AC0A-7FC6AC4869DA}" srcOrd="2" destOrd="0" presId="urn:microsoft.com/office/officeart/2005/8/layout/process1"/>
    <dgm:cxn modelId="{80C0D644-9427-D048-895D-381D181BEC48}" type="presParOf" srcId="{E155D8B6-FAFA-FD42-8B0E-30DDDBA9B8CD}" destId="{D4D8AD77-E8AE-DD49-8A98-0917D9B762DD}" srcOrd="3" destOrd="0" presId="urn:microsoft.com/office/officeart/2005/8/layout/process1"/>
    <dgm:cxn modelId="{DB5E01E8-D1EB-5E4F-AD31-C092715C316D}" type="presParOf" srcId="{D4D8AD77-E8AE-DD49-8A98-0917D9B762DD}" destId="{F93661DD-F69A-F244-A952-0C7E046F3424}" srcOrd="0" destOrd="0" presId="urn:microsoft.com/office/officeart/2005/8/layout/process1"/>
    <dgm:cxn modelId="{710E7320-B15C-AF47-94E9-74558EA77A6B}" type="presParOf" srcId="{E155D8B6-FAFA-FD42-8B0E-30DDDBA9B8CD}" destId="{B443C485-FFEC-9C4F-8667-7DFB467F1F6A}" srcOrd="4" destOrd="0" presId="urn:microsoft.com/office/officeart/2005/8/layout/process1"/>
    <dgm:cxn modelId="{C7421C14-B60F-7E48-A8C9-CEDA7812D0B7}" type="presParOf" srcId="{E155D8B6-FAFA-FD42-8B0E-30DDDBA9B8CD}" destId="{44C6E477-7E93-9A4E-ACC6-4ADAAC1296D6}" srcOrd="5" destOrd="0" presId="urn:microsoft.com/office/officeart/2005/8/layout/process1"/>
    <dgm:cxn modelId="{F71FA308-6AB7-F845-B321-2B2C13B754F2}" type="presParOf" srcId="{44C6E477-7E93-9A4E-ACC6-4ADAAC1296D6}" destId="{9C012547-A66D-5041-89F4-9A439CABBD3B}" srcOrd="0" destOrd="0" presId="urn:microsoft.com/office/officeart/2005/8/layout/process1"/>
    <dgm:cxn modelId="{F0AA7BD4-7B41-DD49-8E17-4AB830CB1F03}" type="presParOf" srcId="{E155D8B6-FAFA-FD42-8B0E-30DDDBA9B8CD}" destId="{E8EA05E3-7091-574F-A5BA-B58C0F43F37A}" srcOrd="6" destOrd="0" presId="urn:microsoft.com/office/officeart/2005/8/layout/process1"/>
    <dgm:cxn modelId="{5ED7D450-71D2-4E9C-A581-7505216BCBD1}" type="presParOf" srcId="{E155D8B6-FAFA-FD42-8B0E-30DDDBA9B8CD}" destId="{85483EFF-9DA0-46E7-9AAB-F48027FE7DA6}" srcOrd="7" destOrd="0" presId="urn:microsoft.com/office/officeart/2005/8/layout/process1"/>
    <dgm:cxn modelId="{83981F1B-2750-41FB-B6C5-F709809EA0FA}" type="presParOf" srcId="{85483EFF-9DA0-46E7-9AAB-F48027FE7DA6}" destId="{C8C8FA80-26BE-441F-B7DC-5A71A76C7278}" srcOrd="0" destOrd="0" presId="urn:microsoft.com/office/officeart/2005/8/layout/process1"/>
    <dgm:cxn modelId="{80110999-1DCA-4455-99B3-8DBBBF2FDF1C}" type="presParOf" srcId="{E155D8B6-FAFA-FD42-8B0E-30DDDBA9B8CD}" destId="{E4A440DD-667F-4A86-8005-831E4BBD7395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C74E6BC-3E17-AC43-AAE6-4B1DBA6952DF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4D75875C-E5F8-C046-9EE0-B75B5F5BB975}">
      <dgm:prSet custT="1"/>
      <dgm:spPr/>
      <dgm:t>
        <a:bodyPr/>
        <a:lstStyle/>
        <a:p>
          <a:r>
            <a:rPr lang="en-US" sz="2000" dirty="0"/>
            <a:t>Word vectors &amp; task-specific architectures (word2vec)</a:t>
          </a:r>
        </a:p>
      </dgm:t>
    </dgm:pt>
    <dgm:pt modelId="{643DA25E-D589-364B-BE30-D798965663C1}" type="parTrans" cxnId="{7D5BCD82-9465-C549-8FB0-66805EDE114F}">
      <dgm:prSet/>
      <dgm:spPr/>
      <dgm:t>
        <a:bodyPr/>
        <a:lstStyle/>
        <a:p>
          <a:endParaRPr lang="en-US" sz="2400"/>
        </a:p>
      </dgm:t>
    </dgm:pt>
    <dgm:pt modelId="{A2B23F53-A323-3D4E-B77F-3171D924DAD9}" type="sibTrans" cxnId="{7D5BCD82-9465-C549-8FB0-66805EDE114F}">
      <dgm:prSet custT="1"/>
      <dgm:spPr/>
      <dgm:t>
        <a:bodyPr/>
        <a:lstStyle/>
        <a:p>
          <a:endParaRPr lang="en-US" sz="1800"/>
        </a:p>
      </dgm:t>
    </dgm:pt>
    <dgm:pt modelId="{1ED251BB-7C29-FB42-A1E4-CC5302DA9F3C}">
      <dgm:prSet custT="1"/>
      <dgm:spPr/>
      <dgm:t>
        <a:bodyPr/>
        <a:lstStyle/>
        <a:p>
          <a:pPr algn="ctr"/>
          <a:r>
            <a:rPr lang="en-US" sz="2000" dirty="0"/>
            <a:t>Pre-train &amp; fine-tune (BERT) </a:t>
          </a:r>
        </a:p>
      </dgm:t>
    </dgm:pt>
    <dgm:pt modelId="{CEDF8F68-EB92-9642-B8A4-7BD206973A94}" type="parTrans" cxnId="{C9FFA88F-C1B6-C348-AC33-1EED011015C3}">
      <dgm:prSet/>
      <dgm:spPr/>
      <dgm:t>
        <a:bodyPr/>
        <a:lstStyle/>
        <a:p>
          <a:endParaRPr lang="en-US" sz="2400"/>
        </a:p>
      </dgm:t>
    </dgm:pt>
    <dgm:pt modelId="{BA999C55-F93F-1145-981F-6EDA4A0D4721}" type="sibTrans" cxnId="{C9FFA88F-C1B6-C348-AC33-1EED011015C3}">
      <dgm:prSet custT="1"/>
      <dgm:spPr/>
      <dgm:t>
        <a:bodyPr/>
        <a:lstStyle/>
        <a:p>
          <a:endParaRPr lang="en-US" sz="1800"/>
        </a:p>
      </dgm:t>
    </dgm:pt>
    <dgm:pt modelId="{E7E675D1-D0CA-9943-A93A-7E61EC20F825}">
      <dgm:prSet custT="1"/>
      <dgm:spPr/>
      <dgm:t>
        <a:bodyPr/>
        <a:lstStyle/>
        <a:p>
          <a:r>
            <a:rPr lang="en-US" sz="2000" dirty="0">
              <a:solidFill>
                <a:schemeClr val="tx1"/>
              </a:solidFill>
            </a:rPr>
            <a:t>LLMs &amp; in-context learning (GPT3)</a:t>
          </a:r>
        </a:p>
      </dgm:t>
    </dgm:pt>
    <dgm:pt modelId="{5E5A24E2-4F9F-0243-B432-9F8273AFB278}" type="parTrans" cxnId="{006D9060-A4D7-7E44-898E-E7467FE4BDDA}">
      <dgm:prSet/>
      <dgm:spPr/>
      <dgm:t>
        <a:bodyPr/>
        <a:lstStyle/>
        <a:p>
          <a:endParaRPr lang="en-US" sz="2400"/>
        </a:p>
      </dgm:t>
    </dgm:pt>
    <dgm:pt modelId="{F4B5B791-08F4-104B-B099-AFB415DFA019}" type="sibTrans" cxnId="{006D9060-A4D7-7E44-898E-E7467FE4BDDA}">
      <dgm:prSet custT="1"/>
      <dgm:spPr/>
      <dgm:t>
        <a:bodyPr/>
        <a:lstStyle/>
        <a:p>
          <a:endParaRPr lang="en-US" sz="1800"/>
        </a:p>
      </dgm:t>
    </dgm:pt>
    <dgm:pt modelId="{10F7EB93-9E55-2040-8E9F-C72D8B4214AF}">
      <dgm:prSet custT="1"/>
      <dgm:spPr/>
      <dgm:t>
        <a:bodyPr/>
        <a:lstStyle/>
        <a:p>
          <a:r>
            <a:rPr lang="en-US" sz="2000" dirty="0">
              <a:solidFill>
                <a:srgbClr val="C00000"/>
              </a:solidFill>
            </a:rPr>
            <a:t>Instruction tuning &amp; RLHF (</a:t>
          </a:r>
          <a:r>
            <a:rPr lang="en-US" sz="2000" dirty="0" err="1">
              <a:solidFill>
                <a:srgbClr val="C00000"/>
              </a:solidFill>
            </a:rPr>
            <a:t>ChatGPT</a:t>
          </a:r>
          <a:r>
            <a:rPr lang="en-US" sz="2000" dirty="0">
              <a:solidFill>
                <a:srgbClr val="C00000"/>
              </a:solidFill>
            </a:rPr>
            <a:t>)</a:t>
          </a:r>
        </a:p>
      </dgm:t>
    </dgm:pt>
    <dgm:pt modelId="{80C87C9C-514A-A145-95D0-14E9154681E1}" type="parTrans" cxnId="{898A67CC-19BD-C64A-AF51-BFF0847F2FF8}">
      <dgm:prSet/>
      <dgm:spPr/>
      <dgm:t>
        <a:bodyPr/>
        <a:lstStyle/>
        <a:p>
          <a:endParaRPr lang="en-US" sz="2400"/>
        </a:p>
      </dgm:t>
    </dgm:pt>
    <dgm:pt modelId="{761FD97E-677E-F043-BAF4-4A5A5FE9B3AE}" type="sibTrans" cxnId="{898A67CC-19BD-C64A-AF51-BFF0847F2FF8}">
      <dgm:prSet/>
      <dgm:spPr/>
      <dgm:t>
        <a:bodyPr/>
        <a:lstStyle/>
        <a:p>
          <a:endParaRPr lang="en-US" sz="2400"/>
        </a:p>
      </dgm:t>
    </dgm:pt>
    <dgm:pt modelId="{559C6B93-C908-48A2-8BBA-B21C695E0430}">
      <dgm:prSet custT="1"/>
      <dgm:spPr/>
      <dgm:t>
        <a:bodyPr/>
        <a:lstStyle/>
        <a:p>
          <a:r>
            <a:rPr lang="en-US" sz="2000" dirty="0"/>
            <a:t>RL post-training (O1 &amp; </a:t>
          </a:r>
          <a:r>
            <a:rPr lang="en-US" sz="2000" dirty="0" err="1"/>
            <a:t>Deepseek</a:t>
          </a:r>
          <a:r>
            <a:rPr lang="en-US" sz="2000" dirty="0"/>
            <a:t> R1)</a:t>
          </a:r>
        </a:p>
      </dgm:t>
    </dgm:pt>
    <dgm:pt modelId="{DE817CB1-67C9-439E-9ADA-9FC592E5180E}" type="parTrans" cxnId="{623F85D3-AE25-4678-86CF-013602EBC1F6}">
      <dgm:prSet/>
      <dgm:spPr/>
      <dgm:t>
        <a:bodyPr/>
        <a:lstStyle/>
        <a:p>
          <a:endParaRPr lang="en-US"/>
        </a:p>
      </dgm:t>
    </dgm:pt>
    <dgm:pt modelId="{2A72A1E5-55FC-4670-938D-DE183FA1ADCC}" type="sibTrans" cxnId="{623F85D3-AE25-4678-86CF-013602EBC1F6}">
      <dgm:prSet/>
      <dgm:spPr/>
      <dgm:t>
        <a:bodyPr/>
        <a:lstStyle/>
        <a:p>
          <a:endParaRPr lang="en-US"/>
        </a:p>
      </dgm:t>
    </dgm:pt>
    <dgm:pt modelId="{E155D8B6-FAFA-FD42-8B0E-30DDDBA9B8CD}" type="pres">
      <dgm:prSet presAssocID="{CC74E6BC-3E17-AC43-AAE6-4B1DBA6952DF}" presName="Name0" presStyleCnt="0">
        <dgm:presLayoutVars>
          <dgm:dir/>
          <dgm:resizeHandles val="exact"/>
        </dgm:presLayoutVars>
      </dgm:prSet>
      <dgm:spPr/>
    </dgm:pt>
    <dgm:pt modelId="{0026271B-BD5B-EA4F-A2D4-8362B70402E4}" type="pres">
      <dgm:prSet presAssocID="{4D75875C-E5F8-C046-9EE0-B75B5F5BB975}" presName="node" presStyleLbl="node1" presStyleIdx="0" presStyleCnt="5">
        <dgm:presLayoutVars>
          <dgm:bulletEnabled val="1"/>
        </dgm:presLayoutVars>
      </dgm:prSet>
      <dgm:spPr/>
    </dgm:pt>
    <dgm:pt modelId="{8E1A8173-E832-4D46-9752-C16D18393F2B}" type="pres">
      <dgm:prSet presAssocID="{A2B23F53-A323-3D4E-B77F-3171D924DAD9}" presName="sibTrans" presStyleLbl="sibTrans2D1" presStyleIdx="0" presStyleCnt="4"/>
      <dgm:spPr/>
    </dgm:pt>
    <dgm:pt modelId="{A123CC9C-5314-204F-87AD-7F48055B535E}" type="pres">
      <dgm:prSet presAssocID="{A2B23F53-A323-3D4E-B77F-3171D924DAD9}" presName="connectorText" presStyleLbl="sibTrans2D1" presStyleIdx="0" presStyleCnt="4"/>
      <dgm:spPr/>
    </dgm:pt>
    <dgm:pt modelId="{3421F521-5EE9-BD4F-AC0A-7FC6AC4869DA}" type="pres">
      <dgm:prSet presAssocID="{1ED251BB-7C29-FB42-A1E4-CC5302DA9F3C}" presName="node" presStyleLbl="node1" presStyleIdx="1" presStyleCnt="5">
        <dgm:presLayoutVars>
          <dgm:bulletEnabled val="1"/>
        </dgm:presLayoutVars>
      </dgm:prSet>
      <dgm:spPr/>
    </dgm:pt>
    <dgm:pt modelId="{D4D8AD77-E8AE-DD49-8A98-0917D9B762DD}" type="pres">
      <dgm:prSet presAssocID="{BA999C55-F93F-1145-981F-6EDA4A0D4721}" presName="sibTrans" presStyleLbl="sibTrans2D1" presStyleIdx="1" presStyleCnt="4"/>
      <dgm:spPr/>
    </dgm:pt>
    <dgm:pt modelId="{F93661DD-F69A-F244-A952-0C7E046F3424}" type="pres">
      <dgm:prSet presAssocID="{BA999C55-F93F-1145-981F-6EDA4A0D4721}" presName="connectorText" presStyleLbl="sibTrans2D1" presStyleIdx="1" presStyleCnt="4"/>
      <dgm:spPr/>
    </dgm:pt>
    <dgm:pt modelId="{B443C485-FFEC-9C4F-8667-7DFB467F1F6A}" type="pres">
      <dgm:prSet presAssocID="{E7E675D1-D0CA-9943-A93A-7E61EC20F825}" presName="node" presStyleLbl="node1" presStyleIdx="2" presStyleCnt="5">
        <dgm:presLayoutVars>
          <dgm:bulletEnabled val="1"/>
        </dgm:presLayoutVars>
      </dgm:prSet>
      <dgm:spPr/>
    </dgm:pt>
    <dgm:pt modelId="{44C6E477-7E93-9A4E-ACC6-4ADAAC1296D6}" type="pres">
      <dgm:prSet presAssocID="{F4B5B791-08F4-104B-B099-AFB415DFA019}" presName="sibTrans" presStyleLbl="sibTrans2D1" presStyleIdx="2" presStyleCnt="4"/>
      <dgm:spPr/>
    </dgm:pt>
    <dgm:pt modelId="{9C012547-A66D-5041-89F4-9A439CABBD3B}" type="pres">
      <dgm:prSet presAssocID="{F4B5B791-08F4-104B-B099-AFB415DFA019}" presName="connectorText" presStyleLbl="sibTrans2D1" presStyleIdx="2" presStyleCnt="4"/>
      <dgm:spPr/>
    </dgm:pt>
    <dgm:pt modelId="{E8EA05E3-7091-574F-A5BA-B58C0F43F37A}" type="pres">
      <dgm:prSet presAssocID="{10F7EB93-9E55-2040-8E9F-C72D8B4214AF}" presName="node" presStyleLbl="node1" presStyleIdx="3" presStyleCnt="5">
        <dgm:presLayoutVars>
          <dgm:bulletEnabled val="1"/>
        </dgm:presLayoutVars>
      </dgm:prSet>
      <dgm:spPr/>
    </dgm:pt>
    <dgm:pt modelId="{85483EFF-9DA0-46E7-9AAB-F48027FE7DA6}" type="pres">
      <dgm:prSet presAssocID="{761FD97E-677E-F043-BAF4-4A5A5FE9B3AE}" presName="sibTrans" presStyleLbl="sibTrans2D1" presStyleIdx="3" presStyleCnt="4"/>
      <dgm:spPr/>
    </dgm:pt>
    <dgm:pt modelId="{C8C8FA80-26BE-441F-B7DC-5A71A76C7278}" type="pres">
      <dgm:prSet presAssocID="{761FD97E-677E-F043-BAF4-4A5A5FE9B3AE}" presName="connectorText" presStyleLbl="sibTrans2D1" presStyleIdx="3" presStyleCnt="4"/>
      <dgm:spPr/>
    </dgm:pt>
    <dgm:pt modelId="{E4A440DD-667F-4A86-8005-831E4BBD7395}" type="pres">
      <dgm:prSet presAssocID="{559C6B93-C908-48A2-8BBA-B21C695E0430}" presName="node" presStyleLbl="node1" presStyleIdx="4" presStyleCnt="5">
        <dgm:presLayoutVars>
          <dgm:bulletEnabled val="1"/>
        </dgm:presLayoutVars>
      </dgm:prSet>
      <dgm:spPr/>
    </dgm:pt>
  </dgm:ptLst>
  <dgm:cxnLst>
    <dgm:cxn modelId="{D403FD12-06D3-41EF-A919-D59A83FF2864}" type="presOf" srcId="{761FD97E-677E-F043-BAF4-4A5A5FE9B3AE}" destId="{C8C8FA80-26BE-441F-B7DC-5A71A76C7278}" srcOrd="1" destOrd="0" presId="urn:microsoft.com/office/officeart/2005/8/layout/process1"/>
    <dgm:cxn modelId="{920FF01D-E823-8C4A-8C18-5501C6FE8493}" type="presOf" srcId="{10F7EB93-9E55-2040-8E9F-C72D8B4214AF}" destId="{E8EA05E3-7091-574F-A5BA-B58C0F43F37A}" srcOrd="0" destOrd="0" presId="urn:microsoft.com/office/officeart/2005/8/layout/process1"/>
    <dgm:cxn modelId="{40720231-E918-47D1-BDCF-368EFDAAC61B}" type="presOf" srcId="{761FD97E-677E-F043-BAF4-4A5A5FE9B3AE}" destId="{85483EFF-9DA0-46E7-9AAB-F48027FE7DA6}" srcOrd="0" destOrd="0" presId="urn:microsoft.com/office/officeart/2005/8/layout/process1"/>
    <dgm:cxn modelId="{C4D3E55C-86B9-7740-B4C1-F9C3483480F1}" type="presOf" srcId="{F4B5B791-08F4-104B-B099-AFB415DFA019}" destId="{9C012547-A66D-5041-89F4-9A439CABBD3B}" srcOrd="1" destOrd="0" presId="urn:microsoft.com/office/officeart/2005/8/layout/process1"/>
    <dgm:cxn modelId="{006D9060-A4D7-7E44-898E-E7467FE4BDDA}" srcId="{CC74E6BC-3E17-AC43-AAE6-4B1DBA6952DF}" destId="{E7E675D1-D0CA-9943-A93A-7E61EC20F825}" srcOrd="2" destOrd="0" parTransId="{5E5A24E2-4F9F-0243-B432-9F8273AFB278}" sibTransId="{F4B5B791-08F4-104B-B099-AFB415DFA019}"/>
    <dgm:cxn modelId="{1BEA4B64-8131-384F-AC7F-54A5D5DDA972}" type="presOf" srcId="{BA999C55-F93F-1145-981F-6EDA4A0D4721}" destId="{D4D8AD77-E8AE-DD49-8A98-0917D9B762DD}" srcOrd="0" destOrd="0" presId="urn:microsoft.com/office/officeart/2005/8/layout/process1"/>
    <dgm:cxn modelId="{E3719352-8236-6B49-A29B-78261FDB9A7F}" type="presOf" srcId="{A2B23F53-A323-3D4E-B77F-3171D924DAD9}" destId="{A123CC9C-5314-204F-87AD-7F48055B535E}" srcOrd="1" destOrd="0" presId="urn:microsoft.com/office/officeart/2005/8/layout/process1"/>
    <dgm:cxn modelId="{E2E34753-374D-0C48-AB07-3EA8D7EFAEDD}" type="presOf" srcId="{F4B5B791-08F4-104B-B099-AFB415DFA019}" destId="{44C6E477-7E93-9A4E-ACC6-4ADAAC1296D6}" srcOrd="0" destOrd="0" presId="urn:microsoft.com/office/officeart/2005/8/layout/process1"/>
    <dgm:cxn modelId="{4DC1A878-DB30-4ACE-8CCA-ADB680D5668D}" type="presOf" srcId="{559C6B93-C908-48A2-8BBA-B21C695E0430}" destId="{E4A440DD-667F-4A86-8005-831E4BBD7395}" srcOrd="0" destOrd="0" presId="urn:microsoft.com/office/officeart/2005/8/layout/process1"/>
    <dgm:cxn modelId="{7D5BCD82-9465-C549-8FB0-66805EDE114F}" srcId="{CC74E6BC-3E17-AC43-AAE6-4B1DBA6952DF}" destId="{4D75875C-E5F8-C046-9EE0-B75B5F5BB975}" srcOrd="0" destOrd="0" parTransId="{643DA25E-D589-364B-BE30-D798965663C1}" sibTransId="{A2B23F53-A323-3D4E-B77F-3171D924DAD9}"/>
    <dgm:cxn modelId="{C9FFA88F-C1B6-C348-AC33-1EED011015C3}" srcId="{CC74E6BC-3E17-AC43-AAE6-4B1DBA6952DF}" destId="{1ED251BB-7C29-FB42-A1E4-CC5302DA9F3C}" srcOrd="1" destOrd="0" parTransId="{CEDF8F68-EB92-9642-B8A4-7BD206973A94}" sibTransId="{BA999C55-F93F-1145-981F-6EDA4A0D4721}"/>
    <dgm:cxn modelId="{6A06DD8F-EDBB-B744-9191-99CEFAC39DAC}" type="presOf" srcId="{CC74E6BC-3E17-AC43-AAE6-4B1DBA6952DF}" destId="{E155D8B6-FAFA-FD42-8B0E-30DDDBA9B8CD}" srcOrd="0" destOrd="0" presId="urn:microsoft.com/office/officeart/2005/8/layout/process1"/>
    <dgm:cxn modelId="{13BF25A8-6892-F443-B2D9-863D61FA12A3}" type="presOf" srcId="{E7E675D1-D0CA-9943-A93A-7E61EC20F825}" destId="{B443C485-FFEC-9C4F-8667-7DFB467F1F6A}" srcOrd="0" destOrd="0" presId="urn:microsoft.com/office/officeart/2005/8/layout/process1"/>
    <dgm:cxn modelId="{2F8EEEB4-8813-6C4F-81AE-69984FD2949E}" type="presOf" srcId="{4D75875C-E5F8-C046-9EE0-B75B5F5BB975}" destId="{0026271B-BD5B-EA4F-A2D4-8362B70402E4}" srcOrd="0" destOrd="0" presId="urn:microsoft.com/office/officeart/2005/8/layout/process1"/>
    <dgm:cxn modelId="{898A67CC-19BD-C64A-AF51-BFF0847F2FF8}" srcId="{CC74E6BC-3E17-AC43-AAE6-4B1DBA6952DF}" destId="{10F7EB93-9E55-2040-8E9F-C72D8B4214AF}" srcOrd="3" destOrd="0" parTransId="{80C87C9C-514A-A145-95D0-14E9154681E1}" sibTransId="{761FD97E-677E-F043-BAF4-4A5A5FE9B3AE}"/>
    <dgm:cxn modelId="{623F85D3-AE25-4678-86CF-013602EBC1F6}" srcId="{CC74E6BC-3E17-AC43-AAE6-4B1DBA6952DF}" destId="{559C6B93-C908-48A2-8BBA-B21C695E0430}" srcOrd="4" destOrd="0" parTransId="{DE817CB1-67C9-439E-9ADA-9FC592E5180E}" sibTransId="{2A72A1E5-55FC-4670-938D-DE183FA1ADCC}"/>
    <dgm:cxn modelId="{39DCD4DE-CA8A-E844-8485-E9FF5EE386CB}" type="presOf" srcId="{A2B23F53-A323-3D4E-B77F-3171D924DAD9}" destId="{8E1A8173-E832-4D46-9752-C16D18393F2B}" srcOrd="0" destOrd="0" presId="urn:microsoft.com/office/officeart/2005/8/layout/process1"/>
    <dgm:cxn modelId="{46F8A4DF-ED4E-6548-8B4F-E9B58D456B26}" type="presOf" srcId="{BA999C55-F93F-1145-981F-6EDA4A0D4721}" destId="{F93661DD-F69A-F244-A952-0C7E046F3424}" srcOrd="1" destOrd="0" presId="urn:microsoft.com/office/officeart/2005/8/layout/process1"/>
    <dgm:cxn modelId="{7378CBE4-A947-824D-8038-D3A55DA6B7A9}" type="presOf" srcId="{1ED251BB-7C29-FB42-A1E4-CC5302DA9F3C}" destId="{3421F521-5EE9-BD4F-AC0A-7FC6AC4869DA}" srcOrd="0" destOrd="0" presId="urn:microsoft.com/office/officeart/2005/8/layout/process1"/>
    <dgm:cxn modelId="{959D8AA2-C14A-A746-8CF8-3540F84B245D}" type="presParOf" srcId="{E155D8B6-FAFA-FD42-8B0E-30DDDBA9B8CD}" destId="{0026271B-BD5B-EA4F-A2D4-8362B70402E4}" srcOrd="0" destOrd="0" presId="urn:microsoft.com/office/officeart/2005/8/layout/process1"/>
    <dgm:cxn modelId="{B2184070-A4A8-DE4D-B9EC-F166CA9B2F91}" type="presParOf" srcId="{E155D8B6-FAFA-FD42-8B0E-30DDDBA9B8CD}" destId="{8E1A8173-E832-4D46-9752-C16D18393F2B}" srcOrd="1" destOrd="0" presId="urn:microsoft.com/office/officeart/2005/8/layout/process1"/>
    <dgm:cxn modelId="{CDBF53BF-EAB8-DA48-B790-6398769C7C77}" type="presParOf" srcId="{8E1A8173-E832-4D46-9752-C16D18393F2B}" destId="{A123CC9C-5314-204F-87AD-7F48055B535E}" srcOrd="0" destOrd="0" presId="urn:microsoft.com/office/officeart/2005/8/layout/process1"/>
    <dgm:cxn modelId="{B8522D96-1143-8945-86D0-82DC65249C35}" type="presParOf" srcId="{E155D8B6-FAFA-FD42-8B0E-30DDDBA9B8CD}" destId="{3421F521-5EE9-BD4F-AC0A-7FC6AC4869DA}" srcOrd="2" destOrd="0" presId="urn:microsoft.com/office/officeart/2005/8/layout/process1"/>
    <dgm:cxn modelId="{80C0D644-9427-D048-895D-381D181BEC48}" type="presParOf" srcId="{E155D8B6-FAFA-FD42-8B0E-30DDDBA9B8CD}" destId="{D4D8AD77-E8AE-DD49-8A98-0917D9B762DD}" srcOrd="3" destOrd="0" presId="urn:microsoft.com/office/officeart/2005/8/layout/process1"/>
    <dgm:cxn modelId="{DB5E01E8-D1EB-5E4F-AD31-C092715C316D}" type="presParOf" srcId="{D4D8AD77-E8AE-DD49-8A98-0917D9B762DD}" destId="{F93661DD-F69A-F244-A952-0C7E046F3424}" srcOrd="0" destOrd="0" presId="urn:microsoft.com/office/officeart/2005/8/layout/process1"/>
    <dgm:cxn modelId="{710E7320-B15C-AF47-94E9-74558EA77A6B}" type="presParOf" srcId="{E155D8B6-FAFA-FD42-8B0E-30DDDBA9B8CD}" destId="{B443C485-FFEC-9C4F-8667-7DFB467F1F6A}" srcOrd="4" destOrd="0" presId="urn:microsoft.com/office/officeart/2005/8/layout/process1"/>
    <dgm:cxn modelId="{C7421C14-B60F-7E48-A8C9-CEDA7812D0B7}" type="presParOf" srcId="{E155D8B6-FAFA-FD42-8B0E-30DDDBA9B8CD}" destId="{44C6E477-7E93-9A4E-ACC6-4ADAAC1296D6}" srcOrd="5" destOrd="0" presId="urn:microsoft.com/office/officeart/2005/8/layout/process1"/>
    <dgm:cxn modelId="{F71FA308-6AB7-F845-B321-2B2C13B754F2}" type="presParOf" srcId="{44C6E477-7E93-9A4E-ACC6-4ADAAC1296D6}" destId="{9C012547-A66D-5041-89F4-9A439CABBD3B}" srcOrd="0" destOrd="0" presId="urn:microsoft.com/office/officeart/2005/8/layout/process1"/>
    <dgm:cxn modelId="{F0AA7BD4-7B41-DD49-8E17-4AB830CB1F03}" type="presParOf" srcId="{E155D8B6-FAFA-FD42-8B0E-30DDDBA9B8CD}" destId="{E8EA05E3-7091-574F-A5BA-B58C0F43F37A}" srcOrd="6" destOrd="0" presId="urn:microsoft.com/office/officeart/2005/8/layout/process1"/>
    <dgm:cxn modelId="{5ED7D450-71D2-4E9C-A581-7505216BCBD1}" type="presParOf" srcId="{E155D8B6-FAFA-FD42-8B0E-30DDDBA9B8CD}" destId="{85483EFF-9DA0-46E7-9AAB-F48027FE7DA6}" srcOrd="7" destOrd="0" presId="urn:microsoft.com/office/officeart/2005/8/layout/process1"/>
    <dgm:cxn modelId="{83981F1B-2750-41FB-B6C5-F709809EA0FA}" type="presParOf" srcId="{85483EFF-9DA0-46E7-9AAB-F48027FE7DA6}" destId="{C8C8FA80-26BE-441F-B7DC-5A71A76C7278}" srcOrd="0" destOrd="0" presId="urn:microsoft.com/office/officeart/2005/8/layout/process1"/>
    <dgm:cxn modelId="{80110999-1DCA-4455-99B3-8DBBBF2FDF1C}" type="presParOf" srcId="{E155D8B6-FAFA-FD42-8B0E-30DDDBA9B8CD}" destId="{E4A440DD-667F-4A86-8005-831E4BBD7395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C74E6BC-3E17-AC43-AAE6-4B1DBA6952DF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4D75875C-E5F8-C046-9EE0-B75B5F5BB975}">
      <dgm:prSet custT="1"/>
      <dgm:spPr/>
      <dgm:t>
        <a:bodyPr/>
        <a:lstStyle/>
        <a:p>
          <a:r>
            <a:rPr lang="en-US" sz="2000" dirty="0"/>
            <a:t>Word vectors &amp; task-specific architectures (word2vec)</a:t>
          </a:r>
        </a:p>
      </dgm:t>
    </dgm:pt>
    <dgm:pt modelId="{643DA25E-D589-364B-BE30-D798965663C1}" type="parTrans" cxnId="{7D5BCD82-9465-C549-8FB0-66805EDE114F}">
      <dgm:prSet/>
      <dgm:spPr/>
      <dgm:t>
        <a:bodyPr/>
        <a:lstStyle/>
        <a:p>
          <a:endParaRPr lang="en-US" sz="2400"/>
        </a:p>
      </dgm:t>
    </dgm:pt>
    <dgm:pt modelId="{A2B23F53-A323-3D4E-B77F-3171D924DAD9}" type="sibTrans" cxnId="{7D5BCD82-9465-C549-8FB0-66805EDE114F}">
      <dgm:prSet custT="1"/>
      <dgm:spPr/>
      <dgm:t>
        <a:bodyPr/>
        <a:lstStyle/>
        <a:p>
          <a:endParaRPr lang="en-US" sz="1800"/>
        </a:p>
      </dgm:t>
    </dgm:pt>
    <dgm:pt modelId="{1ED251BB-7C29-FB42-A1E4-CC5302DA9F3C}">
      <dgm:prSet custT="1"/>
      <dgm:spPr/>
      <dgm:t>
        <a:bodyPr/>
        <a:lstStyle/>
        <a:p>
          <a:pPr algn="ctr"/>
          <a:r>
            <a:rPr lang="en-US" sz="2000" dirty="0"/>
            <a:t>Pre-train &amp; fine-tune (BERT) </a:t>
          </a:r>
        </a:p>
      </dgm:t>
    </dgm:pt>
    <dgm:pt modelId="{CEDF8F68-EB92-9642-B8A4-7BD206973A94}" type="parTrans" cxnId="{C9FFA88F-C1B6-C348-AC33-1EED011015C3}">
      <dgm:prSet/>
      <dgm:spPr/>
      <dgm:t>
        <a:bodyPr/>
        <a:lstStyle/>
        <a:p>
          <a:endParaRPr lang="en-US" sz="2400"/>
        </a:p>
      </dgm:t>
    </dgm:pt>
    <dgm:pt modelId="{BA999C55-F93F-1145-981F-6EDA4A0D4721}" type="sibTrans" cxnId="{C9FFA88F-C1B6-C348-AC33-1EED011015C3}">
      <dgm:prSet custT="1"/>
      <dgm:spPr/>
      <dgm:t>
        <a:bodyPr/>
        <a:lstStyle/>
        <a:p>
          <a:endParaRPr lang="en-US" sz="1800"/>
        </a:p>
      </dgm:t>
    </dgm:pt>
    <dgm:pt modelId="{E7E675D1-D0CA-9943-A93A-7E61EC20F825}">
      <dgm:prSet custT="1"/>
      <dgm:spPr/>
      <dgm:t>
        <a:bodyPr/>
        <a:lstStyle/>
        <a:p>
          <a:r>
            <a:rPr lang="en-US" sz="2000" dirty="0"/>
            <a:t>LLMs &amp; in-context learning (GPT3)</a:t>
          </a:r>
        </a:p>
      </dgm:t>
    </dgm:pt>
    <dgm:pt modelId="{5E5A24E2-4F9F-0243-B432-9F8273AFB278}" type="parTrans" cxnId="{006D9060-A4D7-7E44-898E-E7467FE4BDDA}">
      <dgm:prSet/>
      <dgm:spPr/>
      <dgm:t>
        <a:bodyPr/>
        <a:lstStyle/>
        <a:p>
          <a:endParaRPr lang="en-US" sz="2400"/>
        </a:p>
      </dgm:t>
    </dgm:pt>
    <dgm:pt modelId="{F4B5B791-08F4-104B-B099-AFB415DFA019}" type="sibTrans" cxnId="{006D9060-A4D7-7E44-898E-E7467FE4BDDA}">
      <dgm:prSet custT="1"/>
      <dgm:spPr/>
      <dgm:t>
        <a:bodyPr/>
        <a:lstStyle/>
        <a:p>
          <a:endParaRPr lang="en-US" sz="1800"/>
        </a:p>
      </dgm:t>
    </dgm:pt>
    <dgm:pt modelId="{10F7EB93-9E55-2040-8E9F-C72D8B4214AF}">
      <dgm:prSet custT="1"/>
      <dgm:spPr/>
      <dgm:t>
        <a:bodyPr/>
        <a:lstStyle/>
        <a:p>
          <a:r>
            <a:rPr lang="en-US" sz="2000" dirty="0"/>
            <a:t>Instruction tuning &amp; RLHF (</a:t>
          </a:r>
          <a:r>
            <a:rPr lang="en-US" sz="2000" dirty="0" err="1"/>
            <a:t>ChatGPT</a:t>
          </a:r>
          <a:r>
            <a:rPr lang="en-US" sz="2000" dirty="0"/>
            <a:t>)</a:t>
          </a:r>
        </a:p>
      </dgm:t>
    </dgm:pt>
    <dgm:pt modelId="{80C87C9C-514A-A145-95D0-14E9154681E1}" type="parTrans" cxnId="{898A67CC-19BD-C64A-AF51-BFF0847F2FF8}">
      <dgm:prSet/>
      <dgm:spPr/>
      <dgm:t>
        <a:bodyPr/>
        <a:lstStyle/>
        <a:p>
          <a:endParaRPr lang="en-US" sz="2400"/>
        </a:p>
      </dgm:t>
    </dgm:pt>
    <dgm:pt modelId="{761FD97E-677E-F043-BAF4-4A5A5FE9B3AE}" type="sibTrans" cxnId="{898A67CC-19BD-C64A-AF51-BFF0847F2FF8}">
      <dgm:prSet/>
      <dgm:spPr/>
      <dgm:t>
        <a:bodyPr/>
        <a:lstStyle/>
        <a:p>
          <a:endParaRPr lang="en-US" sz="2400"/>
        </a:p>
      </dgm:t>
    </dgm:pt>
    <dgm:pt modelId="{559C6B93-C908-48A2-8BBA-B21C695E0430}">
      <dgm:prSet custT="1"/>
      <dgm:spPr/>
      <dgm:t>
        <a:bodyPr/>
        <a:lstStyle/>
        <a:p>
          <a:r>
            <a:rPr lang="en-US" sz="2000" dirty="0">
              <a:solidFill>
                <a:srgbClr val="C00000"/>
              </a:solidFill>
            </a:rPr>
            <a:t>RL post-training (O1 &amp; </a:t>
          </a:r>
          <a:r>
            <a:rPr lang="en-US" sz="2000" dirty="0" err="1">
              <a:solidFill>
                <a:srgbClr val="C00000"/>
              </a:solidFill>
            </a:rPr>
            <a:t>Deepseek</a:t>
          </a:r>
          <a:r>
            <a:rPr lang="en-US" sz="2000" dirty="0">
              <a:solidFill>
                <a:srgbClr val="C00000"/>
              </a:solidFill>
            </a:rPr>
            <a:t> R1)</a:t>
          </a:r>
        </a:p>
      </dgm:t>
    </dgm:pt>
    <dgm:pt modelId="{DE817CB1-67C9-439E-9ADA-9FC592E5180E}" type="parTrans" cxnId="{623F85D3-AE25-4678-86CF-013602EBC1F6}">
      <dgm:prSet/>
      <dgm:spPr/>
      <dgm:t>
        <a:bodyPr/>
        <a:lstStyle/>
        <a:p>
          <a:endParaRPr lang="en-US"/>
        </a:p>
      </dgm:t>
    </dgm:pt>
    <dgm:pt modelId="{2A72A1E5-55FC-4670-938D-DE183FA1ADCC}" type="sibTrans" cxnId="{623F85D3-AE25-4678-86CF-013602EBC1F6}">
      <dgm:prSet/>
      <dgm:spPr/>
      <dgm:t>
        <a:bodyPr/>
        <a:lstStyle/>
        <a:p>
          <a:endParaRPr lang="en-US"/>
        </a:p>
      </dgm:t>
    </dgm:pt>
    <dgm:pt modelId="{E155D8B6-FAFA-FD42-8B0E-30DDDBA9B8CD}" type="pres">
      <dgm:prSet presAssocID="{CC74E6BC-3E17-AC43-AAE6-4B1DBA6952DF}" presName="Name0" presStyleCnt="0">
        <dgm:presLayoutVars>
          <dgm:dir/>
          <dgm:resizeHandles val="exact"/>
        </dgm:presLayoutVars>
      </dgm:prSet>
      <dgm:spPr/>
    </dgm:pt>
    <dgm:pt modelId="{0026271B-BD5B-EA4F-A2D4-8362B70402E4}" type="pres">
      <dgm:prSet presAssocID="{4D75875C-E5F8-C046-9EE0-B75B5F5BB975}" presName="node" presStyleLbl="node1" presStyleIdx="0" presStyleCnt="5">
        <dgm:presLayoutVars>
          <dgm:bulletEnabled val="1"/>
        </dgm:presLayoutVars>
      </dgm:prSet>
      <dgm:spPr/>
    </dgm:pt>
    <dgm:pt modelId="{8E1A8173-E832-4D46-9752-C16D18393F2B}" type="pres">
      <dgm:prSet presAssocID="{A2B23F53-A323-3D4E-B77F-3171D924DAD9}" presName="sibTrans" presStyleLbl="sibTrans2D1" presStyleIdx="0" presStyleCnt="4"/>
      <dgm:spPr/>
    </dgm:pt>
    <dgm:pt modelId="{A123CC9C-5314-204F-87AD-7F48055B535E}" type="pres">
      <dgm:prSet presAssocID="{A2B23F53-A323-3D4E-B77F-3171D924DAD9}" presName="connectorText" presStyleLbl="sibTrans2D1" presStyleIdx="0" presStyleCnt="4"/>
      <dgm:spPr/>
    </dgm:pt>
    <dgm:pt modelId="{3421F521-5EE9-BD4F-AC0A-7FC6AC4869DA}" type="pres">
      <dgm:prSet presAssocID="{1ED251BB-7C29-FB42-A1E4-CC5302DA9F3C}" presName="node" presStyleLbl="node1" presStyleIdx="1" presStyleCnt="5">
        <dgm:presLayoutVars>
          <dgm:bulletEnabled val="1"/>
        </dgm:presLayoutVars>
      </dgm:prSet>
      <dgm:spPr/>
    </dgm:pt>
    <dgm:pt modelId="{D4D8AD77-E8AE-DD49-8A98-0917D9B762DD}" type="pres">
      <dgm:prSet presAssocID="{BA999C55-F93F-1145-981F-6EDA4A0D4721}" presName="sibTrans" presStyleLbl="sibTrans2D1" presStyleIdx="1" presStyleCnt="4"/>
      <dgm:spPr/>
    </dgm:pt>
    <dgm:pt modelId="{F93661DD-F69A-F244-A952-0C7E046F3424}" type="pres">
      <dgm:prSet presAssocID="{BA999C55-F93F-1145-981F-6EDA4A0D4721}" presName="connectorText" presStyleLbl="sibTrans2D1" presStyleIdx="1" presStyleCnt="4"/>
      <dgm:spPr/>
    </dgm:pt>
    <dgm:pt modelId="{B443C485-FFEC-9C4F-8667-7DFB467F1F6A}" type="pres">
      <dgm:prSet presAssocID="{E7E675D1-D0CA-9943-A93A-7E61EC20F825}" presName="node" presStyleLbl="node1" presStyleIdx="2" presStyleCnt="5">
        <dgm:presLayoutVars>
          <dgm:bulletEnabled val="1"/>
        </dgm:presLayoutVars>
      </dgm:prSet>
      <dgm:spPr/>
    </dgm:pt>
    <dgm:pt modelId="{44C6E477-7E93-9A4E-ACC6-4ADAAC1296D6}" type="pres">
      <dgm:prSet presAssocID="{F4B5B791-08F4-104B-B099-AFB415DFA019}" presName="sibTrans" presStyleLbl="sibTrans2D1" presStyleIdx="2" presStyleCnt="4"/>
      <dgm:spPr/>
    </dgm:pt>
    <dgm:pt modelId="{9C012547-A66D-5041-89F4-9A439CABBD3B}" type="pres">
      <dgm:prSet presAssocID="{F4B5B791-08F4-104B-B099-AFB415DFA019}" presName="connectorText" presStyleLbl="sibTrans2D1" presStyleIdx="2" presStyleCnt="4"/>
      <dgm:spPr/>
    </dgm:pt>
    <dgm:pt modelId="{E8EA05E3-7091-574F-A5BA-B58C0F43F37A}" type="pres">
      <dgm:prSet presAssocID="{10F7EB93-9E55-2040-8E9F-C72D8B4214AF}" presName="node" presStyleLbl="node1" presStyleIdx="3" presStyleCnt="5">
        <dgm:presLayoutVars>
          <dgm:bulletEnabled val="1"/>
        </dgm:presLayoutVars>
      </dgm:prSet>
      <dgm:spPr/>
    </dgm:pt>
    <dgm:pt modelId="{85483EFF-9DA0-46E7-9AAB-F48027FE7DA6}" type="pres">
      <dgm:prSet presAssocID="{761FD97E-677E-F043-BAF4-4A5A5FE9B3AE}" presName="sibTrans" presStyleLbl="sibTrans2D1" presStyleIdx="3" presStyleCnt="4"/>
      <dgm:spPr/>
    </dgm:pt>
    <dgm:pt modelId="{C8C8FA80-26BE-441F-B7DC-5A71A76C7278}" type="pres">
      <dgm:prSet presAssocID="{761FD97E-677E-F043-BAF4-4A5A5FE9B3AE}" presName="connectorText" presStyleLbl="sibTrans2D1" presStyleIdx="3" presStyleCnt="4"/>
      <dgm:spPr/>
    </dgm:pt>
    <dgm:pt modelId="{E4A440DD-667F-4A86-8005-831E4BBD7395}" type="pres">
      <dgm:prSet presAssocID="{559C6B93-C908-48A2-8BBA-B21C695E0430}" presName="node" presStyleLbl="node1" presStyleIdx="4" presStyleCnt="5">
        <dgm:presLayoutVars>
          <dgm:bulletEnabled val="1"/>
        </dgm:presLayoutVars>
      </dgm:prSet>
      <dgm:spPr/>
    </dgm:pt>
  </dgm:ptLst>
  <dgm:cxnLst>
    <dgm:cxn modelId="{D403FD12-06D3-41EF-A919-D59A83FF2864}" type="presOf" srcId="{761FD97E-677E-F043-BAF4-4A5A5FE9B3AE}" destId="{C8C8FA80-26BE-441F-B7DC-5A71A76C7278}" srcOrd="1" destOrd="0" presId="urn:microsoft.com/office/officeart/2005/8/layout/process1"/>
    <dgm:cxn modelId="{920FF01D-E823-8C4A-8C18-5501C6FE8493}" type="presOf" srcId="{10F7EB93-9E55-2040-8E9F-C72D8B4214AF}" destId="{E8EA05E3-7091-574F-A5BA-B58C0F43F37A}" srcOrd="0" destOrd="0" presId="urn:microsoft.com/office/officeart/2005/8/layout/process1"/>
    <dgm:cxn modelId="{40720231-E918-47D1-BDCF-368EFDAAC61B}" type="presOf" srcId="{761FD97E-677E-F043-BAF4-4A5A5FE9B3AE}" destId="{85483EFF-9DA0-46E7-9AAB-F48027FE7DA6}" srcOrd="0" destOrd="0" presId="urn:microsoft.com/office/officeart/2005/8/layout/process1"/>
    <dgm:cxn modelId="{C4D3E55C-86B9-7740-B4C1-F9C3483480F1}" type="presOf" srcId="{F4B5B791-08F4-104B-B099-AFB415DFA019}" destId="{9C012547-A66D-5041-89F4-9A439CABBD3B}" srcOrd="1" destOrd="0" presId="urn:microsoft.com/office/officeart/2005/8/layout/process1"/>
    <dgm:cxn modelId="{006D9060-A4D7-7E44-898E-E7467FE4BDDA}" srcId="{CC74E6BC-3E17-AC43-AAE6-4B1DBA6952DF}" destId="{E7E675D1-D0CA-9943-A93A-7E61EC20F825}" srcOrd="2" destOrd="0" parTransId="{5E5A24E2-4F9F-0243-B432-9F8273AFB278}" sibTransId="{F4B5B791-08F4-104B-B099-AFB415DFA019}"/>
    <dgm:cxn modelId="{1BEA4B64-8131-384F-AC7F-54A5D5DDA972}" type="presOf" srcId="{BA999C55-F93F-1145-981F-6EDA4A0D4721}" destId="{D4D8AD77-E8AE-DD49-8A98-0917D9B762DD}" srcOrd="0" destOrd="0" presId="urn:microsoft.com/office/officeart/2005/8/layout/process1"/>
    <dgm:cxn modelId="{E3719352-8236-6B49-A29B-78261FDB9A7F}" type="presOf" srcId="{A2B23F53-A323-3D4E-B77F-3171D924DAD9}" destId="{A123CC9C-5314-204F-87AD-7F48055B535E}" srcOrd="1" destOrd="0" presId="urn:microsoft.com/office/officeart/2005/8/layout/process1"/>
    <dgm:cxn modelId="{E2E34753-374D-0C48-AB07-3EA8D7EFAEDD}" type="presOf" srcId="{F4B5B791-08F4-104B-B099-AFB415DFA019}" destId="{44C6E477-7E93-9A4E-ACC6-4ADAAC1296D6}" srcOrd="0" destOrd="0" presId="urn:microsoft.com/office/officeart/2005/8/layout/process1"/>
    <dgm:cxn modelId="{4DC1A878-DB30-4ACE-8CCA-ADB680D5668D}" type="presOf" srcId="{559C6B93-C908-48A2-8BBA-B21C695E0430}" destId="{E4A440DD-667F-4A86-8005-831E4BBD7395}" srcOrd="0" destOrd="0" presId="urn:microsoft.com/office/officeart/2005/8/layout/process1"/>
    <dgm:cxn modelId="{7D5BCD82-9465-C549-8FB0-66805EDE114F}" srcId="{CC74E6BC-3E17-AC43-AAE6-4B1DBA6952DF}" destId="{4D75875C-E5F8-C046-9EE0-B75B5F5BB975}" srcOrd="0" destOrd="0" parTransId="{643DA25E-D589-364B-BE30-D798965663C1}" sibTransId="{A2B23F53-A323-3D4E-B77F-3171D924DAD9}"/>
    <dgm:cxn modelId="{C9FFA88F-C1B6-C348-AC33-1EED011015C3}" srcId="{CC74E6BC-3E17-AC43-AAE6-4B1DBA6952DF}" destId="{1ED251BB-7C29-FB42-A1E4-CC5302DA9F3C}" srcOrd="1" destOrd="0" parTransId="{CEDF8F68-EB92-9642-B8A4-7BD206973A94}" sibTransId="{BA999C55-F93F-1145-981F-6EDA4A0D4721}"/>
    <dgm:cxn modelId="{6A06DD8F-EDBB-B744-9191-99CEFAC39DAC}" type="presOf" srcId="{CC74E6BC-3E17-AC43-AAE6-4B1DBA6952DF}" destId="{E155D8B6-FAFA-FD42-8B0E-30DDDBA9B8CD}" srcOrd="0" destOrd="0" presId="urn:microsoft.com/office/officeart/2005/8/layout/process1"/>
    <dgm:cxn modelId="{13BF25A8-6892-F443-B2D9-863D61FA12A3}" type="presOf" srcId="{E7E675D1-D0CA-9943-A93A-7E61EC20F825}" destId="{B443C485-FFEC-9C4F-8667-7DFB467F1F6A}" srcOrd="0" destOrd="0" presId="urn:microsoft.com/office/officeart/2005/8/layout/process1"/>
    <dgm:cxn modelId="{2F8EEEB4-8813-6C4F-81AE-69984FD2949E}" type="presOf" srcId="{4D75875C-E5F8-C046-9EE0-B75B5F5BB975}" destId="{0026271B-BD5B-EA4F-A2D4-8362B70402E4}" srcOrd="0" destOrd="0" presId="urn:microsoft.com/office/officeart/2005/8/layout/process1"/>
    <dgm:cxn modelId="{898A67CC-19BD-C64A-AF51-BFF0847F2FF8}" srcId="{CC74E6BC-3E17-AC43-AAE6-4B1DBA6952DF}" destId="{10F7EB93-9E55-2040-8E9F-C72D8B4214AF}" srcOrd="3" destOrd="0" parTransId="{80C87C9C-514A-A145-95D0-14E9154681E1}" sibTransId="{761FD97E-677E-F043-BAF4-4A5A5FE9B3AE}"/>
    <dgm:cxn modelId="{623F85D3-AE25-4678-86CF-013602EBC1F6}" srcId="{CC74E6BC-3E17-AC43-AAE6-4B1DBA6952DF}" destId="{559C6B93-C908-48A2-8BBA-B21C695E0430}" srcOrd="4" destOrd="0" parTransId="{DE817CB1-67C9-439E-9ADA-9FC592E5180E}" sibTransId="{2A72A1E5-55FC-4670-938D-DE183FA1ADCC}"/>
    <dgm:cxn modelId="{39DCD4DE-CA8A-E844-8485-E9FF5EE386CB}" type="presOf" srcId="{A2B23F53-A323-3D4E-B77F-3171D924DAD9}" destId="{8E1A8173-E832-4D46-9752-C16D18393F2B}" srcOrd="0" destOrd="0" presId="urn:microsoft.com/office/officeart/2005/8/layout/process1"/>
    <dgm:cxn modelId="{46F8A4DF-ED4E-6548-8B4F-E9B58D456B26}" type="presOf" srcId="{BA999C55-F93F-1145-981F-6EDA4A0D4721}" destId="{F93661DD-F69A-F244-A952-0C7E046F3424}" srcOrd="1" destOrd="0" presId="urn:microsoft.com/office/officeart/2005/8/layout/process1"/>
    <dgm:cxn modelId="{7378CBE4-A947-824D-8038-D3A55DA6B7A9}" type="presOf" srcId="{1ED251BB-7C29-FB42-A1E4-CC5302DA9F3C}" destId="{3421F521-5EE9-BD4F-AC0A-7FC6AC4869DA}" srcOrd="0" destOrd="0" presId="urn:microsoft.com/office/officeart/2005/8/layout/process1"/>
    <dgm:cxn modelId="{959D8AA2-C14A-A746-8CF8-3540F84B245D}" type="presParOf" srcId="{E155D8B6-FAFA-FD42-8B0E-30DDDBA9B8CD}" destId="{0026271B-BD5B-EA4F-A2D4-8362B70402E4}" srcOrd="0" destOrd="0" presId="urn:microsoft.com/office/officeart/2005/8/layout/process1"/>
    <dgm:cxn modelId="{B2184070-A4A8-DE4D-B9EC-F166CA9B2F91}" type="presParOf" srcId="{E155D8B6-FAFA-FD42-8B0E-30DDDBA9B8CD}" destId="{8E1A8173-E832-4D46-9752-C16D18393F2B}" srcOrd="1" destOrd="0" presId="urn:microsoft.com/office/officeart/2005/8/layout/process1"/>
    <dgm:cxn modelId="{CDBF53BF-EAB8-DA48-B790-6398769C7C77}" type="presParOf" srcId="{8E1A8173-E832-4D46-9752-C16D18393F2B}" destId="{A123CC9C-5314-204F-87AD-7F48055B535E}" srcOrd="0" destOrd="0" presId="urn:microsoft.com/office/officeart/2005/8/layout/process1"/>
    <dgm:cxn modelId="{B8522D96-1143-8945-86D0-82DC65249C35}" type="presParOf" srcId="{E155D8B6-FAFA-FD42-8B0E-30DDDBA9B8CD}" destId="{3421F521-5EE9-BD4F-AC0A-7FC6AC4869DA}" srcOrd="2" destOrd="0" presId="urn:microsoft.com/office/officeart/2005/8/layout/process1"/>
    <dgm:cxn modelId="{80C0D644-9427-D048-895D-381D181BEC48}" type="presParOf" srcId="{E155D8B6-FAFA-FD42-8B0E-30DDDBA9B8CD}" destId="{D4D8AD77-E8AE-DD49-8A98-0917D9B762DD}" srcOrd="3" destOrd="0" presId="urn:microsoft.com/office/officeart/2005/8/layout/process1"/>
    <dgm:cxn modelId="{DB5E01E8-D1EB-5E4F-AD31-C092715C316D}" type="presParOf" srcId="{D4D8AD77-E8AE-DD49-8A98-0917D9B762DD}" destId="{F93661DD-F69A-F244-A952-0C7E046F3424}" srcOrd="0" destOrd="0" presId="urn:microsoft.com/office/officeart/2005/8/layout/process1"/>
    <dgm:cxn modelId="{710E7320-B15C-AF47-94E9-74558EA77A6B}" type="presParOf" srcId="{E155D8B6-FAFA-FD42-8B0E-30DDDBA9B8CD}" destId="{B443C485-FFEC-9C4F-8667-7DFB467F1F6A}" srcOrd="4" destOrd="0" presId="urn:microsoft.com/office/officeart/2005/8/layout/process1"/>
    <dgm:cxn modelId="{C7421C14-B60F-7E48-A8C9-CEDA7812D0B7}" type="presParOf" srcId="{E155D8B6-FAFA-FD42-8B0E-30DDDBA9B8CD}" destId="{44C6E477-7E93-9A4E-ACC6-4ADAAC1296D6}" srcOrd="5" destOrd="0" presId="urn:microsoft.com/office/officeart/2005/8/layout/process1"/>
    <dgm:cxn modelId="{F71FA308-6AB7-F845-B321-2B2C13B754F2}" type="presParOf" srcId="{44C6E477-7E93-9A4E-ACC6-4ADAAC1296D6}" destId="{9C012547-A66D-5041-89F4-9A439CABBD3B}" srcOrd="0" destOrd="0" presId="urn:microsoft.com/office/officeart/2005/8/layout/process1"/>
    <dgm:cxn modelId="{F0AA7BD4-7B41-DD49-8E17-4AB830CB1F03}" type="presParOf" srcId="{E155D8B6-FAFA-FD42-8B0E-30DDDBA9B8CD}" destId="{E8EA05E3-7091-574F-A5BA-B58C0F43F37A}" srcOrd="6" destOrd="0" presId="urn:microsoft.com/office/officeart/2005/8/layout/process1"/>
    <dgm:cxn modelId="{5ED7D450-71D2-4E9C-A581-7505216BCBD1}" type="presParOf" srcId="{E155D8B6-FAFA-FD42-8B0E-30DDDBA9B8CD}" destId="{85483EFF-9DA0-46E7-9AAB-F48027FE7DA6}" srcOrd="7" destOrd="0" presId="urn:microsoft.com/office/officeart/2005/8/layout/process1"/>
    <dgm:cxn modelId="{83981F1B-2750-41FB-B6C5-F709809EA0FA}" type="presParOf" srcId="{85483EFF-9DA0-46E7-9AAB-F48027FE7DA6}" destId="{C8C8FA80-26BE-441F-B7DC-5A71A76C7278}" srcOrd="0" destOrd="0" presId="urn:microsoft.com/office/officeart/2005/8/layout/process1"/>
    <dgm:cxn modelId="{80110999-1DCA-4455-99B3-8DBBBF2FDF1C}" type="presParOf" srcId="{E155D8B6-FAFA-FD42-8B0E-30DDDBA9B8CD}" destId="{E4A440DD-667F-4A86-8005-831E4BBD7395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26271B-BD5B-EA4F-A2D4-8362B70402E4}">
      <dsp:nvSpPr>
        <dsp:cNvPr id="0" name=""/>
        <dsp:cNvSpPr/>
      </dsp:nvSpPr>
      <dsp:spPr>
        <a:xfrm>
          <a:off x="10901" y="1403936"/>
          <a:ext cx="1688957" cy="16784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Word vectors &amp; task-specific architectures (word2vec)</a:t>
          </a:r>
        </a:p>
      </dsp:txBody>
      <dsp:txXfrm>
        <a:off x="60060" y="1453095"/>
        <a:ext cx="1590639" cy="1580083"/>
      </dsp:txXfrm>
    </dsp:sp>
    <dsp:sp modelId="{8E1A8173-E832-4D46-9752-C16D18393F2B}">
      <dsp:nvSpPr>
        <dsp:cNvPr id="0" name=""/>
        <dsp:cNvSpPr/>
      </dsp:nvSpPr>
      <dsp:spPr>
        <a:xfrm>
          <a:off x="1868754" y="2033706"/>
          <a:ext cx="358058" cy="41886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1868754" y="2117478"/>
        <a:ext cx="250641" cy="251317"/>
      </dsp:txXfrm>
    </dsp:sp>
    <dsp:sp modelId="{3421F521-5EE9-BD4F-AC0A-7FC6AC4869DA}">
      <dsp:nvSpPr>
        <dsp:cNvPr id="0" name=""/>
        <dsp:cNvSpPr/>
      </dsp:nvSpPr>
      <dsp:spPr>
        <a:xfrm>
          <a:off x="2375442" y="1403936"/>
          <a:ext cx="1688957" cy="16784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Pre-train &amp; fine-tune (BERT) </a:t>
          </a:r>
        </a:p>
      </dsp:txBody>
      <dsp:txXfrm>
        <a:off x="2424601" y="1453095"/>
        <a:ext cx="1590639" cy="1580083"/>
      </dsp:txXfrm>
    </dsp:sp>
    <dsp:sp modelId="{D4D8AD77-E8AE-DD49-8A98-0917D9B762DD}">
      <dsp:nvSpPr>
        <dsp:cNvPr id="0" name=""/>
        <dsp:cNvSpPr/>
      </dsp:nvSpPr>
      <dsp:spPr>
        <a:xfrm>
          <a:off x="4233295" y="2033706"/>
          <a:ext cx="358058" cy="41886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233295" y="2117478"/>
        <a:ext cx="250641" cy="251317"/>
      </dsp:txXfrm>
    </dsp:sp>
    <dsp:sp modelId="{B443C485-FFEC-9C4F-8667-7DFB467F1F6A}">
      <dsp:nvSpPr>
        <dsp:cNvPr id="0" name=""/>
        <dsp:cNvSpPr/>
      </dsp:nvSpPr>
      <dsp:spPr>
        <a:xfrm>
          <a:off x="4739982" y="1403936"/>
          <a:ext cx="1688957" cy="16784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LLMs &amp; in-context learning (GPT3)</a:t>
          </a:r>
        </a:p>
      </dsp:txBody>
      <dsp:txXfrm>
        <a:off x="4789141" y="1453095"/>
        <a:ext cx="1590639" cy="1580083"/>
      </dsp:txXfrm>
    </dsp:sp>
    <dsp:sp modelId="{44C6E477-7E93-9A4E-ACC6-4ADAAC1296D6}">
      <dsp:nvSpPr>
        <dsp:cNvPr id="0" name=""/>
        <dsp:cNvSpPr/>
      </dsp:nvSpPr>
      <dsp:spPr>
        <a:xfrm>
          <a:off x="6597835" y="2033706"/>
          <a:ext cx="358058" cy="41886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597835" y="2117478"/>
        <a:ext cx="250641" cy="251317"/>
      </dsp:txXfrm>
    </dsp:sp>
    <dsp:sp modelId="{E8EA05E3-7091-574F-A5BA-B58C0F43F37A}">
      <dsp:nvSpPr>
        <dsp:cNvPr id="0" name=""/>
        <dsp:cNvSpPr/>
      </dsp:nvSpPr>
      <dsp:spPr>
        <a:xfrm>
          <a:off x="7104522" y="1403936"/>
          <a:ext cx="1688957" cy="16784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Instruction tuning &amp; RLHF (</a:t>
          </a:r>
          <a:r>
            <a:rPr lang="en-US" sz="2000" kern="1200" dirty="0" err="1"/>
            <a:t>ChatGPT</a:t>
          </a:r>
          <a:r>
            <a:rPr lang="en-US" sz="2000" kern="1200" dirty="0"/>
            <a:t>)</a:t>
          </a:r>
        </a:p>
      </dsp:txBody>
      <dsp:txXfrm>
        <a:off x="7153681" y="1453095"/>
        <a:ext cx="1590639" cy="1580083"/>
      </dsp:txXfrm>
    </dsp:sp>
    <dsp:sp modelId="{85483EFF-9DA0-46E7-9AAB-F48027FE7DA6}">
      <dsp:nvSpPr>
        <dsp:cNvPr id="0" name=""/>
        <dsp:cNvSpPr/>
      </dsp:nvSpPr>
      <dsp:spPr>
        <a:xfrm>
          <a:off x="8962375" y="2033706"/>
          <a:ext cx="358058" cy="41886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8962375" y="2117478"/>
        <a:ext cx="250641" cy="251317"/>
      </dsp:txXfrm>
    </dsp:sp>
    <dsp:sp modelId="{E4A440DD-667F-4A86-8005-831E4BBD7395}">
      <dsp:nvSpPr>
        <dsp:cNvPr id="0" name=""/>
        <dsp:cNvSpPr/>
      </dsp:nvSpPr>
      <dsp:spPr>
        <a:xfrm>
          <a:off x="9469062" y="1403936"/>
          <a:ext cx="1688957" cy="16784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RL post-training (O1 &amp; </a:t>
          </a:r>
          <a:r>
            <a:rPr lang="en-US" sz="2000" kern="1200" dirty="0" err="1"/>
            <a:t>Deepseek</a:t>
          </a:r>
          <a:r>
            <a:rPr lang="en-US" sz="2000" kern="1200" dirty="0"/>
            <a:t> R1)</a:t>
          </a:r>
        </a:p>
      </dsp:txBody>
      <dsp:txXfrm>
        <a:off x="9518221" y="1453095"/>
        <a:ext cx="1590639" cy="15800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26271B-BD5B-EA4F-A2D4-8362B70402E4}">
      <dsp:nvSpPr>
        <dsp:cNvPr id="0" name=""/>
        <dsp:cNvSpPr/>
      </dsp:nvSpPr>
      <dsp:spPr>
        <a:xfrm>
          <a:off x="8550" y="1520493"/>
          <a:ext cx="1963836" cy="144528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Word vectors &amp; task-specific architectures (word2vec)</a:t>
          </a:r>
        </a:p>
      </dsp:txBody>
      <dsp:txXfrm>
        <a:off x="50881" y="1562824"/>
        <a:ext cx="1879174" cy="1360626"/>
      </dsp:txXfrm>
    </dsp:sp>
    <dsp:sp modelId="{8E1A8173-E832-4D46-9752-C16D18393F2B}">
      <dsp:nvSpPr>
        <dsp:cNvPr id="0" name=""/>
        <dsp:cNvSpPr/>
      </dsp:nvSpPr>
      <dsp:spPr>
        <a:xfrm>
          <a:off x="2132565" y="2044516"/>
          <a:ext cx="339578" cy="397242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2132565" y="2123964"/>
        <a:ext cx="237705" cy="238346"/>
      </dsp:txXfrm>
    </dsp:sp>
    <dsp:sp modelId="{3421F521-5EE9-BD4F-AC0A-7FC6AC4869DA}">
      <dsp:nvSpPr>
        <dsp:cNvPr id="0" name=""/>
        <dsp:cNvSpPr/>
      </dsp:nvSpPr>
      <dsp:spPr>
        <a:xfrm>
          <a:off x="2613101" y="1568649"/>
          <a:ext cx="1819772" cy="134897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Pre-train &amp; fine-tune (BERT) </a:t>
          </a:r>
        </a:p>
      </dsp:txBody>
      <dsp:txXfrm>
        <a:off x="2652611" y="1608159"/>
        <a:ext cx="1740752" cy="1269955"/>
      </dsp:txXfrm>
    </dsp:sp>
    <dsp:sp modelId="{D4D8AD77-E8AE-DD49-8A98-0917D9B762DD}">
      <dsp:nvSpPr>
        <dsp:cNvPr id="0" name=""/>
        <dsp:cNvSpPr/>
      </dsp:nvSpPr>
      <dsp:spPr>
        <a:xfrm>
          <a:off x="4593051" y="2044516"/>
          <a:ext cx="339578" cy="397242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593051" y="2123964"/>
        <a:ext cx="237705" cy="238346"/>
      </dsp:txXfrm>
    </dsp:sp>
    <dsp:sp modelId="{B443C485-FFEC-9C4F-8667-7DFB467F1F6A}">
      <dsp:nvSpPr>
        <dsp:cNvPr id="0" name=""/>
        <dsp:cNvSpPr/>
      </dsp:nvSpPr>
      <dsp:spPr>
        <a:xfrm>
          <a:off x="5073587" y="1567447"/>
          <a:ext cx="1601785" cy="135138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LLMs &amp; in-context learning (GPT3)</a:t>
          </a:r>
        </a:p>
      </dsp:txBody>
      <dsp:txXfrm>
        <a:off x="5113168" y="1607028"/>
        <a:ext cx="1522623" cy="1272218"/>
      </dsp:txXfrm>
    </dsp:sp>
    <dsp:sp modelId="{44C6E477-7E93-9A4E-ACC6-4ADAAC1296D6}">
      <dsp:nvSpPr>
        <dsp:cNvPr id="0" name=""/>
        <dsp:cNvSpPr/>
      </dsp:nvSpPr>
      <dsp:spPr>
        <a:xfrm>
          <a:off x="6835551" y="2044516"/>
          <a:ext cx="339578" cy="397242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835551" y="2123964"/>
        <a:ext cx="237705" cy="238346"/>
      </dsp:txXfrm>
    </dsp:sp>
    <dsp:sp modelId="{E8EA05E3-7091-574F-A5BA-B58C0F43F37A}">
      <dsp:nvSpPr>
        <dsp:cNvPr id="0" name=""/>
        <dsp:cNvSpPr/>
      </dsp:nvSpPr>
      <dsp:spPr>
        <a:xfrm>
          <a:off x="7316087" y="1567447"/>
          <a:ext cx="1601785" cy="135138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Instruction tuning &amp; RLHF (</a:t>
          </a:r>
          <a:r>
            <a:rPr lang="en-US" sz="2000" kern="1200" dirty="0" err="1"/>
            <a:t>ChatGPT</a:t>
          </a:r>
          <a:r>
            <a:rPr lang="en-US" sz="2000" kern="1200" dirty="0"/>
            <a:t>)</a:t>
          </a:r>
        </a:p>
      </dsp:txBody>
      <dsp:txXfrm>
        <a:off x="7355668" y="1607028"/>
        <a:ext cx="1522623" cy="1272218"/>
      </dsp:txXfrm>
    </dsp:sp>
    <dsp:sp modelId="{85483EFF-9DA0-46E7-9AAB-F48027FE7DA6}">
      <dsp:nvSpPr>
        <dsp:cNvPr id="0" name=""/>
        <dsp:cNvSpPr/>
      </dsp:nvSpPr>
      <dsp:spPr>
        <a:xfrm>
          <a:off x="9078050" y="2044516"/>
          <a:ext cx="339578" cy="397242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9078050" y="2123964"/>
        <a:ext cx="237705" cy="238346"/>
      </dsp:txXfrm>
    </dsp:sp>
    <dsp:sp modelId="{E4A440DD-667F-4A86-8005-831E4BBD7395}">
      <dsp:nvSpPr>
        <dsp:cNvPr id="0" name=""/>
        <dsp:cNvSpPr/>
      </dsp:nvSpPr>
      <dsp:spPr>
        <a:xfrm>
          <a:off x="9558586" y="1567447"/>
          <a:ext cx="1601785" cy="135138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RL post-training (O1 &amp; </a:t>
          </a:r>
          <a:r>
            <a:rPr lang="en-US" sz="2000" kern="1200" dirty="0" err="1"/>
            <a:t>Deepseek</a:t>
          </a:r>
          <a:r>
            <a:rPr lang="en-US" sz="2000" kern="1200" dirty="0"/>
            <a:t> R1)</a:t>
          </a:r>
        </a:p>
      </dsp:txBody>
      <dsp:txXfrm>
        <a:off x="9598167" y="1607028"/>
        <a:ext cx="1522623" cy="12722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26271B-BD5B-EA4F-A2D4-8362B70402E4}">
      <dsp:nvSpPr>
        <dsp:cNvPr id="0" name=""/>
        <dsp:cNvSpPr/>
      </dsp:nvSpPr>
      <dsp:spPr>
        <a:xfrm>
          <a:off x="10901" y="1403936"/>
          <a:ext cx="1688957" cy="16784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Word vectors &amp; task-specific architectures (word2vec)</a:t>
          </a:r>
        </a:p>
      </dsp:txBody>
      <dsp:txXfrm>
        <a:off x="60060" y="1453095"/>
        <a:ext cx="1590639" cy="1580083"/>
      </dsp:txXfrm>
    </dsp:sp>
    <dsp:sp modelId="{8E1A8173-E832-4D46-9752-C16D18393F2B}">
      <dsp:nvSpPr>
        <dsp:cNvPr id="0" name=""/>
        <dsp:cNvSpPr/>
      </dsp:nvSpPr>
      <dsp:spPr>
        <a:xfrm>
          <a:off x="1868754" y="2033706"/>
          <a:ext cx="358058" cy="41886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1868754" y="2117478"/>
        <a:ext cx="250641" cy="251317"/>
      </dsp:txXfrm>
    </dsp:sp>
    <dsp:sp modelId="{3421F521-5EE9-BD4F-AC0A-7FC6AC4869DA}">
      <dsp:nvSpPr>
        <dsp:cNvPr id="0" name=""/>
        <dsp:cNvSpPr/>
      </dsp:nvSpPr>
      <dsp:spPr>
        <a:xfrm>
          <a:off x="2375442" y="1403936"/>
          <a:ext cx="1688957" cy="16784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C00000"/>
              </a:solidFill>
            </a:rPr>
            <a:t>Pre-train &amp; fine-tune (BERT) </a:t>
          </a:r>
        </a:p>
      </dsp:txBody>
      <dsp:txXfrm>
        <a:off x="2424601" y="1453095"/>
        <a:ext cx="1590639" cy="1580083"/>
      </dsp:txXfrm>
    </dsp:sp>
    <dsp:sp modelId="{D4D8AD77-E8AE-DD49-8A98-0917D9B762DD}">
      <dsp:nvSpPr>
        <dsp:cNvPr id="0" name=""/>
        <dsp:cNvSpPr/>
      </dsp:nvSpPr>
      <dsp:spPr>
        <a:xfrm>
          <a:off x="4233295" y="2033706"/>
          <a:ext cx="358058" cy="41886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233295" y="2117478"/>
        <a:ext cx="250641" cy="251317"/>
      </dsp:txXfrm>
    </dsp:sp>
    <dsp:sp modelId="{B443C485-FFEC-9C4F-8667-7DFB467F1F6A}">
      <dsp:nvSpPr>
        <dsp:cNvPr id="0" name=""/>
        <dsp:cNvSpPr/>
      </dsp:nvSpPr>
      <dsp:spPr>
        <a:xfrm>
          <a:off x="4739982" y="1403936"/>
          <a:ext cx="1688957" cy="16784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</a:rPr>
            <a:t>LLMs &amp; in-context learning (GPT3)</a:t>
          </a:r>
        </a:p>
      </dsp:txBody>
      <dsp:txXfrm>
        <a:off x="4789141" y="1453095"/>
        <a:ext cx="1590639" cy="1580083"/>
      </dsp:txXfrm>
    </dsp:sp>
    <dsp:sp modelId="{44C6E477-7E93-9A4E-ACC6-4ADAAC1296D6}">
      <dsp:nvSpPr>
        <dsp:cNvPr id="0" name=""/>
        <dsp:cNvSpPr/>
      </dsp:nvSpPr>
      <dsp:spPr>
        <a:xfrm>
          <a:off x="6597835" y="2033706"/>
          <a:ext cx="358058" cy="41886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597835" y="2117478"/>
        <a:ext cx="250641" cy="251317"/>
      </dsp:txXfrm>
    </dsp:sp>
    <dsp:sp modelId="{E8EA05E3-7091-574F-A5BA-B58C0F43F37A}">
      <dsp:nvSpPr>
        <dsp:cNvPr id="0" name=""/>
        <dsp:cNvSpPr/>
      </dsp:nvSpPr>
      <dsp:spPr>
        <a:xfrm>
          <a:off x="7104522" y="1403936"/>
          <a:ext cx="1688957" cy="16784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Instruction tuning &amp; RLHF (</a:t>
          </a:r>
          <a:r>
            <a:rPr lang="en-US" sz="2000" kern="1200" dirty="0" err="1"/>
            <a:t>ChatGPT</a:t>
          </a:r>
          <a:r>
            <a:rPr lang="en-US" sz="2000" kern="1200" dirty="0"/>
            <a:t>)</a:t>
          </a:r>
        </a:p>
      </dsp:txBody>
      <dsp:txXfrm>
        <a:off x="7153681" y="1453095"/>
        <a:ext cx="1590639" cy="1580083"/>
      </dsp:txXfrm>
    </dsp:sp>
    <dsp:sp modelId="{85483EFF-9DA0-46E7-9AAB-F48027FE7DA6}">
      <dsp:nvSpPr>
        <dsp:cNvPr id="0" name=""/>
        <dsp:cNvSpPr/>
      </dsp:nvSpPr>
      <dsp:spPr>
        <a:xfrm>
          <a:off x="8962375" y="2033706"/>
          <a:ext cx="358058" cy="41886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8962375" y="2117478"/>
        <a:ext cx="250641" cy="251317"/>
      </dsp:txXfrm>
    </dsp:sp>
    <dsp:sp modelId="{E4A440DD-667F-4A86-8005-831E4BBD7395}">
      <dsp:nvSpPr>
        <dsp:cNvPr id="0" name=""/>
        <dsp:cNvSpPr/>
      </dsp:nvSpPr>
      <dsp:spPr>
        <a:xfrm>
          <a:off x="9469062" y="1403936"/>
          <a:ext cx="1688957" cy="16784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RL post-training (O1 &amp; </a:t>
          </a:r>
          <a:r>
            <a:rPr lang="en-US" sz="2000" kern="1200" dirty="0" err="1"/>
            <a:t>Deepseek</a:t>
          </a:r>
          <a:r>
            <a:rPr lang="en-US" sz="2000" kern="1200" dirty="0"/>
            <a:t> R1)</a:t>
          </a:r>
        </a:p>
      </dsp:txBody>
      <dsp:txXfrm>
        <a:off x="9518221" y="1453095"/>
        <a:ext cx="1590639" cy="158008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26271B-BD5B-EA4F-A2D4-8362B70402E4}">
      <dsp:nvSpPr>
        <dsp:cNvPr id="0" name=""/>
        <dsp:cNvSpPr/>
      </dsp:nvSpPr>
      <dsp:spPr>
        <a:xfrm>
          <a:off x="10901" y="1403936"/>
          <a:ext cx="1688957" cy="16784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Word vectors &amp; task-specific architectures (word2vec)</a:t>
          </a:r>
        </a:p>
      </dsp:txBody>
      <dsp:txXfrm>
        <a:off x="60060" y="1453095"/>
        <a:ext cx="1590639" cy="1580083"/>
      </dsp:txXfrm>
    </dsp:sp>
    <dsp:sp modelId="{8E1A8173-E832-4D46-9752-C16D18393F2B}">
      <dsp:nvSpPr>
        <dsp:cNvPr id="0" name=""/>
        <dsp:cNvSpPr/>
      </dsp:nvSpPr>
      <dsp:spPr>
        <a:xfrm>
          <a:off x="1868754" y="2033706"/>
          <a:ext cx="358058" cy="41886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1868754" y="2117478"/>
        <a:ext cx="250641" cy="251317"/>
      </dsp:txXfrm>
    </dsp:sp>
    <dsp:sp modelId="{3421F521-5EE9-BD4F-AC0A-7FC6AC4869DA}">
      <dsp:nvSpPr>
        <dsp:cNvPr id="0" name=""/>
        <dsp:cNvSpPr/>
      </dsp:nvSpPr>
      <dsp:spPr>
        <a:xfrm>
          <a:off x="2375442" y="1403936"/>
          <a:ext cx="1688957" cy="16784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Pre-train &amp; fine-tune (BERT) </a:t>
          </a:r>
        </a:p>
      </dsp:txBody>
      <dsp:txXfrm>
        <a:off x="2424601" y="1453095"/>
        <a:ext cx="1590639" cy="1580083"/>
      </dsp:txXfrm>
    </dsp:sp>
    <dsp:sp modelId="{D4D8AD77-E8AE-DD49-8A98-0917D9B762DD}">
      <dsp:nvSpPr>
        <dsp:cNvPr id="0" name=""/>
        <dsp:cNvSpPr/>
      </dsp:nvSpPr>
      <dsp:spPr>
        <a:xfrm>
          <a:off x="4233295" y="2033706"/>
          <a:ext cx="358058" cy="41886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233295" y="2117478"/>
        <a:ext cx="250641" cy="251317"/>
      </dsp:txXfrm>
    </dsp:sp>
    <dsp:sp modelId="{B443C485-FFEC-9C4F-8667-7DFB467F1F6A}">
      <dsp:nvSpPr>
        <dsp:cNvPr id="0" name=""/>
        <dsp:cNvSpPr/>
      </dsp:nvSpPr>
      <dsp:spPr>
        <a:xfrm>
          <a:off x="4739982" y="1403936"/>
          <a:ext cx="1688957" cy="16784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C00000"/>
              </a:solidFill>
            </a:rPr>
            <a:t>LLMs &amp; in-context learning (GPT3)</a:t>
          </a:r>
        </a:p>
      </dsp:txBody>
      <dsp:txXfrm>
        <a:off x="4789141" y="1453095"/>
        <a:ext cx="1590639" cy="1580083"/>
      </dsp:txXfrm>
    </dsp:sp>
    <dsp:sp modelId="{44C6E477-7E93-9A4E-ACC6-4ADAAC1296D6}">
      <dsp:nvSpPr>
        <dsp:cNvPr id="0" name=""/>
        <dsp:cNvSpPr/>
      </dsp:nvSpPr>
      <dsp:spPr>
        <a:xfrm>
          <a:off x="6597835" y="2033706"/>
          <a:ext cx="358058" cy="41886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597835" y="2117478"/>
        <a:ext cx="250641" cy="251317"/>
      </dsp:txXfrm>
    </dsp:sp>
    <dsp:sp modelId="{E8EA05E3-7091-574F-A5BA-B58C0F43F37A}">
      <dsp:nvSpPr>
        <dsp:cNvPr id="0" name=""/>
        <dsp:cNvSpPr/>
      </dsp:nvSpPr>
      <dsp:spPr>
        <a:xfrm>
          <a:off x="7104522" y="1403936"/>
          <a:ext cx="1688957" cy="16784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</a:rPr>
            <a:t>Instruction tuning &amp; RLHF (</a:t>
          </a:r>
          <a:r>
            <a:rPr lang="en-US" sz="2000" kern="1200" dirty="0" err="1">
              <a:solidFill>
                <a:schemeClr val="tx1"/>
              </a:solidFill>
            </a:rPr>
            <a:t>ChatGPT</a:t>
          </a:r>
          <a:r>
            <a:rPr lang="en-US" sz="2000" kern="1200" dirty="0">
              <a:solidFill>
                <a:schemeClr val="tx1"/>
              </a:solidFill>
            </a:rPr>
            <a:t>)</a:t>
          </a:r>
        </a:p>
      </dsp:txBody>
      <dsp:txXfrm>
        <a:off x="7153681" y="1453095"/>
        <a:ext cx="1590639" cy="1580083"/>
      </dsp:txXfrm>
    </dsp:sp>
    <dsp:sp modelId="{85483EFF-9DA0-46E7-9AAB-F48027FE7DA6}">
      <dsp:nvSpPr>
        <dsp:cNvPr id="0" name=""/>
        <dsp:cNvSpPr/>
      </dsp:nvSpPr>
      <dsp:spPr>
        <a:xfrm>
          <a:off x="8962375" y="2033706"/>
          <a:ext cx="358058" cy="41886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8962375" y="2117478"/>
        <a:ext cx="250641" cy="251317"/>
      </dsp:txXfrm>
    </dsp:sp>
    <dsp:sp modelId="{E4A440DD-667F-4A86-8005-831E4BBD7395}">
      <dsp:nvSpPr>
        <dsp:cNvPr id="0" name=""/>
        <dsp:cNvSpPr/>
      </dsp:nvSpPr>
      <dsp:spPr>
        <a:xfrm>
          <a:off x="9469062" y="1403936"/>
          <a:ext cx="1688957" cy="16784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RL post-training (O1 &amp; </a:t>
          </a:r>
          <a:r>
            <a:rPr lang="en-US" sz="2000" kern="1200" dirty="0" err="1"/>
            <a:t>Deepseek</a:t>
          </a:r>
          <a:r>
            <a:rPr lang="en-US" sz="2000" kern="1200" dirty="0"/>
            <a:t> R1)</a:t>
          </a:r>
        </a:p>
      </dsp:txBody>
      <dsp:txXfrm>
        <a:off x="9518221" y="1453095"/>
        <a:ext cx="1590639" cy="158008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26271B-BD5B-EA4F-A2D4-8362B70402E4}">
      <dsp:nvSpPr>
        <dsp:cNvPr id="0" name=""/>
        <dsp:cNvSpPr/>
      </dsp:nvSpPr>
      <dsp:spPr>
        <a:xfrm>
          <a:off x="10901" y="1403936"/>
          <a:ext cx="1688957" cy="16784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Word vectors &amp; task-specific architectures (word2vec)</a:t>
          </a:r>
        </a:p>
      </dsp:txBody>
      <dsp:txXfrm>
        <a:off x="60060" y="1453095"/>
        <a:ext cx="1590639" cy="1580083"/>
      </dsp:txXfrm>
    </dsp:sp>
    <dsp:sp modelId="{8E1A8173-E832-4D46-9752-C16D18393F2B}">
      <dsp:nvSpPr>
        <dsp:cNvPr id="0" name=""/>
        <dsp:cNvSpPr/>
      </dsp:nvSpPr>
      <dsp:spPr>
        <a:xfrm>
          <a:off x="1868754" y="2033706"/>
          <a:ext cx="358058" cy="41886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1868754" y="2117478"/>
        <a:ext cx="250641" cy="251317"/>
      </dsp:txXfrm>
    </dsp:sp>
    <dsp:sp modelId="{3421F521-5EE9-BD4F-AC0A-7FC6AC4869DA}">
      <dsp:nvSpPr>
        <dsp:cNvPr id="0" name=""/>
        <dsp:cNvSpPr/>
      </dsp:nvSpPr>
      <dsp:spPr>
        <a:xfrm>
          <a:off x="2375442" y="1403936"/>
          <a:ext cx="1688957" cy="16784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Pre-train &amp; fine-tune (BERT) </a:t>
          </a:r>
        </a:p>
      </dsp:txBody>
      <dsp:txXfrm>
        <a:off x="2424601" y="1453095"/>
        <a:ext cx="1590639" cy="1580083"/>
      </dsp:txXfrm>
    </dsp:sp>
    <dsp:sp modelId="{D4D8AD77-E8AE-DD49-8A98-0917D9B762DD}">
      <dsp:nvSpPr>
        <dsp:cNvPr id="0" name=""/>
        <dsp:cNvSpPr/>
      </dsp:nvSpPr>
      <dsp:spPr>
        <a:xfrm>
          <a:off x="4233295" y="2033706"/>
          <a:ext cx="358058" cy="41886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233295" y="2117478"/>
        <a:ext cx="250641" cy="251317"/>
      </dsp:txXfrm>
    </dsp:sp>
    <dsp:sp modelId="{B443C485-FFEC-9C4F-8667-7DFB467F1F6A}">
      <dsp:nvSpPr>
        <dsp:cNvPr id="0" name=""/>
        <dsp:cNvSpPr/>
      </dsp:nvSpPr>
      <dsp:spPr>
        <a:xfrm>
          <a:off x="4739982" y="1403936"/>
          <a:ext cx="1688957" cy="16784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</a:rPr>
            <a:t>LLMs &amp; in-context learning (GPT3)</a:t>
          </a:r>
        </a:p>
      </dsp:txBody>
      <dsp:txXfrm>
        <a:off x="4789141" y="1453095"/>
        <a:ext cx="1590639" cy="1580083"/>
      </dsp:txXfrm>
    </dsp:sp>
    <dsp:sp modelId="{44C6E477-7E93-9A4E-ACC6-4ADAAC1296D6}">
      <dsp:nvSpPr>
        <dsp:cNvPr id="0" name=""/>
        <dsp:cNvSpPr/>
      </dsp:nvSpPr>
      <dsp:spPr>
        <a:xfrm>
          <a:off x="6597835" y="2033706"/>
          <a:ext cx="358058" cy="41886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597835" y="2117478"/>
        <a:ext cx="250641" cy="251317"/>
      </dsp:txXfrm>
    </dsp:sp>
    <dsp:sp modelId="{E8EA05E3-7091-574F-A5BA-B58C0F43F37A}">
      <dsp:nvSpPr>
        <dsp:cNvPr id="0" name=""/>
        <dsp:cNvSpPr/>
      </dsp:nvSpPr>
      <dsp:spPr>
        <a:xfrm>
          <a:off x="7104522" y="1403936"/>
          <a:ext cx="1688957" cy="16784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C00000"/>
              </a:solidFill>
            </a:rPr>
            <a:t>Instruction tuning &amp; RLHF (</a:t>
          </a:r>
          <a:r>
            <a:rPr lang="en-US" sz="2000" kern="1200" dirty="0" err="1">
              <a:solidFill>
                <a:srgbClr val="C00000"/>
              </a:solidFill>
            </a:rPr>
            <a:t>ChatGPT</a:t>
          </a:r>
          <a:r>
            <a:rPr lang="en-US" sz="2000" kern="1200" dirty="0">
              <a:solidFill>
                <a:srgbClr val="C00000"/>
              </a:solidFill>
            </a:rPr>
            <a:t>)</a:t>
          </a:r>
        </a:p>
      </dsp:txBody>
      <dsp:txXfrm>
        <a:off x="7153681" y="1453095"/>
        <a:ext cx="1590639" cy="1580083"/>
      </dsp:txXfrm>
    </dsp:sp>
    <dsp:sp modelId="{85483EFF-9DA0-46E7-9AAB-F48027FE7DA6}">
      <dsp:nvSpPr>
        <dsp:cNvPr id="0" name=""/>
        <dsp:cNvSpPr/>
      </dsp:nvSpPr>
      <dsp:spPr>
        <a:xfrm>
          <a:off x="8962375" y="2033706"/>
          <a:ext cx="358058" cy="41886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8962375" y="2117478"/>
        <a:ext cx="250641" cy="251317"/>
      </dsp:txXfrm>
    </dsp:sp>
    <dsp:sp modelId="{E4A440DD-667F-4A86-8005-831E4BBD7395}">
      <dsp:nvSpPr>
        <dsp:cNvPr id="0" name=""/>
        <dsp:cNvSpPr/>
      </dsp:nvSpPr>
      <dsp:spPr>
        <a:xfrm>
          <a:off x="9469062" y="1403936"/>
          <a:ext cx="1688957" cy="16784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RL post-training (O1 &amp; </a:t>
          </a:r>
          <a:r>
            <a:rPr lang="en-US" sz="2000" kern="1200" dirty="0" err="1"/>
            <a:t>Deepseek</a:t>
          </a:r>
          <a:r>
            <a:rPr lang="en-US" sz="2000" kern="1200" dirty="0"/>
            <a:t> R1)</a:t>
          </a:r>
        </a:p>
      </dsp:txBody>
      <dsp:txXfrm>
        <a:off x="9518221" y="1453095"/>
        <a:ext cx="1590639" cy="158008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26271B-BD5B-EA4F-A2D4-8362B70402E4}">
      <dsp:nvSpPr>
        <dsp:cNvPr id="0" name=""/>
        <dsp:cNvSpPr/>
      </dsp:nvSpPr>
      <dsp:spPr>
        <a:xfrm>
          <a:off x="10901" y="1403936"/>
          <a:ext cx="1688957" cy="16784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Word vectors &amp; task-specific architectures (word2vec)</a:t>
          </a:r>
        </a:p>
      </dsp:txBody>
      <dsp:txXfrm>
        <a:off x="60060" y="1453095"/>
        <a:ext cx="1590639" cy="1580083"/>
      </dsp:txXfrm>
    </dsp:sp>
    <dsp:sp modelId="{8E1A8173-E832-4D46-9752-C16D18393F2B}">
      <dsp:nvSpPr>
        <dsp:cNvPr id="0" name=""/>
        <dsp:cNvSpPr/>
      </dsp:nvSpPr>
      <dsp:spPr>
        <a:xfrm>
          <a:off x="1868754" y="2033706"/>
          <a:ext cx="358058" cy="41886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1868754" y="2117478"/>
        <a:ext cx="250641" cy="251317"/>
      </dsp:txXfrm>
    </dsp:sp>
    <dsp:sp modelId="{3421F521-5EE9-BD4F-AC0A-7FC6AC4869DA}">
      <dsp:nvSpPr>
        <dsp:cNvPr id="0" name=""/>
        <dsp:cNvSpPr/>
      </dsp:nvSpPr>
      <dsp:spPr>
        <a:xfrm>
          <a:off x="2375442" y="1403936"/>
          <a:ext cx="1688957" cy="16784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Pre-train &amp; fine-tune (BERT) </a:t>
          </a:r>
        </a:p>
      </dsp:txBody>
      <dsp:txXfrm>
        <a:off x="2424601" y="1453095"/>
        <a:ext cx="1590639" cy="1580083"/>
      </dsp:txXfrm>
    </dsp:sp>
    <dsp:sp modelId="{D4D8AD77-E8AE-DD49-8A98-0917D9B762DD}">
      <dsp:nvSpPr>
        <dsp:cNvPr id="0" name=""/>
        <dsp:cNvSpPr/>
      </dsp:nvSpPr>
      <dsp:spPr>
        <a:xfrm>
          <a:off x="4233295" y="2033706"/>
          <a:ext cx="358058" cy="41886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233295" y="2117478"/>
        <a:ext cx="250641" cy="251317"/>
      </dsp:txXfrm>
    </dsp:sp>
    <dsp:sp modelId="{B443C485-FFEC-9C4F-8667-7DFB467F1F6A}">
      <dsp:nvSpPr>
        <dsp:cNvPr id="0" name=""/>
        <dsp:cNvSpPr/>
      </dsp:nvSpPr>
      <dsp:spPr>
        <a:xfrm>
          <a:off x="4739982" y="1403936"/>
          <a:ext cx="1688957" cy="16784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LLMs &amp; in-context learning (GPT3)</a:t>
          </a:r>
        </a:p>
      </dsp:txBody>
      <dsp:txXfrm>
        <a:off x="4789141" y="1453095"/>
        <a:ext cx="1590639" cy="1580083"/>
      </dsp:txXfrm>
    </dsp:sp>
    <dsp:sp modelId="{44C6E477-7E93-9A4E-ACC6-4ADAAC1296D6}">
      <dsp:nvSpPr>
        <dsp:cNvPr id="0" name=""/>
        <dsp:cNvSpPr/>
      </dsp:nvSpPr>
      <dsp:spPr>
        <a:xfrm>
          <a:off x="6597835" y="2033706"/>
          <a:ext cx="358058" cy="41886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597835" y="2117478"/>
        <a:ext cx="250641" cy="251317"/>
      </dsp:txXfrm>
    </dsp:sp>
    <dsp:sp modelId="{E8EA05E3-7091-574F-A5BA-B58C0F43F37A}">
      <dsp:nvSpPr>
        <dsp:cNvPr id="0" name=""/>
        <dsp:cNvSpPr/>
      </dsp:nvSpPr>
      <dsp:spPr>
        <a:xfrm>
          <a:off x="7104522" y="1403936"/>
          <a:ext cx="1688957" cy="16784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Instruction tuning &amp; RLHF (</a:t>
          </a:r>
          <a:r>
            <a:rPr lang="en-US" sz="2000" kern="1200" dirty="0" err="1"/>
            <a:t>ChatGPT</a:t>
          </a:r>
          <a:r>
            <a:rPr lang="en-US" sz="2000" kern="1200" dirty="0"/>
            <a:t>)</a:t>
          </a:r>
        </a:p>
      </dsp:txBody>
      <dsp:txXfrm>
        <a:off x="7153681" y="1453095"/>
        <a:ext cx="1590639" cy="1580083"/>
      </dsp:txXfrm>
    </dsp:sp>
    <dsp:sp modelId="{85483EFF-9DA0-46E7-9AAB-F48027FE7DA6}">
      <dsp:nvSpPr>
        <dsp:cNvPr id="0" name=""/>
        <dsp:cNvSpPr/>
      </dsp:nvSpPr>
      <dsp:spPr>
        <a:xfrm>
          <a:off x="8962375" y="2033706"/>
          <a:ext cx="358058" cy="41886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8962375" y="2117478"/>
        <a:ext cx="250641" cy="251317"/>
      </dsp:txXfrm>
    </dsp:sp>
    <dsp:sp modelId="{E4A440DD-667F-4A86-8005-831E4BBD7395}">
      <dsp:nvSpPr>
        <dsp:cNvPr id="0" name=""/>
        <dsp:cNvSpPr/>
      </dsp:nvSpPr>
      <dsp:spPr>
        <a:xfrm>
          <a:off x="9469062" y="1403936"/>
          <a:ext cx="1688957" cy="16784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C00000"/>
              </a:solidFill>
            </a:rPr>
            <a:t>RL post-training (O1 &amp; </a:t>
          </a:r>
          <a:r>
            <a:rPr lang="en-US" sz="2000" kern="1200" dirty="0" err="1">
              <a:solidFill>
                <a:srgbClr val="C00000"/>
              </a:solidFill>
            </a:rPr>
            <a:t>Deepseek</a:t>
          </a:r>
          <a:r>
            <a:rPr lang="en-US" sz="2000" kern="1200" dirty="0">
              <a:solidFill>
                <a:srgbClr val="C00000"/>
              </a:solidFill>
            </a:rPr>
            <a:t> R1)</a:t>
          </a:r>
        </a:p>
      </dsp:txBody>
      <dsp:txXfrm>
        <a:off x="9518221" y="1453095"/>
        <a:ext cx="1590639" cy="15800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4490D-F570-4B09-B1F1-76C91DD2C33E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59005-A619-4B65-B892-C09CB53A2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93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2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B702C-289F-E8F0-2005-EBEA6189A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F5F7C4-F8C7-A82D-1455-60D4151513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07D90A-F94B-A838-6401-830917BAE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8DE1C-4C14-F2F9-AF44-66B707F35B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61AA-4902-E04C-A09A-D18B2FB5B12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1723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07257-48E2-AEF3-84DE-DF96C9A39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2DCD13-5124-4564-D72C-873064C169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6498D2-B624-9CE9-48AB-628E8F16A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CB14D-A897-8C03-4857-F141361C4E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61AA-4902-E04C-A09A-D18B2FB5B12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783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925B1-6F5D-4E5A-B219-D0345EB5F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3E4F73-51AC-595B-A061-CCFFFD9905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48BEEC-9136-412F-8245-BFF8486573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71690-D243-E9E7-E768-06FCE814BB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61AA-4902-E04C-A09A-D18B2FB5B12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591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B3978-037C-6585-0049-03B8A3FA5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A43745-8EF2-DAB7-8F61-C3487C271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3D872F-86FC-8735-322E-62164CAE4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166BB-CBF8-EC66-9697-73B3AD760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61AA-4902-E04C-A09A-D18B2FB5B12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746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57ECF-5C7F-E755-C6DC-98FD79C60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3DF687-F181-C972-527E-2E8DA0056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5805DF-86DE-C124-1228-F15CF4739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F93B2-6FE4-FDE2-8EA1-2CF3663EA2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61AA-4902-E04C-A09A-D18B2FB5B12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398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modeling penalizes all token-level mistakes equally, but some errors are worse than others.</a:t>
            </a:r>
          </a:p>
          <a:p>
            <a:r>
              <a:rPr lang="en-US" dirty="0"/>
              <a:t>Even with instruction finetuning,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61AA-4902-E04C-A09A-D18B2FB5B12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1143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61AA-4902-E04C-A09A-D18B2FB5B12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3339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F5AA1-29AD-FF7B-A702-725537BCC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FF187A-6834-60DB-FA2E-4E4657518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70C10-56F2-7028-911C-70DDD328EC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8D81E-F3C5-8EBF-9B75-9E9FF89687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61AA-4902-E04C-A09A-D18B2FB5B12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469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4461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https://openai.com/index/learning-to-reason-with-llms/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7474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F794197A-909D-6248-B44E-761B541FFA90}" type="slidenum">
              <a:rPr lang="en-US" sz="1200"/>
              <a:pPr eaLnBrk="1" hangingPunct="1"/>
              <a:t>49</a:t>
            </a:fld>
            <a:endParaRPr lang="en-US" sz="1200"/>
          </a:p>
        </p:txBody>
      </p:sp>
      <p:sp>
        <p:nvSpPr>
          <p:cNvPr id="215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9249385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F794197A-909D-6248-B44E-761B541FFA90}" type="slidenum">
              <a:rPr lang="en-US" sz="1200"/>
              <a:pPr eaLnBrk="1" hangingPunct="1"/>
              <a:t>51</a:t>
            </a:fld>
            <a:endParaRPr lang="en-US" sz="1200"/>
          </a:p>
        </p:txBody>
      </p:sp>
      <p:sp>
        <p:nvSpPr>
          <p:cNvPr id="215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41258006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F794197A-909D-6248-B44E-761B541FFA90}" type="slidenum">
              <a:rPr lang="en-US" sz="1200"/>
              <a:pPr eaLnBrk="1" hangingPunct="1"/>
              <a:t>53</a:t>
            </a:fld>
            <a:endParaRPr lang="en-US" sz="1200"/>
          </a:p>
        </p:txBody>
      </p:sp>
      <p:sp>
        <p:nvSpPr>
          <p:cNvPr id="215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8344191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F794197A-909D-6248-B44E-761B541FFA90}" type="slidenum">
              <a:rPr lang="en-US" sz="1200"/>
              <a:pPr eaLnBrk="1" hangingPunct="1"/>
              <a:t>55</a:t>
            </a:fld>
            <a:endParaRPr lang="en-US" sz="1200"/>
          </a:p>
        </p:txBody>
      </p:sp>
      <p:sp>
        <p:nvSpPr>
          <p:cNvPr id="215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768887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23361-214D-C589-BB67-8E658B2402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65B0F7-2246-AF5F-F1CC-47C98F52EE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17C97-F6FA-F89B-C4E0-81CA706F6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78D10-3BA3-A099-49CF-9EA2662DE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38B7C-BF35-6C55-1052-93A36ECBC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549007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8F6C6-401D-5425-C0A4-8FE4DA111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D3273-5B2F-F348-2D10-D63AB85D6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017AC-443B-9E07-2392-539FBB760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3D793-CFA8-FEDB-D11F-5F72B7FD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8105B-B082-DEB1-15F6-3F025A556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91613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DCB3F-3F9C-5D87-8DD0-E995E61F7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EA28A-090E-AE89-C146-99E1DEDA8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D0CAB-8C83-10DE-C6D3-2604F3E0B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95B0F-09FE-404F-752B-3EE560F7D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687EA-197A-9433-DFCA-D96DA62F0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71001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D02D6-69B1-942B-4B8C-67EFF5D64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0DD98-0DE0-18F6-7E4C-F755EB3BFA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616E7-0806-BAC4-7810-34F259546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1747F-CBDF-4B64-A08D-D6C3BE6BB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D35A1-B968-3972-56E5-D67F8D5E9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0D6EDA-FB05-1961-D261-EAA387FE4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76386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2B86D-5C31-DD23-C282-F82AB1BBD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30224-3576-16FF-266D-3E5C35F51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415D63-DC12-3CEB-FA76-74F858E81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970A42-54C2-749E-25C4-CE66CB8DC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0D41A4-9ED6-DAB5-754B-3198AD1811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D52E5-6BC8-B35A-18B5-246634B73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E598BD-D6D2-DD3E-1747-6F2280A6B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C2C19E-91C2-5904-DAD3-CCCA76F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2790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AC76A-F0F6-25F4-7BE3-6D3261766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E4FE98-8169-8BDC-EC32-6F710B79E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D1591A-0EB3-08C2-C0DE-25BC26960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3C1107-8C69-EA41-F68A-EC63673D7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0286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94DDF2-DC4D-306E-FC80-2D6A949A8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C5CCC7-F623-557C-DC89-9358813A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777E2-B664-49AA-95D4-B71F55BC5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6157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29EB7-E045-76E3-BC5C-EB336FCFF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32F1C-9821-EDB9-5009-139C589E8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FDFBFD-83FD-FAFC-B801-96B495A4E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CBD51F-0410-6C16-3EA6-6D3F1AFD6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AB25D-9EB8-A6CF-4866-61594ABC4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4E9A7-37F4-6E0C-0815-40E3124B1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14159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14952-7749-E6DB-EF47-FDBE96C36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749A48-FDC1-C4F3-46AC-1FA20FB4D6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DFE33-1DF1-5686-7F73-35219511B8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6DB978-907C-0C2A-9C78-982A8260B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A69E1-6044-8D1B-53D1-D643E256F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DD55A-8664-6338-8F75-12F02BD22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3355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FE231-7FAB-82F4-8201-B079B58C0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F3EC12-794D-AD7E-6AEA-9E37C90078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CF860-D40A-6EC3-02A8-066BD59B3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8BBA6-E492-6923-0436-215CC79F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23ED5-F4FC-B723-1BB3-8642C4903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3582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09036E-50B2-3321-E490-0902DA606F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BB259-B0D7-59EF-3B28-A55324BB1D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9A0B7-F973-6C40-D8FE-E28C12867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71DF1-0D03-32CD-F449-B6A696F02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39AF6-8E8A-C214-605E-EF7B59BD4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3529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a data science course logo with a computer on a white background. Image 1 of 4">
            <a:extLst>
              <a:ext uri="{FF2B5EF4-FFF2-40B4-BE49-F238E27FC236}">
                <a16:creationId xmlns:a16="http://schemas.microsoft.com/office/drawing/2014/main" id="{ED991132-C7D0-F6BF-E60C-F201A774E2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912"/>
            <a:ext cx="6791088" cy="6791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91088" y="1916581"/>
            <a:ext cx="5315567" cy="2048257"/>
          </a:xfrm>
          <a:noFill/>
        </p:spPr>
        <p:txBody>
          <a:bodyPr/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9C87D7-4FFF-3090-7978-ACE9D0723D25}"/>
              </a:ext>
            </a:extLst>
          </p:cNvPr>
          <p:cNvSpPr/>
          <p:nvPr userDrawn="1"/>
        </p:nvSpPr>
        <p:spPr>
          <a:xfrm>
            <a:off x="7728288" y="4828847"/>
            <a:ext cx="370806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0" dirty="0">
                <a:latin typeface="+mj-lt"/>
              </a:rPr>
              <a:t>Introduction to Data Science</a:t>
            </a:r>
            <a:br>
              <a:rPr lang="en-US" sz="2400" b="0" dirty="0">
                <a:latin typeface="+mj-lt"/>
              </a:rPr>
            </a:br>
            <a:r>
              <a:rPr lang="en-US" sz="2400" b="0" dirty="0">
                <a:latin typeface="+mj-lt"/>
              </a:rPr>
              <a:t>Spring 1405</a:t>
            </a:r>
          </a:p>
        </p:txBody>
      </p:sp>
      <p:pic>
        <p:nvPicPr>
          <p:cNvPr id="4" name="Picture 2" descr="Image result for دانشگاه تهران">
            <a:extLst>
              <a:ext uri="{FF2B5EF4-FFF2-40B4-BE49-F238E27FC236}">
                <a16:creationId xmlns:a16="http://schemas.microsoft.com/office/drawing/2014/main" id="{4EE2C0F7-E841-F221-FAA3-698B6229602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86" y="135728"/>
            <a:ext cx="1188720" cy="118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result for دانشکده فنی لوگو">
            <a:extLst>
              <a:ext uri="{FF2B5EF4-FFF2-40B4-BE49-F238E27FC236}">
                <a16:creationId xmlns:a16="http://schemas.microsoft.com/office/drawing/2014/main" id="{7AC4FE1A-0D05-1400-159B-DD9CB0042A0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6060" y="135728"/>
            <a:ext cx="1587962" cy="118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6153CD1-7942-836F-9936-BEBB1266800F}"/>
              </a:ext>
            </a:extLst>
          </p:cNvPr>
          <p:cNvSpPr/>
          <p:nvPr userDrawn="1"/>
        </p:nvSpPr>
        <p:spPr>
          <a:xfrm>
            <a:off x="8378637" y="5943600"/>
            <a:ext cx="26597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800" b="0" dirty="0">
                <a:latin typeface="+mj-lt"/>
              </a:rPr>
              <a:t>Yadollah Yaghoobzadeh</a:t>
            </a:r>
          </a:p>
        </p:txBody>
      </p:sp>
    </p:spTree>
    <p:extLst>
      <p:ext uri="{BB962C8B-B14F-4D97-AF65-F5344CB8AC3E}">
        <p14:creationId xmlns:p14="http://schemas.microsoft.com/office/powerpoint/2010/main" val="3670029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3FC2655A-B01E-0261-15AA-EA02FEF42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685" y="95305"/>
            <a:ext cx="1089431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9A688C7-2A9F-0798-6B43-05D049FE4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484" y="1825625"/>
            <a:ext cx="1089431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2ADA27E-6C98-B4DF-DBD0-D736D5BE47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9E8B206-E6C6-89D2-2714-F305A53B1C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A76DDD9-28FD-71BD-E64D-7E0527AF0F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73C706-3535-C740-ADCB-8AC187A67FA9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44ACD3C-4D38-1EED-9162-BC0AE7EA18FD}"/>
              </a:ext>
            </a:extLst>
          </p:cNvPr>
          <p:cNvCxnSpPr/>
          <p:nvPr userDrawn="1"/>
        </p:nvCxnSpPr>
        <p:spPr>
          <a:xfrm>
            <a:off x="459484" y="1477715"/>
            <a:ext cx="1091451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4731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46A69-1A96-2A98-509C-62C07C91A106}"/>
              </a:ext>
            </a:extLst>
          </p:cNvPr>
          <p:cNvSpPr txBox="1"/>
          <p:nvPr/>
        </p:nvSpPr>
        <p:spPr>
          <a:xfrm>
            <a:off x="228600" y="6488668"/>
            <a:ext cx="18161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LLM — Spring 1403</a:t>
            </a:r>
          </a:p>
        </p:txBody>
      </p:sp>
    </p:spTree>
    <p:extLst>
      <p:ext uri="{BB962C8B-B14F-4D97-AF65-F5344CB8AC3E}">
        <p14:creationId xmlns:p14="http://schemas.microsoft.com/office/powerpoint/2010/main" val="15723065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>
            <a:lvl1pPr marL="182880" algn="l"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6AB8B-6628-4778-8FCB-1FBFFE37E74E}"/>
              </a:ext>
            </a:extLst>
          </p:cNvPr>
          <p:cNvCxnSpPr>
            <a:cxnSpLocks/>
          </p:cNvCxnSpPr>
          <p:nvPr userDrawn="1"/>
        </p:nvCxnSpPr>
        <p:spPr>
          <a:xfrm>
            <a:off x="266699" y="990600"/>
            <a:ext cx="98360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054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AD482A-0729-0447-26C4-795EBADAC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1BDAD-2755-489C-8030-9E6C16574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DF2E5-BE66-F442-C39E-1AE4C134C7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262B0-8688-5A07-2529-503B41A731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5B2D0-FAA3-EF81-D7F0-E449C5863E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50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BCCB048-B67C-E79B-1CAC-1D9CA1807D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" sz="4000" dirty="0">
                <a:latin typeface="Consolas" panose="020B0609020204030204" pitchFamily="49" charset="0"/>
                <a:sym typeface="Consolas"/>
              </a:rPr>
              <a:t>Large language modeling</a:t>
            </a:r>
            <a:endParaRPr lang="en-US"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3AD516-9370-3827-DF97-F8B64741380B}"/>
              </a:ext>
            </a:extLst>
          </p:cNvPr>
          <p:cNvSpPr txBox="1"/>
          <p:nvPr/>
        </p:nvSpPr>
        <p:spPr>
          <a:xfrm>
            <a:off x="76993" y="6200775"/>
            <a:ext cx="54017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sz="1100" dirty="0">
                <a:latin typeface="+mn-lt"/>
                <a:ea typeface="Roboto Medium"/>
                <a:cs typeface="Roboto Medium"/>
                <a:sym typeface="Roboto Medium"/>
              </a:rPr>
              <a:t>From: </a:t>
            </a:r>
          </a:p>
          <a:p>
            <a:r>
              <a:rPr lang="nn-NO" sz="1100" dirty="0">
                <a:latin typeface="+mn-lt"/>
                <a:ea typeface="Roboto Medium"/>
                <a:cs typeface="Roboto Medium"/>
                <a:sym typeface="Roboto Medium"/>
              </a:rPr>
              <a:t>DS100 UC Berkeley</a:t>
            </a:r>
          </a:p>
        </p:txBody>
      </p:sp>
    </p:spTree>
    <p:extLst>
      <p:ext uri="{BB962C8B-B14F-4D97-AF65-F5344CB8AC3E}">
        <p14:creationId xmlns:p14="http://schemas.microsoft.com/office/powerpoint/2010/main" val="1616806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0A754-260F-C9E0-3916-DB37D8484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Large language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0E472-DD54-6526-7C72-57C028BDA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It was once a dream to generate human-like sentences with correct grammar and meaning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Now LLMs model languages</a:t>
            </a:r>
          </a:p>
          <a:p>
            <a:pPr lvl="1"/>
            <a:r>
              <a:rPr lang="en-US" dirty="0"/>
              <a:t>generating fluent long coherent text</a:t>
            </a:r>
          </a:p>
          <a:p>
            <a:pPr lvl="1"/>
            <a:r>
              <a:rPr lang="en-US" dirty="0"/>
              <a:t>creative writing</a:t>
            </a:r>
          </a:p>
          <a:p>
            <a:pPr lvl="1"/>
            <a:r>
              <a:rPr lang="en-US" dirty="0"/>
              <a:t>complex coding assistance</a:t>
            </a:r>
          </a:p>
          <a:p>
            <a:pPr lvl="1"/>
            <a:r>
              <a:rPr lang="en-US" dirty="0"/>
              <a:t>answering research questions</a:t>
            </a:r>
          </a:p>
          <a:p>
            <a:pPr lvl="1"/>
            <a:r>
              <a:rPr lang="en-US" dirty="0"/>
              <a:t>Summarizing</a:t>
            </a:r>
          </a:p>
          <a:p>
            <a:pPr lvl="1"/>
            <a:r>
              <a:rPr lang="en-US" dirty="0"/>
              <a:t>Reasoning </a:t>
            </a:r>
          </a:p>
          <a:p>
            <a:pPr lvl="1"/>
            <a:r>
              <a:rPr lang="en-US" dirty="0"/>
              <a:t>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LLMs are now human-like in many ways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B1D29-8BFB-B324-C801-531D22330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3C706-3535-C740-ADCB-8AC187A67FA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189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FD0B7-5DAC-6C75-87B6-D30CA875E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0" i="1" dirty="0">
                <a:solidFill>
                  <a:srgbClr val="1A1C1E"/>
                </a:solidFill>
                <a:effectLst/>
                <a:latin typeface="Google Sans Text"/>
              </a:rPr>
              <a:t>How</a:t>
            </a:r>
            <a:r>
              <a:rPr lang="en-US" sz="4000" b="0" i="0" dirty="0">
                <a:solidFill>
                  <a:srgbClr val="1A1C1E"/>
                </a:solidFill>
                <a:effectLst/>
                <a:latin typeface="Google Sans Text"/>
              </a:rPr>
              <a:t> did we get here? </a:t>
            </a:r>
            <a:br>
              <a:rPr lang="en-US" sz="4000" b="0" i="0" dirty="0">
                <a:solidFill>
                  <a:srgbClr val="1A1C1E"/>
                </a:solidFill>
                <a:effectLst/>
                <a:latin typeface="Google Sans Text"/>
              </a:rPr>
            </a:br>
            <a:r>
              <a:rPr lang="en-US" sz="4000" b="0" i="0" dirty="0">
                <a:solidFill>
                  <a:srgbClr val="1A1C1E"/>
                </a:solidFill>
                <a:effectLst/>
                <a:latin typeface="Google Sans Text"/>
              </a:rPr>
              <a:t>What fundamental shift enabled these capabilities? 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A2765-B790-CBAB-6B81-2F01BB7C5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3C706-3535-C740-ADCB-8AC187A67FA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456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88266-76A6-7354-0B68-CAA3F8D27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r>
              <a:rPr lang="en-US" dirty="0"/>
              <a:t>The Prior Paradigm: optimizing for "What"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EC783C7-0ADE-5EFF-7466-A92B60355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3931920"/>
          </a:xfrm>
        </p:spPr>
        <p:txBody>
          <a:bodyPr>
            <a:normAutofit/>
          </a:bodyPr>
          <a:lstStyle/>
          <a:p>
            <a:r>
              <a:rPr lang="en-US" dirty="0"/>
              <a:t>Focus on specific tasks</a:t>
            </a:r>
          </a:p>
          <a:p>
            <a:pPr lvl="1"/>
            <a:r>
              <a:rPr lang="en-US" dirty="0"/>
              <a:t>Building dedicated models for specific tasks (e.g., sentiment analysis model, machine translation model)</a:t>
            </a:r>
          </a:p>
          <a:p>
            <a:r>
              <a:rPr lang="en-US" dirty="0"/>
              <a:t>Supervised learning</a:t>
            </a:r>
          </a:p>
          <a:p>
            <a:pPr lvl="1"/>
            <a:r>
              <a:rPr lang="en-US" dirty="0"/>
              <a:t>Heavily reliant on large, task-specific labeled datasets</a:t>
            </a:r>
          </a:p>
          <a:p>
            <a:pPr lvl="1"/>
            <a:endParaRPr lang="en-US" dirty="0"/>
          </a:p>
          <a:p>
            <a:r>
              <a:rPr lang="en-US" dirty="0"/>
              <a:t>Metrics</a:t>
            </a:r>
          </a:p>
          <a:p>
            <a:pPr lvl="1"/>
            <a:r>
              <a:rPr lang="en-US" dirty="0"/>
              <a:t>Success: high scores on narrow, task-specific evaluation metrics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0BF3A-FAB7-6088-7EA2-9A55D1A72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9880" y="6307672"/>
            <a:ext cx="1463040" cy="274320"/>
          </a:xfrm>
        </p:spPr>
        <p:txBody>
          <a:bodyPr/>
          <a:lstStyle/>
          <a:p>
            <a:fld id="{6E73C706-3535-C740-ADCB-8AC187A67FA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19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BFEA6-608B-EB7C-D700-C0EE19967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/>
          <a:lstStyle/>
          <a:p>
            <a:r>
              <a:rPr lang="en-US" dirty="0"/>
              <a:t>The prior paradigm: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0417F-E624-F959-A2E3-24FBBAEDD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3931920"/>
          </a:xfrm>
        </p:spPr>
        <p:txBody>
          <a:bodyPr>
            <a:normAutofit/>
          </a:bodyPr>
          <a:lstStyle/>
          <a:p>
            <a:r>
              <a:rPr lang="en-US" sz="3200" dirty="0"/>
              <a:t>Required extensive labeled data for each new task</a:t>
            </a:r>
          </a:p>
          <a:p>
            <a:r>
              <a:rPr lang="en-US" sz="3200" dirty="0"/>
              <a:t>Lacked general understanding beyond their training domain</a:t>
            </a:r>
          </a:p>
          <a:p>
            <a:r>
              <a:rPr lang="en-US" sz="3200" dirty="0"/>
              <a:t>Mainly learning task-specific pattern matching.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78E5F-C6E1-813A-F1B6-20AB9F5A3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9880" y="6307672"/>
            <a:ext cx="1463040" cy="274320"/>
          </a:xfrm>
        </p:spPr>
        <p:txBody>
          <a:bodyPr/>
          <a:lstStyle/>
          <a:p>
            <a:fld id="{6E73C706-3535-C740-ADCB-8AC187A67FA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392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24BD8-6B17-1A14-FE37-3C6EB5030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Human-like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B5C45-CBA4-94C8-4762-FA017B986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Generalization from few examples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Cross-task transfer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Adaptable to new situations</a:t>
            </a:r>
          </a:p>
          <a:p>
            <a:endParaRPr lang="en-US" sz="3200" dirty="0"/>
          </a:p>
          <a:p>
            <a:pPr marL="0" indent="0">
              <a:buNone/>
            </a:pPr>
            <a:r>
              <a:rPr lang="en-US" sz="3200" dirty="0"/>
              <a:t>Learning from both </a:t>
            </a:r>
            <a:r>
              <a:rPr lang="en-US" sz="3200" b="1" dirty="0"/>
              <a:t>supervised</a:t>
            </a:r>
            <a:r>
              <a:rPr lang="en-US" sz="3200" dirty="0"/>
              <a:t> and </a:t>
            </a:r>
            <a:r>
              <a:rPr lang="en-US" sz="3200" b="1" dirty="0"/>
              <a:t>unsupervised</a:t>
            </a:r>
            <a:r>
              <a:rPr lang="en-US" sz="3200" dirty="0"/>
              <a:t> signals</a:t>
            </a:r>
          </a:p>
          <a:p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DE034-FBB7-7EBF-8169-3F2731819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3C706-3535-C740-ADCB-8AC187A67FA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03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AE25E-84A7-DCEF-F2D6-C4437466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7E7A4B-BAF1-0229-534A-1E9E63C1B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92" y="80315"/>
            <a:ext cx="11902190" cy="1325563"/>
          </a:xfrm>
        </p:spPr>
        <p:txBody>
          <a:bodyPr/>
          <a:lstStyle/>
          <a:p>
            <a:r>
              <a:rPr lang="en-US" dirty="0"/>
              <a:t>The paradigm shifts in recent NLP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39FC989-1CC6-3DE3-51EE-8801A916B94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1539" y="2079417"/>
          <a:ext cx="11168922" cy="4486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19F75-5DB3-3C83-67DE-D35B806BF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z="1050" smtClean="0"/>
              <a:t>7</a:t>
            </a:fld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3889227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026271B-BD5B-EA4F-A2D4-8362B70402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E1A8173-E832-4D46-9752-C16D18393F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421F521-5EE9-BD4F-AC0A-7FC6AC4869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4D8AD77-E8AE-DD49-8A98-0917D9B762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443C485-FFEC-9C4F-8667-7DFB467F1F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4C6E477-7E93-9A4E-ACC6-4ADAAC1296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8EA05E3-7091-574F-A5BA-B58C0F43F3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5483EFF-9DA0-46E7-9AAB-F48027FE7D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A440DD-667F-4A86-8005-831E4BBD73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6F856-ACE1-F264-75DA-EBCF4A2C6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922DEF0-728E-CF0F-0C4C-104ACE761DE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1539" y="2079417"/>
          <a:ext cx="11168922" cy="4486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8A711-9A05-9D6A-63E3-D1FCBBCB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z="1050" smtClean="0"/>
              <a:t>8</a:t>
            </a:fld>
            <a:endParaRPr lang="en-US" sz="105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21166638-5E97-258A-F081-A5D7FBB77DFD}"/>
              </a:ext>
            </a:extLst>
          </p:cNvPr>
          <p:cNvSpPr/>
          <p:nvPr/>
        </p:nvSpPr>
        <p:spPr>
          <a:xfrm rot="5400000">
            <a:off x="3413463" y="279647"/>
            <a:ext cx="781238" cy="5104662"/>
          </a:xfrm>
          <a:prstGeom prst="leftBrace">
            <a:avLst>
              <a:gd name="adj1" fmla="val 8333"/>
              <a:gd name="adj2" fmla="val 48916"/>
            </a:avLst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D5E5FE-D5B9-E6AF-D66E-56D9BCDAD762}"/>
              </a:ext>
            </a:extLst>
          </p:cNvPr>
          <p:cNvSpPr txBox="1"/>
          <p:nvPr/>
        </p:nvSpPr>
        <p:spPr>
          <a:xfrm>
            <a:off x="2725445" y="1807719"/>
            <a:ext cx="2796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Self-supervised learning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8B3CD353-5C2E-2CF3-8501-3CEC6B40ABB4}"/>
              </a:ext>
            </a:extLst>
          </p:cNvPr>
          <p:cNvSpPr/>
          <p:nvPr/>
        </p:nvSpPr>
        <p:spPr>
          <a:xfrm rot="16200000">
            <a:off x="5261066" y="555901"/>
            <a:ext cx="811290" cy="10310344"/>
          </a:xfrm>
          <a:prstGeom prst="leftBrace">
            <a:avLst>
              <a:gd name="adj1" fmla="val 8333"/>
              <a:gd name="adj2" fmla="val 48916"/>
            </a:avLst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6EB517-E256-B5E0-9DFD-04753A0E3E63}"/>
              </a:ext>
            </a:extLst>
          </p:cNvPr>
          <p:cNvSpPr txBox="1"/>
          <p:nvPr/>
        </p:nvSpPr>
        <p:spPr>
          <a:xfrm>
            <a:off x="4717754" y="6196360"/>
            <a:ext cx="2796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Supervised learning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3FCE24-B163-CC02-334A-49FE3C9C4127}"/>
              </a:ext>
            </a:extLst>
          </p:cNvPr>
          <p:cNvSpPr txBox="1"/>
          <p:nvPr/>
        </p:nvSpPr>
        <p:spPr>
          <a:xfrm>
            <a:off x="8025418" y="1802343"/>
            <a:ext cx="2796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Reinforcement learning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FB65A8F0-55D9-29DF-0AEF-6DDD41A5CA45}"/>
              </a:ext>
            </a:extLst>
          </p:cNvPr>
          <p:cNvSpPr/>
          <p:nvPr/>
        </p:nvSpPr>
        <p:spPr>
          <a:xfrm rot="5400000">
            <a:off x="9260888" y="1543236"/>
            <a:ext cx="781238" cy="2577484"/>
          </a:xfrm>
          <a:prstGeom prst="leftBrace">
            <a:avLst>
              <a:gd name="adj1" fmla="val 8333"/>
              <a:gd name="adj2" fmla="val 48916"/>
            </a:avLst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137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F1C0-9050-1E06-35EE-01A045FB6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r>
              <a:rPr lang="en-US" dirty="0"/>
              <a:t>Core idea: self-supervised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6E5F7-0F22-5F66-1DC7-2911AFBA9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3931920"/>
          </a:xfrm>
        </p:spPr>
        <p:txBody>
          <a:bodyPr>
            <a:normAutofit/>
          </a:bodyPr>
          <a:lstStyle/>
          <a:p>
            <a:r>
              <a:rPr lang="en-US" dirty="0"/>
              <a:t>Models are trained on vast amounts of raw, unlabeled text data</a:t>
            </a:r>
          </a:p>
          <a:p>
            <a:endParaRPr lang="en-US" dirty="0"/>
          </a:p>
          <a:p>
            <a:r>
              <a:rPr lang="en-US" dirty="0"/>
              <a:t>The "supervision" signal comes from the data itself </a:t>
            </a:r>
          </a:p>
          <a:p>
            <a:endParaRPr lang="en-US" dirty="0"/>
          </a:p>
          <a:p>
            <a:r>
              <a:rPr lang="en-US" dirty="0"/>
              <a:t>Learns the "how" of human language patterns and relationships on a large scale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DF59C-7015-B37C-475C-10E9E96CF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9880" y="6307672"/>
            <a:ext cx="1463040" cy="274320"/>
          </a:xfrm>
        </p:spPr>
        <p:txBody>
          <a:bodyPr/>
          <a:lstStyle/>
          <a:p>
            <a:fld id="{6E73C706-3535-C740-ADCB-8AC187A67FA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860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DD587-E432-67D4-9E1B-F8B1B77A9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04E32A-720C-22F0-C04F-60B365833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92" y="80315"/>
            <a:ext cx="11902190" cy="1325563"/>
          </a:xfrm>
        </p:spPr>
        <p:txBody>
          <a:bodyPr/>
          <a:lstStyle/>
          <a:p>
            <a:r>
              <a:rPr lang="en-US" dirty="0"/>
              <a:t>LLMs’ history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E3613A7-DD3A-1C01-BDDA-039E158E11B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1539" y="2079417"/>
          <a:ext cx="11168922" cy="4486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14F7D-46B2-2B33-A478-1FE28FE2D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z="1050" smtClean="0"/>
              <a:t>10</a:t>
            </a:fld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2104509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026271B-BD5B-EA4F-A2D4-8362B70402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E1A8173-E832-4D46-9752-C16D18393F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421F521-5EE9-BD4F-AC0A-7FC6AC4869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4D8AD77-E8AE-DD49-8A98-0917D9B762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443C485-FFEC-9C4F-8667-7DFB467F1F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4C6E477-7E93-9A4E-ACC6-4ADAAC1296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8EA05E3-7091-574F-A5BA-B58C0F43F3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5483EFF-9DA0-46E7-9AAB-F48027FE7D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A440DD-667F-4A86-8005-831E4BBD73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3732010-9562-E1B6-DFE5-714835B27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633" y="132077"/>
            <a:ext cx="10894316" cy="1325563"/>
          </a:xfrm>
        </p:spPr>
        <p:txBody>
          <a:bodyPr/>
          <a:lstStyle/>
          <a:p>
            <a:r>
              <a:rPr lang="en-US" dirty="0"/>
              <a:t>BERT, 2018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B83C243-CF57-0F4E-B362-C3C0D8E4C9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8158" y="1457640"/>
            <a:ext cx="11152319" cy="487584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77C2CA-9825-633C-330D-9B1692C68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E73C706-3535-C740-ADCB-8AC187A67FA9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3076" name="Picture 4" descr="Bert | Muppet Wiki | Fandom">
            <a:extLst>
              <a:ext uri="{FF2B5EF4-FFF2-40B4-BE49-F238E27FC236}">
                <a16:creationId xmlns:a16="http://schemas.microsoft.com/office/drawing/2014/main" id="{6FC7C1DB-740F-C54C-5A0E-B8502657C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9" y="132323"/>
            <a:ext cx="1109897" cy="1849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8663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F09F2-D06B-B0A6-E4B6-E3256DBF3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7C21CFB9-2C6E-B54E-A2DB-2B33BA1EC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modeling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5BF5E9-B882-67B2-BE96-D6411945F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3C706-3535-C740-ADCB-8AC187A67FA9}" type="slidenum">
              <a:rPr lang="en-US" smtClean="0"/>
              <a:t>12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DA99AF-BD05-978F-2BA3-A39F6DEEC0AB}"/>
              </a:ext>
            </a:extLst>
          </p:cNvPr>
          <p:cNvSpPr txBox="1"/>
          <p:nvPr/>
        </p:nvSpPr>
        <p:spPr>
          <a:xfrm>
            <a:off x="3789118" y="2676698"/>
            <a:ext cx="41232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1" eaLnBrk="1" latinLnBrk="0" hangingPunct="1"/>
            <a:r>
              <a:rPr lang="fa-IR" sz="3200" dirty="0">
                <a:latin typeface="B Mitra" pitchFamily="2" charset="-78"/>
                <a:cs typeface="B Mitra" pitchFamily="2" charset="-78"/>
              </a:rPr>
              <a:t>معمولا بعد از ناهار چایی </a:t>
            </a:r>
            <a:r>
              <a:rPr lang="fa-IR" sz="3200" dirty="0">
                <a:solidFill>
                  <a:srgbClr val="C00000"/>
                </a:solidFill>
                <a:latin typeface="B Mitra" pitchFamily="2" charset="-78"/>
                <a:cs typeface="B Mitra" pitchFamily="2" charset="-78"/>
              </a:rPr>
              <a:t>میخوریم</a:t>
            </a:r>
            <a:r>
              <a:rPr lang="fa-IR" sz="3200" dirty="0">
                <a:latin typeface="B Mitra" pitchFamily="2" charset="-78"/>
                <a:cs typeface="B Mitra" pitchFamily="2" charset="-78"/>
              </a:rPr>
              <a:t> </a:t>
            </a:r>
            <a:endParaRPr lang="en-US" sz="3200" dirty="0">
              <a:latin typeface="B Mitra" pitchFamily="2" charset="-78"/>
              <a:cs typeface="B Mitra" pitchFamily="2" charset="-78"/>
            </a:endParaRP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95017D5C-26EA-592A-F72A-4E47D167FB04}"/>
              </a:ext>
            </a:extLst>
          </p:cNvPr>
          <p:cNvSpPr/>
          <p:nvPr/>
        </p:nvSpPr>
        <p:spPr>
          <a:xfrm rot="16200000">
            <a:off x="6324841" y="2298125"/>
            <a:ext cx="365122" cy="2209148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1AAFC7-A5F8-FB61-44B5-7818A9923E95}"/>
              </a:ext>
            </a:extLst>
          </p:cNvPr>
          <p:cNvSpPr txBox="1"/>
          <p:nvPr/>
        </p:nvSpPr>
        <p:spPr>
          <a:xfrm>
            <a:off x="6171623" y="4326206"/>
            <a:ext cx="9275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1" eaLnBrk="1" latinLnBrk="0" hangingPunct="1"/>
            <a:r>
              <a:rPr lang="en-US" sz="2000" dirty="0"/>
              <a:t>History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D39A7E8-CB91-AA96-37A9-C52324FDD576}"/>
              </a:ext>
            </a:extLst>
          </p:cNvPr>
          <p:cNvCxnSpPr>
            <a:cxnSpLocks/>
          </p:cNvCxnSpPr>
          <p:nvPr/>
        </p:nvCxnSpPr>
        <p:spPr>
          <a:xfrm flipV="1">
            <a:off x="4517009" y="3266418"/>
            <a:ext cx="0" cy="9600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BFF18A9-D9F6-2D87-7850-6D01470BBEF7}"/>
              </a:ext>
            </a:extLst>
          </p:cNvPr>
          <p:cNvSpPr txBox="1"/>
          <p:nvPr/>
        </p:nvSpPr>
        <p:spPr>
          <a:xfrm>
            <a:off x="3549693" y="4326206"/>
            <a:ext cx="17772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1" eaLnBrk="1" latinLnBrk="0" hangingPunct="1"/>
            <a:r>
              <a:rPr lang="en-US" sz="2000" dirty="0"/>
              <a:t>predicted word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83F6B68-9C62-D28B-94E3-BC33696727B8}"/>
              </a:ext>
            </a:extLst>
          </p:cNvPr>
          <p:cNvCxnSpPr>
            <a:cxnSpLocks/>
          </p:cNvCxnSpPr>
          <p:nvPr/>
        </p:nvCxnSpPr>
        <p:spPr>
          <a:xfrm flipV="1">
            <a:off x="6500554" y="3668383"/>
            <a:ext cx="0" cy="5580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3090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47F54-8830-5461-6C33-2AE7814EB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06B958-47C6-1E2F-9DE5-3E134B672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92" y="80315"/>
            <a:ext cx="11902190" cy="1325563"/>
          </a:xfrm>
        </p:spPr>
        <p:txBody>
          <a:bodyPr>
            <a:normAutofit/>
          </a:bodyPr>
          <a:lstStyle/>
          <a:p>
            <a:r>
              <a:rPr lang="en-US" dirty="0"/>
              <a:t>GPTs: Generative Pre-trained Transformers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33B26E-153B-E34D-C8FC-9AA2A720E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513" y="2031688"/>
            <a:ext cx="7001656" cy="43246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Large language models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GPT-2 (1.5B parameters; Radford et al., 2019)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2400" dirty="0"/>
              <a:t>Same architecture as GPT, just bigger (117M -&gt; 1.5B) </a:t>
            </a:r>
          </a:p>
          <a:p>
            <a:pPr marL="0" indent="0">
              <a:buNone/>
            </a:pPr>
            <a:r>
              <a:rPr lang="en-US" sz="2400" dirty="0"/>
              <a:t>But trained on much more data: 4GB -&gt; 40GB</a:t>
            </a:r>
          </a:p>
          <a:p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2222AB-323E-AF5D-0D38-6F7DB7FA7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3C706-3535-C740-ADCB-8AC187A67FA9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6F08AB-DA8B-4A77-590C-5DE238961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200" y="1593746"/>
            <a:ext cx="3352800" cy="2921000"/>
          </a:xfrm>
          <a:prstGeom prst="rect">
            <a:avLst/>
          </a:prstGeom>
        </p:spPr>
      </p:pic>
      <p:pic>
        <p:nvPicPr>
          <p:cNvPr id="4098" name="Picture 2" descr="Empowering Web App Development: The Advantages of OpenAI | by Imaginovation  | Medium">
            <a:extLst>
              <a:ext uri="{FF2B5EF4-FFF2-40B4-BE49-F238E27FC236}">
                <a16:creationId xmlns:a16="http://schemas.microsoft.com/office/drawing/2014/main" id="{245CE6E9-9D75-3511-4426-112BF8FE4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2082" y="209696"/>
            <a:ext cx="19050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0720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2B597-4D58-B65D-FAF9-361E41F7E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FF46D-8B87-10EA-0AAC-C4561443E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Emergent zero-shot 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F2DAA-8D19-3A12-2F2E-F896DD83B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493" y="1907804"/>
            <a:ext cx="10895013" cy="11874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ability to do many tasks with no examples, and no gradient updates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9F829-2737-A186-E7EC-88B4834D9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3C706-3535-C740-ADCB-8AC187A67FA9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71FC59-708E-69C0-79B8-9585B8115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367" y="3582191"/>
            <a:ext cx="10271704" cy="1939550"/>
          </a:xfrm>
          <a:prstGeom prst="rect">
            <a:avLst/>
          </a:prstGeom>
        </p:spPr>
      </p:pic>
      <p:pic>
        <p:nvPicPr>
          <p:cNvPr id="6" name="Picture 2" descr="Empowering Web App Development: The Advantages of OpenAI | by Imaginovation  | Medium">
            <a:extLst>
              <a:ext uri="{FF2B5EF4-FFF2-40B4-BE49-F238E27FC236}">
                <a16:creationId xmlns:a16="http://schemas.microsoft.com/office/drawing/2014/main" id="{37D58CB6-8718-E258-8B88-5EA53DBB0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2082" y="209696"/>
            <a:ext cx="19050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6161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2912D-A118-5079-D10E-E43439FE4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685" y="95305"/>
            <a:ext cx="10894316" cy="1325563"/>
          </a:xfrm>
        </p:spPr>
        <p:txBody>
          <a:bodyPr>
            <a:normAutofit/>
          </a:bodyPr>
          <a:lstStyle/>
          <a:p>
            <a:r>
              <a:rPr lang="en-US" dirty="0"/>
              <a:t>What does an LLM learn from pretraining?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92485-6301-A46A-01FE-5A6955AE6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484" y="1825625"/>
            <a:ext cx="10894316" cy="4351338"/>
          </a:xfrm>
        </p:spPr>
        <p:txBody>
          <a:bodyPr>
            <a:normAutofit/>
          </a:bodyPr>
          <a:lstStyle/>
          <a:p>
            <a:r>
              <a:rPr lang="en-US" sz="2800" dirty="0"/>
              <a:t>With roses, dahlias, and peonies, I was surrounded by </a:t>
            </a:r>
            <a:r>
              <a:rPr lang="en-US" sz="2800" b="1" dirty="0"/>
              <a:t>flowers</a:t>
            </a:r>
          </a:p>
          <a:p>
            <a:r>
              <a:rPr lang="en-US" sz="2800" dirty="0"/>
              <a:t>The room wasn't just big it was </a:t>
            </a:r>
            <a:r>
              <a:rPr lang="en-US" sz="2800" b="1" dirty="0"/>
              <a:t>enormous</a:t>
            </a:r>
          </a:p>
          <a:p>
            <a:r>
              <a:rPr lang="en-US" sz="2800" dirty="0"/>
              <a:t>The square root of 4 is </a:t>
            </a:r>
            <a:r>
              <a:rPr lang="en-US" sz="2800" b="1" dirty="0"/>
              <a:t>2</a:t>
            </a:r>
          </a:p>
          <a:p>
            <a:r>
              <a:rPr lang="en-US" sz="2800" dirty="0"/>
              <a:t>The author of "A Room of One's Own" is Virginia </a:t>
            </a:r>
            <a:r>
              <a:rPr lang="en-US" sz="2800" b="1" dirty="0"/>
              <a:t>Woolf</a:t>
            </a:r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92579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E09D9-6B4D-CC8A-39DC-F4C1ED1F5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large language model?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9F69B2-DCE5-3A1D-66CB-2C7F95BD3E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6400" y="3175960"/>
            <a:ext cx="9296400" cy="32893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E14DC9-E5FD-7D70-D9EB-AB82384B61CF}"/>
              </a:ext>
            </a:extLst>
          </p:cNvPr>
          <p:cNvSpPr txBox="1"/>
          <p:nvPr/>
        </p:nvSpPr>
        <p:spPr>
          <a:xfrm>
            <a:off x="1417637" y="1526064"/>
            <a:ext cx="1016476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 neural network with:</a:t>
            </a:r>
          </a:p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	Input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: a context or prefix, </a:t>
            </a:r>
          </a:p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	Output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: a distribution over possible next words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107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2B85F-A104-AABB-AB18-EBA5DE902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C9D62-E8B6-6CD3-3A03-FFD7128D8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LLMs can generate!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5237A5-A869-B874-4BD9-80A357871A1B}"/>
              </a:ext>
            </a:extLst>
          </p:cNvPr>
          <p:cNvSpPr txBox="1"/>
          <p:nvPr/>
        </p:nvSpPr>
        <p:spPr>
          <a:xfrm>
            <a:off x="1006819" y="1530626"/>
            <a:ext cx="1054576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A model that gives a probability distribution over next words can generate</a:t>
            </a:r>
          </a:p>
          <a:p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by repeatedly sampling from the distribution 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FAB9F04-8970-65D4-E3C7-3B466DE095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9401" y="2540074"/>
            <a:ext cx="6768548" cy="4245953"/>
          </a:xfrm>
        </p:spPr>
      </p:pic>
    </p:spTree>
    <p:extLst>
      <p:ext uri="{BB962C8B-B14F-4D97-AF65-F5344CB8AC3E}">
        <p14:creationId xmlns:p14="http://schemas.microsoft.com/office/powerpoint/2010/main" val="2612557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E112-7E49-BE15-2626-45D5F1128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F1146-912F-376B-1180-2D9E612D4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Many tasks can be turned into tasks of predicting words!</a:t>
            </a:r>
          </a:p>
        </p:txBody>
      </p:sp>
    </p:spTree>
    <p:extLst>
      <p:ext uri="{BB962C8B-B14F-4D97-AF65-F5344CB8AC3E}">
        <p14:creationId xmlns:p14="http://schemas.microsoft.com/office/powerpoint/2010/main" val="20801075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2332D-6A19-4FA2-C81D-B7CA20C1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C1241-BEA3-C71C-9B28-739DD29B1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Emergent abilities of GPT-3 (2020)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5C8C5-EBAE-D056-E416-FF0E393EC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0" y="2286000"/>
            <a:ext cx="9601200" cy="17907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GPT-3 (175B parameters; Brown et al., 2020)</a:t>
            </a:r>
          </a:p>
          <a:p>
            <a:pPr lvl="1"/>
            <a:r>
              <a:rPr lang="en-US" dirty="0"/>
              <a:t>Another increase in size (1.5B -&gt; 175B) </a:t>
            </a:r>
          </a:p>
          <a:p>
            <a:pPr lvl="1"/>
            <a:r>
              <a:rPr lang="en-US" dirty="0"/>
              <a:t>and data (40GB -&gt; over 600GB)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569DC-159D-D421-8E38-8BCC4E997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3C706-3535-C740-ADCB-8AC187A67FA9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A68203-E184-0378-667B-AD211991D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650" y="4076700"/>
            <a:ext cx="9329789" cy="2164725"/>
          </a:xfrm>
          <a:prstGeom prst="rect">
            <a:avLst/>
          </a:prstGeom>
        </p:spPr>
      </p:pic>
      <p:pic>
        <p:nvPicPr>
          <p:cNvPr id="6" name="Picture 2" descr="Empowering Web App Development: The Advantages of OpenAI | by Imaginovation  | Medium">
            <a:extLst>
              <a:ext uri="{FF2B5EF4-FFF2-40B4-BE49-F238E27FC236}">
                <a16:creationId xmlns:a16="http://schemas.microsoft.com/office/drawing/2014/main" id="{4ECBAB62-7DD7-192D-C8BB-2EBC06DE3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2082" y="209696"/>
            <a:ext cx="19050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70560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25493-EAA2-D362-A313-E31EA8432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06389D-BFD7-E69C-9E9C-928B2F44E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92" y="80315"/>
            <a:ext cx="11902190" cy="1325563"/>
          </a:xfrm>
        </p:spPr>
        <p:txBody>
          <a:bodyPr/>
          <a:lstStyle/>
          <a:p>
            <a:r>
              <a:rPr lang="en-US" dirty="0"/>
              <a:t>LLMs’ history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814F717-CE79-D0EF-EB01-CD6F2434270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1539" y="2079417"/>
          <a:ext cx="11168922" cy="4486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7D974-BF8A-0C02-52C3-C5355688B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z="1050" smtClean="0"/>
              <a:t>20</a:t>
            </a:fld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2876272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026271B-BD5B-EA4F-A2D4-8362B70402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E1A8173-E832-4D46-9752-C16D18393F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421F521-5EE9-BD4F-AC0A-7FC6AC4869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4D8AD77-E8AE-DD49-8A98-0917D9B762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443C485-FFEC-9C4F-8667-7DFB467F1F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4C6E477-7E93-9A4E-ACC6-4ADAAC1296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8EA05E3-7091-574F-A5BA-B58C0F43F3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5483EFF-9DA0-46E7-9AAB-F48027FE7D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A440DD-667F-4A86-8005-831E4BBD73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D605F-7C0C-F552-C426-AF5A758ED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92" y="80315"/>
            <a:ext cx="11902190" cy="1325563"/>
          </a:xfrm>
        </p:spPr>
        <p:txBody>
          <a:bodyPr/>
          <a:lstStyle/>
          <a:p>
            <a:r>
              <a:rPr lang="en-US" dirty="0"/>
              <a:t>Emergent in-context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BD354-76A8-B5BE-8E38-8F6152836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E73C706-3535-C740-ADCB-8AC187A67FA9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113796-CBA0-9555-0B6A-A841A50FF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330" y="1902269"/>
            <a:ext cx="9161339" cy="4242499"/>
          </a:xfrm>
          <a:prstGeom prst="rect">
            <a:avLst/>
          </a:prstGeom>
        </p:spPr>
      </p:pic>
      <p:pic>
        <p:nvPicPr>
          <p:cNvPr id="3" name="Picture 2" descr="Empowering Web App Development: The Advantages of OpenAI | by Imaginovation  | Medium">
            <a:extLst>
              <a:ext uri="{FF2B5EF4-FFF2-40B4-BE49-F238E27FC236}">
                <a16:creationId xmlns:a16="http://schemas.microsoft.com/office/drawing/2014/main" id="{982E2AF8-219C-D206-8EC3-BFA345D8A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2082" y="209696"/>
            <a:ext cx="19050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5728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0CFE9-ACFC-D543-0879-88C23E558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/>
              <a:t>GPT3 was already generating coherent and fluent text and few-shot learning of new tasks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1B0746-C5B5-AB9A-6C27-243CFE245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3C706-3535-C740-ADCB-8AC187A67FA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7717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9F1D-BDA9-6326-2947-E2A68E47B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92" y="80315"/>
            <a:ext cx="11902190" cy="1325563"/>
          </a:xfrm>
        </p:spPr>
        <p:txBody>
          <a:bodyPr/>
          <a:lstStyle/>
          <a:p>
            <a:r>
              <a:rPr lang="en-US" dirty="0"/>
              <a:t>Language modeling ≠ assisting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0413D-99E6-A0B8-EAD9-61D12B3C0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E73C706-3535-C740-ADCB-8AC187A67FA9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7D6877-A482-92ED-EFB8-BEEA9B119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799" y="1662504"/>
            <a:ext cx="9020259" cy="300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632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3E99D-0E49-EA39-AF60-9D26ED4DC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Language modeling ≠ assisting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55BC61-59E9-A78C-D88A-7D8C17806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3C706-3535-C740-ADCB-8AC187A67FA9}" type="slidenum">
              <a:rPr lang="en-US" smtClean="0"/>
              <a:t>24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4AD5A6-1F4E-E5AA-FE1D-158C50C8F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319" y="1873771"/>
            <a:ext cx="11187362" cy="381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186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CD4BA-25B6-3375-CCCE-01E4D2050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3C706-3535-C740-ADCB-8AC187A67FA9}" type="slidenum">
              <a:rPr lang="en-US" smtClean="0"/>
              <a:t>25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CCEEF-460E-6563-7A1D-095A26D9F31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866899" y="2702257"/>
            <a:ext cx="9365207" cy="18697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b="1" dirty="0"/>
              <a:t>Self-supervised alone is not enough</a:t>
            </a:r>
          </a:p>
        </p:txBody>
      </p:sp>
    </p:spTree>
    <p:extLst>
      <p:ext uri="{BB962C8B-B14F-4D97-AF65-F5344CB8AC3E}">
        <p14:creationId xmlns:p14="http://schemas.microsoft.com/office/powerpoint/2010/main" val="2435469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8821E-76D2-9E06-1AB4-73C0437BF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96F8102-04D0-5EE8-EB70-008ED7206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92" y="80315"/>
            <a:ext cx="11902190" cy="1325563"/>
          </a:xfrm>
        </p:spPr>
        <p:txBody>
          <a:bodyPr/>
          <a:lstStyle/>
          <a:p>
            <a:r>
              <a:rPr lang="en-US" dirty="0"/>
              <a:t>LLMs’ history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7B6D956-1051-B5B1-2064-011CEE58C22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1539" y="2079417"/>
          <a:ext cx="11168922" cy="4486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0FCB4-BDBA-EA50-4AAF-BE0F45828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z="1050" smtClean="0"/>
              <a:t>26</a:t>
            </a:fld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2106802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026271B-BD5B-EA4F-A2D4-8362B70402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E1A8173-E832-4D46-9752-C16D18393F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421F521-5EE9-BD4F-AC0A-7FC6AC4869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4D8AD77-E8AE-DD49-8A98-0917D9B762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443C485-FFEC-9C4F-8667-7DFB467F1F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4C6E477-7E93-9A4E-ACC6-4ADAAC1296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8EA05E3-7091-574F-A5BA-B58C0F43F3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5483EFF-9DA0-46E7-9AAB-F48027FE7D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A440DD-667F-4A86-8005-831E4BBD73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EB16C-22F5-4457-9B70-DA3AB85FC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92" y="80315"/>
            <a:ext cx="11902190" cy="1325563"/>
          </a:xfrm>
        </p:spPr>
        <p:txBody>
          <a:bodyPr/>
          <a:lstStyle/>
          <a:p>
            <a:r>
              <a:rPr lang="en-US"/>
              <a:t>Instruction tuning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FD8370-6FB6-E1B9-101B-0EC17DBD3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916" y="1767824"/>
            <a:ext cx="9601200" cy="80197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/>
              <a:t>Collect examples of (instruction, output) pairs across many tasks and finetune an LLM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256AAA-8697-9BA4-F834-4208328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E73C706-3535-C740-ADCB-8AC187A67FA9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D98E6F-6CC3-E32C-2618-1F0A046B7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053" y="2895955"/>
            <a:ext cx="7772400" cy="3674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E5D4C4-5720-9713-D4BF-7329ADE9C6E2}"/>
              </a:ext>
            </a:extLst>
          </p:cNvPr>
          <p:cNvSpPr txBox="1"/>
          <p:nvPr/>
        </p:nvSpPr>
        <p:spPr>
          <a:xfrm>
            <a:off x="10093440" y="6017604"/>
            <a:ext cx="19511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[FLAN-T5; Chung et al., 2022]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676259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30C24-1326-DF1A-90BD-AFAFAE0E0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92" y="80315"/>
            <a:ext cx="11902190" cy="1325563"/>
          </a:xfrm>
        </p:spPr>
        <p:txBody>
          <a:bodyPr/>
          <a:lstStyle/>
          <a:p>
            <a:r>
              <a:rPr lang="en-US" dirty="0"/>
              <a:t>Limitations of instruction-tuning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C7414-5421-F2F3-CB53-CCC371A0A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484" y="1825625"/>
            <a:ext cx="1089431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No right answer for tasks like open-ended </a:t>
            </a:r>
            <a:r>
              <a:rPr lang="en-US" b="1" dirty="0"/>
              <a:t>creative</a:t>
            </a:r>
            <a:r>
              <a:rPr lang="en-US" dirty="0"/>
              <a:t> generation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Mismatch</a:t>
            </a:r>
            <a:r>
              <a:rPr lang="en-US" dirty="0"/>
              <a:t> between the </a:t>
            </a:r>
            <a:r>
              <a:rPr lang="en-US" b="1" dirty="0"/>
              <a:t>LM objective </a:t>
            </a:r>
            <a:r>
              <a:rPr lang="en-US" dirty="0"/>
              <a:t>and the objective of </a:t>
            </a:r>
            <a:r>
              <a:rPr lang="en-US" b="1" dirty="0"/>
              <a:t>“satisfy human preferences”</a:t>
            </a:r>
            <a:r>
              <a:rPr lang="en-US" dirty="0"/>
              <a:t>!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C3B42-0693-A7D5-472B-F396584F4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E73C706-3535-C740-ADCB-8AC187A67FA9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48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7F862-DEED-6173-CCDC-19A404426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92" y="80315"/>
            <a:ext cx="11902190" cy="1325563"/>
          </a:xfrm>
        </p:spPr>
        <p:txBody>
          <a:bodyPr/>
          <a:lstStyle/>
          <a:p>
            <a:r>
              <a:rPr lang="en-US" dirty="0"/>
              <a:t>Reinforcement learning to the rescue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6ABE9-347E-270C-8AA0-E2246FC52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E73C706-3535-C740-ADCB-8AC187A67FA9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9863E-FC32-EFFA-BDC5-C72A19BA44D9}"/>
              </a:ext>
            </a:extLst>
          </p:cNvPr>
          <p:cNvSpPr txBox="1">
            <a:spLocks/>
          </p:cNvSpPr>
          <p:nvPr/>
        </p:nvSpPr>
        <p:spPr>
          <a:xfrm>
            <a:off x="459484" y="1825625"/>
            <a:ext cx="10894316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For each LM sample 𝑠, imagine we had a way to obtain a human reward of that summary: 𝑅(𝑠) ∈ ℝ, higher is better.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We want to maximize the expected reward of samples from our LM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D43EB2-BCEE-1011-8417-D0E97761F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557" y="2790295"/>
            <a:ext cx="9530886" cy="242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3890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B6709-E781-8DFF-1BC6-DC504D830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RLHF provides gains over pretraining + finetuning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A43D8A-7BB8-8029-8AF2-29F5E36E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3C706-3535-C740-ADCB-8AC187A67FA9}" type="slidenum">
              <a:rPr lang="en-US" smtClean="0"/>
              <a:t>30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FC6679-4A4A-8EFF-21FD-2C926B138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828" y="2464938"/>
            <a:ext cx="6909373" cy="41907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A94B8B-19AB-441A-A8DE-A98489415DB4}"/>
              </a:ext>
            </a:extLst>
          </p:cNvPr>
          <p:cNvSpPr txBox="1"/>
          <p:nvPr/>
        </p:nvSpPr>
        <p:spPr>
          <a:xfrm>
            <a:off x="9638675" y="2053652"/>
            <a:ext cx="1835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InstructGPT</a:t>
            </a:r>
            <a:r>
              <a:rPr lang="en-US" dirty="0"/>
              <a:t>, 2022</a:t>
            </a:r>
          </a:p>
        </p:txBody>
      </p:sp>
    </p:spTree>
    <p:extLst>
      <p:ext uri="{BB962C8B-B14F-4D97-AF65-F5344CB8AC3E}">
        <p14:creationId xmlns:p14="http://schemas.microsoft.com/office/powerpoint/2010/main" val="5459392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C62164F-0E29-A1BE-97B1-8CB5D12D6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GPT3 to </a:t>
            </a:r>
            <a:r>
              <a:rPr lang="en-US" dirty="0" err="1"/>
              <a:t>InstructGPT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BFAA13-5622-D8F4-B2B2-B9F4E1F65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3C706-3535-C740-ADCB-8AC187A67FA9}" type="slidenum">
              <a:rPr lang="en-US" smtClean="0"/>
              <a:t>31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4C7DF4-2402-5A82-9797-15DB47B65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16" y="1724663"/>
            <a:ext cx="10066678" cy="4996812"/>
          </a:xfrm>
          <a:prstGeom prst="rect">
            <a:avLst/>
          </a:prstGeom>
        </p:spPr>
      </p:pic>
      <p:pic>
        <p:nvPicPr>
          <p:cNvPr id="2" name="Picture 1" descr="Empowering Web App Development: The Advantages of OpenAI | by Imaginovation  | Medium">
            <a:extLst>
              <a:ext uri="{FF2B5EF4-FFF2-40B4-BE49-F238E27FC236}">
                <a16:creationId xmlns:a16="http://schemas.microsoft.com/office/drawing/2014/main" id="{04877CC8-DEEC-50C7-CBF6-B2D283273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2082" y="209696"/>
            <a:ext cx="19050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87863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70E07-C30E-2433-4918-8C0DB8629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284" y="530345"/>
            <a:ext cx="7001671" cy="45671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ChatGPT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Instruction finetuning + RLHF for </a:t>
            </a:r>
            <a:b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dialog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agents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34E063-E274-53E0-D19E-0672DFDE7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E73C706-3535-C740-ADCB-8AC187A67FA9}" type="slidenum">
              <a:rPr lang="en-US" smtClean="0"/>
              <a:pPr>
                <a:spcAft>
                  <a:spcPts val="600"/>
                </a:spcAft>
              </a:pPr>
              <a:t>32</a:t>
            </a:fld>
            <a:endParaRPr 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3B4EA480-49EE-B573-7E1E-79384EF41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90415" y="3761295"/>
            <a:ext cx="2118076" cy="1993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24447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E241E-B7B1-7D4A-ED29-F4B8F1FCA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06F1A7-58C9-D6DC-8115-C1553F6DA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92" y="80315"/>
            <a:ext cx="11902190" cy="1325563"/>
          </a:xfrm>
        </p:spPr>
        <p:txBody>
          <a:bodyPr/>
          <a:lstStyle/>
          <a:p>
            <a:r>
              <a:rPr lang="en-US" dirty="0"/>
              <a:t>LLMs’ history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8C92491-EC14-8E48-1DD4-A73B020FD22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1539" y="2079417"/>
          <a:ext cx="11168922" cy="4486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AFF2B-41C1-C083-E2CC-D3ACAD34C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z="1050" smtClean="0"/>
              <a:t>33</a:t>
            </a:fld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1940234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026271B-BD5B-EA4F-A2D4-8362B70402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E1A8173-E832-4D46-9752-C16D18393F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421F521-5EE9-BD4F-AC0A-7FC6AC4869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4D8AD77-E8AE-DD49-8A98-0917D9B762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443C485-FFEC-9C4F-8667-7DFB467F1F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4C6E477-7E93-9A4E-ACC6-4ADAAC1296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8EA05E3-7091-574F-A5BA-B58C0F43F3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5483EFF-9DA0-46E7-9AAB-F48027FE7D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A440DD-667F-4A86-8005-831E4BBD73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34</a:t>
            </a:fld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1293" y="1295691"/>
            <a:ext cx="6524884" cy="23602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20033" y="4216380"/>
            <a:ext cx="6345467" cy="220433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49767" y="2572263"/>
            <a:ext cx="170857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b="1" spc="-7">
                <a:latin typeface="Times New Roman"/>
                <a:cs typeface="Times New Roman"/>
              </a:rPr>
              <a:t>Few-Shot</a:t>
            </a:r>
            <a:r>
              <a:rPr sz="2133" b="1" spc="-107">
                <a:latin typeface="Times New Roman"/>
                <a:cs typeface="Times New Roman"/>
              </a:rPr>
              <a:t> </a:t>
            </a:r>
            <a:r>
              <a:rPr sz="2133" b="1" spc="-7">
                <a:latin typeface="Times New Roman"/>
                <a:cs typeface="Times New Roman"/>
              </a:rPr>
              <a:t>CoT</a:t>
            </a:r>
            <a:endParaRPr sz="2133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5601" y="5049163"/>
            <a:ext cx="178223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b="1" spc="-7">
                <a:latin typeface="Times New Roman"/>
                <a:cs typeface="Times New Roman"/>
              </a:rPr>
              <a:t>Zero-Shot</a:t>
            </a:r>
            <a:r>
              <a:rPr sz="2133" b="1" spc="-107">
                <a:latin typeface="Times New Roman"/>
                <a:cs typeface="Times New Roman"/>
              </a:rPr>
              <a:t> </a:t>
            </a:r>
            <a:r>
              <a:rPr sz="2133" b="1" spc="-7">
                <a:latin typeface="Times New Roman"/>
                <a:cs typeface="Times New Roman"/>
              </a:rPr>
              <a:t>CoT</a:t>
            </a:r>
            <a:endParaRPr sz="2133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837489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13"/>
              <a:t>Chain</a:t>
            </a:r>
            <a:r>
              <a:rPr sz="4000" spc="-53"/>
              <a:t> </a:t>
            </a:r>
            <a:r>
              <a:rPr sz="4000"/>
              <a:t>of</a:t>
            </a:r>
            <a:r>
              <a:rPr sz="4000" spc="-107"/>
              <a:t> </a:t>
            </a:r>
            <a:r>
              <a:rPr sz="4000" spc="-7"/>
              <a:t>Thought</a:t>
            </a:r>
            <a:r>
              <a:rPr sz="4000" spc="-47"/>
              <a:t> </a:t>
            </a:r>
            <a:r>
              <a:rPr sz="4000"/>
              <a:t>(CoT)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26AC4F-1029-9732-2AD2-298F3CEB1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980513"/>
            <a:ext cx="10058400" cy="981762"/>
          </a:xfrm>
        </p:spPr>
        <p:txBody>
          <a:bodyPr/>
          <a:lstStyle/>
          <a:p>
            <a:pPr marL="0" marR="6773" indent="0">
              <a:buNone/>
            </a:pPr>
            <a:r>
              <a:rPr lang="en-US" sz="2800" dirty="0">
                <a:latin typeface="Times New Roman"/>
                <a:cs typeface="Times New Roman"/>
              </a:rPr>
              <a:t>A </a:t>
            </a:r>
            <a:r>
              <a:rPr lang="en-US" sz="2800" spc="-7" dirty="0">
                <a:latin typeface="Times New Roman"/>
                <a:cs typeface="Times New Roman"/>
              </a:rPr>
              <a:t>chain </a:t>
            </a:r>
            <a:r>
              <a:rPr lang="en-US" sz="2800" dirty="0">
                <a:latin typeface="Times New Roman"/>
                <a:cs typeface="Times New Roman"/>
              </a:rPr>
              <a:t>of </a:t>
            </a:r>
            <a:r>
              <a:rPr lang="en-US" sz="2800" spc="-7" dirty="0">
                <a:latin typeface="Times New Roman"/>
                <a:cs typeface="Times New Roman"/>
              </a:rPr>
              <a:t>thought is </a:t>
            </a:r>
            <a:r>
              <a:rPr lang="en-US" sz="2800" b="1" dirty="0">
                <a:latin typeface="Times New Roman"/>
                <a:cs typeface="Times New Roman"/>
              </a:rPr>
              <a:t>a </a:t>
            </a:r>
            <a:r>
              <a:rPr lang="en-US" sz="2800" b="1" spc="-7" dirty="0">
                <a:latin typeface="Times New Roman"/>
                <a:cs typeface="Times New Roman"/>
              </a:rPr>
              <a:t>series </a:t>
            </a:r>
            <a:r>
              <a:rPr lang="en-US" sz="2800" b="1" dirty="0">
                <a:latin typeface="Times New Roman"/>
                <a:cs typeface="Times New Roman"/>
              </a:rPr>
              <a:t>of </a:t>
            </a:r>
            <a:r>
              <a:rPr lang="en-US" sz="2800" b="1" spc="-7" dirty="0">
                <a:latin typeface="Times New Roman"/>
                <a:cs typeface="Times New Roman"/>
              </a:rPr>
              <a:t>intermediate steps </a:t>
            </a:r>
            <a:r>
              <a:rPr lang="en-US" sz="2800" spc="-7" dirty="0">
                <a:latin typeface="Times New Roman"/>
                <a:cs typeface="Times New Roman"/>
              </a:rPr>
              <a:t>that lead </a:t>
            </a:r>
            <a:r>
              <a:rPr lang="en-US" sz="2800" spc="-513" dirty="0">
                <a:latin typeface="Times New Roman"/>
                <a:cs typeface="Times New Roman"/>
              </a:rPr>
              <a:t> </a:t>
            </a:r>
            <a:r>
              <a:rPr lang="en-US" sz="2800" spc="-7" dirty="0">
                <a:latin typeface="Times New Roman"/>
                <a:cs typeface="Times New Roman"/>
              </a:rPr>
              <a:t>to</a:t>
            </a:r>
            <a:r>
              <a:rPr lang="en-US" sz="2800" spc="-13" dirty="0">
                <a:latin typeface="Times New Roman"/>
                <a:cs typeface="Times New Roman"/>
              </a:rPr>
              <a:t> </a:t>
            </a:r>
            <a:r>
              <a:rPr lang="en-US" sz="2800" spc="-7" dirty="0">
                <a:latin typeface="Times New Roman"/>
                <a:cs typeface="Times New Roman"/>
              </a:rPr>
              <a:t>the </a:t>
            </a:r>
            <a:r>
              <a:rPr lang="en-US" sz="2800" dirty="0">
                <a:latin typeface="Times New Roman"/>
                <a:cs typeface="Times New Roman"/>
              </a:rPr>
              <a:t>final output</a:t>
            </a:r>
          </a:p>
          <a:p>
            <a:endParaRPr lang="en-US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35</a:t>
            </a:fld>
            <a:endParaRPr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9A05CF-36B3-6747-918E-789A4E4C5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003" y="3105221"/>
            <a:ext cx="7339994" cy="375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0545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19585B-E059-7382-080F-139717BAE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Recent reasoning models </a:t>
            </a:r>
            <a:r>
              <a:rPr lang="en-US" b="0" i="0" dirty="0">
                <a:solidFill>
                  <a:srgbClr val="1A1C1E"/>
                </a:solidFill>
                <a:effectLst/>
              </a:rPr>
              <a:t>integrate reasoning processes into the model's training</a:t>
            </a:r>
            <a:r>
              <a:rPr lang="en-US" dirty="0">
                <a:solidFill>
                  <a:srgbClr val="1A1C1E"/>
                </a:solidFill>
              </a:rPr>
              <a:t> through </a:t>
            </a:r>
            <a:r>
              <a:rPr lang="en-US" dirty="0"/>
              <a:t>a post-training phase mainly using reinforcement learning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Let’s look at Open O1 release blog https://openai.com/index/learning-to-reason-with-llms/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C0D8AE-9A32-C0E3-C8F6-67EEC3A89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</a:t>
            </a:r>
            <a:r>
              <a:rPr lang="en-US" dirty="0" err="1"/>
              <a:t>CoT</a:t>
            </a:r>
            <a:r>
              <a:rPr lang="en-US" dirty="0"/>
              <a:t> to reasoning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D61AB-A4DD-A1EE-ED6F-4178DB4D2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223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86D08-322A-E123-583D-3E6C56A45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9348EB0-B7B2-D11D-1E62-32A96C315C23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1819275" y="327025"/>
            <a:ext cx="10372725" cy="6067425"/>
          </a:xfrm>
        </p:spPr>
      </p:pic>
    </p:spTree>
    <p:extLst>
      <p:ext uri="{BB962C8B-B14F-4D97-AF65-F5344CB8AC3E}">
        <p14:creationId xmlns:p14="http://schemas.microsoft.com/office/powerpoint/2010/main" val="28073539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F854B-9AA2-1CD9-F662-73F87AF57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EAD3EA4-0F3B-20E3-CBF6-EBDF257DCEF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0" y="742950"/>
            <a:ext cx="11372850" cy="5510213"/>
          </a:xfrm>
        </p:spPr>
      </p:pic>
    </p:spTree>
    <p:extLst>
      <p:ext uri="{BB962C8B-B14F-4D97-AF65-F5344CB8AC3E}">
        <p14:creationId xmlns:p14="http://schemas.microsoft.com/office/powerpoint/2010/main" val="28997418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D16D84-1DA4-D1A2-D819-0492DF61C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Chain-of-Thought in O1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29E105-6009-11D1-1A1E-09DFA27A7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endParaRPr lang="en-US" sz="2800" b="1" i="0" dirty="0">
              <a:solidFill>
                <a:srgbClr val="000000"/>
              </a:solidFill>
              <a:effectLst/>
              <a:latin typeface="OpenAI Sans"/>
            </a:endParaRPr>
          </a:p>
          <a:p>
            <a:pPr marL="0" indent="0" algn="l"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OpenAI Sans"/>
              </a:rPr>
              <a:t>Similar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OpenAI Sans"/>
              </a:rPr>
              <a:t> to how a human may 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OpenAI Sans"/>
              </a:rPr>
              <a:t>think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OpenAI Sans"/>
              </a:rPr>
              <a:t> 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OpenAI Sans"/>
              </a:rPr>
              <a:t>for a long time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OpenAI Sans"/>
              </a:rPr>
              <a:t>before responding to a 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OpenAI Sans"/>
              </a:rPr>
              <a:t>difficult question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OpenAI Sans"/>
              </a:rPr>
              <a:t>, o1 uses a chain of thought when attempting to solve a problem. Through 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OpenAI Sans"/>
              </a:rPr>
              <a:t>reinforcement learning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OpenAI Sans"/>
              </a:rPr>
              <a:t>, o1 learns to </a:t>
            </a:r>
            <a:r>
              <a:rPr lang="en-US" sz="2800" i="0" dirty="0">
                <a:solidFill>
                  <a:srgbClr val="000000"/>
                </a:solidFill>
                <a:effectLst/>
                <a:latin typeface="OpenAI Sans"/>
              </a:rPr>
              <a:t>hone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OpenAI Sans"/>
              </a:rPr>
              <a:t>its chain of thought and 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OpenAI Sans"/>
              </a:rPr>
              <a:t>refine the strategies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OpenAI Sans"/>
              </a:rPr>
              <a:t> it uses. It learns to 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OpenAI Sans"/>
              </a:rPr>
              <a:t>recognize and correct its mistakes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OpenAI Sans"/>
              </a:rPr>
              <a:t>. It learns to 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OpenAI Sans"/>
              </a:rPr>
              <a:t>break down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OpenAI Sans"/>
              </a:rPr>
              <a:t>tricky steps into simpler ones. It learns to 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OpenAI Sans"/>
              </a:rPr>
              <a:t>try a different approach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OpenAI Sans"/>
              </a:rPr>
              <a:t>when the current one isn’t working.</a:t>
            </a: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6C6DF-0792-1898-E55C-9B034122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4572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7FDC7F3-8996-018A-8C94-0B7DDEC4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428188-EE52-D455-C1AD-0044F5565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LLMs are getting significantly better in reasoning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Especially in domains with </a:t>
            </a:r>
            <a:r>
              <a:rPr lang="en-US" sz="2400" b="1" dirty="0"/>
              <a:t>exact</a:t>
            </a:r>
            <a:r>
              <a:rPr lang="en-US" sz="2400" dirty="0"/>
              <a:t> </a:t>
            </a:r>
            <a:r>
              <a:rPr lang="en-US" sz="2400" b="1" dirty="0"/>
              <a:t>answers</a:t>
            </a:r>
            <a:r>
              <a:rPr lang="en-US" sz="2400" dirty="0"/>
              <a:t> like mathematics and programming</a:t>
            </a:r>
          </a:p>
          <a:p>
            <a:endParaRPr 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9FE2F3-2614-77F7-93A4-4F7EDDE9C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83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E1A16-2656-FC13-516F-73D022933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AI and the Dimensions of Thought: Speed, Breadth, and Depth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29C0B-8AF8-C341-E58C-DB8B18DCC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375752"/>
            <a:ext cx="10058400" cy="393192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Speed: The Instant Nature of AI! If LLMs have mastered anything, it’s speed. </a:t>
            </a:r>
          </a:p>
          <a:p>
            <a:pPr lvl="1"/>
            <a:r>
              <a:rPr lang="en-US" dirty="0"/>
              <a:t>Need an analysis of Renaissance art? An LLM can deliver it instantly. </a:t>
            </a:r>
          </a:p>
          <a:p>
            <a:pPr lvl="1"/>
            <a:r>
              <a:rPr lang="en-US" dirty="0"/>
              <a:t>Want a breakdown of quantum physics? It’s ready before you can pour your coffee.</a:t>
            </a:r>
          </a:p>
          <a:p>
            <a:r>
              <a:rPr lang="en-US" dirty="0"/>
              <a:t>Humans are slower thinkers</a:t>
            </a:r>
          </a:p>
          <a:p>
            <a:endParaRPr lang="en-US" dirty="0"/>
          </a:p>
          <a:p>
            <a:r>
              <a:rPr lang="en-US" dirty="0"/>
              <a:t>Chain of Thought (</a:t>
            </a:r>
            <a:r>
              <a:rPr lang="en-US" dirty="0" err="1"/>
              <a:t>CoT</a:t>
            </a:r>
            <a:r>
              <a:rPr lang="en-US" dirty="0"/>
              <a:t>) breaks down complex problems into smaller, sequential steps, giving the appearance of deliberate thinking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B62D5-9ED2-F6E0-937F-A44841660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3C706-3535-C740-ADCB-8AC187A67FA9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96E81D-6593-2BE4-B193-A541CFCBBE1B}"/>
              </a:ext>
            </a:extLst>
          </p:cNvPr>
          <p:cNvSpPr txBox="1"/>
          <p:nvPr/>
        </p:nvSpPr>
        <p:spPr>
          <a:xfrm>
            <a:off x="2079170" y="6285126"/>
            <a:ext cx="941614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https://www.psychologytoday.com/us/blog/the-digital-self/202412/ai-and-the-dimensions-of-thought-speed-breadth-and-depth#:~:text=Speed%3A%20LLMs%20provide%20rapid%20answers,meaning%2C%20wisdom%2C%20and%20purpose</a:t>
            </a:r>
          </a:p>
        </p:txBody>
      </p:sp>
    </p:spTree>
    <p:extLst>
      <p:ext uri="{BB962C8B-B14F-4D97-AF65-F5344CB8AC3E}">
        <p14:creationId xmlns:p14="http://schemas.microsoft.com/office/powerpoint/2010/main" val="21665184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B89F1-CE3C-A930-C129-CB6BF56A2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Breadth: Expanding the Cognitive Horizon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11A69-1494-D86E-5D54-4FB053BB1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LLMs trained on vast datasets spanning nearly every domain</a:t>
            </a:r>
          </a:p>
          <a:p>
            <a:r>
              <a:rPr lang="en-US" dirty="0"/>
              <a:t>Can link legal theory, moral philosophy, and historical examples with ease</a:t>
            </a:r>
          </a:p>
          <a:p>
            <a:r>
              <a:rPr lang="en-US" dirty="0"/>
              <a:t>Generate </a:t>
            </a:r>
            <a:r>
              <a:rPr lang="en-US" b="1" dirty="0"/>
              <a:t>connections</a:t>
            </a:r>
            <a:r>
              <a:rPr lang="en-US" dirty="0"/>
              <a:t> that humans might not immediately see</a:t>
            </a:r>
          </a:p>
          <a:p>
            <a:r>
              <a:rPr lang="en-US" dirty="0"/>
              <a:t>Powerful tools for synthesis</a:t>
            </a:r>
          </a:p>
          <a:p>
            <a:endParaRPr lang="en-US" dirty="0"/>
          </a:p>
          <a:p>
            <a:r>
              <a:rPr lang="en-US" dirty="0"/>
              <a:t>Humans, however, filter and prioritize connections through the lens of emotion, identity, and purpose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E827F-1FE3-3989-6FBC-75E305B43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3C706-3535-C740-ADCB-8AC187A67FA9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906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1C51D22-85D5-2C42-A3C4-742CD79A5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LLMs Cannot Cross the Threshold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5A0C5-1188-8FF2-711F-79C6D16AC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No Time: LLMs generate outputs instantly, without letting ideas evolve organically.</a:t>
            </a:r>
          </a:p>
          <a:p>
            <a:r>
              <a:rPr lang="en-US" dirty="0"/>
              <a:t>No Emotion: They lack the emotional framework that gives human thoughts salience and significance.</a:t>
            </a:r>
          </a:p>
          <a:p>
            <a:r>
              <a:rPr lang="en-US" dirty="0"/>
              <a:t>No Self-Awareness: Pondering is deeply tied to our sense of self, allowing us to ask why something matters. LLMs simply compute probabilities.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ECFFF-E760-E8B2-E30E-D8CDF9CF4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3C706-3535-C740-ADCB-8AC187A67FA9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4639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6BE195E-E258-EFF6-A067-FB2B28DF1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for LLMs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5B419CE-D7C3-EABB-48F4-B6060EDA7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FCB01-61C0-BDD7-D7D7-006C63BF4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3C706-3535-C740-ADCB-8AC187A67FA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0441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3C4B3-129A-796B-A0A7-B980386B7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for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BB46E-2EE1-3907-007B-9F93F0771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</a:t>
            </a:r>
          </a:p>
          <a:p>
            <a:r>
              <a:rPr lang="en-US" dirty="0"/>
              <a:t>Books</a:t>
            </a:r>
          </a:p>
          <a:p>
            <a:r>
              <a:rPr lang="en-US" dirty="0"/>
              <a:t>Articles</a:t>
            </a:r>
          </a:p>
          <a:p>
            <a:r>
              <a:rPr lang="en-US" dirty="0"/>
              <a:t>Forums</a:t>
            </a:r>
          </a:p>
          <a:p>
            <a:r>
              <a:rPr lang="en-US" dirty="0"/>
              <a:t>Code</a:t>
            </a:r>
          </a:p>
          <a:p>
            <a:r>
              <a:rPr lang="en-US" dirty="0"/>
              <a:t>Instructions</a:t>
            </a:r>
          </a:p>
          <a:p>
            <a:r>
              <a:rPr lang="en-US" dirty="0"/>
              <a:t>Preference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495B7-786D-256F-52C6-573893913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3C706-3535-C740-ADCB-8AC187A67FA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3481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4AA3B-C06B-64F8-0B0E-AFFDF6152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0836C-8B6F-4381-141A-5865D3E62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Sources given to LLMs (see any Chatbot)</a:t>
            </a:r>
          </a:p>
          <a:p>
            <a:r>
              <a:rPr lang="en-US" dirty="0"/>
              <a:t>Retrieval-Augmented Generation (RAG) on this data</a:t>
            </a:r>
          </a:p>
          <a:p>
            <a:r>
              <a:rPr lang="en-US" dirty="0"/>
              <a:t>More credibility, more customization, less hallucination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23939-2643-100F-8E9F-EF8EE8720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3C706-3535-C740-ADCB-8AC187A67FA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141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0B50D-CCEB-90FD-4517-26BAC3CC7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/>
          <a:lstStyle/>
          <a:p>
            <a:r>
              <a:rPr lang="en-US" dirty="0"/>
              <a:t>Data in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51D3B-974F-66CE-80EE-8F3E420BC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3931920"/>
          </a:xfrm>
        </p:spPr>
        <p:txBody>
          <a:bodyPr/>
          <a:lstStyle/>
          <a:p>
            <a:r>
              <a:rPr lang="en-US" dirty="0"/>
              <a:t>Further tuning</a:t>
            </a:r>
          </a:p>
          <a:p>
            <a:pPr lvl="1"/>
            <a:r>
              <a:rPr lang="en-US" dirty="0"/>
              <a:t>Instruction data</a:t>
            </a:r>
          </a:p>
          <a:p>
            <a:pPr lvl="1"/>
            <a:r>
              <a:rPr lang="en-US" dirty="0"/>
              <a:t>Preference data</a:t>
            </a:r>
          </a:p>
          <a:p>
            <a:pPr lvl="1"/>
            <a:r>
              <a:rPr lang="en-US" dirty="0"/>
              <a:t>RL post-training</a:t>
            </a:r>
          </a:p>
          <a:p>
            <a:pPr lvl="1"/>
            <a:r>
              <a:rPr lang="en-US" dirty="0"/>
              <a:t>Raw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01EB3-CB77-AD3C-9E06-08EFCBC1C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9880" y="6307672"/>
            <a:ext cx="1463040" cy="274320"/>
          </a:xfrm>
        </p:spPr>
        <p:txBody>
          <a:bodyPr/>
          <a:lstStyle/>
          <a:p>
            <a:fld id="{6E73C706-3535-C740-ADCB-8AC187A67FA9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2230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BB938-B736-07EB-A65C-317B74CE4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Inside an LLM:</a:t>
            </a:r>
            <a:br>
              <a:rPr lang="en-US" dirty="0"/>
            </a:br>
            <a:r>
              <a:rPr lang="en-US" dirty="0"/>
              <a:t>transformer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A2F38-ED3C-23BE-ED50-CB20A0A67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25568-BC06-8F10-775A-975DDF2FC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3C706-3535-C740-ADCB-8AC187A67FA9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9371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84603"/>
            <a:ext cx="10058400" cy="907196"/>
          </a:xfrm>
        </p:spPr>
        <p:txBody>
          <a:bodyPr>
            <a:normAutofit/>
          </a:bodyPr>
          <a:lstStyle/>
          <a:p>
            <a:r>
              <a:rPr lang="en-US" dirty="0"/>
              <a:t>LLMs are built out of transformers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1676400" y="1447800"/>
            <a:ext cx="10058400" cy="48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Transformer: a specific kind of network architecture, like a fancier feedforward network, but based on </a:t>
            </a:r>
            <a:r>
              <a:rPr lang="en-US" sz="3200" b="1" dirty="0"/>
              <a:t>attention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A119C2-582F-4D99-92AF-E6E7C5196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906" y="3194570"/>
            <a:ext cx="5734188" cy="333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3058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9A9B1-D399-C2DD-C466-426A4E842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E9C80-2CCD-1308-3F52-B6E462AE9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transformer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1FEBE98-D026-5E30-C01D-F53FDA4AA9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52591" y="642594"/>
            <a:ext cx="3572107" cy="5391034"/>
          </a:xfrm>
        </p:spPr>
      </p:pic>
    </p:spTree>
    <p:extLst>
      <p:ext uri="{BB962C8B-B14F-4D97-AF65-F5344CB8AC3E}">
        <p14:creationId xmlns:p14="http://schemas.microsoft.com/office/powerpoint/2010/main" val="15748489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84603"/>
            <a:ext cx="10058400" cy="907196"/>
          </a:xfrm>
        </p:spPr>
        <p:txBody>
          <a:bodyPr>
            <a:normAutofit/>
          </a:bodyPr>
          <a:lstStyle/>
          <a:p>
            <a:r>
              <a:rPr lang="en-US" dirty="0"/>
              <a:t>Attention definition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2057400"/>
            <a:ext cx="10210800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A mechanism for helping compute the embedding for a token by selectively attending to and integrating information from surrounding tokens.</a:t>
            </a:r>
            <a:br>
              <a:rPr lang="en-US" sz="3600" dirty="0"/>
            </a:br>
            <a:endParaRPr lang="en-US" sz="3600" dirty="0"/>
          </a:p>
          <a:p>
            <a:pPr marL="0" indent="0">
              <a:buNone/>
            </a:pPr>
            <a:r>
              <a:rPr lang="en-US" sz="3600" dirty="0"/>
              <a:t>More formally: a method for doing a weighted sum of vectors.</a:t>
            </a:r>
            <a:br>
              <a:rPr lang="en-US" sz="3200" dirty="0"/>
            </a:b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716752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3CCBF-49B5-EFC9-3470-C9B090501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is left-to-right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4BF0F20-EF9A-0C29-BE74-604522BB6D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6943" y="2468881"/>
            <a:ext cx="11016267" cy="2813050"/>
          </a:xfrm>
        </p:spPr>
      </p:pic>
    </p:spTree>
    <p:extLst>
      <p:ext uri="{BB962C8B-B14F-4D97-AF65-F5344CB8AC3E}">
        <p14:creationId xmlns:p14="http://schemas.microsoft.com/office/powerpoint/2010/main" val="12869103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783" y="384603"/>
            <a:ext cx="11655287" cy="907196"/>
          </a:xfrm>
        </p:spPr>
        <p:txBody>
          <a:bodyPr>
            <a:noAutofit/>
          </a:bodyPr>
          <a:lstStyle/>
          <a:p>
            <a:r>
              <a:rPr lang="en-US" sz="3600" dirty="0"/>
              <a:t>Simplified version of attention: a sum of prior words weighted by their similarity with the current word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2A8F84-98D7-882D-5B90-5A0AB0474956}"/>
              </a:ext>
            </a:extLst>
          </p:cNvPr>
          <p:cNvSpPr txBox="1"/>
          <p:nvPr/>
        </p:nvSpPr>
        <p:spPr>
          <a:xfrm>
            <a:off x="1306171" y="1566068"/>
            <a:ext cx="1072823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Given a sequence of token embeddings</a:t>
            </a:r>
            <a:r>
              <a:rPr lang="en-US" sz="3600" dirty="0"/>
              <a:t>:</a:t>
            </a:r>
          </a:p>
          <a:p>
            <a:r>
              <a:rPr lang="en-US" sz="4000" dirty="0"/>
              <a:t>	</a:t>
            </a:r>
            <a:r>
              <a:rPr lang="en-US" sz="4000" b="1" dirty="0"/>
              <a:t>x</a:t>
            </a:r>
            <a:r>
              <a:rPr lang="en-US" sz="4000" baseline="-25000" dirty="0"/>
              <a:t>1 </a:t>
            </a:r>
            <a:r>
              <a:rPr lang="en-US" sz="4000" dirty="0"/>
              <a:t>   </a:t>
            </a:r>
            <a:r>
              <a:rPr lang="en-US" sz="4000" b="1" dirty="0"/>
              <a:t>x</a:t>
            </a:r>
            <a:r>
              <a:rPr lang="en-US" sz="4000" baseline="-25000" dirty="0"/>
              <a:t>2   </a:t>
            </a:r>
            <a:r>
              <a:rPr lang="en-US" sz="4000" dirty="0"/>
              <a:t> </a:t>
            </a:r>
            <a:r>
              <a:rPr lang="en-US" sz="4000" b="1" dirty="0"/>
              <a:t>x</a:t>
            </a:r>
            <a:r>
              <a:rPr lang="en-US" sz="4000" baseline="-25000" dirty="0"/>
              <a:t>3</a:t>
            </a:r>
            <a:r>
              <a:rPr lang="en-US" sz="4000" dirty="0"/>
              <a:t>   </a:t>
            </a:r>
            <a:r>
              <a:rPr lang="en-US" sz="4000" b="1" dirty="0"/>
              <a:t>x</a:t>
            </a:r>
            <a:r>
              <a:rPr lang="en-US" sz="4000" baseline="-25000" dirty="0"/>
              <a:t>4</a:t>
            </a:r>
            <a:r>
              <a:rPr lang="en-US" sz="4000" dirty="0"/>
              <a:t>   </a:t>
            </a:r>
            <a:r>
              <a:rPr lang="en-US" sz="4000" b="1" dirty="0"/>
              <a:t>x</a:t>
            </a:r>
            <a:r>
              <a:rPr lang="en-US" sz="4000" baseline="-25000" dirty="0"/>
              <a:t>5</a:t>
            </a:r>
            <a:r>
              <a:rPr lang="en-US" sz="4000" dirty="0"/>
              <a:t>   </a:t>
            </a:r>
            <a:r>
              <a:rPr lang="en-US" sz="4000" b="1" dirty="0"/>
              <a:t>x</a:t>
            </a:r>
            <a:r>
              <a:rPr lang="en-US" sz="4000" baseline="-25000" dirty="0"/>
              <a:t>6</a:t>
            </a:r>
            <a:r>
              <a:rPr lang="en-US" sz="4000" dirty="0"/>
              <a:t>   </a:t>
            </a:r>
            <a:r>
              <a:rPr lang="en-US" sz="4000" b="1" dirty="0"/>
              <a:t>x</a:t>
            </a:r>
            <a:r>
              <a:rPr lang="en-US" sz="4000" baseline="-25000" dirty="0"/>
              <a:t>7</a:t>
            </a:r>
            <a:r>
              <a:rPr lang="en-US" sz="4000" dirty="0"/>
              <a:t>   </a:t>
            </a:r>
            <a:r>
              <a:rPr lang="en-US" sz="4000" b="1" dirty="0"/>
              <a:t>x</a:t>
            </a:r>
            <a:r>
              <a:rPr lang="en-US" sz="4000" baseline="-25000" dirty="0"/>
              <a:t>i</a:t>
            </a:r>
          </a:p>
          <a:p>
            <a:endParaRPr lang="en-US" sz="1800" baseline="-25000" dirty="0"/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Produce: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 = a weighted sum of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 through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(and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Weighted by their similarity to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F8542F-63D6-7265-0CC0-A8F6F8D35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4076846"/>
            <a:ext cx="4800600" cy="5678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55204F-BCDD-C38A-748D-5C4440747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4869005"/>
            <a:ext cx="6971639" cy="6138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3834E9-6F14-346C-A68D-DAAA16BD93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200" y="5497217"/>
            <a:ext cx="3048000" cy="1281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6943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6522EF8-116E-5A00-3DCE-40DC92FE3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BAAD9-E23A-9554-F4C9-6AF979D7D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3C706-3535-C740-ADCB-8AC187A67FA9}" type="slidenum">
              <a:rPr lang="en-US" smtClean="0"/>
              <a:t>54</a:t>
            </a:fld>
            <a:endParaRPr lang="en-US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1131A4BE-FE5C-ABF0-A721-4D957F8A49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27168" y="996775"/>
            <a:ext cx="8821328" cy="5205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611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-103761"/>
            <a:ext cx="10058400" cy="907196"/>
          </a:xfrm>
        </p:spPr>
        <p:txBody>
          <a:bodyPr>
            <a:normAutofit/>
          </a:bodyPr>
          <a:lstStyle/>
          <a:p>
            <a:r>
              <a:rPr lang="en-US" dirty="0"/>
              <a:t>Intuition of attention: 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2438400" y="2057400"/>
            <a:ext cx="8839200" cy="4572000"/>
          </a:xfrm>
        </p:spPr>
        <p:txBody>
          <a:bodyPr>
            <a:normAutofit/>
          </a:bodyPr>
          <a:lstStyle/>
          <a:p>
            <a:pPr marL="0" indent="0"/>
            <a:r>
              <a:rPr lang="en-US" sz="3200" dirty="0"/>
              <a:t>test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F4189B-5DAE-9E70-083C-CED684D21A2D}"/>
              </a:ext>
            </a:extLst>
          </p:cNvPr>
          <p:cNvSpPr txBox="1"/>
          <p:nvPr/>
        </p:nvSpPr>
        <p:spPr>
          <a:xfrm>
            <a:off x="3798064" y="6197025"/>
            <a:ext cx="49151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x1  x2  x3  x4  x5  x6  x7   xi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172704-831A-EED0-441A-C4EAE27791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0" y="764150"/>
            <a:ext cx="8610600" cy="531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527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18473</TotalTime>
  <Words>1536</Words>
  <Application>Microsoft Office PowerPoint</Application>
  <PresentationFormat>Widescreen</PresentationFormat>
  <Paragraphs>280</Paragraphs>
  <Slides>55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8" baseType="lpstr">
      <vt:lpstr>ＭＳ Ｐゴシック</vt:lpstr>
      <vt:lpstr>Aptos</vt:lpstr>
      <vt:lpstr>Aptos Display</vt:lpstr>
      <vt:lpstr>Arial</vt:lpstr>
      <vt:lpstr>B Mitra</vt:lpstr>
      <vt:lpstr>Calibri</vt:lpstr>
      <vt:lpstr>Consolas</vt:lpstr>
      <vt:lpstr>Courier New</vt:lpstr>
      <vt:lpstr>Google Sans Text</vt:lpstr>
      <vt:lpstr>OpenAI Sans</vt:lpstr>
      <vt:lpstr>Times New Roman</vt:lpstr>
      <vt:lpstr>Wingdings</vt:lpstr>
      <vt:lpstr>Office Theme</vt:lpstr>
      <vt:lpstr>Large language modeling</vt:lpstr>
      <vt:lpstr>Large language models</vt:lpstr>
      <vt:lpstr>How did we get here?  What fundamental shift enabled these capabilities? </vt:lpstr>
      <vt:lpstr>The Prior Paradigm: optimizing for "What"</vt:lpstr>
      <vt:lpstr>The prior paradigm: limitations</vt:lpstr>
      <vt:lpstr>Human-like learning</vt:lpstr>
      <vt:lpstr>The paradigm shifts in recent NLP</vt:lpstr>
      <vt:lpstr>PowerPoint Presentation</vt:lpstr>
      <vt:lpstr>Core idea: self-supervised learning</vt:lpstr>
      <vt:lpstr>LLMs’ history</vt:lpstr>
      <vt:lpstr>BERT, 2018</vt:lpstr>
      <vt:lpstr>Language modeling</vt:lpstr>
      <vt:lpstr>GPTs: Generative Pre-trained Transformers</vt:lpstr>
      <vt:lpstr>Emergent zero-shot learning</vt:lpstr>
      <vt:lpstr>What does an LLM learn from pretraining?</vt:lpstr>
      <vt:lpstr>What is a large language model?</vt:lpstr>
      <vt:lpstr>LLMs can generate! </vt:lpstr>
      <vt:lpstr>Big idea</vt:lpstr>
      <vt:lpstr>Emergent abilities of GPT-3 (2020)</vt:lpstr>
      <vt:lpstr>LLMs’ history</vt:lpstr>
      <vt:lpstr>Emergent in-context learning</vt:lpstr>
      <vt:lpstr>GPT3 was already generating coherent and fluent text and few-shot learning of new tasks</vt:lpstr>
      <vt:lpstr>Language modeling ≠ assisting users</vt:lpstr>
      <vt:lpstr>Language modeling ≠ assisting users</vt:lpstr>
      <vt:lpstr>PowerPoint Presentation</vt:lpstr>
      <vt:lpstr>LLMs’ history</vt:lpstr>
      <vt:lpstr>Instruction tuning</vt:lpstr>
      <vt:lpstr>Limitations of instruction-tuning</vt:lpstr>
      <vt:lpstr>Reinforcement learning to the rescue</vt:lpstr>
      <vt:lpstr>RLHF provides gains over pretraining + finetuning</vt:lpstr>
      <vt:lpstr>From GPT3 to InstructGPT</vt:lpstr>
      <vt:lpstr>ChatGPT: Instruction finetuning + RLHF for  dialog agents</vt:lpstr>
      <vt:lpstr>LLMs’ history</vt:lpstr>
      <vt:lpstr>PowerPoint Presentation</vt:lpstr>
      <vt:lpstr>Chain of Thought (CoT)</vt:lpstr>
      <vt:lpstr>From CoT to reasoning models</vt:lpstr>
      <vt:lpstr>PowerPoint Presentation</vt:lpstr>
      <vt:lpstr>PowerPoint Presentation</vt:lpstr>
      <vt:lpstr>Chain-of-Thought in O1</vt:lpstr>
      <vt:lpstr>Current state</vt:lpstr>
      <vt:lpstr>AI and the Dimensions of Thought: Speed, Breadth, and Depth</vt:lpstr>
      <vt:lpstr>Breadth: Expanding the Cognitive Horizon</vt:lpstr>
      <vt:lpstr>Why LLMs Cannot Cross the Threshold</vt:lpstr>
      <vt:lpstr>Data for LLMs</vt:lpstr>
      <vt:lpstr>Data for training</vt:lpstr>
      <vt:lpstr>Data in usage</vt:lpstr>
      <vt:lpstr>Data in usage</vt:lpstr>
      <vt:lpstr>Inside an LLM: transformer</vt:lpstr>
      <vt:lpstr>LLMs are built out of transformers</vt:lpstr>
      <vt:lpstr>The transformer</vt:lpstr>
      <vt:lpstr>Attention definition</vt:lpstr>
      <vt:lpstr>Attention is left-to-right</vt:lpstr>
      <vt:lpstr>Simplified version of attention: a sum of prior words weighted by their similarity with the current word</vt:lpstr>
      <vt:lpstr>PowerPoint Presentation</vt:lpstr>
      <vt:lpstr>Intuition of attention: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 Models in Natural Language Processing</dc:title>
  <dc:creator>Yadollah Yaghoobzadeh</dc:creator>
  <cp:lastModifiedBy>Yadollah Yaghoobzadeh</cp:lastModifiedBy>
  <cp:revision>477</cp:revision>
  <dcterms:created xsi:type="dcterms:W3CDTF">2021-09-22T08:38:12Z</dcterms:created>
  <dcterms:modified xsi:type="dcterms:W3CDTF">2026-05-30T04:35:11Z</dcterms:modified>
</cp:coreProperties>
</file>