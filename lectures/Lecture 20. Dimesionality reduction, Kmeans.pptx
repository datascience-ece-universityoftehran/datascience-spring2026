
<file path=[Content_Types].xml><?xml version="1.0" encoding="utf-8"?>
<Types xmlns="http://schemas.openxmlformats.org/package/2006/content-types">
  <Default Extension="fntdata" ContentType="application/x-fontdata"/>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1" r:id="rId1"/>
  </p:sldMasterIdLst>
  <p:notesMasterIdLst>
    <p:notesMasterId r:id="rId63"/>
  </p:notesMasterIdLst>
  <p:sldIdLst>
    <p:sldId id="256" r:id="rId2"/>
    <p:sldId id="341" r:id="rId3"/>
    <p:sldId id="305" r:id="rId4"/>
    <p:sldId id="306" r:id="rId5"/>
    <p:sldId id="307" r:id="rId6"/>
    <p:sldId id="304" r:id="rId7"/>
    <p:sldId id="308" r:id="rId8"/>
    <p:sldId id="309" r:id="rId9"/>
    <p:sldId id="310" r:id="rId10"/>
    <p:sldId id="311" r:id="rId11"/>
    <p:sldId id="312" r:id="rId12"/>
    <p:sldId id="313" r:id="rId13"/>
    <p:sldId id="314" r:id="rId14"/>
    <p:sldId id="315" r:id="rId15"/>
    <p:sldId id="316" r:id="rId16"/>
    <p:sldId id="317" r:id="rId17"/>
    <p:sldId id="318" r:id="rId18"/>
    <p:sldId id="319" r:id="rId19"/>
    <p:sldId id="320" r:id="rId20"/>
    <p:sldId id="321" r:id="rId21"/>
    <p:sldId id="322" r:id="rId22"/>
    <p:sldId id="323" r:id="rId23"/>
    <p:sldId id="324" r:id="rId24"/>
    <p:sldId id="325" r:id="rId25"/>
    <p:sldId id="326" r:id="rId26"/>
    <p:sldId id="327" r:id="rId27"/>
    <p:sldId id="328" r:id="rId28"/>
    <p:sldId id="329" r:id="rId29"/>
    <p:sldId id="330" r:id="rId30"/>
    <p:sldId id="331" r:id="rId31"/>
    <p:sldId id="332" r:id="rId32"/>
    <p:sldId id="333" r:id="rId33"/>
    <p:sldId id="340" r:id="rId34"/>
    <p:sldId id="342" r:id="rId35"/>
    <p:sldId id="257" r:id="rId36"/>
    <p:sldId id="258" r:id="rId37"/>
    <p:sldId id="259" r:id="rId38"/>
    <p:sldId id="260" r:id="rId39"/>
    <p:sldId id="261" r:id="rId40"/>
    <p:sldId id="262" r:id="rId41"/>
    <p:sldId id="263" r:id="rId42"/>
    <p:sldId id="264" r:id="rId43"/>
    <p:sldId id="265" r:id="rId44"/>
    <p:sldId id="266" r:id="rId45"/>
    <p:sldId id="267" r:id="rId46"/>
    <p:sldId id="268" r:id="rId47"/>
    <p:sldId id="269" r:id="rId48"/>
    <p:sldId id="270" r:id="rId49"/>
    <p:sldId id="271" r:id="rId50"/>
    <p:sldId id="272" r:id="rId51"/>
    <p:sldId id="273" r:id="rId52"/>
    <p:sldId id="274" r:id="rId53"/>
    <p:sldId id="275" r:id="rId54"/>
    <p:sldId id="276" r:id="rId55"/>
    <p:sldId id="277" r:id="rId56"/>
    <p:sldId id="278" r:id="rId57"/>
    <p:sldId id="279" r:id="rId58"/>
    <p:sldId id="280" r:id="rId59"/>
    <p:sldId id="281" r:id="rId60"/>
    <p:sldId id="282" r:id="rId61"/>
    <p:sldId id="283" r:id="rId62"/>
  </p:sldIdLst>
  <p:sldSz cx="9144000" cy="5143500" type="screen16x9"/>
  <p:notesSz cx="6858000" cy="9144000"/>
  <p:embeddedFontLst>
    <p:embeddedFont>
      <p:font typeface="Cambria Math" panose="02040503050406030204" pitchFamily="18" charset="0"/>
      <p:regular r:id="rId64"/>
    </p:embeddedFont>
    <p:embeddedFont>
      <p:font typeface="Franklin Gothic Book" panose="020B0503020102020204" pitchFamily="34" charset="0"/>
      <p:regular r:id="rId65"/>
      <p:italic r:id="rId66"/>
    </p:embeddedFont>
    <p:embeddedFont>
      <p:font typeface="Lato" panose="020F0502020204030203" pitchFamily="34" charset="0"/>
      <p:regular r:id="rId67"/>
      <p:bold r:id="rId68"/>
      <p:italic r:id="rId69"/>
      <p:boldItalic r:id="rId70"/>
    </p:embeddedFont>
    <p:embeddedFont>
      <p:font typeface="Raleway" pitchFamily="2" charset="0"/>
      <p:regular r:id="rId71"/>
      <p:bold r:id="rId72"/>
      <p:italic r:id="rId73"/>
      <p:boldItalic r:id="rId74"/>
    </p:embeddedFont>
    <p:embeddedFont>
      <p:font typeface="Trebuchet MS" panose="020B0603020202020204" pitchFamily="34" charset="0"/>
      <p:regular r:id="rId75"/>
      <p:bold r:id="rId76"/>
      <p:italic r:id="rId77"/>
      <p:boldItalic r:id="rId7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8636" autoAdjust="0"/>
  </p:normalViewPr>
  <p:slideViewPr>
    <p:cSldViewPr snapToGrid="0">
      <p:cViewPr varScale="1">
        <p:scale>
          <a:sx n="100" d="100"/>
          <a:sy n="100" d="100"/>
        </p:scale>
        <p:origin x="708"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notesMaster" Target="notesMasters/notesMaster1.xml"/><Relationship Id="rId68" Type="http://schemas.openxmlformats.org/officeDocument/2006/relationships/font" Target="fonts/font5.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11.fntdata"/><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1.fntdata"/><Relationship Id="rId69" Type="http://schemas.openxmlformats.org/officeDocument/2006/relationships/font" Target="fonts/font6.fntdata"/><Relationship Id="rId77" Type="http://schemas.openxmlformats.org/officeDocument/2006/relationships/font" Target="fonts/font14.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9.fntdata"/><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4.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font" Target="fonts/font7.fntdata"/><Relationship Id="rId75"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font" Target="fonts/font2.fntdata"/><Relationship Id="rId73" Type="http://schemas.openxmlformats.org/officeDocument/2006/relationships/font" Target="fonts/font10.fntdata"/><Relationship Id="rId78" Type="http://schemas.openxmlformats.org/officeDocument/2006/relationships/font" Target="fonts/font15.fntdata"/><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13.fntdata"/><Relationship Id="rId7" Type="http://schemas.openxmlformats.org/officeDocument/2006/relationships/slide" Target="slides/slide6.xml"/><Relationship Id="rId71" Type="http://schemas.openxmlformats.org/officeDocument/2006/relationships/font" Target="fonts/font8.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1pPr>
            <a:lvl2pPr marL="914400" marR="0" lvl="1"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2pPr>
            <a:lvl3pPr marL="1371600" marR="0" lvl="2"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3pPr>
            <a:lvl4pPr marL="1828800" marR="0" lvl="3"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4pPr>
            <a:lvl5pPr marL="2286000" marR="0" lvl="4"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5pPr>
            <a:lvl6pPr marL="2743200" marR="0" lvl="5"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6pPr>
            <a:lvl7pPr marL="3200400" marR="0" lvl="6"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7pPr>
            <a:lvl8pPr marL="3657600" marR="0" lvl="7"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8pPr>
            <a:lvl9pPr marL="4114800" marR="0" lvl="8"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416598270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en.wikipedia.org/wiki/Latent_manifold"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en.wikipedia.org/wiki/Conjugate_transpose" TargetMode="External"/><Relationship Id="rId2" Type="http://schemas.openxmlformats.org/officeDocument/2006/relationships/slide" Target="../slides/slide17.xml"/><Relationship Id="rId1" Type="http://schemas.openxmlformats.org/officeDocument/2006/relationships/notesMaster" Target="../notesMasters/notesMaster1.xml"/><Relationship Id="rId4" Type="http://schemas.openxmlformats.org/officeDocument/2006/relationships/hyperlink" Target="https://en.wikipedia.org/wiki/Invertible_matrix" TargetMode="Externa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 name="Google Shape;33;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400"/>
              <a:buNone/>
            </a:pPr>
            <a:endParaRPr dirty="0"/>
          </a:p>
        </p:txBody>
      </p:sp>
    </p:spTree>
    <p:extLst>
      <p:ext uri="{BB962C8B-B14F-4D97-AF65-F5344CB8AC3E}">
        <p14:creationId xmlns:p14="http://schemas.microsoft.com/office/powerpoint/2010/main" val="17884376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high-resolution photograph, which can result in a very high-dimensional feature space if each pixel or a more abstract feature representation is used</a:t>
            </a:r>
          </a:p>
          <a:p>
            <a:r>
              <a:rPr lang="en-US" dirty="0"/>
              <a:t>Genomic datasets can have millions of features</a:t>
            </a:r>
          </a:p>
          <a:p>
            <a:r>
              <a:rPr lang="en-US" b="1" dirty="0"/>
              <a:t>Brain Imaging</a:t>
            </a:r>
            <a:r>
              <a:rPr lang="en-US" dirty="0"/>
              <a:t>: Neuroimaging data collected from MRI or fMRI scans can have thousands of features</a:t>
            </a:r>
          </a:p>
        </p:txBody>
      </p:sp>
    </p:spTree>
    <p:extLst>
      <p:ext uri="{BB962C8B-B14F-4D97-AF65-F5344CB8AC3E}">
        <p14:creationId xmlns:p14="http://schemas.microsoft.com/office/powerpoint/2010/main" val="12702706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100" b="1" i="0" u="none" strike="noStrike" cap="none" dirty="0">
                <a:solidFill>
                  <a:srgbClr val="000000"/>
                </a:solidFill>
                <a:effectLst/>
                <a:latin typeface="Arial"/>
                <a:ea typeface="Arial"/>
                <a:cs typeface="Arial"/>
                <a:sym typeface="Arial"/>
              </a:rPr>
              <a:t>first try to train your system with the original data before considering using dimensionality reduction</a:t>
            </a:r>
            <a:r>
              <a:rPr lang="en-US" b="1" dirty="0"/>
              <a:t> </a:t>
            </a:r>
          </a:p>
          <a:p>
            <a:r>
              <a:rPr lang="en-US" sz="1100" b="0" i="0" u="none" strike="noStrike" cap="none" dirty="0">
                <a:solidFill>
                  <a:srgbClr val="000000"/>
                </a:solidFill>
                <a:effectLst/>
                <a:latin typeface="Arial"/>
                <a:ea typeface="Arial"/>
                <a:cs typeface="Arial"/>
                <a:sym typeface="Arial"/>
              </a:rPr>
              <a:t>Reducing the number of dimensions down to two (or three) makes it possible to plot a condensed view of a high-dimensional training set on a graph and often gain some important insights by visually detecting patterns, such as clusters.</a:t>
            </a:r>
            <a:r>
              <a:rPr lang="en-US" dirty="0"/>
              <a:t> </a:t>
            </a:r>
          </a:p>
          <a:p>
            <a:r>
              <a:rPr lang="en-US" sz="1100" b="0" i="0" u="none" strike="noStrike" cap="none" dirty="0">
                <a:solidFill>
                  <a:srgbClr val="000000"/>
                </a:solidFill>
                <a:effectLst/>
                <a:latin typeface="Arial"/>
                <a:ea typeface="Arial"/>
                <a:cs typeface="Arial"/>
                <a:sym typeface="Arial"/>
              </a:rPr>
              <a:t>Moreover, data visualization is essential to communicate your conclusions to</a:t>
            </a:r>
            <a:r>
              <a:rPr lang="en-US" sz="1100" b="0" i="0" u="none" strike="noStrike" cap="none" baseline="0" dirty="0">
                <a:solidFill>
                  <a:srgbClr val="000000"/>
                </a:solidFill>
                <a:effectLst/>
                <a:latin typeface="Arial"/>
                <a:ea typeface="Arial"/>
                <a:cs typeface="Arial"/>
                <a:sym typeface="Arial"/>
              </a:rPr>
              <a:t> </a:t>
            </a:r>
            <a:r>
              <a:rPr lang="en-US" sz="1100" b="0" i="0" u="none" strike="noStrike" cap="none" dirty="0">
                <a:solidFill>
                  <a:srgbClr val="000000"/>
                </a:solidFill>
                <a:effectLst/>
                <a:latin typeface="Arial"/>
                <a:ea typeface="Arial"/>
                <a:cs typeface="Arial"/>
                <a:sym typeface="Arial"/>
              </a:rPr>
              <a:t>people who are not data scientists—in particular, decision makers who will use your</a:t>
            </a: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results.</a:t>
            </a:r>
            <a:r>
              <a:rPr lang="en-US" dirty="0"/>
              <a:t> </a:t>
            </a:r>
            <a:br>
              <a:rPr lang="en-US" dirty="0"/>
            </a:br>
            <a:br>
              <a:rPr lang="en-US" dirty="0"/>
            </a:br>
            <a:endParaRPr lang="en-US" dirty="0"/>
          </a:p>
        </p:txBody>
      </p:sp>
    </p:spTree>
    <p:extLst>
      <p:ext uri="{BB962C8B-B14F-4D97-AF65-F5344CB8AC3E}">
        <p14:creationId xmlns:p14="http://schemas.microsoft.com/office/powerpoint/2010/main" val="2314119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161869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100" b="0" i="0" u="none" strike="noStrike" cap="none" dirty="0">
                <a:solidFill>
                  <a:srgbClr val="000000"/>
                </a:solidFill>
                <a:effectLst/>
                <a:latin typeface="Arial"/>
                <a:ea typeface="Arial"/>
                <a:cs typeface="Arial"/>
                <a:sym typeface="Arial"/>
              </a:rPr>
              <a:t>Highly correlated: </a:t>
            </a:r>
            <a:r>
              <a:rPr lang="en-US" sz="1100" dirty="0">
                <a:solidFill>
                  <a:schemeClr val="tx2">
                    <a:lumMod val="10000"/>
                  </a:schemeClr>
                </a:solidFill>
                <a:latin typeface="Calibri" panose="020F0502020204030204" pitchFamily="34" charset="0"/>
              </a:rPr>
              <a:t>(as discussed earlier for MNIST).  Pixels close to each other are correlated</a:t>
            </a:r>
          </a:p>
          <a:p>
            <a:pPr marL="457200" marR="0" lvl="1" indent="-317500" algn="l" defTabSz="914400" rtl="0" eaLnBrk="1" fontAlgn="auto" latinLnBrk="0" hangingPunct="1">
              <a:lnSpc>
                <a:spcPct val="100000"/>
              </a:lnSpc>
              <a:spcBef>
                <a:spcPts val="0"/>
              </a:spcBef>
              <a:spcAft>
                <a:spcPts val="0"/>
              </a:spcAft>
              <a:buClr>
                <a:srgbClr val="000000"/>
              </a:buClr>
              <a:buSzPts val="1400"/>
              <a:buFont typeface="Arial"/>
              <a:buChar char="●"/>
              <a:tabLst/>
              <a:defRPr/>
            </a:pPr>
            <a:r>
              <a:rPr lang="en-US" sz="2000" dirty="0"/>
              <a:t>In the picture, if we project every training instance perpendicularly onto this subspace, we get a new 2D dataset.</a:t>
            </a:r>
            <a:endParaRPr lang="en-US" sz="1100" dirty="0">
              <a:solidFill>
                <a:schemeClr val="tx2">
                  <a:lumMod val="10000"/>
                </a:schemeClr>
              </a:solidFill>
              <a:latin typeface="Calibri" panose="020F0502020204030204" pitchFamily="34" charset="0"/>
            </a:endParaRPr>
          </a:p>
          <a:p>
            <a:r>
              <a:rPr lang="en-US" sz="1100" b="0" i="0" u="none" strike="noStrike" cap="none" dirty="0">
                <a:solidFill>
                  <a:srgbClr val="000000"/>
                </a:solidFill>
                <a:effectLst/>
                <a:latin typeface="Arial"/>
                <a:ea typeface="Arial"/>
                <a:cs typeface="Arial"/>
                <a:sym typeface="Arial"/>
              </a:rPr>
              <a:t>We have just reduced the dataset’s dimensionality from 3D to 2D.</a:t>
            </a: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Note that the axes correspond to new features </a:t>
            </a:r>
            <a:r>
              <a:rPr lang="en-US" sz="1100" b="0" i="1" u="none" strike="noStrike" cap="none" dirty="0">
                <a:solidFill>
                  <a:srgbClr val="000000"/>
                </a:solidFill>
                <a:effectLst/>
                <a:latin typeface="Arial"/>
                <a:ea typeface="Arial"/>
                <a:cs typeface="Arial"/>
                <a:sym typeface="Arial"/>
              </a:rPr>
              <a:t>z</a:t>
            </a:r>
            <a:r>
              <a:rPr lang="en-US" sz="1100" b="0" i="0" u="none" strike="noStrike" cap="none" dirty="0">
                <a:solidFill>
                  <a:srgbClr val="000000"/>
                </a:solidFill>
                <a:effectLst/>
                <a:latin typeface="Arial"/>
                <a:ea typeface="Arial"/>
                <a:cs typeface="Arial"/>
                <a:sym typeface="Arial"/>
              </a:rPr>
              <a:t>1 and </a:t>
            </a:r>
            <a:r>
              <a:rPr lang="en-US" sz="1100" b="0" i="1" u="none" strike="noStrike" cap="none" dirty="0">
                <a:solidFill>
                  <a:srgbClr val="000000"/>
                </a:solidFill>
                <a:effectLst/>
                <a:latin typeface="Arial"/>
                <a:ea typeface="Arial"/>
                <a:cs typeface="Arial"/>
                <a:sym typeface="Arial"/>
              </a:rPr>
              <a:t>z</a:t>
            </a:r>
            <a:r>
              <a:rPr lang="en-US" sz="1100" b="0" i="0" u="none" strike="noStrike" cap="none" dirty="0">
                <a:solidFill>
                  <a:srgbClr val="000000"/>
                </a:solidFill>
                <a:effectLst/>
                <a:latin typeface="Arial"/>
                <a:ea typeface="Arial"/>
                <a:cs typeface="Arial"/>
                <a:sym typeface="Arial"/>
              </a:rPr>
              <a:t>2: they are the coordinates of the projections on the plane.</a:t>
            </a:r>
            <a:r>
              <a:rPr lang="en-US" dirty="0"/>
              <a:t> </a:t>
            </a:r>
            <a:br>
              <a:rPr lang="en-US" dirty="0"/>
            </a:br>
            <a:endParaRPr lang="en-US" dirty="0"/>
          </a:p>
        </p:txBody>
      </p:sp>
    </p:spTree>
    <p:extLst>
      <p:ext uri="{BB962C8B-B14F-4D97-AF65-F5344CB8AC3E}">
        <p14:creationId xmlns:p14="http://schemas.microsoft.com/office/powerpoint/2010/main" val="7701823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100" b="1" i="0" u="none" strike="noStrike" cap="none" dirty="0">
                <a:solidFill>
                  <a:srgbClr val="000000"/>
                </a:solidFill>
                <a:effectLst/>
                <a:latin typeface="Arial"/>
                <a:ea typeface="Arial"/>
                <a:cs typeface="Arial"/>
                <a:sym typeface="Arial"/>
              </a:rPr>
              <a:t>Nonlinear dimensionality reduction</a:t>
            </a:r>
            <a:r>
              <a:rPr lang="en-US" sz="1100" b="0" i="0" u="none" strike="noStrike" cap="none" dirty="0">
                <a:solidFill>
                  <a:srgbClr val="000000"/>
                </a:solidFill>
                <a:effectLst/>
                <a:latin typeface="Arial"/>
                <a:ea typeface="Arial"/>
                <a:cs typeface="Arial"/>
                <a:sym typeface="Arial"/>
              </a:rPr>
              <a:t>, also known as </a:t>
            </a:r>
            <a:r>
              <a:rPr lang="en-US" sz="1100" b="1" i="0" u="none" strike="noStrike" cap="none" dirty="0">
                <a:solidFill>
                  <a:srgbClr val="000000"/>
                </a:solidFill>
                <a:effectLst/>
                <a:latin typeface="Arial"/>
                <a:ea typeface="Arial"/>
                <a:cs typeface="Arial"/>
                <a:sym typeface="Arial"/>
              </a:rPr>
              <a:t>manifold learning</a:t>
            </a:r>
            <a:r>
              <a:rPr lang="en-US" sz="1100" b="0" i="0" u="none" strike="noStrike" cap="none" dirty="0">
                <a:solidFill>
                  <a:srgbClr val="000000"/>
                </a:solidFill>
                <a:effectLst/>
                <a:latin typeface="Arial"/>
                <a:ea typeface="Arial"/>
                <a:cs typeface="Arial"/>
                <a:sym typeface="Arial"/>
              </a:rPr>
              <a:t>, refers to various related techniques that aim to project high-dimensional data onto lower-dimensional </a:t>
            </a:r>
            <a:r>
              <a:rPr lang="en-US" sz="1100" b="0" i="0" u="none" strike="noStrike" cap="none" dirty="0">
                <a:solidFill>
                  <a:srgbClr val="000000"/>
                </a:solidFill>
                <a:effectLst/>
                <a:latin typeface="Arial"/>
                <a:ea typeface="Arial"/>
                <a:cs typeface="Arial"/>
                <a:sym typeface="Arial"/>
                <a:hlinkClick r:id="rId3" tooltip="Latent manifold"/>
              </a:rPr>
              <a:t>latent manifolds</a:t>
            </a:r>
            <a:endParaRPr lang="en-US"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It's a space that locally resembles Euclidean space, but globally it might have a more complex structure.</a:t>
            </a:r>
          </a:p>
          <a:p>
            <a:r>
              <a:rPr lang="en-US" sz="1100" b="0" i="0" u="none" strike="noStrike" cap="none" dirty="0">
                <a:solidFill>
                  <a:srgbClr val="000000"/>
                </a:solidFill>
                <a:effectLst/>
                <a:latin typeface="Arial"/>
                <a:ea typeface="Arial"/>
                <a:cs typeface="Arial"/>
                <a:sym typeface="Arial"/>
              </a:rPr>
              <a:t>a manifold is a topological space that is locally </a:t>
            </a:r>
            <a:r>
              <a:rPr lang="en-US" sz="1100" b="0" i="0" u="none" strike="noStrike" cap="none" dirty="0" err="1">
                <a:solidFill>
                  <a:srgbClr val="000000"/>
                </a:solidFill>
                <a:effectLst/>
                <a:latin typeface="Arial"/>
                <a:ea typeface="Arial"/>
                <a:cs typeface="Arial"/>
                <a:sym typeface="Arial"/>
              </a:rPr>
              <a:t>homeomorphic</a:t>
            </a:r>
            <a:r>
              <a:rPr lang="en-US" sz="1100" b="0" i="0" u="none" strike="noStrike" cap="none" dirty="0">
                <a:solidFill>
                  <a:srgbClr val="000000"/>
                </a:solidFill>
                <a:effectLst/>
                <a:latin typeface="Arial"/>
                <a:ea typeface="Arial"/>
                <a:cs typeface="Arial"/>
                <a:sym typeface="Arial"/>
              </a:rPr>
              <a:t> to Euclidean space. This means that around each point on the manifold, there exists a neighborhood that is topologically equivalent (or </a:t>
            </a:r>
            <a:r>
              <a:rPr lang="en-US" sz="1100" b="0" i="0" u="none" strike="noStrike" cap="none" dirty="0" err="1">
                <a:solidFill>
                  <a:srgbClr val="000000"/>
                </a:solidFill>
                <a:effectLst/>
                <a:latin typeface="Arial"/>
                <a:ea typeface="Arial"/>
                <a:cs typeface="Arial"/>
                <a:sym typeface="Arial"/>
              </a:rPr>
              <a:t>homeomorphic</a:t>
            </a:r>
            <a:r>
              <a:rPr lang="en-US" sz="1100" b="0" i="0" u="none" strike="noStrike" cap="none" dirty="0">
                <a:solidFill>
                  <a:srgbClr val="000000"/>
                </a:solidFill>
                <a:effectLst/>
                <a:latin typeface="Arial"/>
                <a:ea typeface="Arial"/>
                <a:cs typeface="Arial"/>
                <a:sym typeface="Arial"/>
              </a:rPr>
              <a:t>) to an open set in Euclidean space.</a:t>
            </a:r>
          </a:p>
          <a:p>
            <a:r>
              <a:rPr lang="en-US" sz="1100" b="0" i="0" u="none" strike="noStrike" cap="none" dirty="0">
                <a:solidFill>
                  <a:srgbClr val="000000"/>
                </a:solidFill>
                <a:effectLst/>
                <a:latin typeface="Arial"/>
                <a:ea typeface="Arial"/>
                <a:cs typeface="Arial"/>
                <a:sym typeface="Arial"/>
              </a:rPr>
              <a:t>a function </a:t>
            </a:r>
            <a:r>
              <a:rPr lang="en-US" sz="1100" b="0" i="1" u="none" strike="noStrike" cap="none" dirty="0">
                <a:solidFill>
                  <a:srgbClr val="000000"/>
                </a:solidFill>
                <a:effectLst/>
                <a:latin typeface="Arial"/>
                <a:ea typeface="Arial"/>
                <a:cs typeface="Arial"/>
                <a:sym typeface="Arial"/>
              </a:rPr>
              <a:t>f</a:t>
            </a:r>
            <a:r>
              <a:rPr lang="en-US" sz="1100" b="0" i="0" u="none" strike="noStrike" cap="none" dirty="0">
                <a:solidFill>
                  <a:srgbClr val="000000"/>
                </a:solidFill>
                <a:effectLst/>
                <a:latin typeface="Arial"/>
                <a:ea typeface="Arial"/>
                <a:cs typeface="Arial"/>
                <a:sym typeface="Arial"/>
              </a:rPr>
              <a:t> between two topological spaces </a:t>
            </a:r>
            <a:r>
              <a:rPr lang="en-US" sz="1100" b="0" i="1" u="none" strike="noStrike" cap="none" dirty="0">
                <a:solidFill>
                  <a:srgbClr val="000000"/>
                </a:solidFill>
                <a:effectLst/>
                <a:latin typeface="Arial"/>
                <a:ea typeface="Arial"/>
                <a:cs typeface="Arial"/>
                <a:sym typeface="Arial"/>
              </a:rPr>
              <a:t>X</a:t>
            </a:r>
            <a:r>
              <a:rPr lang="en-US" sz="1100" b="0" i="0" u="none" strike="noStrike" cap="none" dirty="0">
                <a:solidFill>
                  <a:srgbClr val="000000"/>
                </a:solidFill>
                <a:effectLst/>
                <a:latin typeface="Arial"/>
                <a:ea typeface="Arial"/>
                <a:cs typeface="Arial"/>
                <a:sym typeface="Arial"/>
              </a:rPr>
              <a:t> and </a:t>
            </a:r>
            <a:r>
              <a:rPr lang="en-US" sz="1100" b="0" i="1" u="none" strike="noStrike" cap="none" dirty="0">
                <a:solidFill>
                  <a:srgbClr val="000000"/>
                </a:solidFill>
                <a:effectLst/>
                <a:latin typeface="Arial"/>
                <a:ea typeface="Arial"/>
                <a:cs typeface="Arial"/>
                <a:sym typeface="Arial"/>
              </a:rPr>
              <a:t>Y</a:t>
            </a:r>
            <a:r>
              <a:rPr lang="en-US" sz="1100" b="0" i="0" u="none" strike="noStrike" cap="none" dirty="0">
                <a:solidFill>
                  <a:srgbClr val="000000"/>
                </a:solidFill>
                <a:effectLst/>
                <a:latin typeface="Arial"/>
                <a:ea typeface="Arial"/>
                <a:cs typeface="Arial"/>
                <a:sym typeface="Arial"/>
              </a:rPr>
              <a:t> is a homeomorphism if:</a:t>
            </a:r>
          </a:p>
          <a:p>
            <a:pPr lvl="1"/>
            <a:r>
              <a:rPr lang="en-US" sz="1100" b="0" i="1" u="none" strike="noStrike" cap="none" dirty="0">
                <a:solidFill>
                  <a:srgbClr val="000000"/>
                </a:solidFill>
                <a:effectLst/>
                <a:latin typeface="Arial"/>
                <a:ea typeface="Arial"/>
                <a:cs typeface="Arial"/>
                <a:sym typeface="Arial"/>
              </a:rPr>
              <a:t>f</a:t>
            </a:r>
            <a:r>
              <a:rPr lang="en-US" sz="1100" b="0" i="0" u="none" strike="noStrike" cap="none" dirty="0">
                <a:solidFill>
                  <a:srgbClr val="000000"/>
                </a:solidFill>
                <a:effectLst/>
                <a:latin typeface="Arial"/>
                <a:ea typeface="Arial"/>
                <a:cs typeface="Arial"/>
                <a:sym typeface="Arial"/>
              </a:rPr>
              <a:t> is a </a:t>
            </a:r>
            <a:r>
              <a:rPr lang="en-US" sz="1100" b="0" i="0" u="none" strike="noStrike" cap="none" dirty="0" err="1">
                <a:solidFill>
                  <a:srgbClr val="000000"/>
                </a:solidFill>
                <a:effectLst/>
                <a:latin typeface="Arial"/>
                <a:ea typeface="Arial"/>
                <a:cs typeface="Arial"/>
                <a:sym typeface="Arial"/>
              </a:rPr>
              <a:t>bijection</a:t>
            </a:r>
            <a:r>
              <a:rPr lang="en-US" sz="1100" b="0" i="0" u="none" strike="noStrike" cap="none" dirty="0">
                <a:solidFill>
                  <a:srgbClr val="000000"/>
                </a:solidFill>
                <a:effectLst/>
                <a:latin typeface="Arial"/>
                <a:ea typeface="Arial"/>
                <a:cs typeface="Arial"/>
                <a:sym typeface="Arial"/>
              </a:rPr>
              <a:t> (both injective and </a:t>
            </a:r>
            <a:r>
              <a:rPr lang="en-US" sz="1100" b="0" i="0" u="none" strike="noStrike" cap="none" dirty="0" err="1">
                <a:solidFill>
                  <a:srgbClr val="000000"/>
                </a:solidFill>
                <a:effectLst/>
                <a:latin typeface="Arial"/>
                <a:ea typeface="Arial"/>
                <a:cs typeface="Arial"/>
                <a:sym typeface="Arial"/>
              </a:rPr>
              <a:t>surjective</a:t>
            </a:r>
            <a:r>
              <a:rPr lang="en-US" sz="1100" b="0" i="0" u="none" strike="noStrike" cap="none" dirty="0">
                <a:solidFill>
                  <a:srgbClr val="000000"/>
                </a:solidFill>
                <a:effectLst/>
                <a:latin typeface="Arial"/>
                <a:ea typeface="Arial"/>
                <a:cs typeface="Arial"/>
                <a:sym typeface="Arial"/>
              </a:rPr>
              <a:t>).</a:t>
            </a:r>
          </a:p>
          <a:p>
            <a:pPr lvl="1"/>
            <a:r>
              <a:rPr lang="en-US" sz="1100" b="0" i="1" u="none" strike="noStrike" cap="none" dirty="0">
                <a:solidFill>
                  <a:srgbClr val="000000"/>
                </a:solidFill>
                <a:effectLst/>
                <a:latin typeface="Arial"/>
                <a:ea typeface="Arial"/>
                <a:cs typeface="Arial"/>
                <a:sym typeface="Arial"/>
              </a:rPr>
              <a:t>f</a:t>
            </a:r>
            <a:r>
              <a:rPr lang="en-US" sz="1100" b="0" i="0" u="none" strike="noStrike" cap="none" dirty="0">
                <a:solidFill>
                  <a:srgbClr val="000000"/>
                </a:solidFill>
                <a:effectLst/>
                <a:latin typeface="Arial"/>
                <a:ea typeface="Arial"/>
                <a:cs typeface="Arial"/>
                <a:sym typeface="Arial"/>
              </a:rPr>
              <a:t> is continuous.</a:t>
            </a:r>
          </a:p>
          <a:p>
            <a:pPr lvl="1"/>
            <a:r>
              <a:rPr lang="en-US" sz="1100" b="0" i="0" u="none" strike="noStrike" cap="none" dirty="0">
                <a:solidFill>
                  <a:srgbClr val="000000"/>
                </a:solidFill>
                <a:effectLst/>
                <a:latin typeface="Arial"/>
                <a:ea typeface="Arial"/>
                <a:cs typeface="Arial"/>
                <a:sym typeface="Arial"/>
              </a:rPr>
              <a:t>The inverse function </a:t>
            </a:r>
            <a:r>
              <a:rPr lang="en-US" sz="1100" b="0" i="1" u="none" strike="noStrike" cap="none" dirty="0">
                <a:solidFill>
                  <a:srgbClr val="000000"/>
                </a:solidFill>
                <a:effectLst/>
                <a:latin typeface="Arial"/>
                <a:ea typeface="Arial"/>
                <a:cs typeface="Arial"/>
                <a:sym typeface="Arial"/>
              </a:rPr>
              <a:t>f^(</a:t>
            </a:r>
            <a:r>
              <a:rPr lang="en-US" sz="1100" b="0" i="0" u="none" strike="noStrike" cap="none" dirty="0">
                <a:solidFill>
                  <a:srgbClr val="000000"/>
                </a:solidFill>
                <a:effectLst/>
                <a:latin typeface="Arial"/>
                <a:ea typeface="Arial"/>
                <a:cs typeface="Arial"/>
                <a:sym typeface="Arial"/>
              </a:rPr>
              <a:t>−1) is also continuous.</a:t>
            </a:r>
          </a:p>
          <a:p>
            <a:r>
              <a:rPr lang="en-US" sz="1100" b="1" i="0" u="none" strike="noStrike" cap="none" dirty="0">
                <a:solidFill>
                  <a:srgbClr val="000000"/>
                </a:solidFill>
                <a:effectLst/>
                <a:latin typeface="Arial"/>
                <a:ea typeface="Arial"/>
                <a:cs typeface="Arial"/>
                <a:sym typeface="Arial"/>
              </a:rPr>
              <a:t>Flatness:</a:t>
            </a:r>
            <a:r>
              <a:rPr lang="en-US" sz="1100" b="0" i="0" u="none" strike="noStrike" cap="none" dirty="0">
                <a:solidFill>
                  <a:srgbClr val="000000"/>
                </a:solidFill>
                <a:effectLst/>
                <a:latin typeface="Arial"/>
                <a:ea typeface="Arial"/>
                <a:cs typeface="Arial"/>
                <a:sym typeface="Arial"/>
              </a:rPr>
              <a:t> Euclidean space is flat, meaning it obeys the rules of Euclidean geometry, where parallel lines remain equidistant and never meet, and the interior angles of triangles add up to 180 degrees.</a:t>
            </a:r>
          </a:p>
          <a:p>
            <a:r>
              <a:rPr lang="en-US" sz="1100" b="1" i="0" u="none" strike="noStrike" cap="none" dirty="0">
                <a:solidFill>
                  <a:srgbClr val="000000"/>
                </a:solidFill>
                <a:effectLst/>
                <a:latin typeface="Arial"/>
                <a:ea typeface="Arial"/>
                <a:cs typeface="Arial"/>
                <a:sym typeface="Arial"/>
              </a:rPr>
              <a:t>Metric Properties:</a:t>
            </a:r>
            <a:r>
              <a:rPr lang="en-US" sz="1100" b="0" i="0" u="none" strike="noStrike" cap="none" dirty="0">
                <a:solidFill>
                  <a:srgbClr val="000000"/>
                </a:solidFill>
                <a:effectLst/>
                <a:latin typeface="Arial"/>
                <a:ea typeface="Arial"/>
                <a:cs typeface="Arial"/>
                <a:sym typeface="Arial"/>
              </a:rPr>
              <a:t> It has a metric structure that defines distances between points</a:t>
            </a:r>
          </a:p>
          <a:p>
            <a:r>
              <a:rPr lang="en-US" sz="1100" b="1" i="0" u="none" strike="noStrike" cap="none" dirty="0">
                <a:solidFill>
                  <a:srgbClr val="000000"/>
                </a:solidFill>
                <a:effectLst/>
                <a:latin typeface="Arial"/>
                <a:ea typeface="Arial"/>
                <a:cs typeface="Arial"/>
                <a:sym typeface="Arial"/>
              </a:rPr>
              <a:t>Coordinate System:</a:t>
            </a:r>
            <a:r>
              <a:rPr lang="en-US" sz="1100" b="0" i="0" u="none" strike="noStrike" cap="none" dirty="0">
                <a:solidFill>
                  <a:srgbClr val="000000"/>
                </a:solidFill>
                <a:effectLst/>
                <a:latin typeface="Arial"/>
                <a:ea typeface="Arial"/>
                <a:cs typeface="Arial"/>
                <a:sym typeface="Arial"/>
              </a:rPr>
              <a:t> Euclidean spaces are often represented using Cartesian coordinate systems, where each point in space corresponds to a unique set of coordinates. These coordinates help define the position of points and the distances between them.</a:t>
            </a:r>
          </a:p>
          <a:p>
            <a:pPr lvl="0"/>
            <a:endParaRPr lang="en-US" sz="1100" b="0" i="0" u="none" strike="noStrike" cap="none" dirty="0">
              <a:solidFill>
                <a:srgbClr val="000000"/>
              </a:solidFill>
              <a:effectLst/>
              <a:latin typeface="Arial"/>
              <a:ea typeface="Arial"/>
              <a:cs typeface="Arial"/>
              <a:sym typeface="Arial"/>
            </a:endParaRPr>
          </a:p>
          <a:p>
            <a:endParaRPr lang="en-US" dirty="0"/>
          </a:p>
        </p:txBody>
      </p:sp>
    </p:spTree>
    <p:extLst>
      <p:ext uri="{BB962C8B-B14F-4D97-AF65-F5344CB8AC3E}">
        <p14:creationId xmlns:p14="http://schemas.microsoft.com/office/powerpoint/2010/main" val="32423333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3254285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100" b="0" i="1" u="none" strike="noStrike" cap="none" dirty="0">
                <a:solidFill>
                  <a:srgbClr val="000000"/>
                </a:solidFill>
                <a:effectLst/>
                <a:latin typeface="Arial"/>
                <a:ea typeface="Arial"/>
                <a:cs typeface="Arial"/>
                <a:sym typeface="Arial"/>
              </a:rPr>
              <a:t>manifold learning</a:t>
            </a:r>
            <a:r>
              <a:rPr lang="en-US" sz="1100" b="0" i="0" u="none" strike="noStrike" cap="none" dirty="0">
                <a:solidFill>
                  <a:srgbClr val="000000"/>
                </a:solidFill>
                <a:effectLst/>
                <a:latin typeface="Arial"/>
                <a:ea typeface="Arial"/>
                <a:cs typeface="Arial"/>
                <a:sym typeface="Arial"/>
              </a:rPr>
              <a:t> relies on the </a:t>
            </a:r>
            <a:r>
              <a:rPr lang="en-US" sz="1100" b="0" i="1" u="none" strike="noStrike" cap="none" dirty="0">
                <a:solidFill>
                  <a:srgbClr val="000000"/>
                </a:solidFill>
                <a:effectLst/>
                <a:latin typeface="Arial"/>
                <a:ea typeface="Arial"/>
                <a:cs typeface="Arial"/>
                <a:sym typeface="Arial"/>
              </a:rPr>
              <a:t>manifold assumption</a:t>
            </a:r>
            <a:r>
              <a:rPr lang="en-US" sz="1100" b="0" i="0" u="none" strike="noStrike" cap="none" dirty="0">
                <a:solidFill>
                  <a:srgbClr val="000000"/>
                </a:solidFill>
                <a:effectLst/>
                <a:latin typeface="Arial"/>
                <a:ea typeface="Arial"/>
                <a:cs typeface="Arial"/>
                <a:sym typeface="Arial"/>
              </a:rPr>
              <a:t>, also called the </a:t>
            </a:r>
            <a:r>
              <a:rPr lang="en-US" sz="1100" b="0" i="1" u="none" strike="noStrike" cap="none" dirty="0">
                <a:solidFill>
                  <a:srgbClr val="000000"/>
                </a:solidFill>
                <a:effectLst/>
                <a:latin typeface="Arial"/>
                <a:ea typeface="Arial"/>
                <a:cs typeface="Arial"/>
                <a:sym typeface="Arial"/>
              </a:rPr>
              <a:t>manifold hypothesis</a:t>
            </a:r>
            <a:r>
              <a:rPr lang="en-US" sz="1100" b="0" i="0" u="none" strike="noStrike" cap="none" dirty="0">
                <a:solidFill>
                  <a:srgbClr val="000000"/>
                </a:solidFill>
                <a:effectLst/>
                <a:latin typeface="Arial"/>
                <a:ea typeface="Arial"/>
                <a:cs typeface="Arial"/>
                <a:sym typeface="Arial"/>
              </a:rPr>
              <a:t>, which holds that most real-world</a:t>
            </a:r>
            <a:r>
              <a:rPr lang="en-US" dirty="0"/>
              <a:t> …</a:t>
            </a:r>
          </a:p>
          <a:p>
            <a:pPr algn="r" rtl="1"/>
            <a:r>
              <a:rPr lang="fa-IR" dirty="0"/>
              <a:t>پیوستگی و </a:t>
            </a:r>
            <a:r>
              <a:rPr lang="en-US" dirty="0"/>
              <a:t>smoothness</a:t>
            </a:r>
            <a:r>
              <a:rPr lang="fa-IR" dirty="0"/>
              <a:t> حفظ میشه</a:t>
            </a:r>
            <a:br>
              <a:rPr lang="en-US" dirty="0"/>
            </a:br>
            <a:endParaRPr lang="en-US" dirty="0"/>
          </a:p>
        </p:txBody>
      </p:sp>
    </p:spTree>
    <p:extLst>
      <p:ext uri="{BB962C8B-B14F-4D97-AF65-F5344CB8AC3E}">
        <p14:creationId xmlns:p14="http://schemas.microsoft.com/office/powerpoint/2010/main" val="31801444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100" b="0" i="0" u="none" strike="noStrike" cap="none" dirty="0">
                <a:solidFill>
                  <a:srgbClr val="000000"/>
                </a:solidFill>
                <a:effectLst/>
                <a:latin typeface="Arial"/>
                <a:ea typeface="Arial"/>
                <a:cs typeface="Arial"/>
                <a:sym typeface="Arial"/>
              </a:rPr>
              <a:t>The manifold assumption is often accompanied by another implicit assumption: that the task at hand (e.g., classification or regression) will be simpler if expressed in the lower-dimensional space of the manifold. For example, in the top row of Figure 8-6 the Swiss roll is split into two classes: in the 3D space (on the left) the decision boundary would be fairly complex, but in the 2D unrolled manifold space (on the right) the decision boundary is a straight line.</a:t>
            </a:r>
          </a:p>
          <a:p>
            <a:r>
              <a:rPr lang="en-US" sz="1100" b="0" i="0" u="none" strike="noStrike" cap="none" dirty="0">
                <a:solidFill>
                  <a:srgbClr val="000000"/>
                </a:solidFill>
                <a:effectLst/>
                <a:latin typeface="Arial"/>
                <a:ea typeface="Arial"/>
                <a:cs typeface="Arial"/>
                <a:sym typeface="Arial"/>
              </a:rPr>
              <a:t>However, this implicit assumption does not always hold. For example, in the bottom</a:t>
            </a:r>
            <a:r>
              <a:rPr lang="en-US" sz="1100" b="0" i="0" u="none" strike="noStrike" cap="none" baseline="0" dirty="0">
                <a:solidFill>
                  <a:srgbClr val="000000"/>
                </a:solidFill>
                <a:effectLst/>
                <a:latin typeface="Arial"/>
                <a:ea typeface="Arial"/>
                <a:cs typeface="Arial"/>
                <a:sym typeface="Arial"/>
              </a:rPr>
              <a:t> </a:t>
            </a:r>
            <a:r>
              <a:rPr lang="en-US" sz="1100" b="0" i="0" u="none" strike="noStrike" cap="none" dirty="0">
                <a:solidFill>
                  <a:srgbClr val="000000"/>
                </a:solidFill>
                <a:effectLst/>
                <a:latin typeface="Arial"/>
                <a:ea typeface="Arial"/>
                <a:cs typeface="Arial"/>
                <a:sym typeface="Arial"/>
              </a:rPr>
              <a:t>row of Figure 8-6, the decision boundary is located at </a:t>
            </a:r>
            <a:r>
              <a:rPr lang="en-US" sz="1100" b="0" i="1" u="none" strike="noStrike" cap="none" dirty="0">
                <a:solidFill>
                  <a:srgbClr val="000000"/>
                </a:solidFill>
                <a:effectLst/>
                <a:latin typeface="Arial"/>
                <a:ea typeface="Arial"/>
                <a:cs typeface="Arial"/>
                <a:sym typeface="Arial"/>
              </a:rPr>
              <a:t>x</a:t>
            </a:r>
            <a:r>
              <a:rPr lang="en-US" sz="1100" b="0" i="0" u="none" strike="noStrike" cap="none" dirty="0">
                <a:solidFill>
                  <a:srgbClr val="000000"/>
                </a:solidFill>
                <a:effectLst/>
                <a:latin typeface="Arial"/>
                <a:ea typeface="Arial"/>
                <a:cs typeface="Arial"/>
                <a:sym typeface="Arial"/>
              </a:rPr>
              <a:t>1 = 5. This decision boundary</a:t>
            </a:r>
            <a:r>
              <a:rPr lang="en-US" sz="1100" b="0" i="0" u="none" strike="noStrike" cap="none" baseline="0" dirty="0">
                <a:solidFill>
                  <a:srgbClr val="000000"/>
                </a:solidFill>
                <a:effectLst/>
                <a:latin typeface="Arial"/>
                <a:ea typeface="Arial"/>
                <a:cs typeface="Arial"/>
                <a:sym typeface="Arial"/>
              </a:rPr>
              <a:t> </a:t>
            </a:r>
            <a:r>
              <a:rPr lang="en-US" sz="1100" b="0" i="0" u="none" strike="noStrike" cap="none" dirty="0">
                <a:solidFill>
                  <a:srgbClr val="000000"/>
                </a:solidFill>
                <a:effectLst/>
                <a:latin typeface="Arial"/>
                <a:ea typeface="Arial"/>
                <a:cs typeface="Arial"/>
                <a:sym typeface="Arial"/>
              </a:rPr>
              <a:t>looks very simple in the original 3D space (a vertical plane), but it looks more</a:t>
            </a:r>
            <a:r>
              <a:rPr lang="en-US" sz="1100" b="0" i="0" u="none" strike="noStrike" cap="none" baseline="0" dirty="0">
                <a:solidFill>
                  <a:srgbClr val="000000"/>
                </a:solidFill>
                <a:effectLst/>
                <a:latin typeface="Arial"/>
                <a:ea typeface="Arial"/>
                <a:cs typeface="Arial"/>
                <a:sym typeface="Arial"/>
              </a:rPr>
              <a:t> </a:t>
            </a:r>
            <a:r>
              <a:rPr lang="en-US" sz="1100" b="0" i="0" u="none" strike="noStrike" cap="none" dirty="0">
                <a:solidFill>
                  <a:srgbClr val="000000"/>
                </a:solidFill>
                <a:effectLst/>
                <a:latin typeface="Arial"/>
                <a:ea typeface="Arial"/>
                <a:cs typeface="Arial"/>
                <a:sym typeface="Arial"/>
              </a:rPr>
              <a:t>complex in the unrolled manifold (a collection of four independent line segments).</a:t>
            </a:r>
            <a:br>
              <a:rPr lang="en-US" sz="1100" b="0" i="0" u="none" strike="noStrike" cap="none" dirty="0">
                <a:solidFill>
                  <a:srgbClr val="000000"/>
                </a:solidFill>
                <a:effectLst/>
                <a:latin typeface="Arial"/>
                <a:ea typeface="Arial"/>
                <a:cs typeface="Arial"/>
                <a:sym typeface="Arial"/>
              </a:rPr>
            </a:br>
            <a:r>
              <a:rPr lang="en-US" sz="1100" b="1" i="0" u="none" strike="noStrike" cap="none" dirty="0">
                <a:solidFill>
                  <a:srgbClr val="000000"/>
                </a:solidFill>
                <a:effectLst/>
                <a:latin typeface="Arial"/>
                <a:ea typeface="Arial"/>
                <a:cs typeface="Arial"/>
                <a:sym typeface="Arial"/>
              </a:rPr>
              <a:t>In short, reducing the dimensionality of your training set before training a model will usually speed up training, but it may not always lead to a better or simpler solution; it all depends on the dataset.</a:t>
            </a:r>
            <a:r>
              <a:rPr lang="en-US" b="1" dirty="0"/>
              <a:t> </a:t>
            </a:r>
            <a:br>
              <a:rPr lang="en-US" b="1" dirty="0"/>
            </a:br>
            <a:endParaRPr lang="en-US" b="1" dirty="0"/>
          </a:p>
        </p:txBody>
      </p:sp>
    </p:spTree>
    <p:extLst>
      <p:ext uri="{BB962C8B-B14F-4D97-AF65-F5344CB8AC3E}">
        <p14:creationId xmlns:p14="http://schemas.microsoft.com/office/powerpoint/2010/main" val="37917325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070409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100" b="0" i="1" u="none" strike="noStrike" cap="none" dirty="0">
                <a:solidFill>
                  <a:srgbClr val="000000"/>
                </a:solidFill>
                <a:effectLst/>
                <a:latin typeface="Arial"/>
                <a:ea typeface="Arial"/>
                <a:cs typeface="Arial"/>
                <a:sym typeface="Arial"/>
              </a:rPr>
              <a:t>manifold learning</a:t>
            </a:r>
            <a:r>
              <a:rPr lang="en-US" sz="1100" b="0" i="0" u="none" strike="noStrike" cap="none" dirty="0">
                <a:solidFill>
                  <a:srgbClr val="000000"/>
                </a:solidFill>
                <a:effectLst/>
                <a:latin typeface="Arial"/>
                <a:ea typeface="Arial"/>
                <a:cs typeface="Arial"/>
                <a:sym typeface="Arial"/>
              </a:rPr>
              <a:t> relies on the </a:t>
            </a:r>
            <a:r>
              <a:rPr lang="en-US" sz="1100" b="0" i="1" u="none" strike="noStrike" cap="none" dirty="0">
                <a:solidFill>
                  <a:srgbClr val="000000"/>
                </a:solidFill>
                <a:effectLst/>
                <a:latin typeface="Arial"/>
                <a:ea typeface="Arial"/>
                <a:cs typeface="Arial"/>
                <a:sym typeface="Arial"/>
              </a:rPr>
              <a:t>manifold assumption</a:t>
            </a:r>
            <a:r>
              <a:rPr lang="en-US" sz="1100" b="0" i="0" u="none" strike="noStrike" cap="none" dirty="0">
                <a:solidFill>
                  <a:srgbClr val="000000"/>
                </a:solidFill>
                <a:effectLst/>
                <a:latin typeface="Arial"/>
                <a:ea typeface="Arial"/>
                <a:cs typeface="Arial"/>
                <a:sym typeface="Arial"/>
              </a:rPr>
              <a:t>, also called the </a:t>
            </a:r>
            <a:r>
              <a:rPr lang="en-US" sz="1100" b="0" i="1" u="none" strike="noStrike" cap="none" dirty="0">
                <a:solidFill>
                  <a:srgbClr val="000000"/>
                </a:solidFill>
                <a:effectLst/>
                <a:latin typeface="Arial"/>
                <a:ea typeface="Arial"/>
                <a:cs typeface="Arial"/>
                <a:sym typeface="Arial"/>
              </a:rPr>
              <a:t>manifold hypothesis</a:t>
            </a:r>
            <a:r>
              <a:rPr lang="en-US" sz="1100" b="0" i="0" u="none" strike="noStrike" cap="none" dirty="0">
                <a:solidFill>
                  <a:srgbClr val="000000"/>
                </a:solidFill>
                <a:effectLst/>
                <a:latin typeface="Arial"/>
                <a:ea typeface="Arial"/>
                <a:cs typeface="Arial"/>
                <a:sym typeface="Arial"/>
              </a:rPr>
              <a:t>, which holds that most real-world</a:t>
            </a:r>
            <a:r>
              <a:rPr lang="en-US" dirty="0"/>
              <a:t> …</a:t>
            </a:r>
            <a:br>
              <a:rPr lang="en-US" dirty="0"/>
            </a:br>
            <a:endParaRPr lang="en-US" dirty="0"/>
          </a:p>
        </p:txBody>
      </p:sp>
    </p:spTree>
    <p:extLst>
      <p:ext uri="{BB962C8B-B14F-4D97-AF65-F5344CB8AC3E}">
        <p14:creationId xmlns:p14="http://schemas.microsoft.com/office/powerpoint/2010/main" val="41987370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100" b="0" i="0" u="none" strike="noStrike" cap="none" dirty="0">
                <a:solidFill>
                  <a:srgbClr val="000000"/>
                </a:solidFill>
                <a:effectLst/>
                <a:latin typeface="Arial"/>
                <a:ea typeface="Arial"/>
                <a:cs typeface="Arial"/>
                <a:sym typeface="Arial"/>
              </a:rPr>
              <a:t>On the right is the result of the projection of the dataset onto each of these axes.</a:t>
            </a: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As you can see, the projection onto the solid line preserves the maximum variance (top), while the projection onto the dotted line preserves very little variance (bottom) and the projection onto the dashed line preserves an intermediate amount of variance (middle).</a:t>
            </a:r>
            <a:r>
              <a:rPr lang="en-US" dirty="0"/>
              <a:t> </a:t>
            </a:r>
            <a:br>
              <a:rPr lang="en-US" dirty="0"/>
            </a:br>
            <a:endParaRPr lang="en-US" dirty="0"/>
          </a:p>
        </p:txBody>
      </p:sp>
    </p:spTree>
    <p:extLst>
      <p:ext uri="{BB962C8B-B14F-4D97-AF65-F5344CB8AC3E}">
        <p14:creationId xmlns:p14="http://schemas.microsoft.com/office/powerpoint/2010/main" val="28507463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100" b="0" i="0" u="none" strike="noStrike" cap="none" dirty="0">
                <a:solidFill>
                  <a:srgbClr val="000000"/>
                </a:solidFill>
                <a:effectLst/>
                <a:latin typeface="Arial"/>
                <a:ea typeface="Arial"/>
                <a:cs typeface="Arial"/>
                <a:sym typeface="Arial"/>
              </a:rPr>
              <a:t>If it were a higher-dimensional dataset, PCA would also find a third axis, orthogonal to both previous axes, and a fourth, a fifth, and so on—as many axes as the number of dimensions in the dataset</a:t>
            </a:r>
            <a:r>
              <a:rPr lang="en-US" dirty="0"/>
              <a:t> </a:t>
            </a:r>
            <a:br>
              <a:rPr lang="en-US" dirty="0"/>
            </a:br>
            <a:endParaRPr lang="en-US" dirty="0"/>
          </a:p>
        </p:txBody>
      </p:sp>
    </p:spTree>
    <p:extLst>
      <p:ext uri="{BB962C8B-B14F-4D97-AF65-F5344CB8AC3E}">
        <p14:creationId xmlns:p14="http://schemas.microsoft.com/office/powerpoint/2010/main" val="42773565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100" b="0" i="0" u="none" strike="noStrike" cap="none" dirty="0">
                <a:solidFill>
                  <a:srgbClr val="000000"/>
                </a:solidFill>
                <a:effectLst/>
                <a:latin typeface="Arial"/>
                <a:ea typeface="Arial"/>
                <a:cs typeface="Arial"/>
                <a:sym typeface="Arial"/>
              </a:rPr>
              <a:t>In Figure 8-2 the first two PCs are on the projection plane, and the third PC is the axis orthogonal to that plane. After the projection, in Figure 8-3, the first</a:t>
            </a: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PC corresponds to the </a:t>
            </a:r>
            <a:r>
              <a:rPr lang="en-US" sz="1100" b="0" i="1" u="none" strike="noStrike" cap="none" dirty="0">
                <a:solidFill>
                  <a:srgbClr val="000000"/>
                </a:solidFill>
                <a:effectLst/>
                <a:latin typeface="Arial"/>
                <a:ea typeface="Arial"/>
                <a:cs typeface="Arial"/>
                <a:sym typeface="Arial"/>
              </a:rPr>
              <a:t>z</a:t>
            </a:r>
            <a:r>
              <a:rPr lang="en-US" sz="1100" b="0" i="0" u="none" strike="noStrike" cap="none" dirty="0">
                <a:solidFill>
                  <a:srgbClr val="000000"/>
                </a:solidFill>
                <a:effectLst/>
                <a:latin typeface="Arial"/>
                <a:ea typeface="Arial"/>
                <a:cs typeface="Arial"/>
                <a:sym typeface="Arial"/>
              </a:rPr>
              <a:t>1 axis, and the second PC corresponds to the </a:t>
            </a:r>
            <a:r>
              <a:rPr lang="en-US" sz="1100" b="0" i="1" u="none" strike="noStrike" cap="none" dirty="0">
                <a:solidFill>
                  <a:srgbClr val="000000"/>
                </a:solidFill>
                <a:effectLst/>
                <a:latin typeface="Arial"/>
                <a:ea typeface="Arial"/>
                <a:cs typeface="Arial"/>
                <a:sym typeface="Arial"/>
              </a:rPr>
              <a:t>z</a:t>
            </a:r>
            <a:r>
              <a:rPr lang="en-US" sz="1100" b="0" i="0" u="none" strike="noStrike" cap="none" dirty="0">
                <a:solidFill>
                  <a:srgbClr val="000000"/>
                </a:solidFill>
                <a:effectLst/>
                <a:latin typeface="Arial"/>
                <a:ea typeface="Arial"/>
                <a:cs typeface="Arial"/>
                <a:sym typeface="Arial"/>
              </a:rPr>
              <a:t>2 axis.</a:t>
            </a:r>
            <a:r>
              <a:rPr lang="en-US" dirty="0"/>
              <a:t> </a:t>
            </a:r>
            <a:br>
              <a:rPr lang="en-US" dirty="0"/>
            </a:br>
            <a:endParaRPr lang="en-US" dirty="0"/>
          </a:p>
        </p:txBody>
      </p:sp>
    </p:spTree>
    <p:extLst>
      <p:ext uri="{BB962C8B-B14F-4D97-AF65-F5344CB8AC3E}">
        <p14:creationId xmlns:p14="http://schemas.microsoft.com/office/powerpoint/2010/main" val="25255306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100" b="0" i="0" u="none" strike="noStrike" cap="none" dirty="0">
                <a:solidFill>
                  <a:srgbClr val="000000"/>
                </a:solidFill>
                <a:effectLst/>
                <a:latin typeface="Arial"/>
                <a:ea typeface="Arial"/>
                <a:cs typeface="Arial"/>
                <a:sym typeface="Arial"/>
              </a:rPr>
              <a:t>PCA assumes that the dataset is centered around the origin. As you will see, </a:t>
            </a:r>
            <a:r>
              <a:rPr lang="en-US" sz="1100" b="0" i="0" u="none" strike="noStrike" cap="none" dirty="0" err="1">
                <a:solidFill>
                  <a:srgbClr val="000000"/>
                </a:solidFill>
                <a:effectLst/>
                <a:latin typeface="Arial"/>
                <a:ea typeface="Arial"/>
                <a:cs typeface="Arial"/>
                <a:sym typeface="Arial"/>
              </a:rPr>
              <a:t>Scikit-Learn’s</a:t>
            </a:r>
            <a:r>
              <a:rPr lang="en-US" sz="1100" b="0" i="0" u="none" strike="noStrike" cap="none" dirty="0">
                <a:solidFill>
                  <a:srgbClr val="000000"/>
                </a:solidFill>
                <a:effectLst/>
                <a:latin typeface="Arial"/>
                <a:ea typeface="Arial"/>
                <a:cs typeface="Arial"/>
                <a:sym typeface="Arial"/>
              </a:rPr>
              <a:t> PCA classes take care of centering the data for you.</a:t>
            </a:r>
            <a:r>
              <a:rPr lang="en-US" dirty="0"/>
              <a:t> </a:t>
            </a:r>
          </a:p>
          <a:p>
            <a:r>
              <a:rPr lang="en-US" sz="1100" b="1" i="0" u="none" strike="noStrike" cap="none" dirty="0" err="1">
                <a:solidFill>
                  <a:srgbClr val="000000"/>
                </a:solidFill>
                <a:effectLst/>
                <a:latin typeface="Arial"/>
                <a:ea typeface="Arial"/>
                <a:cs typeface="Arial"/>
                <a:sym typeface="Arial"/>
              </a:rPr>
              <a:t>W</a:t>
            </a:r>
            <a:r>
              <a:rPr lang="en-US" sz="1100" b="0" i="1" u="none" strike="noStrike" cap="none" dirty="0" err="1">
                <a:solidFill>
                  <a:srgbClr val="000000"/>
                </a:solidFill>
                <a:effectLst/>
                <a:latin typeface="Arial"/>
                <a:ea typeface="Arial"/>
                <a:cs typeface="Arial"/>
                <a:sym typeface="Arial"/>
              </a:rPr>
              <a:t>d</a:t>
            </a:r>
            <a:r>
              <a:rPr lang="en-US" sz="1100" b="0" i="0" u="none" strike="noStrike" cap="none" dirty="0">
                <a:solidFill>
                  <a:srgbClr val="000000"/>
                </a:solidFill>
                <a:effectLst/>
                <a:latin typeface="Arial"/>
                <a:ea typeface="Arial"/>
                <a:cs typeface="Arial"/>
                <a:sym typeface="Arial"/>
              </a:rPr>
              <a:t>, defined as the matrix containing the first </a:t>
            </a:r>
            <a:r>
              <a:rPr lang="en-US" sz="1100" b="0" i="1" u="none" strike="noStrike" cap="none" dirty="0">
                <a:solidFill>
                  <a:srgbClr val="000000"/>
                </a:solidFill>
                <a:effectLst/>
                <a:latin typeface="Arial"/>
                <a:ea typeface="Arial"/>
                <a:cs typeface="Arial"/>
                <a:sym typeface="Arial"/>
              </a:rPr>
              <a:t>d </a:t>
            </a:r>
            <a:r>
              <a:rPr lang="en-US" sz="1100" b="0" i="0" u="none" strike="noStrike" cap="none" dirty="0">
                <a:solidFill>
                  <a:srgbClr val="000000"/>
                </a:solidFill>
                <a:effectLst/>
                <a:latin typeface="Arial"/>
                <a:ea typeface="Arial"/>
                <a:cs typeface="Arial"/>
                <a:sym typeface="Arial"/>
              </a:rPr>
              <a:t>columns of </a:t>
            </a:r>
            <a:r>
              <a:rPr lang="en-US" sz="1100" b="1" i="0" u="none" strike="noStrike" cap="none" dirty="0">
                <a:solidFill>
                  <a:srgbClr val="000000"/>
                </a:solidFill>
                <a:effectLst/>
                <a:latin typeface="Arial"/>
                <a:ea typeface="Arial"/>
                <a:cs typeface="Arial"/>
                <a:sym typeface="Arial"/>
              </a:rPr>
              <a:t>V</a:t>
            </a:r>
            <a:r>
              <a:rPr lang="en-US" dirty="0"/>
              <a:t> </a:t>
            </a:r>
            <a:br>
              <a:rPr lang="en-US" dirty="0"/>
            </a:br>
            <a:r>
              <a:rPr lang="en-US" dirty="0"/>
              <a:t>U , V are unitary: </a:t>
            </a:r>
            <a:r>
              <a:rPr lang="en-US" sz="1100" b="1" i="0" u="none" strike="noStrike" cap="none" dirty="0">
                <a:solidFill>
                  <a:srgbClr val="000000"/>
                </a:solidFill>
                <a:effectLst/>
                <a:latin typeface="Arial"/>
                <a:ea typeface="Arial"/>
                <a:cs typeface="Arial"/>
                <a:sym typeface="Arial"/>
              </a:rPr>
              <a:t>unitary</a:t>
            </a:r>
            <a:r>
              <a:rPr lang="en-US" sz="1100" b="0" i="0" u="none" strike="noStrike" cap="none" dirty="0">
                <a:solidFill>
                  <a:srgbClr val="000000"/>
                </a:solidFill>
                <a:effectLst/>
                <a:latin typeface="Arial"/>
                <a:ea typeface="Arial"/>
                <a:cs typeface="Arial"/>
                <a:sym typeface="Arial"/>
              </a:rPr>
              <a:t> if its </a:t>
            </a:r>
            <a:r>
              <a:rPr lang="en-US" sz="1100" b="0" i="0" u="none" strike="noStrike" cap="none" dirty="0">
                <a:solidFill>
                  <a:srgbClr val="000000"/>
                </a:solidFill>
                <a:effectLst/>
                <a:latin typeface="Arial"/>
                <a:ea typeface="Arial"/>
                <a:cs typeface="Arial"/>
                <a:sym typeface="Arial"/>
                <a:hlinkClick r:id="rId3" tooltip="Conjugate transpose"/>
              </a:rPr>
              <a:t>conjugate transpose</a:t>
            </a:r>
            <a:r>
              <a:rPr lang="en-US" sz="1100" b="0" i="0" u="none" strike="noStrike" cap="none" dirty="0">
                <a:solidFill>
                  <a:srgbClr val="000000"/>
                </a:solidFill>
                <a:effectLst/>
                <a:latin typeface="Arial"/>
                <a:ea typeface="Arial"/>
                <a:cs typeface="Arial"/>
                <a:sym typeface="Arial"/>
              </a:rPr>
              <a:t> </a:t>
            </a:r>
            <a:r>
              <a:rPr lang="en-US" sz="1100" b="0" i="1" u="none" strike="noStrike" cap="none" dirty="0">
                <a:solidFill>
                  <a:srgbClr val="000000"/>
                </a:solidFill>
                <a:effectLst/>
                <a:latin typeface="Arial"/>
                <a:ea typeface="Arial"/>
                <a:cs typeface="Arial"/>
                <a:sym typeface="Arial"/>
              </a:rPr>
              <a:t>U</a:t>
            </a:r>
            <a:r>
              <a:rPr lang="en-US" sz="1100" b="0" i="0" u="none" strike="noStrike" cap="none" baseline="30000" dirty="0">
                <a:solidFill>
                  <a:srgbClr val="000000"/>
                </a:solidFill>
                <a:effectLst/>
                <a:latin typeface="Arial"/>
                <a:ea typeface="Arial"/>
                <a:cs typeface="Arial"/>
                <a:sym typeface="Arial"/>
              </a:rPr>
              <a:t>*</a:t>
            </a:r>
            <a:r>
              <a:rPr lang="en-US" sz="1100" b="0" i="0" u="none" strike="noStrike" cap="none" dirty="0">
                <a:solidFill>
                  <a:srgbClr val="000000"/>
                </a:solidFill>
                <a:effectLst/>
                <a:latin typeface="Arial"/>
                <a:ea typeface="Arial"/>
                <a:cs typeface="Arial"/>
                <a:sym typeface="Arial"/>
              </a:rPr>
              <a:t> is also its </a:t>
            </a:r>
            <a:r>
              <a:rPr lang="en-US" sz="1100" b="0" i="0" u="none" strike="noStrike" cap="none" dirty="0">
                <a:solidFill>
                  <a:srgbClr val="000000"/>
                </a:solidFill>
                <a:effectLst/>
                <a:latin typeface="Arial"/>
                <a:ea typeface="Arial"/>
                <a:cs typeface="Arial"/>
                <a:sym typeface="Arial"/>
                <a:hlinkClick r:id="rId4" tooltip="Invertible matrix"/>
              </a:rPr>
              <a:t>inverse</a:t>
            </a:r>
            <a:r>
              <a:rPr lang="en-US" sz="1100" b="0" i="0" u="none" strike="noStrike" cap="none" dirty="0">
                <a:solidFill>
                  <a:srgbClr val="000000"/>
                </a:solidFill>
                <a:effectLst/>
                <a:latin typeface="Arial"/>
                <a:ea typeface="Arial"/>
                <a:cs typeface="Arial"/>
                <a:sym typeface="Arial"/>
              </a:rPr>
              <a:t>, that is, if</a:t>
            </a:r>
            <a:r>
              <a:rPr lang="en-US" sz="1100" b="0" i="0" u="none" strike="noStrike" cap="none" baseline="0" dirty="0">
                <a:solidFill>
                  <a:srgbClr val="000000"/>
                </a:solidFill>
                <a:effectLst/>
                <a:latin typeface="Arial"/>
                <a:ea typeface="Arial"/>
                <a:cs typeface="Arial"/>
                <a:sym typeface="Arial"/>
              </a:rPr>
              <a:t>  UU* = U*U = I</a:t>
            </a:r>
          </a:p>
          <a:p>
            <a:r>
              <a:rPr lang="en-US" sz="1100" b="0" i="0" u="none" strike="noStrike" cap="none" baseline="0" dirty="0">
                <a:solidFill>
                  <a:srgbClr val="000000"/>
                </a:solidFill>
                <a:effectLst/>
                <a:latin typeface="Arial"/>
                <a:cs typeface="Arial"/>
                <a:sym typeface="Arial"/>
              </a:rPr>
              <a:t>U: </a:t>
            </a:r>
            <a:r>
              <a:rPr lang="en-US" sz="1100" b="0" i="0" u="none" strike="noStrike" cap="none" baseline="0" dirty="0" err="1">
                <a:solidFill>
                  <a:srgbClr val="000000"/>
                </a:solidFill>
                <a:effectLst/>
                <a:latin typeface="Arial"/>
                <a:cs typeface="Arial"/>
                <a:sym typeface="Arial"/>
              </a:rPr>
              <a:t>mxm</a:t>
            </a:r>
            <a:r>
              <a:rPr lang="en-US" sz="1100" b="0" i="0" u="none" strike="noStrike" cap="none" baseline="0" dirty="0">
                <a:solidFill>
                  <a:srgbClr val="000000"/>
                </a:solidFill>
                <a:effectLst/>
                <a:latin typeface="Arial"/>
                <a:cs typeface="Arial"/>
                <a:sym typeface="Arial"/>
              </a:rPr>
              <a:t> , V: </a:t>
            </a:r>
            <a:r>
              <a:rPr lang="en-US" sz="1100" b="0" i="0" u="none" strike="noStrike" cap="none" baseline="0" dirty="0" err="1">
                <a:solidFill>
                  <a:srgbClr val="000000"/>
                </a:solidFill>
                <a:effectLst/>
                <a:latin typeface="Arial"/>
                <a:cs typeface="Arial"/>
                <a:sym typeface="Arial"/>
              </a:rPr>
              <a:t>nxn</a:t>
            </a:r>
            <a:r>
              <a:rPr lang="en-US" sz="1100" b="0" i="0" u="none" strike="noStrike" cap="none" baseline="0" dirty="0">
                <a:solidFill>
                  <a:srgbClr val="000000"/>
                </a:solidFill>
                <a:effectLst/>
                <a:latin typeface="Arial"/>
                <a:cs typeface="Arial"/>
                <a:sym typeface="Arial"/>
              </a:rPr>
              <a:t> , sigma : </a:t>
            </a:r>
            <a:r>
              <a:rPr lang="en-US" sz="1100" b="0" i="0" u="none" strike="noStrike" cap="none" baseline="0" dirty="0" err="1">
                <a:solidFill>
                  <a:srgbClr val="000000"/>
                </a:solidFill>
                <a:effectLst/>
                <a:latin typeface="Arial"/>
                <a:cs typeface="Arial"/>
                <a:sym typeface="Arial"/>
              </a:rPr>
              <a:t>mxn</a:t>
            </a:r>
            <a:br>
              <a:rPr lang="en-US" dirty="0"/>
            </a:br>
            <a:endParaRPr lang="en-US" dirty="0"/>
          </a:p>
        </p:txBody>
      </p:sp>
    </p:spTree>
    <p:extLst>
      <p:ext uri="{BB962C8B-B14F-4D97-AF65-F5344CB8AC3E}">
        <p14:creationId xmlns:p14="http://schemas.microsoft.com/office/powerpoint/2010/main" val="281756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1924018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100" b="0" i="0" u="none" strike="noStrike" cap="none" dirty="0">
                <a:solidFill>
                  <a:srgbClr val="000000"/>
                </a:solidFill>
                <a:effectLst/>
                <a:latin typeface="Arial"/>
                <a:ea typeface="Arial"/>
                <a:cs typeface="Arial"/>
                <a:sym typeface="Arial"/>
              </a:rPr>
              <a:t>This output tells us that about 76% of the dataset’s variance lies along the first PC, and about 15% lies along the second PC. This leaves about 9% for the third PC, so it is reasonable to assume that the third PC probably carries little information.</a:t>
            </a:r>
            <a:r>
              <a:rPr lang="en-US" dirty="0"/>
              <a:t> </a:t>
            </a:r>
            <a:br>
              <a:rPr lang="en-US" dirty="0"/>
            </a:br>
            <a:endParaRPr lang="en-US" dirty="0"/>
          </a:p>
        </p:txBody>
      </p:sp>
    </p:spTree>
    <p:extLst>
      <p:ext uri="{BB962C8B-B14F-4D97-AF65-F5344CB8AC3E}">
        <p14:creationId xmlns:p14="http://schemas.microsoft.com/office/powerpoint/2010/main" val="19749206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100" dirty="0"/>
              <a:t>(An exception to this rule, of course, is if you are reducing dimensionality for data visualization, in which case you will want to reduce the dimensionality down to 2 or 3). </a:t>
            </a:r>
            <a:br>
              <a:rPr lang="en-US" sz="1100" dirty="0"/>
            </a:br>
            <a:r>
              <a:rPr lang="en-US" sz="1100" b="0" i="0" u="none" strike="noStrike" cap="none" dirty="0">
                <a:solidFill>
                  <a:srgbClr val="000000"/>
                </a:solidFill>
                <a:effectLst/>
                <a:latin typeface="Arial"/>
                <a:ea typeface="Arial"/>
                <a:cs typeface="Arial"/>
                <a:sym typeface="Arial"/>
              </a:rPr>
              <a:t>The following code loads and splits the MNIST dataset and performs PCA without reducing dimensionality, then computes the minimum</a:t>
            </a:r>
            <a:r>
              <a:rPr lang="en-US" sz="1100" b="0" i="0" u="none" strike="noStrike" cap="none" baseline="0" dirty="0">
                <a:solidFill>
                  <a:srgbClr val="000000"/>
                </a:solidFill>
                <a:effectLst/>
                <a:latin typeface="Arial"/>
                <a:ea typeface="Arial"/>
                <a:cs typeface="Arial"/>
                <a:sym typeface="Arial"/>
              </a:rPr>
              <a:t> </a:t>
            </a:r>
            <a:r>
              <a:rPr lang="en-US" sz="1100" b="0" i="0" u="none" strike="noStrike" cap="none" dirty="0">
                <a:solidFill>
                  <a:srgbClr val="000000"/>
                </a:solidFill>
                <a:effectLst/>
                <a:latin typeface="Arial"/>
                <a:ea typeface="Arial"/>
                <a:cs typeface="Arial"/>
                <a:sym typeface="Arial"/>
              </a:rPr>
              <a:t>number of dimensions required to preserve 95% of the training set’s variance</a:t>
            </a:r>
            <a:r>
              <a:rPr lang="en-US" sz="1200" dirty="0"/>
              <a:t> </a:t>
            </a:r>
          </a:p>
          <a:p>
            <a:r>
              <a:rPr lang="en-US" sz="1100" b="0" i="0" u="none" strike="noStrike" cap="none" dirty="0">
                <a:solidFill>
                  <a:srgbClr val="000000"/>
                </a:solidFill>
                <a:effectLst/>
                <a:latin typeface="Arial"/>
                <a:ea typeface="Arial"/>
                <a:cs typeface="Arial"/>
                <a:sym typeface="Arial"/>
              </a:rPr>
              <a:t>Return the cumulative sum of the elements along a given axis: </a:t>
            </a:r>
          </a:p>
          <a:p>
            <a:r>
              <a:rPr lang="en-US" sz="1200" dirty="0" err="1">
                <a:solidFill>
                  <a:srgbClr val="000000"/>
                </a:solidFill>
                <a:effectLst/>
              </a:rPr>
              <a:t>np</a:t>
            </a:r>
            <a:r>
              <a:rPr lang="en-US" sz="1100" b="1" i="0" u="none" strike="noStrike" cap="none" dirty="0" err="1">
                <a:solidFill>
                  <a:srgbClr val="000000"/>
                </a:solidFill>
                <a:effectLst/>
                <a:latin typeface="Arial"/>
                <a:ea typeface="Arial"/>
                <a:cs typeface="Arial"/>
                <a:sym typeface="Arial"/>
              </a:rPr>
              <a:t>.</a:t>
            </a:r>
            <a:r>
              <a:rPr lang="en-US" sz="1200" dirty="0" err="1">
                <a:solidFill>
                  <a:srgbClr val="000000"/>
                </a:solidFill>
                <a:effectLst/>
              </a:rPr>
              <a:t>array</a:t>
            </a:r>
            <a:r>
              <a:rPr lang="en-US" sz="1200" b="1" dirty="0">
                <a:solidFill>
                  <a:srgbClr val="000000"/>
                </a:solidFill>
                <a:effectLst/>
              </a:rPr>
              <a:t>([[</a:t>
            </a:r>
            <a:r>
              <a:rPr lang="en-US" sz="1100" b="1" i="0" u="none" strike="noStrike" cap="none" dirty="0">
                <a:solidFill>
                  <a:srgbClr val="000000"/>
                </a:solidFill>
                <a:effectLst/>
                <a:latin typeface="Arial"/>
                <a:ea typeface="Arial"/>
                <a:cs typeface="Arial"/>
                <a:sym typeface="Arial"/>
              </a:rPr>
              <a:t>1</a:t>
            </a:r>
            <a:r>
              <a:rPr lang="en-US" sz="1200" b="1" dirty="0">
                <a:solidFill>
                  <a:srgbClr val="000000"/>
                </a:solidFill>
                <a:effectLst/>
              </a:rPr>
              <a:t>,</a:t>
            </a:r>
            <a:r>
              <a:rPr lang="en-US" sz="1100" b="1" i="0" u="none" strike="noStrike" cap="none" dirty="0">
                <a:solidFill>
                  <a:srgbClr val="000000"/>
                </a:solidFill>
                <a:effectLst/>
                <a:latin typeface="Arial"/>
                <a:ea typeface="Arial"/>
                <a:cs typeface="Arial"/>
                <a:sym typeface="Arial"/>
              </a:rPr>
              <a:t>2</a:t>
            </a:r>
            <a:r>
              <a:rPr lang="en-US" sz="1200" b="1" dirty="0">
                <a:solidFill>
                  <a:srgbClr val="000000"/>
                </a:solidFill>
                <a:effectLst/>
              </a:rPr>
              <a:t>,</a:t>
            </a:r>
            <a:r>
              <a:rPr lang="en-US" sz="1100" b="1" i="0" u="none" strike="noStrike" cap="none" dirty="0">
                <a:solidFill>
                  <a:srgbClr val="000000"/>
                </a:solidFill>
                <a:effectLst/>
                <a:latin typeface="Arial"/>
                <a:ea typeface="Arial"/>
                <a:cs typeface="Arial"/>
                <a:sym typeface="Arial"/>
              </a:rPr>
              <a:t>3</a:t>
            </a:r>
            <a:r>
              <a:rPr lang="en-US" sz="1200" b="1" dirty="0">
                <a:solidFill>
                  <a:srgbClr val="000000"/>
                </a:solidFill>
                <a:effectLst/>
              </a:rPr>
              <a:t>],</a:t>
            </a:r>
            <a:r>
              <a:rPr lang="en-US" sz="1200" dirty="0"/>
              <a:t> </a:t>
            </a:r>
            <a:r>
              <a:rPr lang="en-US" sz="1200" b="1" dirty="0">
                <a:solidFill>
                  <a:srgbClr val="000000"/>
                </a:solidFill>
                <a:effectLst/>
              </a:rPr>
              <a:t>[</a:t>
            </a:r>
            <a:r>
              <a:rPr lang="en-US" sz="1100" b="1" i="0" u="none" strike="noStrike" cap="none" dirty="0">
                <a:solidFill>
                  <a:srgbClr val="000000"/>
                </a:solidFill>
                <a:effectLst/>
                <a:latin typeface="Arial"/>
                <a:ea typeface="Arial"/>
                <a:cs typeface="Arial"/>
                <a:sym typeface="Arial"/>
              </a:rPr>
              <a:t>4</a:t>
            </a:r>
            <a:r>
              <a:rPr lang="en-US" sz="1200" b="1" dirty="0">
                <a:solidFill>
                  <a:srgbClr val="000000"/>
                </a:solidFill>
                <a:effectLst/>
              </a:rPr>
              <a:t>,</a:t>
            </a:r>
            <a:r>
              <a:rPr lang="en-US" sz="1100" b="1" i="0" u="none" strike="noStrike" cap="none" dirty="0">
                <a:solidFill>
                  <a:srgbClr val="000000"/>
                </a:solidFill>
                <a:effectLst/>
                <a:latin typeface="Arial"/>
                <a:ea typeface="Arial"/>
                <a:cs typeface="Arial"/>
                <a:sym typeface="Arial"/>
              </a:rPr>
              <a:t>5</a:t>
            </a:r>
            <a:r>
              <a:rPr lang="en-US" sz="1200" b="1" dirty="0">
                <a:solidFill>
                  <a:srgbClr val="000000"/>
                </a:solidFill>
                <a:effectLst/>
              </a:rPr>
              <a:t>,</a:t>
            </a:r>
            <a:r>
              <a:rPr lang="en-US" sz="1100" b="1" i="0" u="none" strike="noStrike" cap="none" dirty="0">
                <a:solidFill>
                  <a:srgbClr val="000000"/>
                </a:solidFill>
                <a:effectLst/>
                <a:latin typeface="Arial"/>
                <a:ea typeface="Arial"/>
                <a:cs typeface="Arial"/>
                <a:sym typeface="Arial"/>
              </a:rPr>
              <a:t>6</a:t>
            </a:r>
            <a:r>
              <a:rPr lang="en-US" sz="1200" b="1" dirty="0">
                <a:solidFill>
                  <a:srgbClr val="000000"/>
                </a:solidFill>
                <a:effectLst/>
              </a:rPr>
              <a:t>]])</a:t>
            </a:r>
            <a:r>
              <a:rPr lang="en-US" sz="1200" dirty="0"/>
              <a:t> </a:t>
            </a:r>
          </a:p>
          <a:p>
            <a:r>
              <a:rPr lang="en-US" sz="1100" b="0" i="0" u="none" strike="noStrike" cap="none" dirty="0">
                <a:solidFill>
                  <a:srgbClr val="000000"/>
                </a:solidFill>
                <a:effectLst/>
                <a:latin typeface="Arial"/>
                <a:ea typeface="Arial"/>
                <a:cs typeface="Arial"/>
                <a:sym typeface="Arial"/>
              </a:rPr>
              <a:t>&gt;&gt;&gt; </a:t>
            </a:r>
            <a:r>
              <a:rPr lang="en-US" sz="1200" dirty="0">
                <a:solidFill>
                  <a:srgbClr val="000000"/>
                </a:solidFill>
                <a:effectLst/>
              </a:rPr>
              <a:t>a</a:t>
            </a:r>
            <a:r>
              <a:rPr lang="en-US" sz="1200" dirty="0"/>
              <a:t> </a:t>
            </a:r>
            <a:r>
              <a:rPr lang="en-US" sz="1200" i="1" dirty="0">
                <a:solidFill>
                  <a:srgbClr val="000000"/>
                </a:solidFill>
                <a:effectLst/>
              </a:rPr>
              <a:t>array([[1, 2, 3],</a:t>
            </a:r>
            <a:r>
              <a:rPr lang="en-US" sz="1200" dirty="0"/>
              <a:t> </a:t>
            </a:r>
            <a:r>
              <a:rPr lang="en-US" sz="1200" i="1" dirty="0">
                <a:solidFill>
                  <a:srgbClr val="000000"/>
                </a:solidFill>
                <a:effectLst/>
              </a:rPr>
              <a:t>[4, 5, 6]])</a:t>
            </a:r>
            <a:r>
              <a:rPr lang="en-US" sz="1200" dirty="0"/>
              <a:t> </a:t>
            </a:r>
          </a:p>
          <a:p>
            <a:r>
              <a:rPr lang="en-US" sz="1100" b="0" i="0" u="none" strike="noStrike" cap="none" dirty="0">
                <a:solidFill>
                  <a:srgbClr val="000000"/>
                </a:solidFill>
                <a:effectLst/>
                <a:latin typeface="Arial"/>
                <a:ea typeface="Arial"/>
                <a:cs typeface="Arial"/>
                <a:sym typeface="Arial"/>
              </a:rPr>
              <a:t>&gt;&gt;&gt; </a:t>
            </a:r>
            <a:r>
              <a:rPr lang="en-US" sz="1200" dirty="0" err="1">
                <a:solidFill>
                  <a:srgbClr val="000000"/>
                </a:solidFill>
                <a:effectLst/>
              </a:rPr>
              <a:t>np</a:t>
            </a:r>
            <a:r>
              <a:rPr lang="en-US" sz="1100" b="1" i="0" u="none" strike="noStrike" cap="none" dirty="0" err="1">
                <a:solidFill>
                  <a:srgbClr val="000000"/>
                </a:solidFill>
                <a:effectLst/>
                <a:latin typeface="Arial"/>
                <a:ea typeface="Arial"/>
                <a:cs typeface="Arial"/>
                <a:sym typeface="Arial"/>
              </a:rPr>
              <a:t>.</a:t>
            </a:r>
            <a:r>
              <a:rPr lang="en-US" sz="1200" dirty="0" err="1">
                <a:solidFill>
                  <a:srgbClr val="000000"/>
                </a:solidFill>
                <a:effectLst/>
              </a:rPr>
              <a:t>cumsum</a:t>
            </a:r>
            <a:r>
              <a:rPr lang="en-US" sz="1200" b="1" dirty="0">
                <a:solidFill>
                  <a:srgbClr val="000000"/>
                </a:solidFill>
                <a:effectLst/>
              </a:rPr>
              <a:t>(</a:t>
            </a:r>
            <a:r>
              <a:rPr lang="en-US" sz="1200" dirty="0">
                <a:solidFill>
                  <a:srgbClr val="000000"/>
                </a:solidFill>
                <a:effectLst/>
              </a:rPr>
              <a:t>a</a:t>
            </a:r>
            <a:r>
              <a:rPr lang="en-US" sz="1200" b="1" dirty="0">
                <a:solidFill>
                  <a:srgbClr val="000000"/>
                </a:solidFill>
                <a:effectLst/>
              </a:rPr>
              <a:t>)</a:t>
            </a:r>
            <a:r>
              <a:rPr lang="en-US" sz="1200" dirty="0"/>
              <a:t> </a:t>
            </a:r>
            <a:r>
              <a:rPr lang="en-US" sz="1200" i="1" dirty="0">
                <a:solidFill>
                  <a:srgbClr val="000000"/>
                </a:solidFill>
                <a:effectLst/>
              </a:rPr>
              <a:t>array([ 1, 3, 6, 10, 15, 21])</a:t>
            </a:r>
            <a:br>
              <a:rPr lang="en-US" sz="1200" dirty="0"/>
            </a:br>
            <a:endParaRPr lang="en-US" sz="1200" dirty="0">
              <a:solidFill>
                <a:schemeClr val="tx2">
                  <a:lumMod val="10000"/>
                </a:schemeClr>
              </a:solidFill>
            </a:endParaRPr>
          </a:p>
        </p:txBody>
      </p:sp>
    </p:spTree>
    <p:extLst>
      <p:ext uri="{BB962C8B-B14F-4D97-AF65-F5344CB8AC3E}">
        <p14:creationId xmlns:p14="http://schemas.microsoft.com/office/powerpoint/2010/main" val="20193849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200" dirty="0">
              <a:solidFill>
                <a:schemeClr val="tx2">
                  <a:lumMod val="10000"/>
                </a:schemeClr>
              </a:solidFill>
            </a:endParaRPr>
          </a:p>
        </p:txBody>
      </p:sp>
    </p:spTree>
    <p:extLst>
      <p:ext uri="{BB962C8B-B14F-4D97-AF65-F5344CB8AC3E}">
        <p14:creationId xmlns:p14="http://schemas.microsoft.com/office/powerpoint/2010/main" val="39654646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100" dirty="0"/>
              <a:t>In this case, you can see that reducing the dimensionality down to about 100 dimensions wouldn’t lose too much explained variance. </a:t>
            </a:r>
            <a:br>
              <a:rPr lang="en-US" sz="1100" dirty="0"/>
            </a:br>
            <a:endParaRPr lang="en-US" sz="1200" dirty="0">
              <a:solidFill>
                <a:schemeClr val="tx2">
                  <a:lumMod val="10000"/>
                </a:schemeClr>
              </a:solidFill>
            </a:endParaRPr>
          </a:p>
        </p:txBody>
      </p:sp>
    </p:spTree>
    <p:extLst>
      <p:ext uri="{BB962C8B-B14F-4D97-AF65-F5344CB8AC3E}">
        <p14:creationId xmlns:p14="http://schemas.microsoft.com/office/powerpoint/2010/main" val="4678091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100" b="0" i="0" u="none" strike="noStrike" cap="none" dirty="0">
                <a:solidFill>
                  <a:srgbClr val="000000"/>
                </a:solidFill>
                <a:effectLst/>
                <a:latin typeface="Arial"/>
                <a:ea typeface="Arial"/>
                <a:cs typeface="Arial"/>
                <a:sym typeface="Arial"/>
              </a:rPr>
              <a:t>For example, the following code example creates a two-step pipeline, first reducing dimensionality using PCA,</a:t>
            </a:r>
            <a:r>
              <a:rPr lang="en-US" sz="1100" b="0" i="0" u="none" strike="noStrike" cap="none" baseline="0" dirty="0">
                <a:solidFill>
                  <a:srgbClr val="000000"/>
                </a:solidFill>
                <a:effectLst/>
                <a:latin typeface="Arial"/>
                <a:ea typeface="Arial"/>
                <a:cs typeface="Arial"/>
                <a:sym typeface="Arial"/>
              </a:rPr>
              <a:t> </a:t>
            </a:r>
            <a:r>
              <a:rPr lang="en-US" sz="1100" b="0" i="0" u="none" strike="noStrike" cap="none" dirty="0">
                <a:solidFill>
                  <a:srgbClr val="000000"/>
                </a:solidFill>
                <a:effectLst/>
                <a:latin typeface="Arial"/>
                <a:ea typeface="Arial"/>
                <a:cs typeface="Arial"/>
                <a:sym typeface="Arial"/>
              </a:rPr>
              <a:t>then classifying using a random forest. Next, it uses </a:t>
            </a:r>
            <a:r>
              <a:rPr lang="en-US" sz="1100" b="0" i="0" u="none" strike="noStrike" cap="none" dirty="0" err="1">
                <a:solidFill>
                  <a:srgbClr val="000000"/>
                </a:solidFill>
                <a:effectLst/>
                <a:latin typeface="Arial"/>
                <a:ea typeface="Arial"/>
                <a:cs typeface="Arial"/>
                <a:sym typeface="Arial"/>
              </a:rPr>
              <a:t>RandomizedSearchCV</a:t>
            </a:r>
            <a:r>
              <a:rPr lang="en-US" sz="1100" b="0" i="0" u="none" strike="noStrike" cap="none" dirty="0">
                <a:solidFill>
                  <a:srgbClr val="000000"/>
                </a:solidFill>
                <a:effectLst/>
                <a:latin typeface="Arial"/>
                <a:ea typeface="Arial"/>
                <a:cs typeface="Arial"/>
                <a:sym typeface="Arial"/>
              </a:rPr>
              <a:t> to find a good combination of </a:t>
            </a:r>
            <a:r>
              <a:rPr lang="en-US" sz="1100" b="0" i="0" u="none" strike="noStrike" cap="none" dirty="0" err="1">
                <a:solidFill>
                  <a:srgbClr val="000000"/>
                </a:solidFill>
                <a:effectLst/>
                <a:latin typeface="Arial"/>
                <a:ea typeface="Arial"/>
                <a:cs typeface="Arial"/>
                <a:sym typeface="Arial"/>
              </a:rPr>
              <a:t>hyperparameters</a:t>
            </a:r>
            <a:r>
              <a:rPr lang="en-US" sz="1100" b="0" i="0" u="none" strike="noStrike" cap="none" dirty="0">
                <a:solidFill>
                  <a:srgbClr val="000000"/>
                </a:solidFill>
                <a:effectLst/>
                <a:latin typeface="Arial"/>
                <a:ea typeface="Arial"/>
                <a:cs typeface="Arial"/>
                <a:sym typeface="Arial"/>
              </a:rPr>
              <a:t> for both PCA and the random forest classifier. This example does a quick search, tuning only 2 </a:t>
            </a:r>
            <a:r>
              <a:rPr lang="en-US" sz="1100" b="0" i="0" u="none" strike="noStrike" cap="none" dirty="0" err="1">
                <a:solidFill>
                  <a:srgbClr val="000000"/>
                </a:solidFill>
                <a:effectLst/>
                <a:latin typeface="Arial"/>
                <a:ea typeface="Arial"/>
                <a:cs typeface="Arial"/>
                <a:sym typeface="Arial"/>
              </a:rPr>
              <a:t>hyperparameters</a:t>
            </a:r>
            <a:r>
              <a:rPr lang="en-US" sz="1100" b="0" i="0" u="none" strike="noStrike" cap="none" dirty="0">
                <a:solidFill>
                  <a:srgbClr val="000000"/>
                </a:solidFill>
                <a:effectLst/>
                <a:latin typeface="Arial"/>
                <a:ea typeface="Arial"/>
                <a:cs typeface="Arial"/>
                <a:sym typeface="Arial"/>
              </a:rPr>
              <a:t>, training on just 1,000 instances, and running for just 10 iterations,</a:t>
            </a:r>
            <a:r>
              <a:rPr lang="en-US" dirty="0"/>
              <a:t> </a:t>
            </a:r>
          </a:p>
          <a:p>
            <a:r>
              <a:rPr lang="en-US" sz="1100" b="0" i="0" u="none" strike="noStrike" cap="none" dirty="0">
                <a:solidFill>
                  <a:srgbClr val="000000"/>
                </a:solidFill>
                <a:effectLst/>
                <a:latin typeface="Arial"/>
                <a:ea typeface="Arial"/>
                <a:cs typeface="Arial"/>
                <a:sym typeface="Arial"/>
              </a:rPr>
              <a:t>the optimal number of components is: we reduced a </a:t>
            </a:r>
            <a:r>
              <a:rPr lang="en-US" sz="1100" b="1" i="0" u="none" strike="noStrike" cap="none" dirty="0">
                <a:solidFill>
                  <a:srgbClr val="000000"/>
                </a:solidFill>
                <a:effectLst/>
                <a:latin typeface="Arial"/>
                <a:ea typeface="Arial"/>
                <a:cs typeface="Arial"/>
                <a:sym typeface="Arial"/>
              </a:rPr>
              <a:t>784-dimensional dataset to just 23 dimensions</a:t>
            </a:r>
            <a:r>
              <a:rPr lang="en-US" sz="1100" b="0" i="0" u="none" strike="noStrike" cap="none" dirty="0">
                <a:solidFill>
                  <a:srgbClr val="000000"/>
                </a:solidFill>
                <a:effectLst/>
                <a:latin typeface="Arial"/>
                <a:ea typeface="Arial"/>
                <a:cs typeface="Arial"/>
                <a:sym typeface="Arial"/>
              </a:rPr>
              <a:t>! This is tied to the fact that we used a random forest, which is a pretty powerful model.</a:t>
            </a:r>
            <a:br>
              <a:rPr lang="en-US" dirty="0"/>
            </a:br>
            <a:r>
              <a:rPr lang="en-US" sz="1100" b="0" i="0" u="none" strike="noStrike" cap="none" dirty="0">
                <a:solidFill>
                  <a:srgbClr val="000000"/>
                </a:solidFill>
                <a:effectLst/>
                <a:latin typeface="Arial"/>
                <a:ea typeface="Arial"/>
                <a:cs typeface="Arial"/>
                <a:sym typeface="Arial"/>
              </a:rPr>
              <a:t>If we used a linear model instead</a:t>
            </a:r>
            <a:r>
              <a:rPr lang="en-US" dirty="0"/>
              <a:t> </a:t>
            </a:r>
            <a:r>
              <a:rPr lang="en-US" sz="1100" b="0" i="0" u="none" strike="noStrike" cap="none" dirty="0">
                <a:solidFill>
                  <a:srgbClr val="000000"/>
                </a:solidFill>
                <a:effectLst/>
                <a:latin typeface="Arial"/>
                <a:ea typeface="Arial"/>
                <a:cs typeface="Arial"/>
                <a:sym typeface="Arial"/>
              </a:rPr>
              <a:t>such as an </a:t>
            </a:r>
            <a:r>
              <a:rPr lang="en-US" sz="1100" b="0" i="0" u="none" strike="noStrike" cap="none" dirty="0" err="1">
                <a:solidFill>
                  <a:srgbClr val="000000"/>
                </a:solidFill>
                <a:effectLst/>
                <a:latin typeface="Arial"/>
                <a:ea typeface="Arial"/>
                <a:cs typeface="Arial"/>
                <a:sym typeface="Arial"/>
              </a:rPr>
              <a:t>SGDClassifier</a:t>
            </a:r>
            <a:r>
              <a:rPr lang="en-US" sz="1100" b="0" i="0" u="none" strike="noStrike" cap="none" dirty="0">
                <a:solidFill>
                  <a:srgbClr val="000000"/>
                </a:solidFill>
                <a:effectLst/>
                <a:latin typeface="Arial"/>
                <a:ea typeface="Arial"/>
                <a:cs typeface="Arial"/>
                <a:sym typeface="Arial"/>
              </a:rPr>
              <a:t>, the search would find that we need to preserve more dimensions (about 70).</a:t>
            </a:r>
            <a:r>
              <a:rPr lang="en-US" dirty="0"/>
              <a:t> </a:t>
            </a:r>
            <a:br>
              <a:rPr lang="en-US" dirty="0"/>
            </a:br>
            <a:br>
              <a:rPr lang="en-US" dirty="0"/>
            </a:br>
            <a:br>
              <a:rPr lang="en-US" dirty="0"/>
            </a:br>
            <a:endParaRPr lang="en-US" sz="1200" dirty="0">
              <a:solidFill>
                <a:schemeClr val="tx2">
                  <a:lumMod val="10000"/>
                </a:schemeClr>
              </a:solidFill>
            </a:endParaRPr>
          </a:p>
        </p:txBody>
      </p:sp>
    </p:spTree>
    <p:extLst>
      <p:ext uri="{BB962C8B-B14F-4D97-AF65-F5344CB8AC3E}">
        <p14:creationId xmlns:p14="http://schemas.microsoft.com/office/powerpoint/2010/main" val="22853598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For example, after applying PCA to the MNIST dataset while preserving 95% of its variance,</a:t>
            </a:r>
            <a:r>
              <a:rPr lang="en-US" baseline="0" dirty="0"/>
              <a:t> </a:t>
            </a:r>
            <a:r>
              <a:rPr lang="en-US" dirty="0"/>
              <a:t>we are left with 154 features, instead of the original 784 features. </a:t>
            </a:r>
          </a:p>
          <a:p>
            <a:r>
              <a:rPr lang="en-US" dirty="0"/>
              <a:t>This won’t give you back the original data, since the projection lost a bit of information (within the 5% variance that was dropped), but it will likely be close to the original data. </a:t>
            </a:r>
          </a:p>
        </p:txBody>
      </p:sp>
    </p:spTree>
    <p:extLst>
      <p:ext uri="{BB962C8B-B14F-4D97-AF65-F5344CB8AC3E}">
        <p14:creationId xmlns:p14="http://schemas.microsoft.com/office/powerpoint/2010/main" val="38196095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100" b="0" i="0" u="none" strike="noStrike" cap="none" dirty="0">
                <a:solidFill>
                  <a:srgbClr val="000000"/>
                </a:solidFill>
                <a:effectLst/>
                <a:latin typeface="Arial"/>
                <a:ea typeface="Arial"/>
                <a:cs typeface="Arial"/>
                <a:sym typeface="Arial"/>
              </a:rPr>
              <a:t>shows a few digits from the original training set (on the left), and the corresponding digits after compression and decompression. You can see that there is</a:t>
            </a: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a slight image quality loss, but the digits are still mostly intact.</a:t>
            </a:r>
            <a:r>
              <a:rPr lang="en-US" dirty="0"/>
              <a:t> </a:t>
            </a:r>
            <a:br>
              <a:rPr lang="en-US" dirty="0"/>
            </a:br>
            <a:endParaRPr lang="en-US" dirty="0"/>
          </a:p>
        </p:txBody>
      </p:sp>
    </p:spTree>
    <p:extLst>
      <p:ext uri="{BB962C8B-B14F-4D97-AF65-F5344CB8AC3E}">
        <p14:creationId xmlns:p14="http://schemas.microsoft.com/office/powerpoint/2010/main" val="312667344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100" b="0" i="0" u="none" strike="noStrike" cap="none" dirty="0">
                <a:solidFill>
                  <a:srgbClr val="000000"/>
                </a:solidFill>
                <a:effectLst/>
                <a:latin typeface="Arial"/>
                <a:ea typeface="Arial"/>
                <a:cs typeface="Arial"/>
                <a:sym typeface="Arial"/>
              </a:rPr>
              <a:t>So the preceding code</a:t>
            </a:r>
            <a:r>
              <a:rPr lang="en-US" sz="1100" b="0" i="0" u="none" strike="noStrike" cap="none" baseline="0" dirty="0">
                <a:solidFill>
                  <a:srgbClr val="000000"/>
                </a:solidFill>
                <a:effectLst/>
                <a:latin typeface="Arial"/>
                <a:ea typeface="Arial"/>
                <a:cs typeface="Arial"/>
                <a:sym typeface="Arial"/>
              </a:rPr>
              <a:t> </a:t>
            </a:r>
            <a:r>
              <a:rPr lang="en-US" sz="1100" b="0" i="0" u="none" strike="noStrike" cap="none" dirty="0">
                <a:solidFill>
                  <a:srgbClr val="000000"/>
                </a:solidFill>
                <a:effectLst/>
                <a:latin typeface="Arial"/>
                <a:ea typeface="Arial"/>
                <a:cs typeface="Arial"/>
                <a:sym typeface="Arial"/>
              </a:rPr>
              <a:t>would use the randomized PCA algorithm even if you removed the </a:t>
            </a:r>
            <a:r>
              <a:rPr lang="en-US" sz="1100" b="0" i="0" u="none" strike="noStrike" cap="none" dirty="0" err="1">
                <a:solidFill>
                  <a:srgbClr val="000000"/>
                </a:solidFill>
                <a:effectLst/>
                <a:latin typeface="Arial"/>
                <a:ea typeface="Arial"/>
                <a:cs typeface="Arial"/>
                <a:sym typeface="Arial"/>
              </a:rPr>
              <a:t>svd_solver</a:t>
            </a:r>
            <a:r>
              <a:rPr lang="en-US" sz="1100" b="0" i="0" u="none" strike="noStrike" cap="none" dirty="0">
                <a:solidFill>
                  <a:srgbClr val="000000"/>
                </a:solidFill>
                <a:effectLst/>
                <a:latin typeface="Arial"/>
                <a:ea typeface="Arial"/>
                <a:cs typeface="Arial"/>
                <a:sym typeface="Arial"/>
              </a:rPr>
              <a:t>="randomized" argument, since 154 &lt; 0.8 × 784.</a:t>
            </a: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If you want to force </a:t>
            </a:r>
            <a:r>
              <a:rPr lang="en-US" sz="1100" b="0" i="0" u="none" strike="noStrike" cap="none" dirty="0" err="1">
                <a:solidFill>
                  <a:srgbClr val="000000"/>
                </a:solidFill>
                <a:effectLst/>
                <a:latin typeface="Arial"/>
                <a:ea typeface="Arial"/>
                <a:cs typeface="Arial"/>
                <a:sym typeface="Arial"/>
              </a:rPr>
              <a:t>Scikit</a:t>
            </a:r>
            <a:r>
              <a:rPr lang="en-US" sz="1100" b="0" i="0" u="none" strike="noStrike" cap="none" dirty="0">
                <a:solidFill>
                  <a:srgbClr val="000000"/>
                </a:solidFill>
                <a:effectLst/>
                <a:latin typeface="Arial"/>
                <a:ea typeface="Arial"/>
                <a:cs typeface="Arial"/>
                <a:sym typeface="Arial"/>
              </a:rPr>
              <a:t>-Learn to use full SVD for a slightly more precise result, you can set the </a:t>
            </a:r>
            <a:r>
              <a:rPr lang="en-US" sz="1100" b="0" i="0" u="none" strike="noStrike" cap="none" dirty="0" err="1">
                <a:solidFill>
                  <a:srgbClr val="000000"/>
                </a:solidFill>
                <a:effectLst/>
                <a:latin typeface="Arial"/>
                <a:ea typeface="Arial"/>
                <a:cs typeface="Arial"/>
                <a:sym typeface="Arial"/>
              </a:rPr>
              <a:t>svd_solver</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hyperparameter</a:t>
            </a:r>
            <a:r>
              <a:rPr lang="en-US" sz="1100" b="0" i="0" u="none" strike="noStrike" cap="none" dirty="0">
                <a:solidFill>
                  <a:srgbClr val="000000"/>
                </a:solidFill>
                <a:effectLst/>
                <a:latin typeface="Arial"/>
                <a:ea typeface="Arial"/>
                <a:cs typeface="Arial"/>
                <a:sym typeface="Arial"/>
              </a:rPr>
              <a:t> to "full".</a:t>
            </a:r>
            <a:r>
              <a:rPr lang="en-US" dirty="0"/>
              <a:t> </a:t>
            </a:r>
            <a:br>
              <a:rPr lang="en-US" dirty="0"/>
            </a:br>
            <a:endParaRPr lang="en-US" dirty="0"/>
          </a:p>
        </p:txBody>
      </p:sp>
    </p:spTree>
    <p:extLst>
      <p:ext uri="{BB962C8B-B14F-4D97-AF65-F5344CB8AC3E}">
        <p14:creationId xmlns:p14="http://schemas.microsoft.com/office/powerpoint/2010/main" val="9785386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100" b="0" i="0" u="none" strike="noStrike" cap="none" dirty="0">
                <a:solidFill>
                  <a:srgbClr val="000000"/>
                </a:solidFill>
                <a:effectLst/>
                <a:latin typeface="Arial"/>
                <a:ea typeface="Arial"/>
                <a:cs typeface="Arial"/>
                <a:sym typeface="Arial"/>
              </a:rPr>
              <a:t>The following code splits the MNIST training set into 100 mini-batches (using </a:t>
            </a:r>
            <a:r>
              <a:rPr lang="en-US" sz="1100" b="0" i="0" u="none" strike="noStrike" cap="none" dirty="0" err="1">
                <a:solidFill>
                  <a:srgbClr val="000000"/>
                </a:solidFill>
                <a:effectLst/>
                <a:latin typeface="Arial"/>
                <a:ea typeface="Arial"/>
                <a:cs typeface="Arial"/>
                <a:sym typeface="Arial"/>
              </a:rPr>
              <a:t>NumPy’s</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array_split</a:t>
            </a:r>
            <a:r>
              <a:rPr lang="en-US" sz="1100" b="0" i="0" u="none" strike="noStrike" cap="none" dirty="0">
                <a:solidFill>
                  <a:srgbClr val="000000"/>
                </a:solidFill>
                <a:effectLst/>
                <a:latin typeface="Arial"/>
                <a:ea typeface="Arial"/>
                <a:cs typeface="Arial"/>
                <a:sym typeface="Arial"/>
              </a:rPr>
              <a:t>() function) and feeds them to </a:t>
            </a:r>
            <a:r>
              <a:rPr lang="en-US" sz="1100" b="0" i="0" u="none" strike="noStrike" cap="none" dirty="0" err="1">
                <a:solidFill>
                  <a:srgbClr val="000000"/>
                </a:solidFill>
                <a:effectLst/>
                <a:latin typeface="Arial"/>
                <a:ea typeface="Arial"/>
                <a:cs typeface="Arial"/>
                <a:sym typeface="Arial"/>
              </a:rPr>
              <a:t>Scikit-Learn’s</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IncrementalPCA</a:t>
            </a:r>
            <a:r>
              <a:rPr lang="en-US" sz="1100" b="0" i="0" u="none" strike="noStrike" cap="none" dirty="0">
                <a:solidFill>
                  <a:srgbClr val="000000"/>
                </a:solidFill>
                <a:effectLst/>
                <a:latin typeface="Arial"/>
                <a:ea typeface="Arial"/>
                <a:cs typeface="Arial"/>
                <a:sym typeface="Arial"/>
              </a:rPr>
              <a:t> class5</a:t>
            </a: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to reduce the dimensionality of the MNIST dataset down to 154 dimensions, just like.</a:t>
            </a:r>
          </a:p>
          <a:p>
            <a:r>
              <a:rPr lang="en-US" sz="1100" b="0" i="0" u="none" strike="noStrike" cap="none" dirty="0">
                <a:solidFill>
                  <a:srgbClr val="000000"/>
                </a:solidFill>
                <a:effectLst/>
                <a:latin typeface="Arial"/>
                <a:ea typeface="Arial"/>
                <a:cs typeface="Arial"/>
                <a:sym typeface="Arial"/>
              </a:rPr>
              <a:t>Note that you must call the </a:t>
            </a:r>
            <a:r>
              <a:rPr lang="en-US" sz="1100" b="1" i="0" u="none" strike="noStrike" cap="none" dirty="0" err="1">
                <a:solidFill>
                  <a:srgbClr val="000000"/>
                </a:solidFill>
                <a:effectLst/>
                <a:latin typeface="Arial"/>
                <a:ea typeface="Arial"/>
                <a:cs typeface="Arial"/>
                <a:sym typeface="Arial"/>
              </a:rPr>
              <a:t>partial_fit</a:t>
            </a:r>
            <a:r>
              <a:rPr lang="en-US" sz="1100" b="1" i="0" u="none" strike="noStrike" cap="none" dirty="0">
                <a:solidFill>
                  <a:srgbClr val="000000"/>
                </a:solidFill>
                <a:effectLst/>
                <a:latin typeface="Arial"/>
                <a:ea typeface="Arial"/>
                <a:cs typeface="Arial"/>
                <a:sym typeface="Arial"/>
              </a:rPr>
              <a:t>() </a:t>
            </a:r>
            <a:r>
              <a:rPr lang="en-US" sz="1100" b="0" i="0" u="none" strike="noStrike" cap="none" dirty="0">
                <a:solidFill>
                  <a:srgbClr val="000000"/>
                </a:solidFill>
                <a:effectLst/>
                <a:latin typeface="Arial"/>
                <a:ea typeface="Arial"/>
                <a:cs typeface="Arial"/>
                <a:sym typeface="Arial"/>
              </a:rPr>
              <a:t>method with each mini-batch,</a:t>
            </a:r>
            <a:r>
              <a:rPr lang="en-US" sz="1100" b="0" i="0" u="none" strike="noStrike" cap="none" baseline="0" dirty="0">
                <a:solidFill>
                  <a:srgbClr val="000000"/>
                </a:solidFill>
                <a:effectLst/>
                <a:latin typeface="Arial"/>
                <a:ea typeface="Arial"/>
                <a:cs typeface="Arial"/>
                <a:sym typeface="Arial"/>
              </a:rPr>
              <a:t> </a:t>
            </a:r>
            <a:r>
              <a:rPr lang="en-US" sz="1100" b="0" i="0" u="none" strike="noStrike" cap="none" dirty="0">
                <a:solidFill>
                  <a:srgbClr val="000000"/>
                </a:solidFill>
                <a:effectLst/>
                <a:latin typeface="Arial"/>
                <a:ea typeface="Arial"/>
                <a:cs typeface="Arial"/>
                <a:sym typeface="Arial"/>
              </a:rPr>
              <a:t>rather than the fit() method with the whole training set:</a:t>
            </a:r>
            <a:r>
              <a:rPr lang="en-US" dirty="0"/>
              <a:t> </a:t>
            </a:r>
          </a:p>
          <a:p>
            <a:r>
              <a:rPr lang="en-US" sz="1100" b="0" i="0" u="none" strike="noStrike" cap="none" dirty="0">
                <a:solidFill>
                  <a:srgbClr val="000000"/>
                </a:solidFill>
                <a:effectLst/>
                <a:latin typeface="Arial"/>
                <a:ea typeface="Arial"/>
                <a:cs typeface="Arial"/>
                <a:sym typeface="Arial"/>
              </a:rPr>
              <a:t>Alternatively (instead of loop), you can use </a:t>
            </a:r>
            <a:r>
              <a:rPr lang="en-US" sz="1100" b="0" i="0" u="none" strike="noStrike" cap="none" dirty="0" err="1">
                <a:solidFill>
                  <a:srgbClr val="000000"/>
                </a:solidFill>
                <a:effectLst/>
                <a:latin typeface="Arial"/>
                <a:ea typeface="Arial"/>
                <a:cs typeface="Arial"/>
                <a:sym typeface="Arial"/>
              </a:rPr>
              <a:t>NumPy’s</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memmap</a:t>
            </a:r>
            <a:r>
              <a:rPr lang="en-US" sz="1100" b="0" i="0" u="none" strike="noStrike" cap="none" dirty="0">
                <a:solidFill>
                  <a:srgbClr val="000000"/>
                </a:solidFill>
                <a:effectLst/>
                <a:latin typeface="Arial"/>
                <a:ea typeface="Arial"/>
                <a:cs typeface="Arial"/>
                <a:sym typeface="Arial"/>
              </a:rPr>
              <a:t> class, which allows you to manipulate a large array stored in a binary file on disk as if it were entirely in memory; the class loads only the data it needs in memory, when it needs it</a:t>
            </a:r>
            <a:r>
              <a:rPr lang="en-US" dirty="0"/>
              <a:t> </a:t>
            </a:r>
            <a:br>
              <a:rPr lang="en-US" dirty="0"/>
            </a:br>
            <a:br>
              <a:rPr lang="en-US" dirty="0"/>
            </a:br>
            <a:endParaRPr lang="en-US" dirty="0"/>
          </a:p>
        </p:txBody>
      </p:sp>
    </p:spTree>
    <p:extLst>
      <p:ext uri="{BB962C8B-B14F-4D97-AF65-F5344CB8AC3E}">
        <p14:creationId xmlns:p14="http://schemas.microsoft.com/office/powerpoint/2010/main" val="751440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8979520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100" dirty="0"/>
              <a:t>then training may become much too slow: in this case</a:t>
            </a:r>
          </a:p>
          <a:p>
            <a:r>
              <a:rPr lang="en-US" sz="1100" b="0" i="0" u="none" strike="noStrike" cap="none" dirty="0">
                <a:solidFill>
                  <a:srgbClr val="000000"/>
                </a:solidFill>
                <a:effectLst/>
                <a:latin typeface="Arial"/>
                <a:ea typeface="Arial"/>
                <a:cs typeface="Arial"/>
                <a:sym typeface="Arial"/>
              </a:rPr>
              <a:t>This may sound crazy, but it</a:t>
            </a:r>
            <a:r>
              <a:rPr lang="en-US" sz="1100" b="0" i="0" u="none" strike="noStrike" cap="none" baseline="0" dirty="0">
                <a:solidFill>
                  <a:srgbClr val="000000"/>
                </a:solidFill>
                <a:effectLst/>
                <a:latin typeface="Arial"/>
                <a:ea typeface="Arial"/>
                <a:cs typeface="Arial"/>
                <a:sym typeface="Arial"/>
              </a:rPr>
              <a:t> </a:t>
            </a:r>
            <a:r>
              <a:rPr lang="en-US" sz="1100" b="0" i="0" u="none" strike="noStrike" cap="none" dirty="0">
                <a:solidFill>
                  <a:srgbClr val="000000"/>
                </a:solidFill>
                <a:effectLst/>
                <a:latin typeface="Arial"/>
                <a:ea typeface="Arial"/>
                <a:cs typeface="Arial"/>
                <a:sym typeface="Arial"/>
              </a:rPr>
              <a:t>turns out that such a random projection is actually very likely to preserve distances</a:t>
            </a: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fairly well, as was demonstrated mathematically by William B. Johnson and </a:t>
            </a:r>
            <a:r>
              <a:rPr lang="en-US" sz="1100" b="0" i="0" u="none" strike="noStrike" cap="none" dirty="0" err="1">
                <a:solidFill>
                  <a:srgbClr val="000000"/>
                </a:solidFill>
                <a:effectLst/>
                <a:latin typeface="Arial"/>
                <a:ea typeface="Arial"/>
                <a:cs typeface="Arial"/>
                <a:sym typeface="Arial"/>
              </a:rPr>
              <a:t>Joram</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Lindenstrauss</a:t>
            </a:r>
            <a:r>
              <a:rPr lang="en-US" sz="1100" b="0" i="0" u="none" strike="noStrike" cap="none" dirty="0">
                <a:solidFill>
                  <a:srgbClr val="000000"/>
                </a:solidFill>
                <a:effectLst/>
                <a:latin typeface="Arial"/>
                <a:ea typeface="Arial"/>
                <a:cs typeface="Arial"/>
                <a:sym typeface="Arial"/>
              </a:rPr>
              <a:t> in a famous lemma. So, two similar instances will remain similar after</a:t>
            </a: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the projection, and two very different instances will remain very different.</a:t>
            </a:r>
            <a:r>
              <a:rPr lang="en-US" dirty="0"/>
              <a:t> </a:t>
            </a:r>
            <a:br>
              <a:rPr lang="en-US" dirty="0"/>
            </a:br>
            <a:endParaRPr lang="en-US" dirty="0"/>
          </a:p>
        </p:txBody>
      </p:sp>
    </p:spTree>
    <p:extLst>
      <p:ext uri="{BB962C8B-B14F-4D97-AF65-F5344CB8AC3E}">
        <p14:creationId xmlns:p14="http://schemas.microsoft.com/office/powerpoint/2010/main" val="194100526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100" b="0" i="0" u="none" strike="noStrike" cap="none" dirty="0">
                <a:solidFill>
                  <a:srgbClr val="000000"/>
                </a:solidFill>
                <a:effectLst/>
                <a:latin typeface="Arial"/>
                <a:ea typeface="Arial"/>
                <a:cs typeface="Arial"/>
                <a:sym typeface="Arial"/>
              </a:rPr>
              <a:t>dataset containing </a:t>
            </a:r>
            <a:r>
              <a:rPr lang="en-US" sz="1100" b="0" i="1" u="none" strike="noStrike" cap="none" dirty="0">
                <a:solidFill>
                  <a:srgbClr val="000000"/>
                </a:solidFill>
                <a:effectLst/>
                <a:latin typeface="Arial"/>
                <a:ea typeface="Arial"/>
                <a:cs typeface="Arial"/>
                <a:sym typeface="Arial"/>
              </a:rPr>
              <a:t>m </a:t>
            </a:r>
            <a:r>
              <a:rPr lang="en-US" sz="1100" b="0" i="0" u="none" strike="noStrike" cap="none" dirty="0">
                <a:solidFill>
                  <a:srgbClr val="000000"/>
                </a:solidFill>
                <a:effectLst/>
                <a:latin typeface="Arial"/>
                <a:ea typeface="Arial"/>
                <a:cs typeface="Arial"/>
                <a:sym typeface="Arial"/>
              </a:rPr>
              <a:t>= 5,000 instances with </a:t>
            </a:r>
            <a:r>
              <a:rPr lang="en-US" sz="1100" b="0" i="1" u="none" strike="noStrike" cap="none" dirty="0">
                <a:solidFill>
                  <a:srgbClr val="000000"/>
                </a:solidFill>
                <a:effectLst/>
                <a:latin typeface="Arial"/>
                <a:ea typeface="Arial"/>
                <a:cs typeface="Arial"/>
                <a:sym typeface="Arial"/>
              </a:rPr>
              <a:t>n </a:t>
            </a:r>
            <a:r>
              <a:rPr lang="en-US" sz="1100" b="0" i="0" u="none" strike="noStrike" cap="none" dirty="0">
                <a:solidFill>
                  <a:srgbClr val="000000"/>
                </a:solidFill>
                <a:effectLst/>
                <a:latin typeface="Arial"/>
                <a:ea typeface="Arial"/>
                <a:cs typeface="Arial"/>
                <a:sym typeface="Arial"/>
              </a:rPr>
              <a:t>= 20,000 features </a:t>
            </a:r>
            <a:br>
              <a:rPr lang="en-US" dirty="0"/>
            </a:br>
            <a:endParaRPr lang="en-US" dirty="0"/>
          </a:p>
        </p:txBody>
      </p:sp>
    </p:spTree>
    <p:extLst>
      <p:ext uri="{BB962C8B-B14F-4D97-AF65-F5344CB8AC3E}">
        <p14:creationId xmlns:p14="http://schemas.microsoft.com/office/powerpoint/2010/main" val="365505612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100" b="0" i="0" u="none" strike="noStrike" cap="none" dirty="0">
                <a:solidFill>
                  <a:srgbClr val="000000"/>
                </a:solidFill>
                <a:effectLst/>
                <a:latin typeface="Arial"/>
                <a:ea typeface="Arial"/>
                <a:cs typeface="Arial"/>
                <a:sym typeface="Arial"/>
              </a:rPr>
              <a:t>dataset containing </a:t>
            </a:r>
            <a:r>
              <a:rPr lang="en-US" sz="1100" b="0" i="1" u="none" strike="noStrike" cap="none" dirty="0">
                <a:solidFill>
                  <a:srgbClr val="000000"/>
                </a:solidFill>
                <a:effectLst/>
                <a:latin typeface="Arial"/>
                <a:ea typeface="Arial"/>
                <a:cs typeface="Arial"/>
                <a:sym typeface="Arial"/>
              </a:rPr>
              <a:t>m </a:t>
            </a:r>
            <a:r>
              <a:rPr lang="en-US" sz="1100" b="0" i="0" u="none" strike="noStrike" cap="none" dirty="0">
                <a:solidFill>
                  <a:srgbClr val="000000"/>
                </a:solidFill>
                <a:effectLst/>
                <a:latin typeface="Arial"/>
                <a:ea typeface="Arial"/>
                <a:cs typeface="Arial"/>
                <a:sym typeface="Arial"/>
              </a:rPr>
              <a:t>= 5,000 instances with </a:t>
            </a:r>
            <a:r>
              <a:rPr lang="en-US" sz="1100" b="0" i="1" u="none" strike="noStrike" cap="none" dirty="0">
                <a:solidFill>
                  <a:srgbClr val="000000"/>
                </a:solidFill>
                <a:effectLst/>
                <a:latin typeface="Arial"/>
                <a:ea typeface="Arial"/>
                <a:cs typeface="Arial"/>
                <a:sym typeface="Arial"/>
              </a:rPr>
              <a:t>n </a:t>
            </a:r>
            <a:r>
              <a:rPr lang="en-US" sz="1100" b="0" i="0" u="none" strike="noStrike" cap="none" dirty="0">
                <a:solidFill>
                  <a:srgbClr val="000000"/>
                </a:solidFill>
                <a:effectLst/>
                <a:latin typeface="Arial"/>
                <a:ea typeface="Arial"/>
                <a:cs typeface="Arial"/>
                <a:sym typeface="Arial"/>
              </a:rPr>
              <a:t>= 20,000 features </a:t>
            </a:r>
            <a:br>
              <a:rPr lang="en-US" dirty="0"/>
            </a:br>
            <a:r>
              <a:rPr lang="en-US" sz="1100" b="0" i="0" u="none" strike="noStrike" cap="none" dirty="0">
                <a:solidFill>
                  <a:srgbClr val="000000"/>
                </a:solidFill>
                <a:effectLst/>
                <a:latin typeface="Arial"/>
                <a:ea typeface="Arial"/>
                <a:cs typeface="Arial"/>
                <a:sym typeface="Arial"/>
              </a:rPr>
              <a:t>when you call its fit() method, it uses </a:t>
            </a:r>
            <a:r>
              <a:rPr lang="en-US" sz="1100" b="0" i="0" u="none" strike="noStrike" cap="none" dirty="0" err="1">
                <a:solidFill>
                  <a:srgbClr val="000000"/>
                </a:solidFill>
                <a:effectLst/>
                <a:latin typeface="Arial"/>
                <a:ea typeface="Arial"/>
                <a:cs typeface="Arial"/>
                <a:sym typeface="Arial"/>
              </a:rPr>
              <a:t>johnson_lindenstrauss_min_dim</a:t>
            </a:r>
            <a:r>
              <a:rPr lang="en-US" sz="1100" b="0" i="0" u="none" strike="noStrike" cap="none" dirty="0">
                <a:solidFill>
                  <a:srgbClr val="000000"/>
                </a:solidFill>
                <a:effectLst/>
                <a:latin typeface="Arial"/>
                <a:ea typeface="Arial"/>
                <a:cs typeface="Arial"/>
                <a:sym typeface="Arial"/>
              </a:rPr>
              <a:t>() to</a:t>
            </a:r>
            <a:r>
              <a:rPr lang="en-US" dirty="0"/>
              <a:t> </a:t>
            </a:r>
            <a:br>
              <a:rPr lang="en-US" dirty="0"/>
            </a:br>
            <a:endParaRPr lang="en-US" dirty="0"/>
          </a:p>
        </p:txBody>
      </p:sp>
    </p:spTree>
    <p:extLst>
      <p:ext uri="{BB962C8B-B14F-4D97-AF65-F5344CB8AC3E}">
        <p14:creationId xmlns:p14="http://schemas.microsoft.com/office/powerpoint/2010/main" val="173959178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100" b="0" i="0" u="none" strike="noStrike" cap="none" dirty="0">
                <a:solidFill>
                  <a:srgbClr val="000000"/>
                </a:solidFill>
                <a:effectLst/>
                <a:latin typeface="Arial"/>
                <a:ea typeface="Arial"/>
                <a:cs typeface="Arial"/>
                <a:sym typeface="Arial"/>
              </a:rPr>
              <a:t>dataset containing </a:t>
            </a:r>
            <a:r>
              <a:rPr lang="en-US" sz="1100" b="0" i="1" u="none" strike="noStrike" cap="none" dirty="0">
                <a:solidFill>
                  <a:srgbClr val="000000"/>
                </a:solidFill>
                <a:effectLst/>
                <a:latin typeface="Arial"/>
                <a:ea typeface="Arial"/>
                <a:cs typeface="Arial"/>
                <a:sym typeface="Arial"/>
              </a:rPr>
              <a:t>m </a:t>
            </a:r>
            <a:r>
              <a:rPr lang="en-US" sz="1100" b="0" i="0" u="none" strike="noStrike" cap="none" dirty="0">
                <a:solidFill>
                  <a:srgbClr val="000000"/>
                </a:solidFill>
                <a:effectLst/>
                <a:latin typeface="Arial"/>
                <a:ea typeface="Arial"/>
                <a:cs typeface="Arial"/>
                <a:sym typeface="Arial"/>
              </a:rPr>
              <a:t>= 5,000 instances with </a:t>
            </a:r>
            <a:r>
              <a:rPr lang="en-US" sz="1100" b="0" i="1" u="none" strike="noStrike" cap="none" dirty="0">
                <a:solidFill>
                  <a:srgbClr val="000000"/>
                </a:solidFill>
                <a:effectLst/>
                <a:latin typeface="Arial"/>
                <a:ea typeface="Arial"/>
                <a:cs typeface="Arial"/>
                <a:sym typeface="Arial"/>
              </a:rPr>
              <a:t>n </a:t>
            </a:r>
            <a:r>
              <a:rPr lang="en-US" sz="1100" b="0" i="0" u="none" strike="noStrike" cap="none" dirty="0">
                <a:solidFill>
                  <a:srgbClr val="000000"/>
                </a:solidFill>
                <a:effectLst/>
                <a:latin typeface="Arial"/>
                <a:ea typeface="Arial"/>
                <a:cs typeface="Arial"/>
                <a:sym typeface="Arial"/>
              </a:rPr>
              <a:t>= 20,000 features </a:t>
            </a:r>
          </a:p>
          <a:p>
            <a:r>
              <a:rPr lang="en-US" sz="1100" b="0" i="0" u="none" strike="noStrike" cap="none" dirty="0">
                <a:solidFill>
                  <a:srgbClr val="000000"/>
                </a:solidFill>
                <a:effectLst/>
                <a:latin typeface="Arial"/>
                <a:ea typeface="Arial"/>
                <a:cs typeface="Arial"/>
                <a:sym typeface="Arial"/>
              </a:rPr>
              <a:t>, a 2017 paper7 by </a:t>
            </a:r>
            <a:r>
              <a:rPr lang="en-US" sz="1100" b="0" i="0" u="none" strike="noStrike" cap="none" dirty="0" err="1">
                <a:solidFill>
                  <a:srgbClr val="000000"/>
                </a:solidFill>
                <a:effectLst/>
                <a:latin typeface="Arial"/>
                <a:ea typeface="Arial"/>
                <a:cs typeface="Arial"/>
                <a:sym typeface="Arial"/>
              </a:rPr>
              <a:t>Sanjoy</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Dasgupta</a:t>
            </a:r>
            <a:r>
              <a:rPr lang="fa-IR" sz="1100" b="0" i="0" u="none" strike="noStrike" cap="none" dirty="0">
                <a:solidFill>
                  <a:srgbClr val="000000"/>
                </a:solidFill>
                <a:effectLst/>
                <a:latin typeface="Arial"/>
                <a:ea typeface="Arial"/>
                <a:cs typeface="Arial"/>
                <a:sym typeface="Arial"/>
              </a:rPr>
              <a:t> </a:t>
            </a:r>
            <a:r>
              <a:rPr lang="en-US" sz="1100" b="0" i="0" u="none" strike="noStrike" cap="none" dirty="0">
                <a:solidFill>
                  <a:srgbClr val="000000"/>
                </a:solidFill>
                <a:effectLst/>
                <a:latin typeface="Arial"/>
                <a:ea typeface="Arial"/>
                <a:cs typeface="Arial"/>
                <a:sym typeface="Arial"/>
              </a:rPr>
              <a:t>et al. showed that the brain of a fruit fly implements an analog of</a:t>
            </a:r>
            <a:r>
              <a:rPr lang="fa-IR" sz="1100" b="0" i="0" u="none" strike="noStrike" cap="none" dirty="0">
                <a:solidFill>
                  <a:srgbClr val="000000"/>
                </a:solidFill>
                <a:effectLst/>
                <a:latin typeface="Arial"/>
                <a:ea typeface="Arial"/>
                <a:cs typeface="Arial"/>
                <a:sym typeface="Arial"/>
              </a:rPr>
              <a:t> </a:t>
            </a:r>
            <a:r>
              <a:rPr lang="en-US" sz="1100" b="0" i="0" u="none" strike="noStrike" cap="none" dirty="0">
                <a:solidFill>
                  <a:srgbClr val="000000"/>
                </a:solidFill>
                <a:effectLst/>
                <a:latin typeface="Arial"/>
                <a:ea typeface="Arial"/>
                <a:cs typeface="Arial"/>
                <a:sym typeface="Arial"/>
              </a:rPr>
              <a:t>random projection to map dense low-dimensional olfactory inputs</a:t>
            </a:r>
            <a:r>
              <a:rPr lang="fa-IR" sz="1100" b="0" i="0" u="none" strike="noStrike" cap="none" dirty="0">
                <a:solidFill>
                  <a:srgbClr val="000000"/>
                </a:solidFill>
                <a:effectLst/>
                <a:latin typeface="Arial"/>
                <a:ea typeface="Arial"/>
                <a:cs typeface="Arial"/>
                <a:sym typeface="Arial"/>
              </a:rPr>
              <a:t> </a:t>
            </a:r>
            <a:r>
              <a:rPr lang="en-US" sz="1100" b="0" i="0" u="none" strike="noStrike" cap="none" dirty="0">
                <a:solidFill>
                  <a:srgbClr val="000000"/>
                </a:solidFill>
                <a:effectLst/>
                <a:latin typeface="Arial"/>
                <a:ea typeface="Arial"/>
                <a:cs typeface="Arial"/>
                <a:sym typeface="Arial"/>
              </a:rPr>
              <a:t>to sparse high-dimensional binary outputs:</a:t>
            </a:r>
            <a:r>
              <a:rPr lang="en-US" dirty="0"/>
              <a:t> </a:t>
            </a:r>
            <a:r>
              <a:rPr lang="fa-IR" dirty="0"/>
              <a:t>مگس میوه</a:t>
            </a:r>
            <a:br>
              <a:rPr lang="en-US" dirty="0"/>
            </a:br>
            <a:br>
              <a:rPr lang="en-US" dirty="0"/>
            </a:br>
            <a:endParaRPr lang="en-US" dirty="0"/>
          </a:p>
        </p:txBody>
      </p:sp>
    </p:spTree>
    <p:extLst>
      <p:ext uri="{BB962C8B-B14F-4D97-AF65-F5344CB8AC3E}">
        <p14:creationId xmlns:p14="http://schemas.microsoft.com/office/powerpoint/2010/main" val="35348010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100" b="0" i="0" u="none" strike="noStrike" cap="none" dirty="0">
                <a:solidFill>
                  <a:srgbClr val="000000"/>
                </a:solidFill>
                <a:effectLst/>
                <a:latin typeface="Arial"/>
                <a:ea typeface="Arial"/>
                <a:cs typeface="Arial"/>
                <a:sym typeface="Arial"/>
              </a:rPr>
              <a:t>Figure 8-11 shows the results of MDS, </a:t>
            </a:r>
            <a:r>
              <a:rPr lang="en-US" sz="1100" b="0" i="0" u="none" strike="noStrike" cap="none" dirty="0" err="1">
                <a:solidFill>
                  <a:srgbClr val="000000"/>
                </a:solidFill>
                <a:effectLst/>
                <a:latin typeface="Arial"/>
                <a:ea typeface="Arial"/>
                <a:cs typeface="Arial"/>
                <a:sym typeface="Arial"/>
              </a:rPr>
              <a:t>Isomap</a:t>
            </a:r>
            <a:r>
              <a:rPr lang="en-US" sz="1100" b="0" i="0" u="none" strike="noStrike" cap="none" dirty="0">
                <a:solidFill>
                  <a:srgbClr val="000000"/>
                </a:solidFill>
                <a:effectLst/>
                <a:latin typeface="Arial"/>
                <a:ea typeface="Arial"/>
                <a:cs typeface="Arial"/>
                <a:sym typeface="Arial"/>
              </a:rPr>
              <a:t>, and t-SNE on the Swiss roll. </a:t>
            </a:r>
          </a:p>
          <a:p>
            <a:r>
              <a:rPr lang="en-US" sz="1100" b="0" i="0" u="none" strike="noStrike" cap="none" dirty="0">
                <a:solidFill>
                  <a:srgbClr val="000000"/>
                </a:solidFill>
                <a:effectLst/>
                <a:latin typeface="Arial"/>
                <a:ea typeface="Arial"/>
                <a:cs typeface="Arial"/>
                <a:sym typeface="Arial"/>
              </a:rPr>
              <a:t>MDS</a:t>
            </a:r>
            <a:r>
              <a:rPr lang="en-US" sz="1100" b="0" i="0" u="none" strike="noStrike" cap="none" baseline="0" dirty="0">
                <a:solidFill>
                  <a:srgbClr val="000000"/>
                </a:solidFill>
                <a:effectLst/>
                <a:latin typeface="Arial"/>
                <a:ea typeface="Arial"/>
                <a:cs typeface="Arial"/>
                <a:sym typeface="Arial"/>
              </a:rPr>
              <a:t> </a:t>
            </a:r>
            <a:r>
              <a:rPr lang="en-US" sz="1100" b="0" i="0" u="none" strike="noStrike" cap="none" dirty="0">
                <a:solidFill>
                  <a:srgbClr val="000000"/>
                </a:solidFill>
                <a:effectLst/>
                <a:latin typeface="Arial"/>
                <a:ea typeface="Arial"/>
                <a:cs typeface="Arial"/>
                <a:sym typeface="Arial"/>
              </a:rPr>
              <a:t>manages to flatten the Swiss roll without losing its global curvature, while </a:t>
            </a:r>
            <a:r>
              <a:rPr lang="en-US" sz="1100" b="0" i="0" u="none" strike="noStrike" cap="none" dirty="0" err="1">
                <a:solidFill>
                  <a:srgbClr val="000000"/>
                </a:solidFill>
                <a:effectLst/>
                <a:latin typeface="Arial"/>
                <a:ea typeface="Arial"/>
                <a:cs typeface="Arial"/>
                <a:sym typeface="Arial"/>
              </a:rPr>
              <a:t>Isomap</a:t>
            </a:r>
            <a:r>
              <a:rPr lang="en-US" sz="1100" b="0" i="0" u="none" strike="noStrike" cap="none" baseline="0" dirty="0">
                <a:solidFill>
                  <a:srgbClr val="000000"/>
                </a:solidFill>
                <a:effectLst/>
                <a:latin typeface="Arial"/>
                <a:ea typeface="Arial"/>
                <a:cs typeface="Arial"/>
                <a:sym typeface="Arial"/>
              </a:rPr>
              <a:t> </a:t>
            </a:r>
            <a:r>
              <a:rPr lang="en-US" sz="1100" b="0" i="0" u="none" strike="noStrike" cap="none" dirty="0">
                <a:solidFill>
                  <a:srgbClr val="000000"/>
                </a:solidFill>
                <a:effectLst/>
                <a:latin typeface="Arial"/>
                <a:ea typeface="Arial"/>
                <a:cs typeface="Arial"/>
                <a:sym typeface="Arial"/>
              </a:rPr>
              <a:t>drops it entirely. </a:t>
            </a:r>
          </a:p>
          <a:p>
            <a:r>
              <a:rPr lang="en-US" sz="1100" b="1" i="0" u="none" strike="noStrike" cap="none" dirty="0">
                <a:solidFill>
                  <a:srgbClr val="000000"/>
                </a:solidFill>
                <a:effectLst/>
                <a:latin typeface="Arial"/>
                <a:ea typeface="Arial"/>
                <a:cs typeface="Arial"/>
                <a:sym typeface="Arial"/>
              </a:rPr>
              <a:t>Depending on the downstream task, preserving the large-scale</a:t>
            </a:r>
            <a:r>
              <a:rPr lang="en-US" sz="1100" b="1" i="0" u="none" strike="noStrike" cap="none" baseline="0" dirty="0">
                <a:solidFill>
                  <a:srgbClr val="000000"/>
                </a:solidFill>
                <a:effectLst/>
                <a:latin typeface="Arial"/>
                <a:ea typeface="Arial"/>
                <a:cs typeface="Arial"/>
                <a:sym typeface="Arial"/>
              </a:rPr>
              <a:t> </a:t>
            </a:r>
            <a:r>
              <a:rPr lang="en-US" sz="1100" b="1" i="0" u="none" strike="noStrike" cap="none" dirty="0">
                <a:solidFill>
                  <a:srgbClr val="000000"/>
                </a:solidFill>
                <a:effectLst/>
                <a:latin typeface="Arial"/>
                <a:ea typeface="Arial"/>
                <a:cs typeface="Arial"/>
                <a:sym typeface="Arial"/>
              </a:rPr>
              <a:t>structure may be good or bad. </a:t>
            </a:r>
          </a:p>
          <a:p>
            <a:r>
              <a:rPr lang="en-US" sz="1100" b="0" i="0" u="none" strike="noStrike" cap="none" dirty="0">
                <a:solidFill>
                  <a:srgbClr val="000000"/>
                </a:solidFill>
                <a:effectLst/>
                <a:latin typeface="Arial"/>
                <a:ea typeface="Arial"/>
                <a:cs typeface="Arial"/>
                <a:sym typeface="Arial"/>
              </a:rPr>
              <a:t>t-SNE does a reasonable job of flattening the Swiss</a:t>
            </a:r>
            <a:r>
              <a:rPr lang="en-US" sz="1100" b="0" i="0" u="none" strike="noStrike" cap="none" baseline="0" dirty="0">
                <a:solidFill>
                  <a:srgbClr val="000000"/>
                </a:solidFill>
                <a:effectLst/>
                <a:latin typeface="Arial"/>
                <a:ea typeface="Arial"/>
                <a:cs typeface="Arial"/>
                <a:sym typeface="Arial"/>
              </a:rPr>
              <a:t> </a:t>
            </a:r>
            <a:r>
              <a:rPr lang="en-US" sz="1100" b="0" i="0" u="none" strike="noStrike" cap="none" dirty="0">
                <a:solidFill>
                  <a:srgbClr val="000000"/>
                </a:solidFill>
                <a:effectLst/>
                <a:latin typeface="Arial"/>
                <a:ea typeface="Arial"/>
                <a:cs typeface="Arial"/>
                <a:sym typeface="Arial"/>
              </a:rPr>
              <a:t>roll, preserving a bit of curvature, and it also amplifies clusters, tearing the roll apart.</a:t>
            </a:r>
            <a:br>
              <a:rPr lang="en-US" sz="1100" b="0" i="0" u="none" strike="noStrike" cap="none" dirty="0">
                <a:solidFill>
                  <a:srgbClr val="000000"/>
                </a:solidFill>
                <a:effectLst/>
                <a:latin typeface="Arial"/>
                <a:ea typeface="Arial"/>
                <a:cs typeface="Arial"/>
                <a:sym typeface="Arial"/>
              </a:rPr>
            </a:br>
            <a:r>
              <a:rPr lang="en-US" sz="1100" b="0" i="0" u="none" strike="noStrike" cap="none" dirty="0">
                <a:solidFill>
                  <a:srgbClr val="000000"/>
                </a:solidFill>
                <a:effectLst/>
                <a:latin typeface="Arial"/>
                <a:ea typeface="Arial"/>
                <a:cs typeface="Arial"/>
                <a:sym typeface="Arial"/>
              </a:rPr>
              <a:t>Again, this might be good or bad, depending on the downstream task.</a:t>
            </a:r>
            <a:r>
              <a:rPr lang="en-US" dirty="0"/>
              <a:t> </a:t>
            </a:r>
            <a:br>
              <a:rPr lang="en-US" dirty="0"/>
            </a:br>
            <a:endParaRPr lang="en-US" dirty="0"/>
          </a:p>
        </p:txBody>
      </p:sp>
    </p:spTree>
    <p:extLst>
      <p:ext uri="{BB962C8B-B14F-4D97-AF65-F5344CB8AC3E}">
        <p14:creationId xmlns:p14="http://schemas.microsoft.com/office/powerpoint/2010/main" val="4979885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645225" y="2762725"/>
            <a:ext cx="6736500" cy="1159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dk2"/>
              </a:buClr>
              <a:buSzPts val="4400"/>
              <a:buNone/>
              <a:defRPr sz="4400">
                <a:solidFill>
                  <a:schemeClr val="dk2"/>
                </a:solidFill>
              </a:defRPr>
            </a:lvl1pPr>
            <a:lvl2pPr lvl="1" algn="l">
              <a:lnSpc>
                <a:spcPct val="100000"/>
              </a:lnSpc>
              <a:spcBef>
                <a:spcPts val="0"/>
              </a:spcBef>
              <a:spcAft>
                <a:spcPts val="0"/>
              </a:spcAft>
              <a:buClr>
                <a:schemeClr val="dk2"/>
              </a:buClr>
              <a:buSzPts val="4400"/>
              <a:buNone/>
              <a:defRPr sz="4400">
                <a:solidFill>
                  <a:schemeClr val="dk2"/>
                </a:solidFill>
              </a:defRPr>
            </a:lvl2pPr>
            <a:lvl3pPr lvl="2" algn="l">
              <a:lnSpc>
                <a:spcPct val="100000"/>
              </a:lnSpc>
              <a:spcBef>
                <a:spcPts val="0"/>
              </a:spcBef>
              <a:spcAft>
                <a:spcPts val="0"/>
              </a:spcAft>
              <a:buClr>
                <a:schemeClr val="dk2"/>
              </a:buClr>
              <a:buSzPts val="4400"/>
              <a:buNone/>
              <a:defRPr sz="4400">
                <a:solidFill>
                  <a:schemeClr val="dk2"/>
                </a:solidFill>
              </a:defRPr>
            </a:lvl3pPr>
            <a:lvl4pPr lvl="3" algn="l">
              <a:lnSpc>
                <a:spcPct val="100000"/>
              </a:lnSpc>
              <a:spcBef>
                <a:spcPts val="0"/>
              </a:spcBef>
              <a:spcAft>
                <a:spcPts val="0"/>
              </a:spcAft>
              <a:buClr>
                <a:schemeClr val="dk2"/>
              </a:buClr>
              <a:buSzPts val="4400"/>
              <a:buNone/>
              <a:defRPr sz="4400">
                <a:solidFill>
                  <a:schemeClr val="dk2"/>
                </a:solidFill>
              </a:defRPr>
            </a:lvl4pPr>
            <a:lvl5pPr lvl="4" algn="l">
              <a:lnSpc>
                <a:spcPct val="100000"/>
              </a:lnSpc>
              <a:spcBef>
                <a:spcPts val="0"/>
              </a:spcBef>
              <a:spcAft>
                <a:spcPts val="0"/>
              </a:spcAft>
              <a:buClr>
                <a:schemeClr val="dk2"/>
              </a:buClr>
              <a:buSzPts val="4400"/>
              <a:buNone/>
              <a:defRPr sz="4400">
                <a:solidFill>
                  <a:schemeClr val="dk2"/>
                </a:solidFill>
              </a:defRPr>
            </a:lvl5pPr>
            <a:lvl6pPr lvl="5" algn="l">
              <a:lnSpc>
                <a:spcPct val="100000"/>
              </a:lnSpc>
              <a:spcBef>
                <a:spcPts val="0"/>
              </a:spcBef>
              <a:spcAft>
                <a:spcPts val="0"/>
              </a:spcAft>
              <a:buClr>
                <a:schemeClr val="dk2"/>
              </a:buClr>
              <a:buSzPts val="4400"/>
              <a:buNone/>
              <a:defRPr sz="4400">
                <a:solidFill>
                  <a:schemeClr val="dk2"/>
                </a:solidFill>
              </a:defRPr>
            </a:lvl6pPr>
            <a:lvl7pPr lvl="6" algn="l">
              <a:lnSpc>
                <a:spcPct val="100000"/>
              </a:lnSpc>
              <a:spcBef>
                <a:spcPts val="0"/>
              </a:spcBef>
              <a:spcAft>
                <a:spcPts val="0"/>
              </a:spcAft>
              <a:buClr>
                <a:schemeClr val="dk2"/>
              </a:buClr>
              <a:buSzPts val="4400"/>
              <a:buNone/>
              <a:defRPr sz="4400">
                <a:solidFill>
                  <a:schemeClr val="dk2"/>
                </a:solidFill>
              </a:defRPr>
            </a:lvl7pPr>
            <a:lvl8pPr lvl="7" algn="l">
              <a:lnSpc>
                <a:spcPct val="100000"/>
              </a:lnSpc>
              <a:spcBef>
                <a:spcPts val="0"/>
              </a:spcBef>
              <a:spcAft>
                <a:spcPts val="0"/>
              </a:spcAft>
              <a:buClr>
                <a:schemeClr val="dk2"/>
              </a:buClr>
              <a:buSzPts val="4400"/>
              <a:buNone/>
              <a:defRPr sz="4400">
                <a:solidFill>
                  <a:schemeClr val="dk2"/>
                </a:solidFill>
              </a:defRPr>
            </a:lvl8pPr>
            <a:lvl9pPr lvl="8" algn="l">
              <a:lnSpc>
                <a:spcPct val="100000"/>
              </a:lnSpc>
              <a:spcBef>
                <a:spcPts val="0"/>
              </a:spcBef>
              <a:spcAft>
                <a:spcPts val="0"/>
              </a:spcAft>
              <a:buClr>
                <a:schemeClr val="dk2"/>
              </a:buClr>
              <a:buSzPts val="4400"/>
              <a:buNone/>
              <a:defRPr sz="4400">
                <a:solidFill>
                  <a:schemeClr val="dk2"/>
                </a:solidFill>
              </a:defRPr>
            </a:lvl9pPr>
          </a:lstStyle>
          <a:p>
            <a:endParaRPr/>
          </a:p>
        </p:txBody>
      </p:sp>
      <p:sp>
        <p:nvSpPr>
          <p:cNvPr id="11" name="Google Shape;11;p2"/>
          <p:cNvSpPr/>
          <p:nvPr/>
        </p:nvSpPr>
        <p:spPr>
          <a:xfrm>
            <a:off x="5938246" y="2533163"/>
            <a:ext cx="721800" cy="771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 name="Google Shape;12;p2"/>
          <p:cNvSpPr/>
          <p:nvPr/>
        </p:nvSpPr>
        <p:spPr>
          <a:xfrm>
            <a:off x="6659861" y="2533163"/>
            <a:ext cx="721800" cy="771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13;p2"/>
          <p:cNvSpPr/>
          <p:nvPr/>
        </p:nvSpPr>
        <p:spPr>
          <a:xfrm>
            <a:off x="-1" y="2533163"/>
            <a:ext cx="721800" cy="771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 name="Google Shape;14;p2"/>
          <p:cNvSpPr/>
          <p:nvPr/>
        </p:nvSpPr>
        <p:spPr>
          <a:xfrm>
            <a:off x="721425" y="2533163"/>
            <a:ext cx="5216700" cy="771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 1 column" type="tx">
  <p:cSld name="TITLE_AND_BODY">
    <p:spTree>
      <p:nvGrpSpPr>
        <p:cNvPr id="1" name="Shape 15"/>
        <p:cNvGrpSpPr/>
        <p:nvPr/>
      </p:nvGrpSpPr>
      <p:grpSpPr>
        <a:xfrm>
          <a:off x="0" y="0"/>
          <a:ext cx="0" cy="0"/>
          <a:chOff x="0" y="0"/>
          <a:chExt cx="0" cy="0"/>
        </a:xfrm>
      </p:grpSpPr>
      <p:sp>
        <p:nvSpPr>
          <p:cNvPr id="16" name="Google Shape;16;p3"/>
          <p:cNvSpPr txBox="1">
            <a:spLocks noGrp="1"/>
          </p:cNvSpPr>
          <p:nvPr>
            <p:ph type="title"/>
          </p:nvPr>
        </p:nvSpPr>
        <p:spPr>
          <a:xfrm>
            <a:off x="922403" y="227174"/>
            <a:ext cx="6462600" cy="8574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200"/>
              <a:buNone/>
              <a:defRPr sz="4400" b="1">
                <a:solidFill>
                  <a:srgbClr val="333A40"/>
                </a:solidFill>
                <a:latin typeface="Calibri"/>
                <a:ea typeface="Calibri"/>
                <a:cs typeface="Calibri"/>
                <a:sym typeface="Calibri"/>
              </a:defRPr>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a:endParaRPr/>
          </a:p>
        </p:txBody>
      </p:sp>
      <p:sp>
        <p:nvSpPr>
          <p:cNvPr id="17" name="Google Shape;17;p3"/>
          <p:cNvSpPr txBox="1">
            <a:spLocks noGrp="1"/>
          </p:cNvSpPr>
          <p:nvPr>
            <p:ph type="body" idx="1" hasCustomPrompt="1"/>
          </p:nvPr>
        </p:nvSpPr>
        <p:spPr>
          <a:xfrm>
            <a:off x="893700" y="1373588"/>
            <a:ext cx="6462600" cy="3552300"/>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600"/>
              </a:spcBef>
              <a:spcAft>
                <a:spcPts val="0"/>
              </a:spcAft>
              <a:buClr>
                <a:srgbClr val="333A40"/>
              </a:buClr>
              <a:buSzPts val="1800"/>
              <a:buFont typeface="Wingdings" panose="05000000000000000000" pitchFamily="2" charset="2"/>
              <a:buChar char="Ø"/>
              <a:defRPr>
                <a:solidFill>
                  <a:srgbClr val="333A40"/>
                </a:solidFill>
                <a:latin typeface="Calibri"/>
                <a:ea typeface="Calibri"/>
                <a:cs typeface="Calibri"/>
                <a:sym typeface="Calibri"/>
              </a:defRPr>
            </a:lvl1pPr>
            <a:lvl2pPr marL="914400" lvl="1" indent="-333375" algn="l">
              <a:lnSpc>
                <a:spcPct val="100000"/>
              </a:lnSpc>
              <a:spcBef>
                <a:spcPts val="0"/>
              </a:spcBef>
              <a:spcAft>
                <a:spcPts val="0"/>
              </a:spcAft>
              <a:buClr>
                <a:srgbClr val="131619"/>
              </a:buClr>
              <a:buSzPts val="1650"/>
              <a:buFont typeface="Wingdings" panose="05000000000000000000" pitchFamily="2" charset="2"/>
              <a:buChar char="Ø"/>
              <a:defRPr sz="2200">
                <a:solidFill>
                  <a:srgbClr val="131619"/>
                </a:solidFill>
                <a:latin typeface="Calibri"/>
                <a:ea typeface="Calibri"/>
                <a:cs typeface="Calibri"/>
                <a:sym typeface="Calibri"/>
              </a:defRPr>
            </a:lvl2pPr>
            <a:lvl3pPr marL="1371600" lvl="2" indent="-381000" algn="l">
              <a:lnSpc>
                <a:spcPct val="100000"/>
              </a:lnSpc>
              <a:spcBef>
                <a:spcPts val="0"/>
              </a:spcBef>
              <a:spcAft>
                <a:spcPts val="0"/>
              </a:spcAft>
              <a:buClr>
                <a:schemeClr val="dk1"/>
              </a:buClr>
              <a:buSzPts val="2400"/>
              <a:buChar char="■"/>
              <a:defRPr>
                <a:solidFill>
                  <a:schemeClr val="dk1"/>
                </a:solidFill>
              </a:defRPr>
            </a:lvl3pPr>
            <a:lvl4pPr marL="1828800" lvl="3" indent="-381000" algn="l">
              <a:lnSpc>
                <a:spcPct val="100000"/>
              </a:lnSpc>
              <a:spcBef>
                <a:spcPts val="0"/>
              </a:spcBef>
              <a:spcAft>
                <a:spcPts val="0"/>
              </a:spcAft>
              <a:buClr>
                <a:schemeClr val="dk1"/>
              </a:buClr>
              <a:buSzPts val="2400"/>
              <a:buChar char="●"/>
              <a:defRPr>
                <a:solidFill>
                  <a:schemeClr val="dk1"/>
                </a:solidFill>
              </a:defRPr>
            </a:lvl4pPr>
            <a:lvl5pPr marL="2286000" lvl="4" indent="-381000" algn="l">
              <a:lnSpc>
                <a:spcPct val="100000"/>
              </a:lnSpc>
              <a:spcBef>
                <a:spcPts val="0"/>
              </a:spcBef>
              <a:spcAft>
                <a:spcPts val="0"/>
              </a:spcAft>
              <a:buClr>
                <a:schemeClr val="dk1"/>
              </a:buClr>
              <a:buSzPts val="2400"/>
              <a:buChar char="○"/>
              <a:defRPr>
                <a:solidFill>
                  <a:schemeClr val="dk1"/>
                </a:solidFill>
              </a:defRPr>
            </a:lvl5pPr>
            <a:lvl6pPr marL="2743200" lvl="5" indent="-381000" algn="l">
              <a:lnSpc>
                <a:spcPct val="100000"/>
              </a:lnSpc>
              <a:spcBef>
                <a:spcPts val="0"/>
              </a:spcBef>
              <a:spcAft>
                <a:spcPts val="0"/>
              </a:spcAft>
              <a:buClr>
                <a:schemeClr val="dk1"/>
              </a:buClr>
              <a:buSzPts val="2400"/>
              <a:buChar char="■"/>
              <a:defRPr>
                <a:solidFill>
                  <a:schemeClr val="dk1"/>
                </a:solidFill>
              </a:defRPr>
            </a:lvl6pPr>
            <a:lvl7pPr marL="3200400" lvl="6" indent="-381000" algn="l">
              <a:lnSpc>
                <a:spcPct val="100000"/>
              </a:lnSpc>
              <a:spcBef>
                <a:spcPts val="0"/>
              </a:spcBef>
              <a:spcAft>
                <a:spcPts val="0"/>
              </a:spcAft>
              <a:buClr>
                <a:schemeClr val="dk1"/>
              </a:buClr>
              <a:buSzPts val="2400"/>
              <a:buChar char="●"/>
              <a:defRPr>
                <a:solidFill>
                  <a:schemeClr val="dk1"/>
                </a:solidFill>
              </a:defRPr>
            </a:lvl7pPr>
            <a:lvl8pPr marL="3657600" lvl="7" indent="-381000" algn="l">
              <a:lnSpc>
                <a:spcPct val="100000"/>
              </a:lnSpc>
              <a:spcBef>
                <a:spcPts val="0"/>
              </a:spcBef>
              <a:spcAft>
                <a:spcPts val="0"/>
              </a:spcAft>
              <a:buClr>
                <a:schemeClr val="dk1"/>
              </a:buClr>
              <a:buSzPts val="2400"/>
              <a:buChar char="○"/>
              <a:defRPr>
                <a:solidFill>
                  <a:schemeClr val="dk1"/>
                </a:solidFill>
              </a:defRPr>
            </a:lvl8pPr>
            <a:lvl9pPr marL="4114800" lvl="8" indent="-381000" algn="l">
              <a:lnSpc>
                <a:spcPct val="100000"/>
              </a:lnSpc>
              <a:spcBef>
                <a:spcPts val="0"/>
              </a:spcBef>
              <a:spcAft>
                <a:spcPts val="0"/>
              </a:spcAft>
              <a:buClr>
                <a:schemeClr val="dk1"/>
              </a:buClr>
              <a:buSzPts val="2400"/>
              <a:buChar char="■"/>
              <a:defRPr>
                <a:solidFill>
                  <a:schemeClr val="dk1"/>
                </a:solidFill>
              </a:defRPr>
            </a:lvl9pPr>
          </a:lstStyle>
          <a:p>
            <a:r>
              <a:rPr lang="en-US" dirty="0"/>
              <a:t>Sa</a:t>
            </a:r>
          </a:p>
          <a:p>
            <a:pPr lvl="1"/>
            <a:r>
              <a:rPr lang="en-US" dirty="0"/>
              <a:t>f</a:t>
            </a:r>
            <a:endParaRPr dirty="0"/>
          </a:p>
        </p:txBody>
      </p:sp>
      <p:sp>
        <p:nvSpPr>
          <p:cNvPr id="18" name="Google Shape;18;p3"/>
          <p:cNvSpPr/>
          <p:nvPr/>
        </p:nvSpPr>
        <p:spPr>
          <a:xfrm>
            <a:off x="7356366" y="5066325"/>
            <a:ext cx="893700" cy="771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3"/>
          <p:cNvSpPr/>
          <p:nvPr/>
        </p:nvSpPr>
        <p:spPr>
          <a:xfrm>
            <a:off x="8250312" y="5066325"/>
            <a:ext cx="893700" cy="771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20;p3"/>
          <p:cNvSpPr/>
          <p:nvPr/>
        </p:nvSpPr>
        <p:spPr>
          <a:xfrm>
            <a:off x="0" y="5066325"/>
            <a:ext cx="893700" cy="771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 name="Google Shape;21;p3"/>
          <p:cNvSpPr/>
          <p:nvPr/>
        </p:nvSpPr>
        <p:spPr>
          <a:xfrm>
            <a:off x="893710" y="5066325"/>
            <a:ext cx="6462600" cy="771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 name="Google Shape;22;p3"/>
          <p:cNvSpPr txBox="1">
            <a:spLocks noGrp="1"/>
          </p:cNvSpPr>
          <p:nvPr>
            <p:ph type="sldNum" idx="12"/>
          </p:nvPr>
        </p:nvSpPr>
        <p:spPr>
          <a:xfrm>
            <a:off x="8480575" y="4696933"/>
            <a:ext cx="548700" cy="3135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accent6"/>
                </a:solidFill>
                <a:latin typeface="Lato"/>
                <a:ea typeface="Lato"/>
                <a:cs typeface="Lato"/>
                <a:sym typeface="Lato"/>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accent6"/>
                </a:solidFill>
                <a:latin typeface="Lato"/>
                <a:ea typeface="Lato"/>
                <a:cs typeface="Lato"/>
                <a:sym typeface="Lato"/>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accent6"/>
                </a:solidFill>
                <a:latin typeface="Lato"/>
                <a:ea typeface="Lato"/>
                <a:cs typeface="Lato"/>
                <a:sym typeface="Lato"/>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accent6"/>
                </a:solidFill>
                <a:latin typeface="Lato"/>
                <a:ea typeface="Lato"/>
                <a:cs typeface="Lato"/>
                <a:sym typeface="Lato"/>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accent6"/>
                </a:solidFill>
                <a:latin typeface="Lato"/>
                <a:ea typeface="Lato"/>
                <a:cs typeface="Lato"/>
                <a:sym typeface="Lato"/>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accent6"/>
                </a:solidFill>
                <a:latin typeface="Lato"/>
                <a:ea typeface="Lato"/>
                <a:cs typeface="Lato"/>
                <a:sym typeface="Lato"/>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accent6"/>
                </a:solidFill>
                <a:latin typeface="Lato"/>
                <a:ea typeface="Lato"/>
                <a:cs typeface="Lato"/>
                <a:sym typeface="Lato"/>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accent6"/>
                </a:solidFill>
                <a:latin typeface="Lato"/>
                <a:ea typeface="Lato"/>
                <a:cs typeface="Lato"/>
                <a:sym typeface="Lato"/>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accent6"/>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ubtitle">
  <p:cSld name="Subtitle">
    <p:spTree>
      <p:nvGrpSpPr>
        <p:cNvPr id="1" name="Shape 15"/>
        <p:cNvGrpSpPr/>
        <p:nvPr/>
      </p:nvGrpSpPr>
      <p:grpSpPr>
        <a:xfrm>
          <a:off x="0" y="0"/>
          <a:ext cx="0" cy="0"/>
          <a:chOff x="0" y="0"/>
          <a:chExt cx="0" cy="0"/>
        </a:xfrm>
      </p:grpSpPr>
      <p:sp>
        <p:nvSpPr>
          <p:cNvPr id="16" name="Google Shape;16;p3"/>
          <p:cNvSpPr/>
          <p:nvPr/>
        </p:nvSpPr>
        <p:spPr>
          <a:xfrm>
            <a:off x="0" y="0"/>
            <a:ext cx="9144000" cy="3993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3"/>
          <p:cNvSpPr txBox="1">
            <a:spLocks noGrp="1"/>
          </p:cNvSpPr>
          <p:nvPr>
            <p:ph type="ctrTitle"/>
          </p:nvPr>
        </p:nvSpPr>
        <p:spPr>
          <a:xfrm>
            <a:off x="685800" y="1583342"/>
            <a:ext cx="7772400" cy="11598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4800"/>
              <a:buNone/>
              <a:defRPr sz="4800">
                <a:solidFill>
                  <a:schemeClr val="lt1"/>
                </a:solidFill>
              </a:defRPr>
            </a:lvl1pPr>
            <a:lvl2pPr lvl="1" algn="ctr" rtl="0">
              <a:spcBef>
                <a:spcPts val="0"/>
              </a:spcBef>
              <a:spcAft>
                <a:spcPts val="0"/>
              </a:spcAft>
              <a:buClr>
                <a:schemeClr val="lt1"/>
              </a:buClr>
              <a:buSzPts val="4800"/>
              <a:buNone/>
              <a:defRPr sz="4800">
                <a:solidFill>
                  <a:schemeClr val="lt1"/>
                </a:solidFill>
              </a:defRPr>
            </a:lvl2pPr>
            <a:lvl3pPr lvl="2" algn="ctr" rtl="0">
              <a:spcBef>
                <a:spcPts val="0"/>
              </a:spcBef>
              <a:spcAft>
                <a:spcPts val="0"/>
              </a:spcAft>
              <a:buClr>
                <a:schemeClr val="lt1"/>
              </a:buClr>
              <a:buSzPts val="4800"/>
              <a:buNone/>
              <a:defRPr sz="4800">
                <a:solidFill>
                  <a:schemeClr val="lt1"/>
                </a:solidFill>
              </a:defRPr>
            </a:lvl3pPr>
            <a:lvl4pPr lvl="3" algn="ctr" rtl="0">
              <a:spcBef>
                <a:spcPts val="0"/>
              </a:spcBef>
              <a:spcAft>
                <a:spcPts val="0"/>
              </a:spcAft>
              <a:buClr>
                <a:schemeClr val="lt1"/>
              </a:buClr>
              <a:buSzPts val="4800"/>
              <a:buNone/>
              <a:defRPr sz="4800">
                <a:solidFill>
                  <a:schemeClr val="lt1"/>
                </a:solidFill>
              </a:defRPr>
            </a:lvl4pPr>
            <a:lvl5pPr lvl="4" algn="ctr" rtl="0">
              <a:spcBef>
                <a:spcPts val="0"/>
              </a:spcBef>
              <a:spcAft>
                <a:spcPts val="0"/>
              </a:spcAft>
              <a:buClr>
                <a:schemeClr val="lt1"/>
              </a:buClr>
              <a:buSzPts val="4800"/>
              <a:buNone/>
              <a:defRPr sz="4800">
                <a:solidFill>
                  <a:schemeClr val="lt1"/>
                </a:solidFill>
              </a:defRPr>
            </a:lvl5pPr>
            <a:lvl6pPr lvl="5" algn="ctr" rtl="0">
              <a:spcBef>
                <a:spcPts val="0"/>
              </a:spcBef>
              <a:spcAft>
                <a:spcPts val="0"/>
              </a:spcAft>
              <a:buClr>
                <a:schemeClr val="lt1"/>
              </a:buClr>
              <a:buSzPts val="4800"/>
              <a:buNone/>
              <a:defRPr sz="4800">
                <a:solidFill>
                  <a:schemeClr val="lt1"/>
                </a:solidFill>
              </a:defRPr>
            </a:lvl6pPr>
            <a:lvl7pPr lvl="6" algn="ctr" rtl="0">
              <a:spcBef>
                <a:spcPts val="0"/>
              </a:spcBef>
              <a:spcAft>
                <a:spcPts val="0"/>
              </a:spcAft>
              <a:buClr>
                <a:schemeClr val="lt1"/>
              </a:buClr>
              <a:buSzPts val="4800"/>
              <a:buNone/>
              <a:defRPr sz="4800">
                <a:solidFill>
                  <a:schemeClr val="lt1"/>
                </a:solidFill>
              </a:defRPr>
            </a:lvl7pPr>
            <a:lvl8pPr lvl="7" algn="ctr" rtl="0">
              <a:spcBef>
                <a:spcPts val="0"/>
              </a:spcBef>
              <a:spcAft>
                <a:spcPts val="0"/>
              </a:spcAft>
              <a:buClr>
                <a:schemeClr val="lt1"/>
              </a:buClr>
              <a:buSzPts val="4800"/>
              <a:buNone/>
              <a:defRPr sz="4800">
                <a:solidFill>
                  <a:schemeClr val="lt1"/>
                </a:solidFill>
              </a:defRPr>
            </a:lvl8pPr>
            <a:lvl9pPr lvl="8" algn="ctr" rtl="0">
              <a:spcBef>
                <a:spcPts val="0"/>
              </a:spcBef>
              <a:spcAft>
                <a:spcPts val="0"/>
              </a:spcAft>
              <a:buClr>
                <a:schemeClr val="lt1"/>
              </a:buClr>
              <a:buSzPts val="4800"/>
              <a:buNone/>
              <a:defRPr sz="4800">
                <a:solidFill>
                  <a:schemeClr val="lt1"/>
                </a:solidFill>
              </a:defRPr>
            </a:lvl9pPr>
          </a:lstStyle>
          <a:p>
            <a:endParaRPr/>
          </a:p>
        </p:txBody>
      </p:sp>
      <p:sp>
        <p:nvSpPr>
          <p:cNvPr id="18" name="Google Shape;18;p3"/>
          <p:cNvSpPr txBox="1">
            <a:spLocks noGrp="1"/>
          </p:cNvSpPr>
          <p:nvPr>
            <p:ph type="subTitle" idx="1"/>
          </p:nvPr>
        </p:nvSpPr>
        <p:spPr>
          <a:xfrm>
            <a:off x="685800" y="2840053"/>
            <a:ext cx="7772400" cy="7848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1"/>
              </a:buClr>
              <a:buSzPts val="2400"/>
              <a:buNone/>
              <a:defRPr sz="2400" b="1">
                <a:solidFill>
                  <a:schemeClr val="lt1"/>
                </a:solidFill>
              </a:defRPr>
            </a:lvl1pPr>
            <a:lvl2pPr lvl="1" algn="ctr" rtl="0">
              <a:spcBef>
                <a:spcPts val="0"/>
              </a:spcBef>
              <a:spcAft>
                <a:spcPts val="0"/>
              </a:spcAft>
              <a:buClr>
                <a:schemeClr val="lt1"/>
              </a:buClr>
              <a:buSzPts val="2400"/>
              <a:buNone/>
              <a:defRPr b="1">
                <a:solidFill>
                  <a:schemeClr val="lt1"/>
                </a:solidFill>
              </a:defRPr>
            </a:lvl2pPr>
            <a:lvl3pPr lvl="2" algn="ctr" rtl="0">
              <a:spcBef>
                <a:spcPts val="0"/>
              </a:spcBef>
              <a:spcAft>
                <a:spcPts val="0"/>
              </a:spcAft>
              <a:buClr>
                <a:schemeClr val="lt1"/>
              </a:buClr>
              <a:buSzPts val="2400"/>
              <a:buNone/>
              <a:defRPr b="1">
                <a:solidFill>
                  <a:schemeClr val="lt1"/>
                </a:solidFill>
              </a:defRPr>
            </a:lvl3pPr>
            <a:lvl4pPr lvl="3" algn="ctr" rtl="0">
              <a:spcBef>
                <a:spcPts val="0"/>
              </a:spcBef>
              <a:spcAft>
                <a:spcPts val="0"/>
              </a:spcAft>
              <a:buClr>
                <a:schemeClr val="lt1"/>
              </a:buClr>
              <a:buSzPts val="2400"/>
              <a:buNone/>
              <a:defRPr sz="2400" b="1">
                <a:solidFill>
                  <a:schemeClr val="lt1"/>
                </a:solidFill>
              </a:defRPr>
            </a:lvl4pPr>
            <a:lvl5pPr lvl="4" algn="ctr" rtl="0">
              <a:spcBef>
                <a:spcPts val="0"/>
              </a:spcBef>
              <a:spcAft>
                <a:spcPts val="0"/>
              </a:spcAft>
              <a:buClr>
                <a:schemeClr val="lt1"/>
              </a:buClr>
              <a:buSzPts val="2400"/>
              <a:buNone/>
              <a:defRPr sz="2400" b="1">
                <a:solidFill>
                  <a:schemeClr val="lt1"/>
                </a:solidFill>
              </a:defRPr>
            </a:lvl5pPr>
            <a:lvl6pPr lvl="5" algn="ctr" rtl="0">
              <a:spcBef>
                <a:spcPts val="0"/>
              </a:spcBef>
              <a:spcAft>
                <a:spcPts val="0"/>
              </a:spcAft>
              <a:buClr>
                <a:schemeClr val="lt1"/>
              </a:buClr>
              <a:buSzPts val="2400"/>
              <a:buNone/>
              <a:defRPr sz="2400" b="1">
                <a:solidFill>
                  <a:schemeClr val="lt1"/>
                </a:solidFill>
              </a:defRPr>
            </a:lvl6pPr>
            <a:lvl7pPr lvl="6" algn="ctr" rtl="0">
              <a:spcBef>
                <a:spcPts val="0"/>
              </a:spcBef>
              <a:spcAft>
                <a:spcPts val="0"/>
              </a:spcAft>
              <a:buClr>
                <a:schemeClr val="lt1"/>
              </a:buClr>
              <a:buSzPts val="2400"/>
              <a:buNone/>
              <a:defRPr sz="2400" b="1">
                <a:solidFill>
                  <a:schemeClr val="lt1"/>
                </a:solidFill>
              </a:defRPr>
            </a:lvl7pPr>
            <a:lvl8pPr lvl="7" algn="ctr" rtl="0">
              <a:spcBef>
                <a:spcPts val="0"/>
              </a:spcBef>
              <a:spcAft>
                <a:spcPts val="0"/>
              </a:spcAft>
              <a:buClr>
                <a:schemeClr val="lt1"/>
              </a:buClr>
              <a:buSzPts val="2400"/>
              <a:buNone/>
              <a:defRPr sz="2400" b="1">
                <a:solidFill>
                  <a:schemeClr val="lt1"/>
                </a:solidFill>
              </a:defRPr>
            </a:lvl8pPr>
            <a:lvl9pPr lvl="8" algn="ctr" rtl="0">
              <a:spcBef>
                <a:spcPts val="0"/>
              </a:spcBef>
              <a:spcAft>
                <a:spcPts val="0"/>
              </a:spcAft>
              <a:buClr>
                <a:schemeClr val="lt1"/>
              </a:buClr>
              <a:buSzPts val="2400"/>
              <a:buNone/>
              <a:defRPr sz="2400" b="1">
                <a:solidFill>
                  <a:schemeClr val="lt1"/>
                </a:solidFill>
              </a:defRPr>
            </a:lvl9pPr>
          </a:lstStyle>
          <a:p>
            <a:endParaRPr/>
          </a:p>
        </p:txBody>
      </p:sp>
      <p:sp>
        <p:nvSpPr>
          <p:cNvPr id="19" name="Google Shape;19;p3"/>
          <p:cNvSpPr/>
          <p:nvPr/>
        </p:nvSpPr>
        <p:spPr>
          <a:xfrm>
            <a:off x="3047704" y="3992850"/>
            <a:ext cx="3047700" cy="771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a:off x="6096271" y="3992850"/>
            <a:ext cx="3047700" cy="771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3"/>
          <p:cNvSpPr/>
          <p:nvPr/>
        </p:nvSpPr>
        <p:spPr>
          <a:xfrm>
            <a:off x="1" y="3992850"/>
            <a:ext cx="3047700" cy="77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txBox="1">
            <a:spLocks noGrp="1"/>
          </p:cNvSpPr>
          <p:nvPr>
            <p:ph type="sldNum" idx="12"/>
          </p:nvPr>
        </p:nvSpPr>
        <p:spPr>
          <a:xfrm>
            <a:off x="-125" y="4830281"/>
            <a:ext cx="9144000" cy="313500"/>
          </a:xfrm>
          <a:prstGeom prst="rect">
            <a:avLst/>
          </a:prstGeom>
        </p:spPr>
        <p:txBody>
          <a:bodyPr spcFirstLastPara="1" wrap="square" lIns="91425" tIns="91425" rIns="91425" bIns="91425" anchor="t" anchorCtr="0">
            <a:noAutofit/>
          </a:bodyPr>
          <a:lstStyle>
            <a:lvl1pPr lvl="0" algn="ctr">
              <a:buNone/>
              <a:defRPr/>
            </a:lvl1pPr>
            <a:lvl2pPr lvl="1" algn="ctr">
              <a:buNone/>
              <a:defRPr/>
            </a:lvl2pPr>
            <a:lvl3pPr lvl="2" algn="ctr">
              <a:buNone/>
              <a:defRPr/>
            </a:lvl3pPr>
            <a:lvl4pPr lvl="3" algn="ctr">
              <a:buNone/>
              <a:defRPr/>
            </a:lvl4pPr>
            <a:lvl5pPr lvl="4" algn="ctr">
              <a:buNone/>
              <a:defRPr/>
            </a:lvl5pPr>
            <a:lvl6pPr lvl="5" algn="ctr">
              <a:buNone/>
              <a:defRPr/>
            </a:lvl6pPr>
            <a:lvl7pPr lvl="6" algn="ctr">
              <a:buNone/>
              <a:defRPr/>
            </a:lvl7pPr>
            <a:lvl8pPr lvl="7" algn="ctr">
              <a:buNone/>
              <a:defRPr/>
            </a:lvl8pPr>
            <a:lvl9pPr lvl="8" algn="ctr">
              <a:buNone/>
              <a:defRPr/>
            </a:lvl9pPr>
          </a:lstStyle>
          <a:p>
            <a:pPr marL="0" lvl="0" indent="0" algn="ct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2425129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rgbClr val="333940"/>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2000" b="0" i="0">
                <a:solidFill>
                  <a:srgbClr val="12171A"/>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6/16/2026</a:t>
            </a:fld>
            <a:endParaRPr lang="en-US"/>
          </a:p>
        </p:txBody>
      </p:sp>
      <p:sp>
        <p:nvSpPr>
          <p:cNvPr id="6" name="Holder 6"/>
          <p:cNvSpPr>
            <a:spLocks noGrp="1"/>
          </p:cNvSpPr>
          <p:nvPr>
            <p:ph type="sldNum" sz="quarter" idx="7"/>
          </p:nvPr>
        </p:nvSpPr>
        <p:spPr/>
        <p:txBody>
          <a:bodyPr lIns="0" tIns="0" rIns="0" bIns="0"/>
          <a:lstStyle>
            <a:lvl1pPr>
              <a:defRPr sz="1300" b="0" i="0">
                <a:solidFill>
                  <a:srgbClr val="96ABBB"/>
                </a:solidFill>
                <a:latin typeface="Franklin Gothic Book"/>
                <a:cs typeface="Franklin Gothic Book"/>
              </a:defRPr>
            </a:lvl1pPr>
          </a:lstStyle>
          <a:p>
            <a:pPr marL="133985">
              <a:lnSpc>
                <a:spcPct val="100000"/>
              </a:lnSpc>
              <a:spcBef>
                <a:spcPts val="80"/>
              </a:spcBef>
            </a:pPr>
            <a:fld id="{81D60167-4931-47E6-BA6A-407CBD079E47}" type="slidenum">
              <a:rPr spc="-50" dirty="0"/>
              <a:t>‹#›</a:t>
            </a:fld>
            <a:endParaRPr spc="-50" dirty="0"/>
          </a:p>
        </p:txBody>
      </p:sp>
    </p:spTree>
    <p:extLst>
      <p:ext uri="{BB962C8B-B14F-4D97-AF65-F5344CB8AC3E}">
        <p14:creationId xmlns:p14="http://schemas.microsoft.com/office/powerpoint/2010/main" val="716535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6/16/2026</a:t>
            </a:fld>
            <a:endParaRPr lang="en-US"/>
          </a:p>
        </p:txBody>
      </p:sp>
      <p:sp>
        <p:nvSpPr>
          <p:cNvPr id="4" name="Holder 4"/>
          <p:cNvSpPr>
            <a:spLocks noGrp="1"/>
          </p:cNvSpPr>
          <p:nvPr>
            <p:ph type="sldNum" sz="quarter" idx="7"/>
          </p:nvPr>
        </p:nvSpPr>
        <p:spPr/>
        <p:txBody>
          <a:bodyPr lIns="0" tIns="0" rIns="0" bIns="0"/>
          <a:lstStyle>
            <a:lvl1pPr>
              <a:defRPr sz="1300" b="0" i="0">
                <a:solidFill>
                  <a:srgbClr val="96ABBB"/>
                </a:solidFill>
                <a:latin typeface="Franklin Gothic Book"/>
                <a:cs typeface="Franklin Gothic Book"/>
              </a:defRPr>
            </a:lvl1pPr>
          </a:lstStyle>
          <a:p>
            <a:pPr marL="133985">
              <a:lnSpc>
                <a:spcPct val="100000"/>
              </a:lnSpc>
              <a:spcBef>
                <a:spcPts val="80"/>
              </a:spcBef>
            </a:pPr>
            <a:fld id="{81D60167-4931-47E6-BA6A-407CBD079E47}" type="slidenum">
              <a:rPr spc="-50" dirty="0"/>
              <a:t>‹#›</a:t>
            </a:fld>
            <a:endParaRPr spc="-50" dirty="0"/>
          </a:p>
        </p:txBody>
      </p:sp>
    </p:spTree>
    <p:extLst>
      <p:ext uri="{BB962C8B-B14F-4D97-AF65-F5344CB8AC3E}">
        <p14:creationId xmlns:p14="http://schemas.microsoft.com/office/powerpoint/2010/main" val="17578154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rgbClr val="333940"/>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6/16/2026</a:t>
            </a:fld>
            <a:endParaRPr lang="en-US"/>
          </a:p>
        </p:txBody>
      </p:sp>
      <p:sp>
        <p:nvSpPr>
          <p:cNvPr id="5" name="Holder 5"/>
          <p:cNvSpPr>
            <a:spLocks noGrp="1"/>
          </p:cNvSpPr>
          <p:nvPr>
            <p:ph type="sldNum" sz="quarter" idx="7"/>
          </p:nvPr>
        </p:nvSpPr>
        <p:spPr/>
        <p:txBody>
          <a:bodyPr lIns="0" tIns="0" rIns="0" bIns="0"/>
          <a:lstStyle>
            <a:lvl1pPr>
              <a:defRPr sz="1300" b="0" i="0">
                <a:solidFill>
                  <a:srgbClr val="96ABBB"/>
                </a:solidFill>
                <a:latin typeface="Franklin Gothic Book"/>
                <a:cs typeface="Franklin Gothic Book"/>
              </a:defRPr>
            </a:lvl1pPr>
          </a:lstStyle>
          <a:p>
            <a:pPr marL="133985">
              <a:lnSpc>
                <a:spcPct val="100000"/>
              </a:lnSpc>
              <a:spcBef>
                <a:spcPts val="80"/>
              </a:spcBef>
            </a:pPr>
            <a:fld id="{81D60167-4931-47E6-BA6A-407CBD079E47}" type="slidenum">
              <a:rPr spc="-50" dirty="0"/>
              <a:t>‹#›</a:t>
            </a:fld>
            <a:endParaRPr spc="-50" dirty="0"/>
          </a:p>
        </p:txBody>
      </p:sp>
    </p:spTree>
    <p:extLst>
      <p:ext uri="{BB962C8B-B14F-4D97-AF65-F5344CB8AC3E}">
        <p14:creationId xmlns:p14="http://schemas.microsoft.com/office/powerpoint/2010/main" val="15291717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93700" y="358388"/>
            <a:ext cx="6462600" cy="857400"/>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chemeClr val="accent6"/>
              </a:buClr>
              <a:buSzPts val="3200"/>
              <a:buFont typeface="Raleway"/>
              <a:buNone/>
              <a:defRPr sz="3200" b="0" i="0" u="none" strike="noStrike" cap="none">
                <a:solidFill>
                  <a:schemeClr val="accent6"/>
                </a:solidFill>
                <a:latin typeface="Raleway"/>
                <a:ea typeface="Raleway"/>
                <a:cs typeface="Raleway"/>
                <a:sym typeface="Raleway"/>
              </a:defRPr>
            </a:lvl1pPr>
            <a:lvl2pPr marR="0" lvl="1" algn="l" rtl="0">
              <a:lnSpc>
                <a:spcPct val="100000"/>
              </a:lnSpc>
              <a:spcBef>
                <a:spcPts val="0"/>
              </a:spcBef>
              <a:spcAft>
                <a:spcPts val="0"/>
              </a:spcAft>
              <a:buClr>
                <a:schemeClr val="accent6"/>
              </a:buClr>
              <a:buSzPts val="3200"/>
              <a:buFont typeface="Raleway"/>
              <a:buNone/>
              <a:defRPr sz="3200" b="0" i="0" u="none" strike="noStrike" cap="none">
                <a:solidFill>
                  <a:schemeClr val="accent6"/>
                </a:solidFill>
                <a:latin typeface="Raleway"/>
                <a:ea typeface="Raleway"/>
                <a:cs typeface="Raleway"/>
                <a:sym typeface="Raleway"/>
              </a:defRPr>
            </a:lvl2pPr>
            <a:lvl3pPr marR="0" lvl="2" algn="l" rtl="0">
              <a:lnSpc>
                <a:spcPct val="100000"/>
              </a:lnSpc>
              <a:spcBef>
                <a:spcPts val="0"/>
              </a:spcBef>
              <a:spcAft>
                <a:spcPts val="0"/>
              </a:spcAft>
              <a:buClr>
                <a:schemeClr val="accent6"/>
              </a:buClr>
              <a:buSzPts val="3200"/>
              <a:buFont typeface="Raleway"/>
              <a:buNone/>
              <a:defRPr sz="3200" b="0" i="0" u="none" strike="noStrike" cap="none">
                <a:solidFill>
                  <a:schemeClr val="accent6"/>
                </a:solidFill>
                <a:latin typeface="Raleway"/>
                <a:ea typeface="Raleway"/>
                <a:cs typeface="Raleway"/>
                <a:sym typeface="Raleway"/>
              </a:defRPr>
            </a:lvl3pPr>
            <a:lvl4pPr marR="0" lvl="3" algn="l" rtl="0">
              <a:lnSpc>
                <a:spcPct val="100000"/>
              </a:lnSpc>
              <a:spcBef>
                <a:spcPts val="0"/>
              </a:spcBef>
              <a:spcAft>
                <a:spcPts val="0"/>
              </a:spcAft>
              <a:buClr>
                <a:schemeClr val="accent6"/>
              </a:buClr>
              <a:buSzPts val="3200"/>
              <a:buFont typeface="Raleway"/>
              <a:buNone/>
              <a:defRPr sz="3200" b="0" i="0" u="none" strike="noStrike" cap="none">
                <a:solidFill>
                  <a:schemeClr val="accent6"/>
                </a:solidFill>
                <a:latin typeface="Raleway"/>
                <a:ea typeface="Raleway"/>
                <a:cs typeface="Raleway"/>
                <a:sym typeface="Raleway"/>
              </a:defRPr>
            </a:lvl4pPr>
            <a:lvl5pPr marR="0" lvl="4" algn="l" rtl="0">
              <a:lnSpc>
                <a:spcPct val="100000"/>
              </a:lnSpc>
              <a:spcBef>
                <a:spcPts val="0"/>
              </a:spcBef>
              <a:spcAft>
                <a:spcPts val="0"/>
              </a:spcAft>
              <a:buClr>
                <a:schemeClr val="accent6"/>
              </a:buClr>
              <a:buSzPts val="3200"/>
              <a:buFont typeface="Raleway"/>
              <a:buNone/>
              <a:defRPr sz="3200" b="0" i="0" u="none" strike="noStrike" cap="none">
                <a:solidFill>
                  <a:schemeClr val="accent6"/>
                </a:solidFill>
                <a:latin typeface="Raleway"/>
                <a:ea typeface="Raleway"/>
                <a:cs typeface="Raleway"/>
                <a:sym typeface="Raleway"/>
              </a:defRPr>
            </a:lvl5pPr>
            <a:lvl6pPr marR="0" lvl="5" algn="l" rtl="0">
              <a:lnSpc>
                <a:spcPct val="100000"/>
              </a:lnSpc>
              <a:spcBef>
                <a:spcPts val="0"/>
              </a:spcBef>
              <a:spcAft>
                <a:spcPts val="0"/>
              </a:spcAft>
              <a:buClr>
                <a:schemeClr val="accent6"/>
              </a:buClr>
              <a:buSzPts val="3200"/>
              <a:buFont typeface="Raleway"/>
              <a:buNone/>
              <a:defRPr sz="3200" b="0" i="0" u="none" strike="noStrike" cap="none">
                <a:solidFill>
                  <a:schemeClr val="accent6"/>
                </a:solidFill>
                <a:latin typeface="Raleway"/>
                <a:ea typeface="Raleway"/>
                <a:cs typeface="Raleway"/>
                <a:sym typeface="Raleway"/>
              </a:defRPr>
            </a:lvl6pPr>
            <a:lvl7pPr marR="0" lvl="6" algn="l" rtl="0">
              <a:lnSpc>
                <a:spcPct val="100000"/>
              </a:lnSpc>
              <a:spcBef>
                <a:spcPts val="0"/>
              </a:spcBef>
              <a:spcAft>
                <a:spcPts val="0"/>
              </a:spcAft>
              <a:buClr>
                <a:schemeClr val="accent6"/>
              </a:buClr>
              <a:buSzPts val="3200"/>
              <a:buFont typeface="Raleway"/>
              <a:buNone/>
              <a:defRPr sz="3200" b="0" i="0" u="none" strike="noStrike" cap="none">
                <a:solidFill>
                  <a:schemeClr val="accent6"/>
                </a:solidFill>
                <a:latin typeface="Raleway"/>
                <a:ea typeface="Raleway"/>
                <a:cs typeface="Raleway"/>
                <a:sym typeface="Raleway"/>
              </a:defRPr>
            </a:lvl7pPr>
            <a:lvl8pPr marR="0" lvl="7" algn="l" rtl="0">
              <a:lnSpc>
                <a:spcPct val="100000"/>
              </a:lnSpc>
              <a:spcBef>
                <a:spcPts val="0"/>
              </a:spcBef>
              <a:spcAft>
                <a:spcPts val="0"/>
              </a:spcAft>
              <a:buClr>
                <a:schemeClr val="accent6"/>
              </a:buClr>
              <a:buSzPts val="3200"/>
              <a:buFont typeface="Raleway"/>
              <a:buNone/>
              <a:defRPr sz="3200" b="0" i="0" u="none" strike="noStrike" cap="none">
                <a:solidFill>
                  <a:schemeClr val="accent6"/>
                </a:solidFill>
                <a:latin typeface="Raleway"/>
                <a:ea typeface="Raleway"/>
                <a:cs typeface="Raleway"/>
                <a:sym typeface="Raleway"/>
              </a:defRPr>
            </a:lvl8pPr>
            <a:lvl9pPr marR="0" lvl="8" algn="l" rtl="0">
              <a:lnSpc>
                <a:spcPct val="100000"/>
              </a:lnSpc>
              <a:spcBef>
                <a:spcPts val="0"/>
              </a:spcBef>
              <a:spcAft>
                <a:spcPts val="0"/>
              </a:spcAft>
              <a:buClr>
                <a:schemeClr val="accent6"/>
              </a:buClr>
              <a:buSzPts val="3200"/>
              <a:buFont typeface="Raleway"/>
              <a:buNone/>
              <a:defRPr sz="3200" b="0" i="0" u="none" strike="noStrike" cap="none">
                <a:solidFill>
                  <a:schemeClr val="accent6"/>
                </a:solidFill>
                <a:latin typeface="Raleway"/>
                <a:ea typeface="Raleway"/>
                <a:cs typeface="Raleway"/>
                <a:sym typeface="Raleway"/>
              </a:defRPr>
            </a:lvl9pPr>
          </a:lstStyle>
          <a:p>
            <a:endParaRPr dirty="0"/>
          </a:p>
        </p:txBody>
      </p:sp>
      <p:sp>
        <p:nvSpPr>
          <p:cNvPr id="7" name="Google Shape;7;p1"/>
          <p:cNvSpPr txBox="1">
            <a:spLocks noGrp="1"/>
          </p:cNvSpPr>
          <p:nvPr>
            <p:ph type="body" idx="1"/>
          </p:nvPr>
        </p:nvSpPr>
        <p:spPr>
          <a:xfrm>
            <a:off x="893700" y="1373588"/>
            <a:ext cx="6462600" cy="3552300"/>
          </a:xfrm>
          <a:prstGeom prst="rect">
            <a:avLst/>
          </a:prstGeom>
          <a:noFill/>
          <a:ln>
            <a:noFill/>
          </a:ln>
        </p:spPr>
        <p:txBody>
          <a:bodyPr spcFirstLastPara="1" wrap="square" lIns="91425" tIns="91425" rIns="91425" bIns="91425" anchor="t" anchorCtr="0">
            <a:noAutofit/>
          </a:bodyPr>
          <a:lstStyle>
            <a:lvl1pPr marL="457200" marR="0" lvl="0" indent="-381000" algn="l" rtl="0">
              <a:lnSpc>
                <a:spcPct val="100000"/>
              </a:lnSpc>
              <a:spcBef>
                <a:spcPts val="600"/>
              </a:spcBef>
              <a:spcAft>
                <a:spcPts val="0"/>
              </a:spcAft>
              <a:buClr>
                <a:schemeClr val="accent6"/>
              </a:buClr>
              <a:buSzPts val="2400"/>
              <a:buFont typeface="Lato"/>
              <a:buChar char="▷"/>
              <a:defRPr sz="2400" b="0" i="0" u="none" strike="noStrike" cap="none">
                <a:solidFill>
                  <a:schemeClr val="dk1"/>
                </a:solidFill>
                <a:latin typeface="Lato"/>
                <a:ea typeface="Lato"/>
                <a:cs typeface="Lato"/>
                <a:sym typeface="Lato"/>
              </a:defRPr>
            </a:lvl1pPr>
            <a:lvl2pPr marL="914400" marR="0" lvl="1"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2pPr>
            <a:lvl3pPr marL="1371600" marR="0" lvl="2"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3pPr>
            <a:lvl4pPr marL="1828800" marR="0" lvl="3"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4pPr>
            <a:lvl5pPr marL="2286000" marR="0" lvl="4"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5pPr>
            <a:lvl6pPr marL="2743200" marR="0" lvl="5"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6pPr>
            <a:lvl7pPr marL="3200400" marR="0" lvl="6"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7pPr>
            <a:lvl8pPr marL="3657600" marR="0" lvl="7"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8pPr>
            <a:lvl9pPr marL="4114800" marR="0" lvl="8" indent="-381000" algn="l" rtl="0">
              <a:lnSpc>
                <a:spcPct val="100000"/>
              </a:lnSpc>
              <a:spcBef>
                <a:spcPts val="0"/>
              </a:spcBef>
              <a:spcAft>
                <a:spcPts val="0"/>
              </a:spcAft>
              <a:buClr>
                <a:schemeClr val="dk1"/>
              </a:buClr>
              <a:buSzPts val="2400"/>
              <a:buFont typeface="Lato"/>
              <a:buChar char="■"/>
              <a:defRPr sz="2400" b="0" i="0" u="none" strike="noStrike" cap="none">
                <a:solidFill>
                  <a:schemeClr val="dk1"/>
                </a:solidFill>
                <a:latin typeface="Lato"/>
                <a:ea typeface="Lato"/>
                <a:cs typeface="Lato"/>
                <a:sym typeface="Lato"/>
              </a:defRPr>
            </a:lvl9pPr>
          </a:lstStyle>
          <a:p>
            <a:r>
              <a:rPr lang="en-US" dirty="0" err="1"/>
              <a:t>sa</a:t>
            </a:r>
            <a:endParaRPr dirty="0"/>
          </a:p>
        </p:txBody>
      </p:sp>
      <p:sp>
        <p:nvSpPr>
          <p:cNvPr id="8" name="Google Shape;8;p1"/>
          <p:cNvSpPr txBox="1">
            <a:spLocks noGrp="1"/>
          </p:cNvSpPr>
          <p:nvPr>
            <p:ph type="sldNum" idx="12"/>
          </p:nvPr>
        </p:nvSpPr>
        <p:spPr>
          <a:xfrm>
            <a:off x="8480575" y="4696933"/>
            <a:ext cx="548700" cy="313500"/>
          </a:xfrm>
          <a:prstGeom prst="rect">
            <a:avLst/>
          </a:prstGeom>
          <a:noFill/>
          <a:ln>
            <a:noFill/>
          </a:ln>
        </p:spPr>
        <p:txBody>
          <a:bodyPr spcFirstLastPara="1" wrap="square" lIns="91425" tIns="91425" rIns="91425" bIns="91425" anchor="t" anchorCtr="0">
            <a:noAutofit/>
          </a:bodyPr>
          <a:lstStyle>
            <a:lvl1pPr marL="0" marR="0" lvl="0" indent="0" algn="r" rtl="0">
              <a:lnSpc>
                <a:spcPct val="100000"/>
              </a:lnSpc>
              <a:spcBef>
                <a:spcPts val="0"/>
              </a:spcBef>
              <a:spcAft>
                <a:spcPts val="0"/>
              </a:spcAft>
              <a:buClr>
                <a:srgbClr val="000000"/>
              </a:buClr>
              <a:buSzPts val="1300"/>
              <a:buFont typeface="Arial"/>
              <a:buNone/>
              <a:defRPr sz="1300" b="0" i="0" u="none" strike="noStrike" cap="none">
                <a:solidFill>
                  <a:schemeClr val="accent6"/>
                </a:solidFill>
                <a:latin typeface="Lato"/>
                <a:ea typeface="Lato"/>
                <a:cs typeface="Lato"/>
                <a:sym typeface="Lato"/>
              </a:defRPr>
            </a:lvl1pPr>
            <a:lvl2pPr marL="0" marR="0" lvl="1" indent="0" algn="r" rtl="0">
              <a:lnSpc>
                <a:spcPct val="100000"/>
              </a:lnSpc>
              <a:spcBef>
                <a:spcPts val="0"/>
              </a:spcBef>
              <a:spcAft>
                <a:spcPts val="0"/>
              </a:spcAft>
              <a:buClr>
                <a:srgbClr val="000000"/>
              </a:buClr>
              <a:buSzPts val="1300"/>
              <a:buFont typeface="Arial"/>
              <a:buNone/>
              <a:defRPr sz="1300" b="0" i="0" u="none" strike="noStrike" cap="none">
                <a:solidFill>
                  <a:schemeClr val="accent6"/>
                </a:solidFill>
                <a:latin typeface="Lato"/>
                <a:ea typeface="Lato"/>
                <a:cs typeface="Lato"/>
                <a:sym typeface="Lato"/>
              </a:defRPr>
            </a:lvl2pPr>
            <a:lvl3pPr marL="0" marR="0" lvl="2" indent="0" algn="r" rtl="0">
              <a:lnSpc>
                <a:spcPct val="100000"/>
              </a:lnSpc>
              <a:spcBef>
                <a:spcPts val="0"/>
              </a:spcBef>
              <a:spcAft>
                <a:spcPts val="0"/>
              </a:spcAft>
              <a:buClr>
                <a:srgbClr val="000000"/>
              </a:buClr>
              <a:buSzPts val="1300"/>
              <a:buFont typeface="Arial"/>
              <a:buNone/>
              <a:defRPr sz="1300" b="0" i="0" u="none" strike="noStrike" cap="none">
                <a:solidFill>
                  <a:schemeClr val="accent6"/>
                </a:solidFill>
                <a:latin typeface="Lato"/>
                <a:ea typeface="Lato"/>
                <a:cs typeface="Lato"/>
                <a:sym typeface="Lato"/>
              </a:defRPr>
            </a:lvl3pPr>
            <a:lvl4pPr marL="0" marR="0" lvl="3" indent="0" algn="r" rtl="0">
              <a:lnSpc>
                <a:spcPct val="100000"/>
              </a:lnSpc>
              <a:spcBef>
                <a:spcPts val="0"/>
              </a:spcBef>
              <a:spcAft>
                <a:spcPts val="0"/>
              </a:spcAft>
              <a:buClr>
                <a:srgbClr val="000000"/>
              </a:buClr>
              <a:buSzPts val="1300"/>
              <a:buFont typeface="Arial"/>
              <a:buNone/>
              <a:defRPr sz="1300" b="0" i="0" u="none" strike="noStrike" cap="none">
                <a:solidFill>
                  <a:schemeClr val="accent6"/>
                </a:solidFill>
                <a:latin typeface="Lato"/>
                <a:ea typeface="Lato"/>
                <a:cs typeface="Lato"/>
                <a:sym typeface="Lato"/>
              </a:defRPr>
            </a:lvl4pPr>
            <a:lvl5pPr marL="0" marR="0" lvl="4" indent="0" algn="r" rtl="0">
              <a:lnSpc>
                <a:spcPct val="100000"/>
              </a:lnSpc>
              <a:spcBef>
                <a:spcPts val="0"/>
              </a:spcBef>
              <a:spcAft>
                <a:spcPts val="0"/>
              </a:spcAft>
              <a:buClr>
                <a:srgbClr val="000000"/>
              </a:buClr>
              <a:buSzPts val="1300"/>
              <a:buFont typeface="Arial"/>
              <a:buNone/>
              <a:defRPr sz="1300" b="0" i="0" u="none" strike="noStrike" cap="none">
                <a:solidFill>
                  <a:schemeClr val="accent6"/>
                </a:solidFill>
                <a:latin typeface="Lato"/>
                <a:ea typeface="Lato"/>
                <a:cs typeface="Lato"/>
                <a:sym typeface="Lato"/>
              </a:defRPr>
            </a:lvl5pPr>
            <a:lvl6pPr marL="0" marR="0" lvl="5" indent="0" algn="r" rtl="0">
              <a:lnSpc>
                <a:spcPct val="100000"/>
              </a:lnSpc>
              <a:spcBef>
                <a:spcPts val="0"/>
              </a:spcBef>
              <a:spcAft>
                <a:spcPts val="0"/>
              </a:spcAft>
              <a:buClr>
                <a:srgbClr val="000000"/>
              </a:buClr>
              <a:buSzPts val="1300"/>
              <a:buFont typeface="Arial"/>
              <a:buNone/>
              <a:defRPr sz="1300" b="0" i="0" u="none" strike="noStrike" cap="none">
                <a:solidFill>
                  <a:schemeClr val="accent6"/>
                </a:solidFill>
                <a:latin typeface="Lato"/>
                <a:ea typeface="Lato"/>
                <a:cs typeface="Lato"/>
                <a:sym typeface="Lato"/>
              </a:defRPr>
            </a:lvl6pPr>
            <a:lvl7pPr marL="0" marR="0" lvl="6" indent="0" algn="r" rtl="0">
              <a:lnSpc>
                <a:spcPct val="100000"/>
              </a:lnSpc>
              <a:spcBef>
                <a:spcPts val="0"/>
              </a:spcBef>
              <a:spcAft>
                <a:spcPts val="0"/>
              </a:spcAft>
              <a:buClr>
                <a:srgbClr val="000000"/>
              </a:buClr>
              <a:buSzPts val="1300"/>
              <a:buFont typeface="Arial"/>
              <a:buNone/>
              <a:defRPr sz="1300" b="0" i="0" u="none" strike="noStrike" cap="none">
                <a:solidFill>
                  <a:schemeClr val="accent6"/>
                </a:solidFill>
                <a:latin typeface="Lato"/>
                <a:ea typeface="Lato"/>
                <a:cs typeface="Lato"/>
                <a:sym typeface="Lato"/>
              </a:defRPr>
            </a:lvl7pPr>
            <a:lvl8pPr marL="0" marR="0" lvl="7" indent="0" algn="r" rtl="0">
              <a:lnSpc>
                <a:spcPct val="100000"/>
              </a:lnSpc>
              <a:spcBef>
                <a:spcPts val="0"/>
              </a:spcBef>
              <a:spcAft>
                <a:spcPts val="0"/>
              </a:spcAft>
              <a:buClr>
                <a:srgbClr val="000000"/>
              </a:buClr>
              <a:buSzPts val="1300"/>
              <a:buFont typeface="Arial"/>
              <a:buNone/>
              <a:defRPr sz="1300" b="0" i="0" u="none" strike="noStrike" cap="none">
                <a:solidFill>
                  <a:schemeClr val="accent6"/>
                </a:solidFill>
                <a:latin typeface="Lato"/>
                <a:ea typeface="Lato"/>
                <a:cs typeface="Lato"/>
                <a:sym typeface="Lato"/>
              </a:defRPr>
            </a:lvl8pPr>
            <a:lvl9pPr marL="0" marR="0" lvl="8" indent="0" algn="r" rtl="0">
              <a:lnSpc>
                <a:spcPct val="100000"/>
              </a:lnSpc>
              <a:spcBef>
                <a:spcPts val="0"/>
              </a:spcBef>
              <a:spcAft>
                <a:spcPts val="0"/>
              </a:spcAft>
              <a:buClr>
                <a:srgbClr val="000000"/>
              </a:buClr>
              <a:buSzPts val="1300"/>
              <a:buFont typeface="Arial"/>
              <a:buNone/>
              <a:defRPr sz="1300" b="0" i="0" u="none" strike="noStrike" cap="none">
                <a:solidFill>
                  <a:schemeClr val="accent6"/>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2" r:id="rId3"/>
    <p:sldLayoutId id="2147483653" r:id="rId4"/>
    <p:sldLayoutId id="2147483654" r:id="rId5"/>
    <p:sldLayoutId id="2147483655" r:id="rId6"/>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4400" b="0" i="0" u="none" strike="noStrike" cap="none">
          <a:solidFill>
            <a:srgbClr val="000000"/>
          </a:solidFill>
          <a:latin typeface="Calibri" panose="020F0502020204030204" pitchFamily="34" charset="0"/>
          <a:ea typeface="Calibri" panose="020F0502020204030204" pitchFamily="34" charset="0"/>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L="457200" marR="0" lvl="0" indent="-381000" algn="l" rtl="0">
        <a:lnSpc>
          <a:spcPct val="100000"/>
        </a:lnSpc>
        <a:spcBef>
          <a:spcPts val="0"/>
        </a:spcBef>
        <a:spcAft>
          <a:spcPts val="0"/>
        </a:spcAft>
        <a:buClr>
          <a:schemeClr val="tx2">
            <a:lumMod val="10000"/>
          </a:schemeClr>
        </a:buClr>
        <a:buSzPct val="75000"/>
        <a:buFont typeface="Wingdings" panose="05000000000000000000" pitchFamily="2" charset="2"/>
        <a:buChar char="Ø"/>
        <a:defRPr sz="1400" b="0" i="0" u="none" strike="noStrike" cap="none">
          <a:solidFill>
            <a:srgbClr val="000000"/>
          </a:solidFill>
          <a:latin typeface="Calibri" panose="020F0502020204030204" pitchFamily="34" charset="0"/>
          <a:ea typeface="Calibri" panose="020F0502020204030204" pitchFamily="34" charset="0"/>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31.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35.jpg"/><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image" Target="../media/image37.jp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image" Target="../media/image39.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42.jpg"/><Relationship Id="rId2" Type="http://schemas.openxmlformats.org/officeDocument/2006/relationships/image" Target="../media/image41.jp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hyperlink" Target="https://www.naftaliharris.com/blog/visualizing-k-means-clustering/" TargetMode="Externa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image" Target="../media/image43.jpg"/><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image" Target="../media/image44.jpg"/><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image" Target="../media/image45.jpg"/><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48.jpg"/><Relationship Id="rId2" Type="http://schemas.openxmlformats.org/officeDocument/2006/relationships/image" Target="../media/image47.png"/><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4.xml"/><Relationship Id="rId4" Type="http://schemas.openxmlformats.org/officeDocument/2006/relationships/image" Target="../media/image51.png"/></Relationships>
</file>

<file path=ppt/slides/_rels/slide54.xml.rels><?xml version="1.0" encoding="UTF-8" standalone="yes"?>
<Relationships xmlns="http://schemas.openxmlformats.org/package/2006/relationships"><Relationship Id="rId2" Type="http://schemas.openxmlformats.org/officeDocument/2006/relationships/image" Target="../media/image52.jpg"/><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image" Target="../media/image53.jpg"/><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image" Target="../media/image54.jpg"/><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image" Target="../media/image55.jpg"/><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2" Type="http://schemas.openxmlformats.org/officeDocument/2006/relationships/image" Target="../media/image56.jpg"/><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image" Target="../media/image57.jpg"/><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4"/>
        <p:cNvGrpSpPr/>
        <p:nvPr/>
      </p:nvGrpSpPr>
      <p:grpSpPr>
        <a:xfrm>
          <a:off x="0" y="0"/>
          <a:ext cx="0" cy="0"/>
          <a:chOff x="0" y="0"/>
          <a:chExt cx="0" cy="0"/>
        </a:xfrm>
      </p:grpSpPr>
      <p:sp>
        <p:nvSpPr>
          <p:cNvPr id="35" name="Google Shape;35;p5"/>
          <p:cNvSpPr txBox="1">
            <a:spLocks noGrp="1"/>
          </p:cNvSpPr>
          <p:nvPr>
            <p:ph type="ctrTitle"/>
          </p:nvPr>
        </p:nvSpPr>
        <p:spPr>
          <a:xfrm>
            <a:off x="645224" y="2762725"/>
            <a:ext cx="7609428" cy="1159800"/>
          </a:xfrm>
          <a:prstGeom prst="rect">
            <a:avLst/>
          </a:prstGeom>
          <a:noFill/>
          <a:ln>
            <a:noFill/>
          </a:ln>
        </p:spPr>
        <p:txBody>
          <a:bodyPr spcFirstLastPara="1" wrap="square" lIns="91425" tIns="91425" rIns="91425" bIns="91425" anchor="t" anchorCtr="0">
            <a:noAutofit/>
          </a:bodyPr>
          <a:lstStyle/>
          <a:p>
            <a:pPr lvl="0"/>
            <a:r>
              <a:rPr lang="en" dirty="0"/>
              <a:t>Dimensionality Reduction &amp; </a:t>
            </a:r>
            <a:br>
              <a:rPr lang="en" dirty="0"/>
            </a:br>
            <a:r>
              <a:rPr lang="en" dirty="0"/>
              <a:t>Unsupervised learning (K-Means)</a:t>
            </a:r>
            <a:endParaRPr dirty="0"/>
          </a:p>
        </p:txBody>
      </p:sp>
      <p:sp>
        <p:nvSpPr>
          <p:cNvPr id="36" name="Google Shape;36;p5"/>
          <p:cNvSpPr txBox="1"/>
          <p:nvPr/>
        </p:nvSpPr>
        <p:spPr>
          <a:xfrm>
            <a:off x="781075" y="800813"/>
            <a:ext cx="7630578" cy="1159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2"/>
              </a:buClr>
              <a:buSzPts val="4400"/>
              <a:buFont typeface="Raleway"/>
              <a:buNone/>
            </a:pPr>
            <a:r>
              <a:rPr lang="en-US" sz="4200" b="1" i="0" u="none" strike="noStrike" cap="none">
                <a:solidFill>
                  <a:schemeClr val="dk2"/>
                </a:solidFill>
                <a:latin typeface="Raleway"/>
                <a:ea typeface="Raleway"/>
                <a:cs typeface="Raleway"/>
                <a:sym typeface="Raleway"/>
              </a:rPr>
              <a:t>Hands-on Machine Learning</a:t>
            </a:r>
            <a:endParaRPr sz="4200" b="1" i="0" u="none" strike="noStrike" cap="none">
              <a:solidFill>
                <a:schemeClr val="dk2"/>
              </a:solidFill>
              <a:latin typeface="Raleway"/>
              <a:ea typeface="Raleway"/>
              <a:cs typeface="Raleway"/>
              <a:sym typeface="Raleway"/>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8E879-9E96-12E3-0266-71E4627A592D}"/>
              </a:ext>
            </a:extLst>
          </p:cNvPr>
          <p:cNvSpPr>
            <a:spLocks noGrp="1"/>
          </p:cNvSpPr>
          <p:nvPr>
            <p:ph type="ctrTitle"/>
          </p:nvPr>
        </p:nvSpPr>
        <p:spPr/>
        <p:txBody>
          <a:bodyPr/>
          <a:lstStyle/>
          <a:p>
            <a:r>
              <a:rPr lang="en-US" dirty="0"/>
              <a:t>Dimensionality reduction</a:t>
            </a:r>
          </a:p>
        </p:txBody>
      </p:sp>
      <p:sp>
        <p:nvSpPr>
          <p:cNvPr id="3" name="Subtitle 2">
            <a:extLst>
              <a:ext uri="{FF2B5EF4-FFF2-40B4-BE49-F238E27FC236}">
                <a16:creationId xmlns:a16="http://schemas.microsoft.com/office/drawing/2014/main" id="{650CB95D-BC5F-6756-B87A-E594163793FC}"/>
              </a:ext>
            </a:extLst>
          </p:cNvPr>
          <p:cNvSpPr>
            <a:spLocks noGrp="1"/>
          </p:cNvSpPr>
          <p:nvPr>
            <p:ph type="subTitle" idx="1"/>
          </p:nvPr>
        </p:nvSpPr>
        <p:spPr/>
        <p:txBody>
          <a:bodyPr/>
          <a:lstStyle/>
          <a:p>
            <a:endParaRPr lang="en-US"/>
          </a:p>
        </p:txBody>
      </p:sp>
      <p:sp>
        <p:nvSpPr>
          <p:cNvPr id="4" name="Slide Number Placeholder 3">
            <a:extLst>
              <a:ext uri="{FF2B5EF4-FFF2-40B4-BE49-F238E27FC236}">
                <a16:creationId xmlns:a16="http://schemas.microsoft.com/office/drawing/2014/main" id="{59B715C4-DCA0-7A68-818C-1103D6F2CC39}"/>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2</a:t>
            </a:fld>
            <a:endParaRPr lang="en"/>
          </a:p>
        </p:txBody>
      </p:sp>
    </p:spTree>
    <p:extLst>
      <p:ext uri="{BB962C8B-B14F-4D97-AF65-F5344CB8AC3E}">
        <p14:creationId xmlns:p14="http://schemas.microsoft.com/office/powerpoint/2010/main" val="10104454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0070" y="227174"/>
            <a:ext cx="7920505" cy="857400"/>
          </a:xfrm>
        </p:spPr>
        <p:txBody>
          <a:bodyPr/>
          <a:lstStyle/>
          <a:p>
            <a:r>
              <a:rPr lang="en-US" dirty="0"/>
              <a:t>The Curse of Dimensionality</a:t>
            </a:r>
          </a:p>
        </p:txBody>
      </p:sp>
      <p:sp>
        <p:nvSpPr>
          <p:cNvPr id="3" name="Text Placeholder 2"/>
          <p:cNvSpPr>
            <a:spLocks noGrp="1"/>
          </p:cNvSpPr>
          <p:nvPr>
            <p:ph type="body" idx="1"/>
          </p:nvPr>
        </p:nvSpPr>
        <p:spPr>
          <a:xfrm>
            <a:off x="479682" y="1139375"/>
            <a:ext cx="7920505" cy="3714308"/>
          </a:xfrm>
        </p:spPr>
        <p:txBody>
          <a:bodyPr/>
          <a:lstStyle/>
          <a:p>
            <a:pPr algn="just">
              <a:buFont typeface="Wingdings" panose="05000000000000000000" pitchFamily="2" charset="2"/>
              <a:buChar char="Ø"/>
            </a:pPr>
            <a:r>
              <a:rPr lang="en-US" sz="2200" dirty="0">
                <a:solidFill>
                  <a:schemeClr val="tx2">
                    <a:lumMod val="10000"/>
                  </a:schemeClr>
                </a:solidFill>
              </a:rPr>
              <a:t>Many machine learning problems involve thousands or even millions of features for each training instance. </a:t>
            </a:r>
          </a:p>
          <a:p>
            <a:pPr algn="just">
              <a:buFont typeface="Wingdings" panose="05000000000000000000" pitchFamily="2" charset="2"/>
              <a:buChar char="Ø"/>
            </a:pPr>
            <a:r>
              <a:rPr lang="en-US" sz="2200" dirty="0">
                <a:solidFill>
                  <a:schemeClr val="tx2">
                    <a:lumMod val="10000"/>
                  </a:schemeClr>
                </a:solidFill>
              </a:rPr>
              <a:t>Not only do all these features make training extremely slow,</a:t>
            </a:r>
            <a:br>
              <a:rPr lang="en-US" sz="2200" dirty="0">
                <a:solidFill>
                  <a:schemeClr val="tx2">
                    <a:lumMod val="10000"/>
                  </a:schemeClr>
                </a:solidFill>
              </a:rPr>
            </a:br>
            <a:r>
              <a:rPr lang="en-US" sz="2200" dirty="0">
                <a:solidFill>
                  <a:schemeClr val="tx2">
                    <a:lumMod val="10000"/>
                  </a:schemeClr>
                </a:solidFill>
              </a:rPr>
              <a:t>but they can also make it much harder to find a good solution.</a:t>
            </a:r>
          </a:p>
          <a:p>
            <a:pPr algn="just">
              <a:buFont typeface="Wingdings" panose="05000000000000000000" pitchFamily="2" charset="2"/>
              <a:buChar char="Ø"/>
            </a:pPr>
            <a:r>
              <a:rPr lang="en-US" sz="2200" dirty="0">
                <a:solidFill>
                  <a:schemeClr val="tx2">
                    <a:lumMod val="10000"/>
                  </a:schemeClr>
                </a:solidFill>
              </a:rPr>
              <a:t>This problem is often referred to as the </a:t>
            </a:r>
            <a:r>
              <a:rPr lang="en-US" sz="2200" i="1" dirty="0">
                <a:solidFill>
                  <a:srgbClr val="0070C0"/>
                </a:solidFill>
              </a:rPr>
              <a:t>curse of dimensionality</a:t>
            </a:r>
            <a:r>
              <a:rPr lang="en-US" sz="2200" dirty="0">
                <a:solidFill>
                  <a:schemeClr val="tx2">
                    <a:lumMod val="10000"/>
                  </a:schemeClr>
                </a:solidFill>
              </a:rPr>
              <a:t>. </a:t>
            </a:r>
          </a:p>
          <a:p>
            <a:pPr algn="just">
              <a:buFont typeface="Wingdings" panose="05000000000000000000" pitchFamily="2" charset="2"/>
              <a:buChar char="Ø"/>
            </a:pPr>
            <a:r>
              <a:rPr lang="en-US" sz="2200" dirty="0">
                <a:solidFill>
                  <a:schemeClr val="tx2">
                    <a:lumMod val="10000"/>
                  </a:schemeClr>
                </a:solidFill>
              </a:rPr>
              <a:t>It is possible to reduce the number of features considerably, turning an intractable problem into a tractable one. </a:t>
            </a:r>
          </a:p>
          <a:p>
            <a:pPr lvl="1" algn="just">
              <a:buFont typeface="Wingdings" panose="05000000000000000000" pitchFamily="2" charset="2"/>
              <a:buChar char="Ø"/>
            </a:pPr>
            <a:r>
              <a:rPr lang="en-US" sz="2000" dirty="0"/>
              <a:t>Example: in the MNIST images the pixels on the image borders are almost always white, so you could completely drop them.</a:t>
            </a:r>
          </a:p>
          <a:p>
            <a:pPr marL="581025" lvl="1" indent="0" algn="just">
              <a:buNone/>
            </a:pPr>
            <a:r>
              <a:rPr lang="en-US" sz="2000" dirty="0"/>
              <a:t> </a:t>
            </a:r>
            <a:br>
              <a:rPr lang="en-US" sz="2000" dirty="0"/>
            </a:br>
            <a:br>
              <a:rPr lang="en-US" sz="2000" dirty="0">
                <a:solidFill>
                  <a:schemeClr val="tx2">
                    <a:lumMod val="10000"/>
                  </a:schemeClr>
                </a:solidFill>
              </a:rPr>
            </a:br>
            <a:br>
              <a:rPr lang="en-US" sz="2000" dirty="0">
                <a:solidFill>
                  <a:schemeClr val="tx2">
                    <a:lumMod val="10000"/>
                  </a:schemeClr>
                </a:solidFill>
              </a:rPr>
            </a:br>
            <a:endParaRPr lang="en-US" sz="2000" dirty="0">
              <a:solidFill>
                <a:schemeClr val="tx2">
                  <a:lumMod val="10000"/>
                </a:schemeClr>
              </a:solidFill>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a:t>
            </a:fld>
            <a:endParaRPr lang="en"/>
          </a:p>
        </p:txBody>
      </p:sp>
    </p:spTree>
    <p:extLst>
      <p:ext uri="{BB962C8B-B14F-4D97-AF65-F5344CB8AC3E}">
        <p14:creationId xmlns:p14="http://schemas.microsoft.com/office/powerpoint/2010/main" val="4196322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0070" y="227174"/>
            <a:ext cx="7920505" cy="857400"/>
          </a:xfrm>
        </p:spPr>
        <p:txBody>
          <a:bodyPr/>
          <a:lstStyle/>
          <a:p>
            <a:r>
              <a:rPr lang="en-US" sz="3400" dirty="0"/>
              <a:t>Pros and Cons of Dimensionality Reduction</a:t>
            </a:r>
          </a:p>
        </p:txBody>
      </p:sp>
      <p:sp>
        <p:nvSpPr>
          <p:cNvPr id="3" name="Text Placeholder 2"/>
          <p:cNvSpPr>
            <a:spLocks noGrp="1"/>
          </p:cNvSpPr>
          <p:nvPr>
            <p:ph type="body" idx="1"/>
          </p:nvPr>
        </p:nvSpPr>
        <p:spPr>
          <a:xfrm>
            <a:off x="560069" y="1211580"/>
            <a:ext cx="7920505" cy="3714308"/>
          </a:xfrm>
        </p:spPr>
        <p:txBody>
          <a:bodyPr/>
          <a:lstStyle/>
          <a:p>
            <a:pPr>
              <a:buFont typeface="Wingdings" panose="05000000000000000000" pitchFamily="2" charset="2"/>
              <a:buChar char="Ø"/>
            </a:pPr>
            <a:r>
              <a:rPr lang="en-US" sz="2200" dirty="0">
                <a:solidFill>
                  <a:schemeClr val="tx2">
                    <a:lumMod val="10000"/>
                  </a:schemeClr>
                </a:solidFill>
              </a:rPr>
              <a:t>Advantages:</a:t>
            </a:r>
          </a:p>
          <a:p>
            <a:pPr lvl="1">
              <a:buFont typeface="Wingdings" panose="05000000000000000000" pitchFamily="2" charset="2"/>
              <a:buChar char="Ø"/>
            </a:pPr>
            <a:r>
              <a:rPr lang="en-US" sz="2000" dirty="0"/>
              <a:t>Speed up training</a:t>
            </a:r>
          </a:p>
          <a:p>
            <a:pPr lvl="1">
              <a:buFont typeface="Wingdings" panose="05000000000000000000" pitchFamily="2" charset="2"/>
              <a:buChar char="Ø"/>
            </a:pPr>
            <a:r>
              <a:rPr lang="en-US" sz="2000" dirty="0">
                <a:solidFill>
                  <a:schemeClr val="tx2">
                    <a:lumMod val="10000"/>
                  </a:schemeClr>
                </a:solidFill>
              </a:rPr>
              <a:t>May </a:t>
            </a:r>
            <a:r>
              <a:rPr lang="en-US" sz="2000" dirty="0"/>
              <a:t>filter out some noise and unnecessary details and result in higher performance in some cases</a:t>
            </a:r>
          </a:p>
          <a:p>
            <a:pPr lvl="1">
              <a:buFont typeface="Wingdings" panose="05000000000000000000" pitchFamily="2" charset="2"/>
              <a:buChar char="Ø"/>
            </a:pPr>
            <a:r>
              <a:rPr lang="en-US" sz="2000" dirty="0"/>
              <a:t>Extremely useful for data visualization </a:t>
            </a:r>
          </a:p>
          <a:p>
            <a:pPr lvl="1">
              <a:buFont typeface="Wingdings" panose="05000000000000000000" pitchFamily="2" charset="2"/>
              <a:buChar char="Ø"/>
            </a:pPr>
            <a:r>
              <a:rPr lang="en-US" sz="2000" dirty="0"/>
              <a:t>Reduced </a:t>
            </a:r>
            <a:r>
              <a:rPr lang="en-US" sz="2000" dirty="0" err="1"/>
              <a:t>overfitting</a:t>
            </a:r>
            <a:endParaRPr lang="en-US" sz="2000" dirty="0"/>
          </a:p>
          <a:p>
            <a:pPr lvl="1">
              <a:buFont typeface="Wingdings" panose="05000000000000000000" pitchFamily="2" charset="2"/>
              <a:buChar char="Ø"/>
            </a:pPr>
            <a:endParaRPr lang="en-US" sz="800" dirty="0"/>
          </a:p>
          <a:p>
            <a:pPr>
              <a:buFont typeface="Wingdings" panose="05000000000000000000" pitchFamily="2" charset="2"/>
              <a:buChar char="Ø"/>
            </a:pPr>
            <a:r>
              <a:rPr lang="en-US" sz="2200" dirty="0">
                <a:solidFill>
                  <a:schemeClr val="tx2">
                    <a:lumMod val="10000"/>
                  </a:schemeClr>
                </a:solidFill>
              </a:rPr>
              <a:t>Disadvantages:</a:t>
            </a:r>
          </a:p>
          <a:p>
            <a:pPr lvl="1">
              <a:buFont typeface="Wingdings" panose="05000000000000000000" pitchFamily="2" charset="2"/>
              <a:buChar char="Ø"/>
            </a:pPr>
            <a:r>
              <a:rPr lang="en-US" sz="2000" dirty="0"/>
              <a:t>Information loss and slightly worse performance</a:t>
            </a:r>
          </a:p>
          <a:p>
            <a:pPr lvl="1">
              <a:buFont typeface="Wingdings" panose="05000000000000000000" pitchFamily="2" charset="2"/>
              <a:buChar char="Ø"/>
            </a:pPr>
            <a:r>
              <a:rPr lang="en-US" sz="2000" dirty="0">
                <a:solidFill>
                  <a:schemeClr val="tx2">
                    <a:lumMod val="10000"/>
                  </a:schemeClr>
                </a:solidFill>
              </a:rPr>
              <a:t>More complex pipelines</a:t>
            </a:r>
          </a:p>
          <a:p>
            <a:pPr lvl="1">
              <a:buFont typeface="Wingdings" panose="05000000000000000000" pitchFamily="2" charset="2"/>
              <a:buChar char="Ø"/>
            </a:pPr>
            <a:r>
              <a:rPr lang="en-US" sz="2000" dirty="0"/>
              <a:t>Interpretability challenges</a:t>
            </a:r>
            <a:endParaRPr lang="en-US" sz="2000" dirty="0">
              <a:solidFill>
                <a:schemeClr val="tx2">
                  <a:lumMod val="10000"/>
                </a:schemeClr>
              </a:solidFill>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a:t>
            </a:fld>
            <a:endParaRPr lang="en"/>
          </a:p>
        </p:txBody>
      </p:sp>
    </p:spTree>
    <p:extLst>
      <p:ext uri="{BB962C8B-B14F-4D97-AF65-F5344CB8AC3E}">
        <p14:creationId xmlns:p14="http://schemas.microsoft.com/office/powerpoint/2010/main" val="3803389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5"/>
          <p:cNvSpPr txBox="1">
            <a:spLocks noGrp="1"/>
          </p:cNvSpPr>
          <p:nvPr>
            <p:ph type="ctrTitle"/>
          </p:nvPr>
        </p:nvSpPr>
        <p:spPr>
          <a:xfrm>
            <a:off x="685800" y="1679354"/>
            <a:ext cx="7772400" cy="1159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4400" dirty="0">
                <a:solidFill>
                  <a:schemeClr val="accent2"/>
                </a:solidFill>
              </a:rPr>
              <a:t>1.</a:t>
            </a:r>
            <a:endParaRPr sz="4400" dirty="0">
              <a:solidFill>
                <a:schemeClr val="accent2"/>
              </a:solidFill>
            </a:endParaRPr>
          </a:p>
          <a:p>
            <a:pPr lvl="0"/>
            <a:r>
              <a:rPr lang="en-US" sz="4400" dirty="0"/>
              <a:t>Main Approaches for Dimensionality Reduction</a:t>
            </a:r>
            <a:endParaRPr sz="4400" dirty="0"/>
          </a:p>
        </p:txBody>
      </p:sp>
      <p:sp>
        <p:nvSpPr>
          <p:cNvPr id="113" name="Google Shape;113;p15"/>
          <p:cNvSpPr txBox="1">
            <a:spLocks noGrp="1"/>
          </p:cNvSpPr>
          <p:nvPr>
            <p:ph type="sldNum" idx="12"/>
          </p:nvPr>
        </p:nvSpPr>
        <p:spPr>
          <a:xfrm>
            <a:off x="-125" y="4830281"/>
            <a:ext cx="9144000" cy="313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5</a:t>
            </a:fld>
            <a:endParaRPr/>
          </a:p>
        </p:txBody>
      </p:sp>
    </p:spTree>
    <p:extLst>
      <p:ext uri="{BB962C8B-B14F-4D97-AF65-F5344CB8AC3E}">
        <p14:creationId xmlns:p14="http://schemas.microsoft.com/office/powerpoint/2010/main" val="9537770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6093" y="227174"/>
            <a:ext cx="8054236" cy="857400"/>
          </a:xfrm>
        </p:spPr>
        <p:txBody>
          <a:bodyPr/>
          <a:lstStyle/>
          <a:p>
            <a:r>
              <a:rPr lang="en-US" dirty="0"/>
              <a:t>Projection</a:t>
            </a:r>
          </a:p>
        </p:txBody>
      </p:sp>
      <p:sp>
        <p:nvSpPr>
          <p:cNvPr id="3" name="Text Placeholder 2"/>
          <p:cNvSpPr>
            <a:spLocks noGrp="1"/>
          </p:cNvSpPr>
          <p:nvPr>
            <p:ph type="body" idx="1"/>
          </p:nvPr>
        </p:nvSpPr>
        <p:spPr>
          <a:xfrm>
            <a:off x="526094" y="1238753"/>
            <a:ext cx="4995475" cy="3552300"/>
          </a:xfrm>
        </p:spPr>
        <p:txBody>
          <a:bodyPr/>
          <a:lstStyle/>
          <a:p>
            <a:pPr marL="342900" algn="just">
              <a:buFont typeface="Wingdings" panose="05000000000000000000" pitchFamily="2" charset="2"/>
              <a:buChar char="Ø"/>
            </a:pPr>
            <a:r>
              <a:rPr lang="en-US" sz="2000" dirty="0">
                <a:solidFill>
                  <a:schemeClr val="tx2">
                    <a:lumMod val="10000"/>
                  </a:schemeClr>
                </a:solidFill>
              </a:rPr>
              <a:t>In most real-world problems, training instances are </a:t>
            </a:r>
            <a:r>
              <a:rPr lang="en-US" sz="2000" i="1" dirty="0">
                <a:solidFill>
                  <a:srgbClr val="FF0000"/>
                </a:solidFill>
              </a:rPr>
              <a:t>not</a:t>
            </a:r>
            <a:r>
              <a:rPr lang="en-US" sz="2000" i="1" dirty="0"/>
              <a:t> </a:t>
            </a:r>
            <a:r>
              <a:rPr lang="en-US" sz="2000" dirty="0">
                <a:solidFill>
                  <a:schemeClr val="tx2">
                    <a:lumMod val="10000"/>
                  </a:schemeClr>
                </a:solidFill>
              </a:rPr>
              <a:t>spread out uniformly across all dimensions. </a:t>
            </a:r>
          </a:p>
          <a:p>
            <a:pPr marL="800100" lvl="2" indent="-342900" algn="just">
              <a:buClr>
                <a:schemeClr val="tx2">
                  <a:lumMod val="10000"/>
                </a:schemeClr>
              </a:buClr>
              <a:buSzPct val="75000"/>
              <a:buFont typeface="Wingdings" panose="05000000000000000000" pitchFamily="2" charset="2"/>
              <a:buChar char="Ø"/>
            </a:pPr>
            <a:r>
              <a:rPr lang="en-US" sz="1800" dirty="0">
                <a:solidFill>
                  <a:schemeClr val="tx2">
                    <a:lumMod val="10000"/>
                  </a:schemeClr>
                </a:solidFill>
                <a:latin typeface="Calibri" panose="020F0502020204030204" pitchFamily="34" charset="0"/>
              </a:rPr>
              <a:t>Many features are almost constant.</a:t>
            </a:r>
          </a:p>
          <a:p>
            <a:pPr marL="800100" lvl="2" indent="-342900" algn="just">
              <a:buClr>
                <a:schemeClr val="tx2">
                  <a:lumMod val="10000"/>
                </a:schemeClr>
              </a:buClr>
              <a:buSzPct val="75000"/>
              <a:buFont typeface="Wingdings" panose="05000000000000000000" pitchFamily="2" charset="2"/>
              <a:buChar char="Ø"/>
            </a:pPr>
            <a:r>
              <a:rPr lang="en-US" sz="1800" dirty="0">
                <a:solidFill>
                  <a:schemeClr val="tx2">
                    <a:lumMod val="10000"/>
                  </a:schemeClr>
                </a:solidFill>
                <a:latin typeface="Calibri" panose="020F0502020204030204" pitchFamily="34" charset="0"/>
              </a:rPr>
              <a:t>Others are highly correlated.</a:t>
            </a:r>
          </a:p>
          <a:p>
            <a:pPr marL="800100" lvl="2" indent="-342900" algn="just">
              <a:buClr>
                <a:schemeClr val="tx2">
                  <a:lumMod val="10000"/>
                </a:schemeClr>
              </a:buClr>
              <a:buSzPct val="75000"/>
              <a:buFont typeface="Wingdings" panose="05000000000000000000" pitchFamily="2" charset="2"/>
              <a:buChar char="Ø"/>
            </a:pPr>
            <a:endParaRPr lang="en-US" sz="1800" dirty="0">
              <a:solidFill>
                <a:schemeClr val="tx2">
                  <a:lumMod val="10000"/>
                </a:schemeClr>
              </a:solidFill>
              <a:latin typeface="Calibri" panose="020F0502020204030204" pitchFamily="34" charset="0"/>
            </a:endParaRPr>
          </a:p>
          <a:p>
            <a:pPr marL="342900" lvl="1" indent="-342900" algn="just">
              <a:buClr>
                <a:schemeClr val="tx2">
                  <a:lumMod val="10000"/>
                </a:schemeClr>
              </a:buClr>
              <a:buSzPct val="75000"/>
            </a:pPr>
            <a:r>
              <a:rPr lang="en-US" sz="2000" dirty="0">
                <a:solidFill>
                  <a:schemeClr val="tx2">
                    <a:lumMod val="10000"/>
                  </a:schemeClr>
                </a:solidFill>
                <a:latin typeface="Calibri" panose="020F0502020204030204" pitchFamily="34" charset="0"/>
              </a:rPr>
              <a:t>All training instances lie within (or close to) a much lower-dimensional </a:t>
            </a:r>
            <a:r>
              <a:rPr lang="en-US" sz="2000" i="1" dirty="0">
                <a:solidFill>
                  <a:schemeClr val="tx2">
                    <a:lumMod val="10000"/>
                  </a:schemeClr>
                </a:solidFill>
                <a:latin typeface="Calibri" panose="020F0502020204030204" pitchFamily="34" charset="0"/>
              </a:rPr>
              <a:t>subspace </a:t>
            </a:r>
            <a:r>
              <a:rPr lang="en-US" sz="2000" dirty="0">
                <a:solidFill>
                  <a:schemeClr val="tx2">
                    <a:lumMod val="10000"/>
                  </a:schemeClr>
                </a:solidFill>
                <a:latin typeface="Calibri" panose="020F0502020204030204" pitchFamily="34" charset="0"/>
              </a:rPr>
              <a:t>of the high-dimensional space. </a:t>
            </a:r>
          </a:p>
          <a:p>
            <a:pPr marL="0" lvl="1" indent="0" algn="just">
              <a:buClr>
                <a:schemeClr val="tx2">
                  <a:lumMod val="10000"/>
                </a:schemeClr>
              </a:buClr>
              <a:buSzPct val="75000"/>
              <a:buNone/>
            </a:pPr>
            <a:br>
              <a:rPr lang="en-US" sz="2000" dirty="0"/>
            </a:br>
            <a:br>
              <a:rPr lang="en-US" sz="2000" dirty="0">
                <a:solidFill>
                  <a:schemeClr val="tx2">
                    <a:lumMod val="10000"/>
                  </a:schemeClr>
                </a:solidFill>
                <a:latin typeface="Calibri" panose="020F0502020204030204" pitchFamily="34" charset="0"/>
              </a:rPr>
            </a:br>
            <a:endParaRPr lang="en-US" sz="2000" dirty="0">
              <a:solidFill>
                <a:schemeClr val="tx2">
                  <a:lumMod val="10000"/>
                </a:schemeClr>
              </a:solidFill>
              <a:latin typeface="Calibri" panose="020F0502020204030204" pitchFamily="34" charset="0"/>
              <a:cs typeface="Calibri" panose="020F0502020204030204" pitchFamily="34" charset="0"/>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89356" y="3137862"/>
            <a:ext cx="2690973" cy="1934564"/>
          </a:xfrm>
          <a:prstGeom prst="rect">
            <a:avLst/>
          </a:prstGeom>
        </p:spPr>
      </p:pic>
      <p:pic>
        <p:nvPicPr>
          <p:cNvPr id="9" name="Picture 8"/>
          <p:cNvPicPr>
            <a:picLocks noChangeAspect="1"/>
          </p:cNvPicPr>
          <p:nvPr/>
        </p:nvPicPr>
        <p:blipFill>
          <a:blip r:embed="rId4"/>
          <a:stretch>
            <a:fillRect/>
          </a:stretch>
        </p:blipFill>
        <p:spPr>
          <a:xfrm>
            <a:off x="5677215" y="481685"/>
            <a:ext cx="3202048" cy="2819147"/>
          </a:xfrm>
          <a:prstGeom prst="rect">
            <a:avLst/>
          </a:prstGeom>
        </p:spPr>
      </p:pic>
    </p:spTree>
    <p:extLst>
      <p:ext uri="{BB962C8B-B14F-4D97-AF65-F5344CB8AC3E}">
        <p14:creationId xmlns:p14="http://schemas.microsoft.com/office/powerpoint/2010/main" val="729099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197" y="227174"/>
            <a:ext cx="8104340" cy="857400"/>
          </a:xfrm>
        </p:spPr>
        <p:txBody>
          <a:bodyPr/>
          <a:lstStyle/>
          <a:p>
            <a:r>
              <a:rPr lang="en-US" dirty="0"/>
              <a:t>Manifold Learning</a:t>
            </a:r>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364390" y="1301383"/>
                <a:ext cx="4308954" cy="3552300"/>
              </a:xfrm>
            </p:spPr>
            <p:txBody>
              <a:bodyPr/>
              <a:lstStyle/>
              <a:p>
                <a:pPr algn="just">
                  <a:spcAft>
                    <a:spcPts val="600"/>
                  </a:spcAft>
                </a:pPr>
                <a:r>
                  <a:rPr lang="en-US" sz="2200" dirty="0">
                    <a:solidFill>
                      <a:schemeClr val="tx2">
                        <a:lumMod val="10000"/>
                      </a:schemeClr>
                    </a:solidFill>
                  </a:rPr>
                  <a:t>In many cases the subspace may twist and turn.</a:t>
                </a:r>
              </a:p>
              <a:p>
                <a:pPr algn="just">
                  <a:spcAft>
                    <a:spcPts val="600"/>
                  </a:spcAft>
                </a:pPr>
                <a:r>
                  <a:rPr lang="en-US" sz="2200" dirty="0">
                    <a:solidFill>
                      <a:schemeClr val="tx2">
                        <a:lumMod val="10000"/>
                      </a:schemeClr>
                    </a:solidFill>
                  </a:rPr>
                  <a:t>Simply projecting onto a plane (e.g., by dropping </a:t>
                </a:r>
                <a14:m>
                  <m:oMath xmlns:m="http://schemas.openxmlformats.org/officeDocument/2006/math">
                    <m:sSub>
                      <m:sSubPr>
                        <m:ctrlPr>
                          <a:rPr lang="en-US" sz="2200" b="0" i="1" dirty="0" smtClean="0">
                            <a:solidFill>
                              <a:schemeClr val="tx2">
                                <a:lumMod val="10000"/>
                              </a:schemeClr>
                            </a:solidFill>
                            <a:latin typeface="Cambria Math" panose="02040503050406030204" pitchFamily="18" charset="0"/>
                          </a:rPr>
                        </m:ctrlPr>
                      </m:sSubPr>
                      <m:e>
                        <m:r>
                          <a:rPr lang="en-US" sz="2200" i="1" dirty="0" smtClean="0">
                            <a:solidFill>
                              <a:schemeClr val="tx2">
                                <a:lumMod val="10000"/>
                              </a:schemeClr>
                            </a:solidFill>
                            <a:latin typeface="Cambria Math" panose="02040503050406030204" pitchFamily="18" charset="0"/>
                          </a:rPr>
                          <m:t>𝑥</m:t>
                        </m:r>
                      </m:e>
                      <m:sub>
                        <m:r>
                          <a:rPr lang="en-US" sz="2200" i="1" dirty="0" smtClean="0">
                            <a:solidFill>
                              <a:schemeClr val="tx2">
                                <a:lumMod val="10000"/>
                              </a:schemeClr>
                            </a:solidFill>
                            <a:latin typeface="Cambria Math" panose="02040503050406030204" pitchFamily="18" charset="0"/>
                          </a:rPr>
                          <m:t>3</m:t>
                        </m:r>
                      </m:sub>
                    </m:sSub>
                  </m:oMath>
                </a14:m>
                <a:r>
                  <a:rPr lang="en-US" sz="2200" dirty="0">
                    <a:solidFill>
                      <a:schemeClr val="tx2">
                        <a:lumMod val="10000"/>
                      </a:schemeClr>
                    </a:solidFill>
                  </a:rPr>
                  <a:t>) would squash different layers of the Swiss roll together.</a:t>
                </a:r>
              </a:p>
              <a:p>
                <a:pPr algn="just">
                  <a:spcAft>
                    <a:spcPts val="600"/>
                  </a:spcAft>
                </a:pPr>
                <a:r>
                  <a:rPr lang="en-US" sz="2200" dirty="0">
                    <a:solidFill>
                      <a:schemeClr val="tx2">
                        <a:lumMod val="10000"/>
                      </a:schemeClr>
                    </a:solidFill>
                  </a:rPr>
                  <a:t>We want to unroll the Swiss roll to obtain the 2D dataset.</a:t>
                </a:r>
              </a:p>
              <a:p>
                <a:pPr marL="114300" indent="0" algn="just">
                  <a:spcAft>
                    <a:spcPts val="600"/>
                  </a:spcAft>
                  <a:buNone/>
                </a:pPr>
                <a:r>
                  <a:rPr lang="en-US" sz="2200" dirty="0">
                    <a:solidFill>
                      <a:schemeClr val="tx2">
                        <a:lumMod val="10000"/>
                      </a:schemeClr>
                    </a:solidFill>
                  </a:rPr>
                  <a:t> </a:t>
                </a:r>
                <a:br>
                  <a:rPr lang="en-US" sz="2200" dirty="0">
                    <a:solidFill>
                      <a:schemeClr val="tx2">
                        <a:lumMod val="10000"/>
                      </a:schemeClr>
                    </a:solidFill>
                  </a:rPr>
                </a:br>
                <a:r>
                  <a:rPr lang="en-US" sz="2200" dirty="0">
                    <a:solidFill>
                      <a:schemeClr val="tx2">
                        <a:lumMod val="10000"/>
                      </a:schemeClr>
                    </a:solidFill>
                  </a:rPr>
                  <a:t> </a:t>
                </a:r>
                <a:br>
                  <a:rPr lang="en-US" sz="2200" dirty="0">
                    <a:solidFill>
                      <a:schemeClr val="tx2">
                        <a:lumMod val="10000"/>
                      </a:schemeClr>
                    </a:solidFill>
                  </a:rPr>
                </a:br>
                <a:r>
                  <a:rPr lang="en-US" sz="2200" dirty="0">
                    <a:solidFill>
                      <a:schemeClr val="tx2">
                        <a:lumMod val="10000"/>
                      </a:schemeClr>
                    </a:solidFill>
                  </a:rPr>
                  <a:t> </a:t>
                </a:r>
                <a:br>
                  <a:rPr lang="en-US" sz="2200" dirty="0">
                    <a:solidFill>
                      <a:schemeClr val="tx2">
                        <a:lumMod val="10000"/>
                      </a:schemeClr>
                    </a:solidFill>
                  </a:rPr>
                </a:br>
                <a:endParaRPr lang="en-US" sz="2200" dirty="0">
                  <a:solidFill>
                    <a:schemeClr val="tx2">
                      <a:lumMod val="10000"/>
                    </a:schemeClr>
                  </a:solidFill>
                </a:endParaRPr>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364390" y="1301383"/>
                <a:ext cx="4308954" cy="3552300"/>
              </a:xfrm>
              <a:blipFill rotWithShape="0">
                <a:blip r:embed="rId3"/>
                <a:stretch>
                  <a:fillRect r="-1839"/>
                </a:stretch>
              </a:blipFill>
            </p:spPr>
            <p:txBody>
              <a:bodyPr/>
              <a:lstStyle/>
              <a:p>
                <a:r>
                  <a:rPr lang="en-US">
                    <a:noFill/>
                  </a:rPr>
                  <a:t> </a:t>
                </a:r>
              </a:p>
            </p:txBody>
          </p:sp>
        </mc:Fallback>
      </mc:AlternateContent>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pic>
        <p:nvPicPr>
          <p:cNvPr id="7" name="Picture 6"/>
          <p:cNvPicPr>
            <a:picLocks noChangeAspect="1"/>
          </p:cNvPicPr>
          <p:nvPr/>
        </p:nvPicPr>
        <p:blipFill>
          <a:blip r:embed="rId4"/>
          <a:stretch>
            <a:fillRect/>
          </a:stretch>
        </p:blipFill>
        <p:spPr>
          <a:xfrm>
            <a:off x="4751301" y="1516342"/>
            <a:ext cx="4067237" cy="2869678"/>
          </a:xfrm>
          <a:prstGeom prst="rect">
            <a:avLst/>
          </a:prstGeom>
        </p:spPr>
      </p:pic>
    </p:spTree>
    <p:extLst>
      <p:ext uri="{BB962C8B-B14F-4D97-AF65-F5344CB8AC3E}">
        <p14:creationId xmlns:p14="http://schemas.microsoft.com/office/powerpoint/2010/main" val="2791651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197" y="227174"/>
            <a:ext cx="8104340" cy="857400"/>
          </a:xfrm>
        </p:spPr>
        <p:txBody>
          <a:bodyPr/>
          <a:lstStyle/>
          <a:p>
            <a:r>
              <a:rPr lang="en-US" dirty="0"/>
              <a:t>Manifold Learning</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sp>
        <p:nvSpPr>
          <p:cNvPr id="8" name="Rectangle 7"/>
          <p:cNvSpPr/>
          <p:nvPr/>
        </p:nvSpPr>
        <p:spPr>
          <a:xfrm>
            <a:off x="1622121" y="4236268"/>
            <a:ext cx="2448838" cy="646331"/>
          </a:xfrm>
          <a:prstGeom prst="rect">
            <a:avLst/>
          </a:prstGeom>
        </p:spPr>
        <p:txBody>
          <a:bodyPr wrap="square">
            <a:spAutoFit/>
          </a:bodyPr>
          <a:lstStyle/>
          <a:p>
            <a:r>
              <a:rPr lang="en-US" sz="1800" i="1" dirty="0">
                <a:latin typeface="Calibri" panose="020F0502020204030204" pitchFamily="34" charset="0"/>
              </a:rPr>
              <a:t>projecting onto a plane </a:t>
            </a:r>
            <a:br>
              <a:rPr lang="en-US" sz="1800" dirty="0">
                <a:latin typeface="Calibri" panose="020F0502020204030204" pitchFamily="34" charset="0"/>
              </a:rPr>
            </a:br>
            <a:endParaRPr lang="en-US" sz="1800" dirty="0">
              <a:latin typeface="Calibri" panose="020F0502020204030204" pitchFamily="34" charset="0"/>
            </a:endParaRPr>
          </a:p>
        </p:txBody>
      </p:sp>
      <p:sp>
        <p:nvSpPr>
          <p:cNvPr id="9" name="Rectangle 8"/>
          <p:cNvSpPr/>
          <p:nvPr/>
        </p:nvSpPr>
        <p:spPr>
          <a:xfrm>
            <a:off x="5442455" y="4212464"/>
            <a:ext cx="2337499" cy="369332"/>
          </a:xfrm>
          <a:prstGeom prst="rect">
            <a:avLst/>
          </a:prstGeom>
        </p:spPr>
        <p:txBody>
          <a:bodyPr wrap="none">
            <a:spAutoFit/>
          </a:bodyPr>
          <a:lstStyle/>
          <a:p>
            <a:r>
              <a:rPr lang="en-US" sz="1800" i="1" dirty="0">
                <a:latin typeface="Calibri" panose="020F0502020204030204" pitchFamily="34" charset="0"/>
              </a:rPr>
              <a:t>unrolling the Swiss roll</a:t>
            </a:r>
            <a:r>
              <a:rPr lang="en-US" sz="1800" dirty="0">
                <a:latin typeface="Calibri" panose="020F0502020204030204" pitchFamily="34" charset="0"/>
              </a:rPr>
              <a:t> </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6726" y="1382514"/>
            <a:ext cx="7134386" cy="2853754"/>
          </a:xfrm>
          <a:prstGeom prst="rect">
            <a:avLst/>
          </a:prstGeom>
        </p:spPr>
      </p:pic>
    </p:spTree>
    <p:extLst>
      <p:ext uri="{BB962C8B-B14F-4D97-AF65-F5344CB8AC3E}">
        <p14:creationId xmlns:p14="http://schemas.microsoft.com/office/powerpoint/2010/main" val="4380485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1041" y="214648"/>
            <a:ext cx="7979534" cy="857400"/>
          </a:xfrm>
        </p:spPr>
        <p:txBody>
          <a:bodyPr/>
          <a:lstStyle/>
          <a:p>
            <a:r>
              <a:rPr lang="en-US" dirty="0"/>
              <a:t>Manifold Learning</a:t>
            </a:r>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495783" y="1072048"/>
                <a:ext cx="7979534" cy="3748441"/>
              </a:xfrm>
            </p:spPr>
            <p:txBody>
              <a:bodyPr/>
              <a:lstStyle/>
              <a:p>
                <a:pPr algn="just"/>
                <a:r>
                  <a:rPr lang="en-US" sz="2200" dirty="0">
                    <a:solidFill>
                      <a:schemeClr val="tx2">
                        <a:lumMod val="10000"/>
                      </a:schemeClr>
                    </a:solidFill>
                  </a:rPr>
                  <a:t>In simple terms, a 2D manifold is a 2D shape that can be bent and twisted in a higher-dimensional space. </a:t>
                </a:r>
              </a:p>
              <a:p>
                <a:pPr lvl="1" algn="just"/>
                <a:r>
                  <a:rPr lang="en-US" sz="2000" dirty="0">
                    <a:solidFill>
                      <a:schemeClr val="tx2">
                        <a:lumMod val="10000"/>
                      </a:schemeClr>
                    </a:solidFill>
                  </a:rPr>
                  <a:t>The Swiss roll is an example of a 2D </a:t>
                </a:r>
                <a:r>
                  <a:rPr lang="en-US" sz="2000" i="1" dirty="0">
                    <a:solidFill>
                      <a:schemeClr val="tx2">
                        <a:lumMod val="10000"/>
                      </a:schemeClr>
                    </a:solidFill>
                  </a:rPr>
                  <a:t>manifold</a:t>
                </a:r>
                <a:r>
                  <a:rPr lang="en-US" sz="2000" dirty="0">
                    <a:solidFill>
                      <a:schemeClr val="tx2">
                        <a:lumMod val="10000"/>
                      </a:schemeClr>
                    </a:solidFill>
                  </a:rPr>
                  <a:t>.</a:t>
                </a:r>
              </a:p>
              <a:p>
                <a:pPr algn="just"/>
                <a:r>
                  <a:rPr lang="en-US" sz="2200" dirty="0">
                    <a:solidFill>
                      <a:schemeClr val="tx2">
                        <a:lumMod val="10000"/>
                      </a:schemeClr>
                    </a:solidFill>
                  </a:rPr>
                  <a:t>A </a:t>
                </a:r>
                <a14:m>
                  <m:oMath xmlns:m="http://schemas.openxmlformats.org/officeDocument/2006/math">
                    <m:r>
                      <a:rPr lang="en-US" sz="2200" i="1" dirty="0" smtClean="0">
                        <a:solidFill>
                          <a:schemeClr val="tx2">
                            <a:lumMod val="10000"/>
                          </a:schemeClr>
                        </a:solidFill>
                        <a:latin typeface="Cambria Math" panose="02040503050406030204" pitchFamily="18" charset="0"/>
                      </a:rPr>
                      <m:t>𝑑</m:t>
                    </m:r>
                  </m:oMath>
                </a14:m>
                <a:r>
                  <a:rPr lang="en-US" sz="2200" dirty="0">
                    <a:solidFill>
                      <a:schemeClr val="tx2">
                        <a:lumMod val="10000"/>
                      </a:schemeClr>
                    </a:solidFill>
                  </a:rPr>
                  <a:t>-dimensional manifold is a part of an </a:t>
                </a:r>
                <a14:m>
                  <m:oMath xmlns:m="http://schemas.openxmlformats.org/officeDocument/2006/math">
                    <m:r>
                      <a:rPr lang="en-US" sz="2200" i="1" dirty="0" smtClean="0">
                        <a:solidFill>
                          <a:schemeClr val="tx2">
                            <a:lumMod val="10000"/>
                          </a:schemeClr>
                        </a:solidFill>
                        <a:latin typeface="Cambria Math" panose="02040503050406030204" pitchFamily="18" charset="0"/>
                      </a:rPr>
                      <m:t>𝑛</m:t>
                    </m:r>
                  </m:oMath>
                </a14:m>
                <a:r>
                  <a:rPr lang="en-US" sz="2200" dirty="0">
                    <a:solidFill>
                      <a:schemeClr val="tx2">
                        <a:lumMod val="10000"/>
                      </a:schemeClr>
                    </a:solidFill>
                  </a:rPr>
                  <a:t>-dimensional space   (</a:t>
                </a:r>
                <a14:m>
                  <m:oMath xmlns:m="http://schemas.openxmlformats.org/officeDocument/2006/math">
                    <m:r>
                      <a:rPr lang="en-US" sz="2200" i="1" dirty="0" smtClean="0">
                        <a:solidFill>
                          <a:schemeClr val="tx2">
                            <a:lumMod val="10000"/>
                          </a:schemeClr>
                        </a:solidFill>
                        <a:latin typeface="Cambria Math" panose="02040503050406030204" pitchFamily="18" charset="0"/>
                      </a:rPr>
                      <m:t>𝑑</m:t>
                    </m:r>
                    <m:r>
                      <a:rPr lang="en-US" sz="2200" i="1" dirty="0" smtClean="0">
                        <a:solidFill>
                          <a:schemeClr val="tx2">
                            <a:lumMod val="10000"/>
                          </a:schemeClr>
                        </a:solidFill>
                        <a:latin typeface="Cambria Math" panose="02040503050406030204" pitchFamily="18" charset="0"/>
                      </a:rPr>
                      <m:t>&lt;</m:t>
                    </m:r>
                    <m:r>
                      <a:rPr lang="en-US" sz="2200" i="1" dirty="0" smtClean="0">
                        <a:solidFill>
                          <a:schemeClr val="tx2">
                            <a:lumMod val="10000"/>
                          </a:schemeClr>
                        </a:solidFill>
                        <a:latin typeface="Cambria Math" panose="02040503050406030204" pitchFamily="18" charset="0"/>
                      </a:rPr>
                      <m:t>𝑛</m:t>
                    </m:r>
                  </m:oMath>
                </a14:m>
                <a:r>
                  <a:rPr lang="en-US" sz="2200" dirty="0">
                    <a:solidFill>
                      <a:schemeClr val="tx2">
                        <a:lumMod val="10000"/>
                      </a:schemeClr>
                    </a:solidFill>
                  </a:rPr>
                  <a:t>) that locally resembles a </a:t>
                </a:r>
                <a14:m>
                  <m:oMath xmlns:m="http://schemas.openxmlformats.org/officeDocument/2006/math">
                    <m:r>
                      <a:rPr lang="en-US" sz="2200" i="1" dirty="0" smtClean="0">
                        <a:solidFill>
                          <a:schemeClr val="tx2">
                            <a:lumMod val="10000"/>
                          </a:schemeClr>
                        </a:solidFill>
                        <a:latin typeface="Cambria Math" panose="02040503050406030204" pitchFamily="18" charset="0"/>
                      </a:rPr>
                      <m:t>𝑑</m:t>
                    </m:r>
                  </m:oMath>
                </a14:m>
                <a:r>
                  <a:rPr lang="en-US" sz="2200" dirty="0">
                    <a:solidFill>
                      <a:schemeClr val="tx2">
                        <a:lumMod val="10000"/>
                      </a:schemeClr>
                    </a:solidFill>
                  </a:rPr>
                  <a:t>-dimensional hyperplane. </a:t>
                </a:r>
              </a:p>
              <a:p>
                <a:pPr algn="just"/>
                <a:r>
                  <a:rPr lang="en-US" sz="2200" dirty="0">
                    <a:solidFill>
                      <a:schemeClr val="tx2">
                        <a:lumMod val="10000"/>
                      </a:schemeClr>
                    </a:solidFill>
                  </a:rPr>
                  <a:t>Many dimensionality reduction algorithms work by modeling the manifold on which the training instances lie; </a:t>
                </a:r>
              </a:p>
              <a:p>
                <a:pPr lvl="1" algn="just"/>
                <a:r>
                  <a:rPr lang="en-US" sz="2000" dirty="0">
                    <a:solidFill>
                      <a:schemeClr val="tx2">
                        <a:lumMod val="10000"/>
                      </a:schemeClr>
                    </a:solidFill>
                  </a:rPr>
                  <a:t>This is called </a:t>
                </a:r>
                <a:r>
                  <a:rPr lang="en-US" sz="2000" i="1" dirty="0">
                    <a:solidFill>
                      <a:srgbClr val="0070C0"/>
                    </a:solidFill>
                  </a:rPr>
                  <a:t>manifold learning</a:t>
                </a:r>
                <a:r>
                  <a:rPr lang="en-US" sz="2000" dirty="0">
                    <a:solidFill>
                      <a:schemeClr val="tx2">
                        <a:lumMod val="10000"/>
                      </a:schemeClr>
                    </a:solidFill>
                  </a:rPr>
                  <a:t>. </a:t>
                </a:r>
              </a:p>
              <a:p>
                <a:pPr algn="just"/>
                <a:r>
                  <a:rPr lang="en-US" sz="2200" i="1" dirty="0">
                    <a:solidFill>
                      <a:srgbClr val="0070C0"/>
                    </a:solidFill>
                  </a:rPr>
                  <a:t>Manifold assumption</a:t>
                </a:r>
                <a:r>
                  <a:rPr lang="en-US" sz="2200" dirty="0">
                    <a:solidFill>
                      <a:schemeClr val="tx2">
                        <a:lumMod val="10000"/>
                      </a:schemeClr>
                    </a:solidFill>
                  </a:rPr>
                  <a:t>: most real-world high-dimensional datasets lie close to a much lower-dimensional manifold.</a:t>
                </a:r>
              </a:p>
              <a:p>
                <a:pPr marL="114300" indent="0" algn="just">
                  <a:buNone/>
                </a:pPr>
                <a:r>
                  <a:rPr lang="en-US" sz="2200" dirty="0">
                    <a:solidFill>
                      <a:schemeClr val="tx2">
                        <a:lumMod val="10000"/>
                      </a:schemeClr>
                    </a:solidFill>
                  </a:rPr>
                  <a:t> </a:t>
                </a:r>
                <a:br>
                  <a:rPr lang="en-US" sz="2200" dirty="0">
                    <a:solidFill>
                      <a:schemeClr val="tx2">
                        <a:lumMod val="10000"/>
                      </a:schemeClr>
                    </a:solidFill>
                  </a:rPr>
                </a:br>
                <a:endParaRPr lang="en-US" sz="2200" dirty="0">
                  <a:solidFill>
                    <a:schemeClr val="tx2">
                      <a:lumMod val="10000"/>
                    </a:schemeClr>
                  </a:solidFill>
                </a:endParaRPr>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495783" y="1072048"/>
                <a:ext cx="7979534" cy="3748441"/>
              </a:xfrm>
              <a:blipFill rotWithShape="0">
                <a:blip r:embed="rId3"/>
                <a:stretch>
                  <a:fillRect r="-993" b="-2927"/>
                </a:stretch>
              </a:blipFill>
            </p:spPr>
            <p:txBody>
              <a:bodyPr/>
              <a:lstStyle/>
              <a:p>
                <a:r>
                  <a:rPr lang="en-US">
                    <a:noFill/>
                  </a:rPr>
                  <a:t> </a:t>
                </a:r>
              </a:p>
            </p:txBody>
          </p:sp>
        </mc:Fallback>
      </mc:AlternateContent>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a:p>
        </p:txBody>
      </p:sp>
    </p:spTree>
    <p:extLst>
      <p:ext uri="{BB962C8B-B14F-4D97-AF65-F5344CB8AC3E}">
        <p14:creationId xmlns:p14="http://schemas.microsoft.com/office/powerpoint/2010/main" val="162445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3463" y="152018"/>
            <a:ext cx="6921540" cy="857400"/>
          </a:xfrm>
        </p:spPr>
        <p:txBody>
          <a:bodyPr/>
          <a:lstStyle/>
          <a:p>
            <a:r>
              <a:rPr lang="en-US" dirty="0"/>
              <a:t>Example</a:t>
            </a:r>
          </a:p>
        </p:txBody>
      </p:sp>
      <p:sp>
        <p:nvSpPr>
          <p:cNvPr id="3" name="Text Placeholder 2"/>
          <p:cNvSpPr>
            <a:spLocks noGrp="1"/>
          </p:cNvSpPr>
          <p:nvPr>
            <p:ph type="body" idx="1"/>
          </p:nvPr>
        </p:nvSpPr>
        <p:spPr>
          <a:xfrm>
            <a:off x="463463" y="1002083"/>
            <a:ext cx="8116866" cy="3748441"/>
          </a:xfrm>
        </p:spPr>
        <p:txBody>
          <a:bodyPr/>
          <a:lstStyle/>
          <a:p>
            <a:pPr algn="just"/>
            <a:r>
              <a:rPr lang="en-US" sz="2200" dirty="0">
                <a:solidFill>
                  <a:schemeClr val="tx2">
                    <a:lumMod val="10000"/>
                  </a:schemeClr>
                </a:solidFill>
              </a:rPr>
              <a:t>Consider the MNIST dataset: all handwritten digit images have some similarities. </a:t>
            </a:r>
          </a:p>
          <a:p>
            <a:pPr lvl="1" algn="just"/>
            <a:r>
              <a:rPr lang="en-US" sz="2000" dirty="0">
                <a:solidFill>
                  <a:schemeClr val="tx2">
                    <a:lumMod val="10000"/>
                  </a:schemeClr>
                </a:solidFill>
              </a:rPr>
              <a:t>They are made of connected lines, the borders are white, and they are more or less centered. </a:t>
            </a:r>
          </a:p>
          <a:p>
            <a:pPr algn="just"/>
            <a:r>
              <a:rPr lang="en-US" sz="2200" dirty="0">
                <a:solidFill>
                  <a:schemeClr val="tx2">
                    <a:lumMod val="10000"/>
                  </a:schemeClr>
                </a:solidFill>
              </a:rPr>
              <a:t>If you randomly generated images, only a tiny fraction of them would look like handwritten digits. </a:t>
            </a:r>
          </a:p>
          <a:p>
            <a:pPr lvl="1" algn="just"/>
            <a:r>
              <a:rPr lang="en-US" sz="2000" dirty="0">
                <a:solidFill>
                  <a:schemeClr val="tx2">
                    <a:lumMod val="10000"/>
                  </a:schemeClr>
                </a:solidFill>
              </a:rPr>
              <a:t>The degrees of freedom available to you if you try to create a digit image are dramatically lower than the degrees of freedom you have if you are allowed to generate any image you want.</a:t>
            </a:r>
          </a:p>
          <a:p>
            <a:pPr algn="just"/>
            <a:r>
              <a:rPr lang="en-US" sz="2200" dirty="0">
                <a:solidFill>
                  <a:schemeClr val="tx2">
                    <a:lumMod val="10000"/>
                  </a:schemeClr>
                </a:solidFill>
              </a:rPr>
              <a:t>These constraints tend to squeeze the dataset into a lower-dimensional manifold.</a:t>
            </a:r>
          </a:p>
          <a:p>
            <a:pPr marL="114300" indent="0" algn="just">
              <a:buNone/>
            </a:pPr>
            <a:br>
              <a:rPr lang="en-US" sz="2200" dirty="0">
                <a:solidFill>
                  <a:schemeClr val="tx2">
                    <a:lumMod val="10000"/>
                  </a:schemeClr>
                </a:solidFill>
              </a:rPr>
            </a:br>
            <a:endParaRPr lang="en-US" sz="2200" dirty="0">
              <a:solidFill>
                <a:schemeClr val="tx2">
                  <a:lumMod val="10000"/>
                </a:schemeClr>
              </a:solidFill>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spTree>
    <p:extLst>
      <p:ext uri="{BB962C8B-B14F-4D97-AF65-F5344CB8AC3E}">
        <p14:creationId xmlns:p14="http://schemas.microsoft.com/office/powerpoint/2010/main" val="170955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a:p>
        </p:txBody>
      </p:sp>
      <p:pic>
        <p:nvPicPr>
          <p:cNvPr id="8" name="Picture 7"/>
          <p:cNvPicPr>
            <a:picLocks noChangeAspect="1"/>
          </p:cNvPicPr>
          <p:nvPr/>
        </p:nvPicPr>
        <p:blipFill>
          <a:blip r:embed="rId3"/>
          <a:stretch>
            <a:fillRect/>
          </a:stretch>
        </p:blipFill>
        <p:spPr>
          <a:xfrm>
            <a:off x="1311612" y="2614179"/>
            <a:ext cx="3278247" cy="2415427"/>
          </a:xfrm>
          <a:prstGeom prst="rect">
            <a:avLst/>
          </a:prstGeom>
        </p:spPr>
      </p:pic>
      <p:pic>
        <p:nvPicPr>
          <p:cNvPr id="9" name="Picture 8"/>
          <p:cNvPicPr>
            <a:picLocks noChangeAspect="1"/>
          </p:cNvPicPr>
          <p:nvPr/>
        </p:nvPicPr>
        <p:blipFill>
          <a:blip r:embed="rId4"/>
          <a:stretch>
            <a:fillRect/>
          </a:stretch>
        </p:blipFill>
        <p:spPr>
          <a:xfrm>
            <a:off x="5092293" y="2728128"/>
            <a:ext cx="2797512" cy="2197760"/>
          </a:xfrm>
          <a:prstGeom prst="rect">
            <a:avLst/>
          </a:prstGeom>
        </p:spPr>
      </p:pic>
      <p:pic>
        <p:nvPicPr>
          <p:cNvPr id="10" name="Picture 9"/>
          <p:cNvPicPr>
            <a:picLocks noChangeAspect="1"/>
          </p:cNvPicPr>
          <p:nvPr/>
        </p:nvPicPr>
        <p:blipFill>
          <a:blip r:embed="rId5"/>
          <a:stretch>
            <a:fillRect/>
          </a:stretch>
        </p:blipFill>
        <p:spPr>
          <a:xfrm>
            <a:off x="1311613" y="149434"/>
            <a:ext cx="3277146" cy="2448305"/>
          </a:xfrm>
          <a:prstGeom prst="rect">
            <a:avLst/>
          </a:prstGeom>
        </p:spPr>
      </p:pic>
      <p:pic>
        <p:nvPicPr>
          <p:cNvPr id="11" name="Picture 10"/>
          <p:cNvPicPr>
            <a:picLocks noChangeAspect="1"/>
          </p:cNvPicPr>
          <p:nvPr/>
        </p:nvPicPr>
        <p:blipFill>
          <a:blip r:embed="rId6"/>
          <a:stretch>
            <a:fillRect/>
          </a:stretch>
        </p:blipFill>
        <p:spPr>
          <a:xfrm>
            <a:off x="5122438" y="227173"/>
            <a:ext cx="2804050" cy="2203469"/>
          </a:xfrm>
          <a:prstGeom prst="rect">
            <a:avLst/>
          </a:prstGeom>
        </p:spPr>
      </p:pic>
    </p:spTree>
    <p:extLst>
      <p:ext uri="{BB962C8B-B14F-4D97-AF65-F5344CB8AC3E}">
        <p14:creationId xmlns:p14="http://schemas.microsoft.com/office/powerpoint/2010/main" val="5554742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5"/>
          <p:cNvSpPr txBox="1">
            <a:spLocks noGrp="1"/>
          </p:cNvSpPr>
          <p:nvPr>
            <p:ph type="ctrTitle"/>
          </p:nvPr>
        </p:nvSpPr>
        <p:spPr>
          <a:xfrm>
            <a:off x="685800" y="1679354"/>
            <a:ext cx="7772400" cy="1159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4400" dirty="0">
                <a:solidFill>
                  <a:schemeClr val="accent2"/>
                </a:solidFill>
              </a:rPr>
              <a:t>2.</a:t>
            </a:r>
            <a:endParaRPr sz="4400" dirty="0">
              <a:solidFill>
                <a:schemeClr val="accent2"/>
              </a:solidFill>
            </a:endParaRPr>
          </a:p>
          <a:p>
            <a:pPr lvl="0"/>
            <a:r>
              <a:rPr lang="en-US" sz="4200" dirty="0"/>
              <a:t>Principal Component Analysis</a:t>
            </a:r>
            <a:endParaRPr sz="4200" dirty="0"/>
          </a:p>
        </p:txBody>
      </p:sp>
      <p:sp>
        <p:nvSpPr>
          <p:cNvPr id="113" name="Google Shape;113;p15"/>
          <p:cNvSpPr txBox="1">
            <a:spLocks noGrp="1"/>
          </p:cNvSpPr>
          <p:nvPr>
            <p:ph type="sldNum" idx="12"/>
          </p:nvPr>
        </p:nvSpPr>
        <p:spPr>
          <a:xfrm>
            <a:off x="-125" y="4830281"/>
            <a:ext cx="9144000" cy="313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12</a:t>
            </a:fld>
            <a:endParaRPr/>
          </a:p>
        </p:txBody>
      </p:sp>
    </p:spTree>
    <p:extLst>
      <p:ext uri="{BB962C8B-B14F-4D97-AF65-F5344CB8AC3E}">
        <p14:creationId xmlns:p14="http://schemas.microsoft.com/office/powerpoint/2010/main" val="13412308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1041" y="227174"/>
            <a:ext cx="7979534" cy="857400"/>
          </a:xfrm>
        </p:spPr>
        <p:txBody>
          <a:bodyPr/>
          <a:lstStyle/>
          <a:p>
            <a:r>
              <a:rPr lang="en-US" dirty="0">
                <a:solidFill>
                  <a:schemeClr val="tx2">
                    <a:lumMod val="10000"/>
                  </a:schemeClr>
                </a:solidFill>
              </a:rPr>
              <a:t>Principal Component Analysis</a:t>
            </a:r>
          </a:p>
        </p:txBody>
      </p:sp>
      <p:sp>
        <p:nvSpPr>
          <p:cNvPr id="3" name="Text Placeholder 2"/>
          <p:cNvSpPr>
            <a:spLocks noGrp="1"/>
          </p:cNvSpPr>
          <p:nvPr>
            <p:ph type="body" idx="1"/>
          </p:nvPr>
        </p:nvSpPr>
        <p:spPr>
          <a:xfrm>
            <a:off x="501041" y="1084574"/>
            <a:ext cx="7783825" cy="3748441"/>
          </a:xfrm>
        </p:spPr>
        <p:txBody>
          <a:bodyPr/>
          <a:lstStyle/>
          <a:p>
            <a:r>
              <a:rPr lang="en-US" sz="2200" i="1" dirty="0">
                <a:solidFill>
                  <a:srgbClr val="0070C0"/>
                </a:solidFill>
              </a:rPr>
              <a:t>Principal component analysis </a:t>
            </a:r>
            <a:r>
              <a:rPr lang="en-US" sz="2200" dirty="0">
                <a:solidFill>
                  <a:schemeClr val="tx2">
                    <a:lumMod val="10000"/>
                  </a:schemeClr>
                </a:solidFill>
              </a:rPr>
              <a:t>(PCA) is the most popular dimensionality reduction algorithm. </a:t>
            </a:r>
          </a:p>
          <a:p>
            <a:endParaRPr lang="en-US" sz="1200" dirty="0">
              <a:solidFill>
                <a:schemeClr val="tx2">
                  <a:lumMod val="10000"/>
                </a:schemeClr>
              </a:solidFill>
            </a:endParaRPr>
          </a:p>
          <a:p>
            <a:r>
              <a:rPr lang="en-US" sz="2200" dirty="0">
                <a:solidFill>
                  <a:schemeClr val="tx2">
                    <a:lumMod val="10000"/>
                  </a:schemeClr>
                </a:solidFill>
              </a:rPr>
              <a:t>First it identifies the hyperplane that lies closest to the data, and then it projects the data onto it. </a:t>
            </a:r>
          </a:p>
          <a:p>
            <a:endParaRPr lang="en-US" sz="1200" dirty="0">
              <a:solidFill>
                <a:schemeClr val="tx2">
                  <a:lumMod val="10000"/>
                </a:schemeClr>
              </a:solidFill>
            </a:endParaRPr>
          </a:p>
          <a:p>
            <a:r>
              <a:rPr lang="en-US" sz="2200" dirty="0">
                <a:solidFill>
                  <a:schemeClr val="tx2">
                    <a:lumMod val="10000"/>
                  </a:schemeClr>
                </a:solidFill>
              </a:rPr>
              <a:t>How to choose the right hyperplane? </a:t>
            </a:r>
          </a:p>
          <a:p>
            <a:pPr lvl="1"/>
            <a:r>
              <a:rPr lang="en-US" sz="2000" dirty="0">
                <a:solidFill>
                  <a:schemeClr val="tx2">
                    <a:lumMod val="10000"/>
                  </a:schemeClr>
                </a:solidFill>
              </a:rPr>
              <a:t>Select the axis that preserves the </a:t>
            </a:r>
          </a:p>
          <a:p>
            <a:pPr marL="581025" lvl="1" indent="0">
              <a:buNone/>
            </a:pPr>
            <a:r>
              <a:rPr lang="en-US" sz="2000" dirty="0">
                <a:solidFill>
                  <a:schemeClr val="tx2">
                    <a:lumMod val="10000"/>
                  </a:schemeClr>
                </a:solidFill>
              </a:rPr>
              <a:t>      maximum amount of variance </a:t>
            </a:r>
            <a:br>
              <a:rPr lang="en-US" sz="1800" dirty="0"/>
            </a:br>
            <a:br>
              <a:rPr lang="en-US" sz="2000" dirty="0"/>
            </a:br>
            <a:br>
              <a:rPr lang="en-US" sz="2000" dirty="0">
                <a:solidFill>
                  <a:schemeClr val="tx2">
                    <a:lumMod val="10000"/>
                  </a:schemeClr>
                </a:solidFill>
              </a:rPr>
            </a:br>
            <a:endParaRPr lang="en-US" sz="2000" dirty="0">
              <a:solidFill>
                <a:schemeClr val="tx2">
                  <a:lumMod val="10000"/>
                </a:schemeClr>
              </a:solidFill>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13</a:t>
            </a:fld>
            <a:endParaRPr lang="en-US"/>
          </a:p>
        </p:txBody>
      </p:sp>
      <p:pic>
        <p:nvPicPr>
          <p:cNvPr id="6" name="Picture 5"/>
          <p:cNvPicPr>
            <a:picLocks noChangeAspect="1"/>
          </p:cNvPicPr>
          <p:nvPr/>
        </p:nvPicPr>
        <p:blipFill>
          <a:blip r:embed="rId3"/>
          <a:stretch>
            <a:fillRect/>
          </a:stretch>
        </p:blipFill>
        <p:spPr>
          <a:xfrm>
            <a:off x="5631997" y="2674794"/>
            <a:ext cx="2652869" cy="2335639"/>
          </a:xfrm>
          <a:prstGeom prst="rect">
            <a:avLst/>
          </a:prstGeom>
        </p:spPr>
      </p:pic>
    </p:spTree>
    <p:extLst>
      <p:ext uri="{BB962C8B-B14F-4D97-AF65-F5344CB8AC3E}">
        <p14:creationId xmlns:p14="http://schemas.microsoft.com/office/powerpoint/2010/main" val="2638972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1041" y="177070"/>
            <a:ext cx="7979534" cy="857400"/>
          </a:xfrm>
        </p:spPr>
        <p:txBody>
          <a:bodyPr/>
          <a:lstStyle/>
          <a:p>
            <a:r>
              <a:rPr lang="en-US" dirty="0"/>
              <a:t>Preserving the Variance</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14</a:t>
            </a:fld>
            <a:endParaRPr lang="en-US"/>
          </a:p>
        </p:txBody>
      </p:sp>
      <p:sp>
        <p:nvSpPr>
          <p:cNvPr id="8" name="Text Placeholder 2"/>
          <p:cNvSpPr>
            <a:spLocks noGrp="1"/>
          </p:cNvSpPr>
          <p:nvPr>
            <p:ph type="body" idx="1"/>
          </p:nvPr>
        </p:nvSpPr>
        <p:spPr>
          <a:xfrm>
            <a:off x="501041" y="1009418"/>
            <a:ext cx="7979534" cy="3748441"/>
          </a:xfrm>
        </p:spPr>
        <p:txBody>
          <a:bodyPr/>
          <a:lstStyle/>
          <a:p>
            <a:r>
              <a:rPr lang="en-US" sz="2200" dirty="0">
                <a:solidFill>
                  <a:schemeClr val="tx2">
                    <a:lumMod val="10000"/>
                  </a:schemeClr>
                </a:solidFill>
              </a:rPr>
              <a:t>Select the axis that preserves the maximum amount of variance, as it will lose less information than the other projections </a:t>
            </a:r>
            <a:br>
              <a:rPr lang="en-US" sz="2200" dirty="0"/>
            </a:br>
            <a:endParaRPr lang="en-US" sz="2200" dirty="0">
              <a:solidFill>
                <a:schemeClr val="tx2">
                  <a:lumMod val="10000"/>
                </a:schemeClr>
              </a:solidFill>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45988" y="1866818"/>
            <a:ext cx="6413949" cy="3206974"/>
          </a:xfrm>
          <a:prstGeom prst="rect">
            <a:avLst/>
          </a:prstGeom>
        </p:spPr>
      </p:pic>
    </p:spTree>
    <p:extLst>
      <p:ext uri="{BB962C8B-B14F-4D97-AF65-F5344CB8AC3E}">
        <p14:creationId xmlns:p14="http://schemas.microsoft.com/office/powerpoint/2010/main" val="39877753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1041" y="227174"/>
            <a:ext cx="7979534" cy="857400"/>
          </a:xfrm>
        </p:spPr>
        <p:txBody>
          <a:bodyPr/>
          <a:lstStyle/>
          <a:p>
            <a:r>
              <a:rPr lang="en-US" dirty="0">
                <a:solidFill>
                  <a:schemeClr val="tx2">
                    <a:lumMod val="10000"/>
                  </a:schemeClr>
                </a:solidFill>
              </a:rPr>
              <a:t>Principal Components</a:t>
            </a:r>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501041" y="1084574"/>
                <a:ext cx="7979534" cy="3748441"/>
              </a:xfrm>
            </p:spPr>
            <p:txBody>
              <a:bodyPr/>
              <a:lstStyle/>
              <a:p>
                <a:pPr algn="just"/>
                <a:r>
                  <a:rPr lang="en-US" sz="2200" dirty="0">
                    <a:solidFill>
                      <a:schemeClr val="tx2">
                        <a:lumMod val="10000"/>
                      </a:schemeClr>
                    </a:solidFill>
                  </a:rPr>
                  <a:t>PCA identifies the axis that accounts for the largest amount of variance in the training set (</a:t>
                </a:r>
                <a14:m>
                  <m:oMath xmlns:m="http://schemas.openxmlformats.org/officeDocument/2006/math">
                    <m:sSub>
                      <m:sSubPr>
                        <m:ctrlPr>
                          <a:rPr lang="en-US" sz="2200" b="0" i="1" smtClean="0">
                            <a:solidFill>
                              <a:schemeClr val="tx2">
                                <a:lumMod val="10000"/>
                              </a:schemeClr>
                            </a:solidFill>
                            <a:latin typeface="Cambria Math" panose="02040503050406030204" pitchFamily="18" charset="0"/>
                          </a:rPr>
                        </m:ctrlPr>
                      </m:sSubPr>
                      <m:e>
                        <m:r>
                          <a:rPr lang="en-US" sz="2200" b="0" i="1" smtClean="0">
                            <a:solidFill>
                              <a:schemeClr val="tx2">
                                <a:lumMod val="10000"/>
                              </a:schemeClr>
                            </a:solidFill>
                            <a:latin typeface="Cambria Math" panose="02040503050406030204" pitchFamily="18" charset="0"/>
                          </a:rPr>
                          <m:t>𝑐</m:t>
                        </m:r>
                      </m:e>
                      <m:sub>
                        <m:r>
                          <a:rPr lang="en-US" sz="2200" b="0" i="1" smtClean="0">
                            <a:solidFill>
                              <a:schemeClr val="tx2">
                                <a:lumMod val="10000"/>
                              </a:schemeClr>
                            </a:solidFill>
                            <a:latin typeface="Cambria Math" panose="02040503050406030204" pitchFamily="18" charset="0"/>
                          </a:rPr>
                          <m:t>1</m:t>
                        </m:r>
                      </m:sub>
                    </m:sSub>
                  </m:oMath>
                </a14:m>
                <a:r>
                  <a:rPr lang="en-US" sz="2200" dirty="0">
                    <a:solidFill>
                      <a:schemeClr val="tx2">
                        <a:lumMod val="10000"/>
                      </a:schemeClr>
                    </a:solidFill>
                  </a:rPr>
                  <a:t>), then a second axis, orthogonal to the first one (</a:t>
                </a:r>
                <a14:m>
                  <m:oMath xmlns:m="http://schemas.openxmlformats.org/officeDocument/2006/math">
                    <m:sSub>
                      <m:sSubPr>
                        <m:ctrlPr>
                          <a:rPr lang="en-US" sz="2200" b="0" i="1" smtClean="0">
                            <a:solidFill>
                              <a:schemeClr val="tx2">
                                <a:lumMod val="10000"/>
                              </a:schemeClr>
                            </a:solidFill>
                            <a:latin typeface="Cambria Math" panose="02040503050406030204" pitchFamily="18" charset="0"/>
                          </a:rPr>
                        </m:ctrlPr>
                      </m:sSubPr>
                      <m:e>
                        <m:r>
                          <a:rPr lang="en-US" sz="2200" b="0" i="1" smtClean="0">
                            <a:solidFill>
                              <a:schemeClr val="tx2">
                                <a:lumMod val="10000"/>
                              </a:schemeClr>
                            </a:solidFill>
                            <a:latin typeface="Cambria Math" panose="02040503050406030204" pitchFamily="18" charset="0"/>
                          </a:rPr>
                          <m:t>𝑐</m:t>
                        </m:r>
                      </m:e>
                      <m:sub>
                        <m:r>
                          <a:rPr lang="en-US" sz="2200" b="0" i="1" smtClean="0">
                            <a:solidFill>
                              <a:schemeClr val="tx2">
                                <a:lumMod val="10000"/>
                              </a:schemeClr>
                            </a:solidFill>
                            <a:latin typeface="Cambria Math" panose="02040503050406030204" pitchFamily="18" charset="0"/>
                          </a:rPr>
                          <m:t>2</m:t>
                        </m:r>
                      </m:sub>
                    </m:sSub>
                  </m:oMath>
                </a14:m>
                <a:r>
                  <a:rPr lang="en-US" sz="2200" dirty="0">
                    <a:solidFill>
                      <a:schemeClr val="tx2">
                        <a:lumMod val="10000"/>
                      </a:schemeClr>
                    </a:solidFill>
                  </a:rPr>
                  <a:t>), that accounts for the largest amount of the remaining variance.</a:t>
                </a:r>
              </a:p>
              <a:p>
                <a:pPr marL="114300" indent="0" algn="just">
                  <a:buNone/>
                </a:pPr>
                <a:br>
                  <a:rPr lang="en-US" sz="2000" dirty="0"/>
                </a:br>
                <a:br>
                  <a:rPr lang="en-US" sz="2000" dirty="0"/>
                </a:br>
                <a:br>
                  <a:rPr lang="en-US" sz="2000" dirty="0">
                    <a:solidFill>
                      <a:schemeClr val="tx2">
                        <a:lumMod val="10000"/>
                      </a:schemeClr>
                    </a:solidFill>
                  </a:rPr>
                </a:br>
                <a:endParaRPr lang="en-US" sz="2000" dirty="0">
                  <a:solidFill>
                    <a:schemeClr val="tx2">
                      <a:lumMod val="10000"/>
                    </a:schemeClr>
                  </a:solidFill>
                </a:endParaRPr>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501041" y="1084574"/>
                <a:ext cx="7979534" cy="3748441"/>
              </a:xfrm>
              <a:blipFill rotWithShape="0">
                <a:blip r:embed="rId3"/>
                <a:stretch>
                  <a:fillRect r="-993"/>
                </a:stretch>
              </a:blipFill>
            </p:spPr>
            <p:txBody>
              <a:bodyPr/>
              <a:lstStyle/>
              <a:p>
                <a:r>
                  <a:rPr lang="en-US">
                    <a:noFill/>
                  </a:rPr>
                  <a:t> </a:t>
                </a:r>
              </a:p>
            </p:txBody>
          </p:sp>
        </mc:Fallback>
      </mc:AlternateContent>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15</a:t>
            </a:fld>
            <a:endParaRPr lang="en-US"/>
          </a:p>
        </p:txBody>
      </p:sp>
      <mc:AlternateContent xmlns:mc="http://schemas.openxmlformats.org/markup-compatibility/2006" xmlns:a14="http://schemas.microsoft.com/office/drawing/2010/main">
        <mc:Choice Requires="a14">
          <p:sp>
            <p:nvSpPr>
              <p:cNvPr id="7" name="Rectangle 6"/>
              <p:cNvSpPr/>
              <p:nvPr/>
            </p:nvSpPr>
            <p:spPr>
              <a:xfrm>
                <a:off x="645091" y="2690934"/>
                <a:ext cx="3175347" cy="1877437"/>
              </a:xfrm>
              <a:prstGeom prst="rect">
                <a:avLst/>
              </a:prstGeom>
            </p:spPr>
            <p:txBody>
              <a:bodyPr wrap="square">
                <a:spAutoFit/>
              </a:bodyPr>
              <a:lstStyle/>
              <a:p>
                <a:pPr marL="342900" indent="-342900">
                  <a:buSzPct val="75000"/>
                  <a:buFont typeface="Wingdings" panose="05000000000000000000" pitchFamily="2" charset="2"/>
                  <a:buChar char="Ø"/>
                </a:pPr>
                <a:r>
                  <a:rPr lang="en-US" sz="2200" dirty="0">
                    <a:solidFill>
                      <a:schemeClr val="tx2">
                        <a:lumMod val="10000"/>
                      </a:schemeClr>
                    </a:solidFill>
                    <a:latin typeface="Calibri" panose="020F0502020204030204" pitchFamily="34" charset="0"/>
                  </a:rPr>
                  <a:t>The </a:t>
                </a:r>
                <a14:m>
                  <m:oMath xmlns:m="http://schemas.openxmlformats.org/officeDocument/2006/math">
                    <m:r>
                      <a:rPr lang="en-US" sz="2200" i="1" dirty="0" smtClean="0">
                        <a:solidFill>
                          <a:schemeClr val="tx2">
                            <a:lumMod val="10000"/>
                          </a:schemeClr>
                        </a:solidFill>
                        <a:latin typeface="Cambria Math" panose="02040503050406030204" pitchFamily="18" charset="0"/>
                      </a:rPr>
                      <m:t>𝑖</m:t>
                    </m:r>
                  </m:oMath>
                </a14:m>
                <a:r>
                  <a:rPr lang="en-US" sz="2200" dirty="0">
                    <a:solidFill>
                      <a:schemeClr val="tx2">
                        <a:lumMod val="10000"/>
                      </a:schemeClr>
                    </a:solidFill>
                    <a:latin typeface="Calibri" panose="020F0502020204030204" pitchFamily="34" charset="0"/>
                  </a:rPr>
                  <a:t>-</a:t>
                </a:r>
                <a:r>
                  <a:rPr lang="en-US" sz="2200" dirty="0" err="1">
                    <a:solidFill>
                      <a:schemeClr val="tx2">
                        <a:lumMod val="10000"/>
                      </a:schemeClr>
                    </a:solidFill>
                    <a:latin typeface="Calibri" panose="020F0502020204030204" pitchFamily="34" charset="0"/>
                  </a:rPr>
                  <a:t>th</a:t>
                </a:r>
                <a:r>
                  <a:rPr lang="en-US" sz="2200" dirty="0">
                    <a:solidFill>
                      <a:schemeClr val="tx2">
                        <a:lumMod val="10000"/>
                      </a:schemeClr>
                    </a:solidFill>
                    <a:latin typeface="Calibri" panose="020F0502020204030204" pitchFamily="34" charset="0"/>
                  </a:rPr>
                  <a:t> axis is called the </a:t>
                </a:r>
                <a14:m>
                  <m:oMath xmlns:m="http://schemas.openxmlformats.org/officeDocument/2006/math">
                    <m:r>
                      <a:rPr lang="en-US" sz="2200" i="1" dirty="0" smtClean="0">
                        <a:solidFill>
                          <a:srgbClr val="0070C0"/>
                        </a:solidFill>
                        <a:latin typeface="Cambria Math" panose="02040503050406030204" pitchFamily="18" charset="0"/>
                      </a:rPr>
                      <m:t>𝑖</m:t>
                    </m:r>
                  </m:oMath>
                </a14:m>
                <a:r>
                  <a:rPr lang="en-US" sz="2200" dirty="0">
                    <a:solidFill>
                      <a:srgbClr val="0070C0"/>
                    </a:solidFill>
                    <a:latin typeface="Calibri" panose="020F0502020204030204" pitchFamily="34" charset="0"/>
                  </a:rPr>
                  <a:t>-</a:t>
                </a:r>
                <a:r>
                  <a:rPr lang="en-US" sz="2200" dirty="0" err="1">
                    <a:solidFill>
                      <a:srgbClr val="0070C0"/>
                    </a:solidFill>
                    <a:latin typeface="Calibri" panose="020F0502020204030204" pitchFamily="34" charset="0"/>
                  </a:rPr>
                  <a:t>th</a:t>
                </a:r>
                <a:r>
                  <a:rPr lang="en-US" sz="2200" dirty="0">
                    <a:solidFill>
                      <a:srgbClr val="0070C0"/>
                    </a:solidFill>
                    <a:latin typeface="Calibri" panose="020F0502020204030204" pitchFamily="34" charset="0"/>
                  </a:rPr>
                  <a:t> </a:t>
                </a:r>
                <a:r>
                  <a:rPr lang="en-US" sz="2200" i="1" dirty="0">
                    <a:solidFill>
                      <a:srgbClr val="0070C0"/>
                    </a:solidFill>
                    <a:latin typeface="Calibri" panose="020F0502020204030204" pitchFamily="34" charset="0"/>
                  </a:rPr>
                  <a:t>principal component </a:t>
                </a:r>
                <a:r>
                  <a:rPr lang="en-US" sz="2200" dirty="0">
                    <a:solidFill>
                      <a:schemeClr val="tx2">
                        <a:lumMod val="10000"/>
                      </a:schemeClr>
                    </a:solidFill>
                    <a:latin typeface="Calibri" panose="020F0502020204030204" pitchFamily="34" charset="0"/>
                  </a:rPr>
                  <a:t>(PC) of the data. </a:t>
                </a:r>
              </a:p>
              <a:p>
                <a:pPr algn="just">
                  <a:buSzPct val="75000"/>
                </a:pPr>
                <a:br>
                  <a:rPr lang="en-US" dirty="0"/>
                </a:br>
                <a:endParaRPr lang="en-US" dirty="0"/>
              </a:p>
            </p:txBody>
          </p:sp>
        </mc:Choice>
        <mc:Fallback xmlns="">
          <p:sp>
            <p:nvSpPr>
              <p:cNvPr id="7" name="Rectangle 6"/>
              <p:cNvSpPr>
                <a:spLocks noRot="1" noChangeAspect="1" noMove="1" noResize="1" noEditPoints="1" noAdjustHandles="1" noChangeArrowheads="1" noChangeShapeType="1" noTextEdit="1"/>
              </p:cNvSpPr>
              <p:nvPr/>
            </p:nvSpPr>
            <p:spPr>
              <a:xfrm>
                <a:off x="645091" y="2690934"/>
                <a:ext cx="3175347" cy="1877437"/>
              </a:xfrm>
              <a:prstGeom prst="rect">
                <a:avLst/>
              </a:prstGeom>
              <a:blipFill rotWithShape="0">
                <a:blip r:embed="rId4"/>
                <a:stretch>
                  <a:fillRect l="-960" t="-1948" r="-1152"/>
                </a:stretch>
              </a:blipFill>
            </p:spPr>
            <p:txBody>
              <a:bodyPr/>
              <a:lstStyle/>
              <a:p>
                <a:r>
                  <a:rPr lang="en-US">
                    <a:noFill/>
                  </a:rPr>
                  <a:t> </a:t>
                </a:r>
              </a:p>
            </p:txBody>
          </p:sp>
        </mc:Fallback>
      </mc:AlternateContent>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724072" y="2416434"/>
            <a:ext cx="4852870" cy="2426435"/>
          </a:xfrm>
          <a:prstGeom prst="rect">
            <a:avLst/>
          </a:prstGeom>
        </p:spPr>
      </p:pic>
    </p:spTree>
    <p:extLst>
      <p:ext uri="{BB962C8B-B14F-4D97-AF65-F5344CB8AC3E}">
        <p14:creationId xmlns:p14="http://schemas.microsoft.com/office/powerpoint/2010/main" val="3764510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1041" y="227174"/>
            <a:ext cx="7979534" cy="857400"/>
          </a:xfrm>
        </p:spPr>
        <p:txBody>
          <a:bodyPr/>
          <a:lstStyle/>
          <a:p>
            <a:r>
              <a:rPr lang="en-US" dirty="0">
                <a:solidFill>
                  <a:schemeClr val="tx2">
                    <a:lumMod val="10000"/>
                  </a:schemeClr>
                </a:solidFill>
              </a:rPr>
              <a:t>Principal Components</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16</a:t>
            </a:fld>
            <a:endParaRPr lang="en-US"/>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16206" y="1440165"/>
            <a:ext cx="4143644" cy="2978902"/>
          </a:xfrm>
          <a:prstGeom prst="rect">
            <a:avLst/>
          </a:prstGeom>
        </p:spPr>
      </p:pic>
      <p:pic>
        <p:nvPicPr>
          <p:cNvPr id="7" name="Picture 6"/>
          <p:cNvPicPr>
            <a:picLocks noChangeAspect="1"/>
          </p:cNvPicPr>
          <p:nvPr/>
        </p:nvPicPr>
        <p:blipFill>
          <a:blip r:embed="rId4"/>
          <a:stretch>
            <a:fillRect/>
          </a:stretch>
        </p:blipFill>
        <p:spPr>
          <a:xfrm>
            <a:off x="367690" y="1163377"/>
            <a:ext cx="4274159" cy="3763055"/>
          </a:xfrm>
          <a:prstGeom prst="rect">
            <a:avLst/>
          </a:prstGeom>
        </p:spPr>
      </p:pic>
    </p:spTree>
    <p:extLst>
      <p:ext uri="{BB962C8B-B14F-4D97-AF65-F5344CB8AC3E}">
        <p14:creationId xmlns:p14="http://schemas.microsoft.com/office/powerpoint/2010/main" val="1694344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1041" y="227174"/>
            <a:ext cx="7979534" cy="857400"/>
          </a:xfrm>
        </p:spPr>
        <p:txBody>
          <a:bodyPr/>
          <a:lstStyle/>
          <a:p>
            <a:r>
              <a:rPr lang="en-US" dirty="0">
                <a:solidFill>
                  <a:schemeClr val="tx2">
                    <a:lumMod val="10000"/>
                  </a:schemeClr>
                </a:solidFill>
              </a:rPr>
              <a:t>Finding Principal Components</a:t>
            </a:r>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501041" y="1084574"/>
                <a:ext cx="7979534" cy="3748441"/>
              </a:xfrm>
            </p:spPr>
            <p:txBody>
              <a:bodyPr/>
              <a:lstStyle/>
              <a:p>
                <a:pPr algn="just"/>
                <a:r>
                  <a:rPr lang="en-US" sz="2200" dirty="0">
                    <a:solidFill>
                      <a:schemeClr val="tx2">
                        <a:lumMod val="10000"/>
                      </a:schemeClr>
                    </a:solidFill>
                  </a:rPr>
                  <a:t>We can use </a:t>
                </a:r>
                <a:r>
                  <a:rPr lang="en-US" sz="2200" i="1" dirty="0">
                    <a:solidFill>
                      <a:srgbClr val="0070C0"/>
                    </a:solidFill>
                  </a:rPr>
                  <a:t>singular value decomposition</a:t>
                </a:r>
                <a:r>
                  <a:rPr lang="en-US" sz="2200" i="1" dirty="0">
                    <a:solidFill>
                      <a:schemeClr val="tx2">
                        <a:lumMod val="10000"/>
                      </a:schemeClr>
                    </a:solidFill>
                  </a:rPr>
                  <a:t> </a:t>
                </a:r>
                <a:r>
                  <a:rPr lang="en-US" sz="2200" dirty="0">
                    <a:solidFill>
                      <a:schemeClr val="tx2">
                        <a:lumMod val="10000"/>
                      </a:schemeClr>
                    </a:solidFill>
                  </a:rPr>
                  <a:t>(SVD) that decompose the training set matrix </a:t>
                </a:r>
                <a14:m>
                  <m:oMath xmlns:m="http://schemas.openxmlformats.org/officeDocument/2006/math">
                    <m:r>
                      <a:rPr lang="en-US" sz="2200" b="1" i="1" dirty="0" smtClean="0">
                        <a:solidFill>
                          <a:schemeClr val="tx2">
                            <a:lumMod val="10000"/>
                          </a:schemeClr>
                        </a:solidFill>
                        <a:latin typeface="Cambria Math" panose="02040503050406030204" pitchFamily="18" charset="0"/>
                      </a:rPr>
                      <m:t>𝑿</m:t>
                    </m:r>
                  </m:oMath>
                </a14:m>
                <a:r>
                  <a:rPr lang="en-US" sz="2200" b="1" dirty="0">
                    <a:solidFill>
                      <a:schemeClr val="tx2">
                        <a:lumMod val="10000"/>
                      </a:schemeClr>
                    </a:solidFill>
                  </a:rPr>
                  <a:t> </a:t>
                </a:r>
                <a:r>
                  <a:rPr lang="en-US" sz="2200" dirty="0">
                    <a:solidFill>
                      <a:schemeClr val="tx2">
                        <a:lumMod val="10000"/>
                      </a:schemeClr>
                    </a:solidFill>
                  </a:rPr>
                  <a:t>into the matrix multiplication of three</a:t>
                </a:r>
                <a:br>
                  <a:rPr lang="en-US" sz="2200" dirty="0">
                    <a:solidFill>
                      <a:schemeClr val="tx2">
                        <a:lumMod val="10000"/>
                      </a:schemeClr>
                    </a:solidFill>
                  </a:rPr>
                </a:br>
                <a:r>
                  <a:rPr lang="en-US" sz="2200" dirty="0">
                    <a:solidFill>
                      <a:schemeClr val="tx2">
                        <a:lumMod val="10000"/>
                      </a:schemeClr>
                    </a:solidFill>
                  </a:rPr>
                  <a:t>matrices </a:t>
                </a:r>
                <a14:m>
                  <m:oMath xmlns:m="http://schemas.openxmlformats.org/officeDocument/2006/math">
                    <m:r>
                      <a:rPr lang="en-US" sz="2200" b="1" i="1" dirty="0" smtClean="0">
                        <a:solidFill>
                          <a:schemeClr val="tx2">
                            <a:lumMod val="10000"/>
                          </a:schemeClr>
                        </a:solidFill>
                        <a:latin typeface="Cambria Math" panose="02040503050406030204" pitchFamily="18" charset="0"/>
                      </a:rPr>
                      <m:t>𝑼</m:t>
                    </m:r>
                    <m:r>
                      <a:rPr lang="en-US" sz="2200" b="1" i="1" dirty="0" smtClean="0">
                        <a:solidFill>
                          <a:schemeClr val="tx2">
                            <a:lumMod val="10000"/>
                          </a:schemeClr>
                        </a:solidFill>
                        <a:latin typeface="Cambria Math" panose="02040503050406030204" pitchFamily="18" charset="0"/>
                      </a:rPr>
                      <m:t> </m:t>
                    </m:r>
                    <m:r>
                      <a:rPr lang="en-US" sz="2200" b="1" i="0" dirty="0">
                        <a:solidFill>
                          <a:schemeClr val="tx2">
                            <a:lumMod val="10000"/>
                          </a:schemeClr>
                        </a:solidFill>
                        <a:latin typeface="Cambria Math" panose="02040503050406030204" pitchFamily="18" charset="0"/>
                      </a:rPr>
                      <m:t>𝚺</m:t>
                    </m:r>
                    <m:r>
                      <a:rPr lang="en-US" sz="2200" b="1" i="1" dirty="0">
                        <a:solidFill>
                          <a:schemeClr val="tx2">
                            <a:lumMod val="10000"/>
                          </a:schemeClr>
                        </a:solidFill>
                        <a:latin typeface="Cambria Math" panose="02040503050406030204" pitchFamily="18" charset="0"/>
                      </a:rPr>
                      <m:t> </m:t>
                    </m:r>
                    <m:sSup>
                      <m:sSupPr>
                        <m:ctrlPr>
                          <a:rPr lang="en-US" sz="2200" b="0" i="1" dirty="0" smtClean="0">
                            <a:solidFill>
                              <a:schemeClr val="tx2">
                                <a:lumMod val="10000"/>
                              </a:schemeClr>
                            </a:solidFill>
                            <a:latin typeface="Cambria Math" panose="02040503050406030204" pitchFamily="18" charset="0"/>
                          </a:rPr>
                        </m:ctrlPr>
                      </m:sSupPr>
                      <m:e>
                        <m:r>
                          <a:rPr lang="en-US" sz="2200" b="1" i="1" dirty="0">
                            <a:solidFill>
                              <a:schemeClr val="tx2">
                                <a:lumMod val="10000"/>
                              </a:schemeClr>
                            </a:solidFill>
                            <a:latin typeface="Cambria Math" panose="02040503050406030204" pitchFamily="18" charset="0"/>
                          </a:rPr>
                          <m:t>𝑽</m:t>
                        </m:r>
                      </m:e>
                      <m:sup>
                        <m:r>
                          <a:rPr lang="en-US" sz="2200" b="0" i="1" dirty="0" smtClean="0">
                            <a:solidFill>
                              <a:schemeClr val="tx2">
                                <a:lumMod val="10000"/>
                              </a:schemeClr>
                            </a:solidFill>
                            <a:latin typeface="Cambria Math" panose="02040503050406030204" pitchFamily="18" charset="0"/>
                          </a:rPr>
                          <m:t>𝑇</m:t>
                        </m:r>
                      </m:sup>
                    </m:sSup>
                  </m:oMath>
                </a14:m>
                <a:r>
                  <a:rPr lang="en-US" sz="2200" dirty="0">
                    <a:solidFill>
                      <a:schemeClr val="tx2">
                        <a:lumMod val="10000"/>
                      </a:schemeClr>
                    </a:solidFill>
                  </a:rPr>
                  <a:t>, where </a:t>
                </a:r>
                <a14:m>
                  <m:oMath xmlns:m="http://schemas.openxmlformats.org/officeDocument/2006/math">
                    <m:r>
                      <a:rPr lang="en-US" sz="2200" b="1" i="1" dirty="0" smtClean="0">
                        <a:solidFill>
                          <a:schemeClr val="tx2">
                            <a:lumMod val="10000"/>
                          </a:schemeClr>
                        </a:solidFill>
                        <a:latin typeface="Cambria Math" panose="02040503050406030204" pitchFamily="18" charset="0"/>
                      </a:rPr>
                      <m:t>𝑽</m:t>
                    </m:r>
                  </m:oMath>
                </a14:m>
                <a:r>
                  <a:rPr lang="en-US" sz="2200" b="1" dirty="0">
                    <a:solidFill>
                      <a:schemeClr val="tx2">
                        <a:lumMod val="10000"/>
                      </a:schemeClr>
                    </a:solidFill>
                  </a:rPr>
                  <a:t> </a:t>
                </a:r>
                <a:r>
                  <a:rPr lang="en-US" sz="2200" dirty="0">
                    <a:solidFill>
                      <a:schemeClr val="tx2">
                        <a:lumMod val="10000"/>
                      </a:schemeClr>
                    </a:solidFill>
                  </a:rPr>
                  <a:t>contains the unit vectors that define all the principal components:</a:t>
                </a:r>
              </a:p>
              <a:p>
                <a:pPr algn="just"/>
                <a:endParaRPr lang="en-US" sz="2200" dirty="0">
                  <a:solidFill>
                    <a:schemeClr val="tx2">
                      <a:lumMod val="10000"/>
                    </a:schemeClr>
                  </a:solidFill>
                </a:endParaRPr>
              </a:p>
              <a:p>
                <a:pPr algn="just"/>
                <a:endParaRPr lang="en-US" sz="2200" dirty="0">
                  <a:solidFill>
                    <a:schemeClr val="tx2">
                      <a:lumMod val="10000"/>
                    </a:schemeClr>
                  </a:solidFill>
                </a:endParaRPr>
              </a:p>
              <a:p>
                <a:pPr algn="just"/>
                <a:r>
                  <a:rPr lang="en-US" sz="2200" dirty="0">
                    <a:solidFill>
                      <a:schemeClr val="tx2">
                        <a:lumMod val="10000"/>
                      </a:schemeClr>
                    </a:solidFill>
                  </a:rPr>
                  <a:t>You can reduce the dimensionality of the dataset down to </a:t>
                </a:r>
                <a14:m>
                  <m:oMath xmlns:m="http://schemas.openxmlformats.org/officeDocument/2006/math">
                    <m:r>
                      <a:rPr lang="en-US" sz="2200" i="1" dirty="0" smtClean="0">
                        <a:solidFill>
                          <a:schemeClr val="tx2">
                            <a:lumMod val="10000"/>
                          </a:schemeClr>
                        </a:solidFill>
                        <a:latin typeface="Cambria Math" panose="02040503050406030204" pitchFamily="18" charset="0"/>
                      </a:rPr>
                      <m:t>𝑑</m:t>
                    </m:r>
                  </m:oMath>
                </a14:m>
                <a:r>
                  <a:rPr lang="en-US" sz="2200" i="1" dirty="0">
                    <a:solidFill>
                      <a:schemeClr val="tx2">
                        <a:lumMod val="10000"/>
                      </a:schemeClr>
                    </a:solidFill>
                  </a:rPr>
                  <a:t> </a:t>
                </a:r>
                <a:r>
                  <a:rPr lang="en-US" sz="2200" dirty="0">
                    <a:solidFill>
                      <a:schemeClr val="tx2">
                        <a:lumMod val="10000"/>
                      </a:schemeClr>
                    </a:solidFill>
                  </a:rPr>
                  <a:t>dimensions by projecting it onto the hyperplane defined by the first </a:t>
                </a:r>
                <a14:m>
                  <m:oMath xmlns:m="http://schemas.openxmlformats.org/officeDocument/2006/math">
                    <m:r>
                      <a:rPr lang="en-US" sz="2200" i="1" dirty="0" smtClean="0">
                        <a:solidFill>
                          <a:schemeClr val="tx2">
                            <a:lumMod val="10000"/>
                          </a:schemeClr>
                        </a:solidFill>
                        <a:latin typeface="Cambria Math" panose="02040503050406030204" pitchFamily="18" charset="0"/>
                      </a:rPr>
                      <m:t>𝑑</m:t>
                    </m:r>
                  </m:oMath>
                </a14:m>
                <a:r>
                  <a:rPr lang="en-US" sz="2200" i="1" dirty="0">
                    <a:solidFill>
                      <a:schemeClr val="tx2">
                        <a:lumMod val="10000"/>
                      </a:schemeClr>
                    </a:solidFill>
                  </a:rPr>
                  <a:t> </a:t>
                </a:r>
                <a:r>
                  <a:rPr lang="en-US" sz="2200" dirty="0">
                    <a:solidFill>
                      <a:schemeClr val="tx2">
                        <a:lumMod val="10000"/>
                      </a:schemeClr>
                    </a:solidFill>
                  </a:rPr>
                  <a:t>principal components: </a:t>
                </a:r>
                <a14:m>
                  <m:oMath xmlns:m="http://schemas.openxmlformats.org/officeDocument/2006/math">
                    <m:sSub>
                      <m:sSubPr>
                        <m:ctrlPr>
                          <a:rPr lang="en-US" sz="2200" b="1" i="1" dirty="0" smtClean="0">
                            <a:solidFill>
                              <a:schemeClr val="tx2">
                                <a:lumMod val="10000"/>
                              </a:schemeClr>
                            </a:solidFill>
                            <a:latin typeface="Cambria Math" panose="02040503050406030204" pitchFamily="18" charset="0"/>
                          </a:rPr>
                        </m:ctrlPr>
                      </m:sSubPr>
                      <m:e>
                        <m:r>
                          <a:rPr lang="en-US" sz="2200" b="1" i="1" dirty="0">
                            <a:solidFill>
                              <a:schemeClr val="tx2">
                                <a:lumMod val="10000"/>
                              </a:schemeClr>
                            </a:solidFill>
                            <a:latin typeface="Cambria Math" panose="02040503050406030204" pitchFamily="18" charset="0"/>
                          </a:rPr>
                          <m:t>𝑿</m:t>
                        </m:r>
                      </m:e>
                      <m:sub>
                        <m:r>
                          <a:rPr lang="en-US" sz="2200" b="0" i="1" dirty="0" smtClean="0">
                            <a:solidFill>
                              <a:schemeClr val="tx2">
                                <a:lumMod val="10000"/>
                              </a:schemeClr>
                            </a:solidFill>
                            <a:latin typeface="Cambria Math" panose="02040503050406030204" pitchFamily="18" charset="0"/>
                          </a:rPr>
                          <m:t>𝑑</m:t>
                        </m:r>
                        <m:r>
                          <a:rPr lang="en-US" sz="2200" b="0" i="0" dirty="0" smtClean="0">
                            <a:solidFill>
                              <a:schemeClr val="tx2">
                                <a:lumMod val="10000"/>
                              </a:schemeClr>
                            </a:solidFill>
                            <a:latin typeface="Cambria Math" panose="02040503050406030204" pitchFamily="18" charset="0"/>
                          </a:rPr>
                          <m:t>−</m:t>
                        </m:r>
                        <m:r>
                          <m:rPr>
                            <m:sty m:val="p"/>
                          </m:rPr>
                          <a:rPr lang="en-US" sz="2200" b="0" i="0" dirty="0" smtClean="0">
                            <a:solidFill>
                              <a:schemeClr val="tx2">
                                <a:lumMod val="10000"/>
                              </a:schemeClr>
                            </a:solidFill>
                            <a:latin typeface="Cambria Math" panose="02040503050406030204" pitchFamily="18" charset="0"/>
                          </a:rPr>
                          <m:t>proj</m:t>
                        </m:r>
                      </m:sub>
                    </m:sSub>
                    <m:r>
                      <a:rPr lang="en-US" sz="2200" b="0" i="0" dirty="0" smtClean="0">
                        <a:solidFill>
                          <a:schemeClr val="tx2">
                            <a:lumMod val="10000"/>
                          </a:schemeClr>
                        </a:solidFill>
                        <a:latin typeface="Cambria Math" panose="02040503050406030204" pitchFamily="18" charset="0"/>
                      </a:rPr>
                      <m:t>=</m:t>
                    </m:r>
                    <m:r>
                      <a:rPr lang="en-US" sz="2200" b="1" i="1" dirty="0">
                        <a:solidFill>
                          <a:schemeClr val="tx2">
                            <a:lumMod val="10000"/>
                          </a:schemeClr>
                        </a:solidFill>
                        <a:latin typeface="Cambria Math" panose="02040503050406030204" pitchFamily="18" charset="0"/>
                      </a:rPr>
                      <m:t>𝑿</m:t>
                    </m:r>
                    <m:sSub>
                      <m:sSubPr>
                        <m:ctrlPr>
                          <a:rPr lang="en-US" sz="2200" b="1" i="1" dirty="0" smtClean="0">
                            <a:solidFill>
                              <a:schemeClr val="tx2">
                                <a:lumMod val="10000"/>
                              </a:schemeClr>
                            </a:solidFill>
                            <a:latin typeface="Cambria Math" panose="02040503050406030204" pitchFamily="18" charset="0"/>
                          </a:rPr>
                        </m:ctrlPr>
                      </m:sSubPr>
                      <m:e>
                        <m:r>
                          <a:rPr lang="en-US" sz="2200" b="1" i="1" dirty="0" smtClean="0">
                            <a:solidFill>
                              <a:schemeClr val="tx2">
                                <a:lumMod val="10000"/>
                              </a:schemeClr>
                            </a:solidFill>
                            <a:latin typeface="Cambria Math" panose="02040503050406030204" pitchFamily="18" charset="0"/>
                          </a:rPr>
                          <m:t> </m:t>
                        </m:r>
                        <m:r>
                          <a:rPr lang="en-US" sz="2200" b="1" i="1" dirty="0" smtClean="0">
                            <a:solidFill>
                              <a:schemeClr val="tx2">
                                <a:lumMod val="10000"/>
                              </a:schemeClr>
                            </a:solidFill>
                            <a:latin typeface="Cambria Math" panose="02040503050406030204" pitchFamily="18" charset="0"/>
                          </a:rPr>
                          <m:t>𝑾</m:t>
                        </m:r>
                      </m:e>
                      <m:sub>
                        <m:r>
                          <a:rPr lang="en-US" sz="2200" b="1" i="1" dirty="0" smtClean="0">
                            <a:solidFill>
                              <a:schemeClr val="tx2">
                                <a:lumMod val="10000"/>
                              </a:schemeClr>
                            </a:solidFill>
                            <a:latin typeface="Cambria Math" panose="02040503050406030204" pitchFamily="18" charset="0"/>
                          </a:rPr>
                          <m:t>𝒅</m:t>
                        </m:r>
                      </m:sub>
                    </m:sSub>
                  </m:oMath>
                </a14:m>
                <a:endParaRPr lang="en-US" sz="2200" dirty="0">
                  <a:solidFill>
                    <a:schemeClr val="tx2">
                      <a:lumMod val="10000"/>
                    </a:schemeClr>
                  </a:solidFill>
                </a:endParaRPr>
              </a:p>
              <a:p>
                <a:pPr marL="114300" indent="0" algn="just">
                  <a:buNone/>
                </a:pPr>
                <a:br>
                  <a:rPr lang="en-US" sz="2200" dirty="0">
                    <a:solidFill>
                      <a:schemeClr val="tx2">
                        <a:lumMod val="10000"/>
                      </a:schemeClr>
                    </a:solidFill>
                  </a:rPr>
                </a:br>
                <a:br>
                  <a:rPr lang="en-US" sz="2200" dirty="0">
                    <a:solidFill>
                      <a:schemeClr val="tx2">
                        <a:lumMod val="10000"/>
                      </a:schemeClr>
                    </a:solidFill>
                  </a:rPr>
                </a:br>
                <a:endParaRPr lang="en-US" sz="2200" dirty="0">
                  <a:solidFill>
                    <a:schemeClr val="tx2">
                      <a:lumMod val="10000"/>
                    </a:schemeClr>
                  </a:solidFill>
                </a:endParaRPr>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501041" y="1084574"/>
                <a:ext cx="7979534" cy="3748441"/>
              </a:xfrm>
              <a:blipFill rotWithShape="0">
                <a:blip r:embed="rId3"/>
                <a:stretch>
                  <a:fillRect r="-993"/>
                </a:stretch>
              </a:blipFill>
            </p:spPr>
            <p:txBody>
              <a:bodyPr/>
              <a:lstStyle/>
              <a:p>
                <a:r>
                  <a:rPr lang="en-US">
                    <a:noFill/>
                  </a:rPr>
                  <a:t> </a:t>
                </a:r>
              </a:p>
            </p:txBody>
          </p:sp>
        </mc:Fallback>
      </mc:AlternateContent>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17</a:t>
            </a:fld>
            <a:endParaRPr lang="en-US"/>
          </a:p>
        </p:txBody>
      </p:sp>
      <p:pic>
        <p:nvPicPr>
          <p:cNvPr id="6" name="Picture 5"/>
          <p:cNvPicPr>
            <a:picLocks noChangeAspect="1"/>
          </p:cNvPicPr>
          <p:nvPr/>
        </p:nvPicPr>
        <p:blipFill>
          <a:blip r:embed="rId4"/>
          <a:stretch>
            <a:fillRect/>
          </a:stretch>
        </p:blipFill>
        <p:spPr>
          <a:xfrm>
            <a:off x="4509824" y="2393790"/>
            <a:ext cx="1622993" cy="993926"/>
          </a:xfrm>
          <a:prstGeom prst="rect">
            <a:avLst/>
          </a:prstGeom>
        </p:spPr>
      </p:pic>
    </p:spTree>
    <p:extLst>
      <p:ext uri="{BB962C8B-B14F-4D97-AF65-F5344CB8AC3E}">
        <p14:creationId xmlns:p14="http://schemas.microsoft.com/office/powerpoint/2010/main" val="3298384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1041" y="227174"/>
            <a:ext cx="7979534" cy="857400"/>
          </a:xfrm>
        </p:spPr>
        <p:txBody>
          <a:bodyPr/>
          <a:lstStyle/>
          <a:p>
            <a:r>
              <a:rPr lang="en-US" dirty="0">
                <a:solidFill>
                  <a:schemeClr val="tx2">
                    <a:lumMod val="10000"/>
                  </a:schemeClr>
                </a:solidFill>
              </a:rPr>
              <a:t>PCA in </a:t>
            </a:r>
            <a:r>
              <a:rPr lang="en-US" dirty="0" err="1">
                <a:solidFill>
                  <a:schemeClr val="tx2">
                    <a:lumMod val="10000"/>
                  </a:schemeClr>
                </a:solidFill>
              </a:rPr>
              <a:t>Scikit</a:t>
            </a:r>
            <a:r>
              <a:rPr lang="en-US" dirty="0">
                <a:solidFill>
                  <a:schemeClr val="tx2">
                    <a:lumMod val="10000"/>
                  </a:schemeClr>
                </a:solidFill>
              </a:rPr>
              <a:t>-Learn</a:t>
            </a:r>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501041" y="1084574"/>
                <a:ext cx="7979534" cy="3748441"/>
              </a:xfrm>
            </p:spPr>
            <p:txBody>
              <a:bodyPr/>
              <a:lstStyle/>
              <a:p>
                <a:pPr algn="just"/>
                <a:r>
                  <a:rPr lang="en-US" sz="2200" dirty="0">
                    <a:solidFill>
                      <a:schemeClr val="tx2">
                        <a:lumMod val="10000"/>
                      </a:schemeClr>
                    </a:solidFill>
                  </a:rPr>
                  <a:t>Scikit-Learn’s </a:t>
                </a:r>
                <a:r>
                  <a:rPr lang="en-US" sz="2000" dirty="0">
                    <a:solidFill>
                      <a:schemeClr val="tx2">
                        <a:lumMod val="10000"/>
                      </a:schemeClr>
                    </a:solidFill>
                    <a:latin typeface="Courier New" panose="02070309020205020404" pitchFamily="49" charset="0"/>
                    <a:cs typeface="Courier New" panose="02070309020205020404" pitchFamily="49" charset="0"/>
                  </a:rPr>
                  <a:t>PCA</a:t>
                </a:r>
                <a:r>
                  <a:rPr lang="en-US" sz="2200" dirty="0">
                    <a:solidFill>
                      <a:schemeClr val="tx2">
                        <a:lumMod val="10000"/>
                      </a:schemeClr>
                    </a:solidFill>
                  </a:rPr>
                  <a:t> class uses SVD to implement PCA.</a:t>
                </a:r>
              </a:p>
              <a:p>
                <a:pPr algn="just"/>
                <a:r>
                  <a:rPr lang="en-US" sz="2200" dirty="0">
                    <a:solidFill>
                      <a:schemeClr val="tx2">
                        <a:lumMod val="10000"/>
                      </a:schemeClr>
                    </a:solidFill>
                  </a:rPr>
                  <a:t>The following code applies PCA to reduce the dimensionality of the dataset down to two dimensions:</a:t>
                </a:r>
              </a:p>
              <a:p>
                <a:pPr algn="just"/>
                <a:endParaRPr lang="en-US" sz="2200" dirty="0">
                  <a:solidFill>
                    <a:schemeClr val="tx2">
                      <a:lumMod val="10000"/>
                    </a:schemeClr>
                  </a:solidFill>
                </a:endParaRPr>
              </a:p>
              <a:p>
                <a:pPr algn="just"/>
                <a:endParaRPr lang="en-US" sz="2200" dirty="0">
                  <a:solidFill>
                    <a:schemeClr val="tx2">
                      <a:lumMod val="10000"/>
                    </a:schemeClr>
                  </a:solidFill>
                </a:endParaRPr>
              </a:p>
              <a:p>
                <a:pPr algn="just"/>
                <a:endParaRPr lang="en-US" sz="2200" dirty="0">
                  <a:solidFill>
                    <a:schemeClr val="tx2">
                      <a:lumMod val="10000"/>
                    </a:schemeClr>
                  </a:solidFill>
                </a:endParaRPr>
              </a:p>
              <a:p>
                <a:pPr algn="just"/>
                <a:r>
                  <a:rPr lang="en-US" sz="2200" dirty="0">
                    <a:solidFill>
                      <a:schemeClr val="tx2">
                        <a:lumMod val="10000"/>
                      </a:schemeClr>
                    </a:solidFill>
                  </a:rPr>
                  <a:t>After fitting the PCA transformer, its </a:t>
                </a:r>
                <a:r>
                  <a:rPr lang="en-US" sz="2000" dirty="0">
                    <a:solidFill>
                      <a:schemeClr val="tx2">
                        <a:lumMod val="10000"/>
                      </a:schemeClr>
                    </a:solidFill>
                    <a:latin typeface="Courier New" panose="02070309020205020404" pitchFamily="49" charset="0"/>
                    <a:cs typeface="Courier New" panose="02070309020205020404" pitchFamily="49" charset="0"/>
                  </a:rPr>
                  <a:t>components_</a:t>
                </a:r>
                <a:r>
                  <a:rPr lang="en-US" sz="2200" dirty="0">
                    <a:solidFill>
                      <a:schemeClr val="tx2">
                        <a:lumMod val="10000"/>
                      </a:schemeClr>
                    </a:solidFill>
                  </a:rPr>
                  <a:t> attribute holds the transpose of </a:t>
                </a:r>
                <a14:m>
                  <m:oMath xmlns:m="http://schemas.openxmlformats.org/officeDocument/2006/math">
                    <m:sSub>
                      <m:sSubPr>
                        <m:ctrlPr>
                          <a:rPr lang="en-US" sz="2200" b="0" i="1" dirty="0" smtClean="0">
                            <a:solidFill>
                              <a:schemeClr val="tx2">
                                <a:lumMod val="10000"/>
                              </a:schemeClr>
                            </a:solidFill>
                            <a:latin typeface="Cambria Math" panose="02040503050406030204" pitchFamily="18" charset="0"/>
                          </a:rPr>
                        </m:ctrlPr>
                      </m:sSubPr>
                      <m:e>
                        <m:r>
                          <a:rPr lang="en-US" sz="2200" b="1" i="1" dirty="0" smtClean="0">
                            <a:solidFill>
                              <a:schemeClr val="tx2">
                                <a:lumMod val="10000"/>
                              </a:schemeClr>
                            </a:solidFill>
                            <a:latin typeface="Cambria Math" panose="02040503050406030204" pitchFamily="18" charset="0"/>
                          </a:rPr>
                          <m:t>𝑾</m:t>
                        </m:r>
                      </m:e>
                      <m:sub>
                        <m:r>
                          <a:rPr lang="en-US" sz="2200" i="1" dirty="0" err="1">
                            <a:solidFill>
                              <a:schemeClr val="tx2">
                                <a:lumMod val="10000"/>
                              </a:schemeClr>
                            </a:solidFill>
                            <a:latin typeface="Cambria Math" panose="02040503050406030204" pitchFamily="18" charset="0"/>
                          </a:rPr>
                          <m:t>𝑑</m:t>
                        </m:r>
                      </m:sub>
                    </m:sSub>
                  </m:oMath>
                </a14:m>
                <a:r>
                  <a:rPr lang="en-US" sz="2200" dirty="0">
                    <a:solidFill>
                      <a:schemeClr val="tx2">
                        <a:lumMod val="10000"/>
                      </a:schemeClr>
                    </a:solidFill>
                  </a:rPr>
                  <a:t>: it contains one row for each of the first </a:t>
                </a:r>
                <a14:m>
                  <m:oMath xmlns:m="http://schemas.openxmlformats.org/officeDocument/2006/math">
                    <m:r>
                      <a:rPr lang="en-US" sz="2200" i="1" dirty="0" smtClean="0">
                        <a:solidFill>
                          <a:schemeClr val="tx2">
                            <a:lumMod val="10000"/>
                          </a:schemeClr>
                        </a:solidFill>
                        <a:latin typeface="Cambria Math" panose="02040503050406030204" pitchFamily="18" charset="0"/>
                      </a:rPr>
                      <m:t>𝑑</m:t>
                    </m:r>
                  </m:oMath>
                </a14:m>
                <a:r>
                  <a:rPr lang="en-US" sz="2200" i="1" dirty="0">
                    <a:solidFill>
                      <a:schemeClr val="tx2">
                        <a:lumMod val="10000"/>
                      </a:schemeClr>
                    </a:solidFill>
                  </a:rPr>
                  <a:t> </a:t>
                </a:r>
                <a:r>
                  <a:rPr lang="en-US" sz="2200" dirty="0">
                    <a:solidFill>
                      <a:schemeClr val="tx2">
                        <a:lumMod val="10000"/>
                      </a:schemeClr>
                    </a:solidFill>
                  </a:rPr>
                  <a:t>principal components.</a:t>
                </a:r>
              </a:p>
              <a:p>
                <a:pPr marL="114300" indent="0" algn="just">
                  <a:buNone/>
                </a:pPr>
                <a:r>
                  <a:rPr lang="en-US" sz="2200" dirty="0">
                    <a:solidFill>
                      <a:schemeClr val="tx2">
                        <a:lumMod val="10000"/>
                      </a:schemeClr>
                    </a:solidFill>
                  </a:rPr>
                  <a:t> </a:t>
                </a:r>
                <a:br>
                  <a:rPr lang="en-US" sz="2200" dirty="0">
                    <a:solidFill>
                      <a:schemeClr val="tx2">
                        <a:lumMod val="10000"/>
                      </a:schemeClr>
                    </a:solidFill>
                  </a:rPr>
                </a:br>
                <a:endParaRPr lang="en-US" sz="2200" dirty="0">
                  <a:solidFill>
                    <a:schemeClr val="tx2">
                      <a:lumMod val="10000"/>
                    </a:schemeClr>
                  </a:solidFill>
                </a:endParaRPr>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501041" y="1084574"/>
                <a:ext cx="7979534" cy="3748441"/>
              </a:xfrm>
              <a:blipFill rotWithShape="0">
                <a:blip r:embed="rId3"/>
                <a:stretch>
                  <a:fillRect r="-993"/>
                </a:stretch>
              </a:blipFill>
            </p:spPr>
            <p:txBody>
              <a:bodyPr/>
              <a:lstStyle/>
              <a:p>
                <a:r>
                  <a:rPr lang="en-US">
                    <a:noFill/>
                  </a:rPr>
                  <a:t> </a:t>
                </a:r>
              </a:p>
            </p:txBody>
          </p:sp>
        </mc:Fallback>
      </mc:AlternateContent>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18</a:t>
            </a:fld>
            <a:endParaRPr lang="en-US"/>
          </a:p>
        </p:txBody>
      </p:sp>
      <p:pic>
        <p:nvPicPr>
          <p:cNvPr id="7" name="Picture 6"/>
          <p:cNvPicPr>
            <a:picLocks noChangeAspect="1"/>
          </p:cNvPicPr>
          <p:nvPr/>
        </p:nvPicPr>
        <p:blipFill>
          <a:blip r:embed="rId4"/>
          <a:stretch>
            <a:fillRect/>
          </a:stretch>
        </p:blipFill>
        <p:spPr>
          <a:xfrm>
            <a:off x="2054213" y="2438400"/>
            <a:ext cx="5163194" cy="1044577"/>
          </a:xfrm>
          <a:prstGeom prst="rect">
            <a:avLst/>
          </a:prstGeom>
        </p:spPr>
      </p:pic>
    </p:spTree>
    <p:extLst>
      <p:ext uri="{BB962C8B-B14F-4D97-AF65-F5344CB8AC3E}">
        <p14:creationId xmlns:p14="http://schemas.microsoft.com/office/powerpoint/2010/main" val="2643662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1041" y="227174"/>
            <a:ext cx="7979534" cy="857400"/>
          </a:xfrm>
        </p:spPr>
        <p:txBody>
          <a:bodyPr/>
          <a:lstStyle/>
          <a:p>
            <a:r>
              <a:rPr lang="en-US" dirty="0"/>
              <a:t>Explained Variance Ratio</a:t>
            </a:r>
            <a:endParaRPr lang="en-US" dirty="0">
              <a:solidFill>
                <a:schemeClr val="tx2">
                  <a:lumMod val="10000"/>
                </a:schemeClr>
              </a:solidFill>
            </a:endParaRPr>
          </a:p>
        </p:txBody>
      </p:sp>
      <p:sp>
        <p:nvSpPr>
          <p:cNvPr id="3" name="Text Placeholder 2"/>
          <p:cNvSpPr>
            <a:spLocks noGrp="1"/>
          </p:cNvSpPr>
          <p:nvPr>
            <p:ph type="body" idx="1"/>
          </p:nvPr>
        </p:nvSpPr>
        <p:spPr>
          <a:xfrm>
            <a:off x="501041" y="1225251"/>
            <a:ext cx="7979534" cy="3748441"/>
          </a:xfrm>
        </p:spPr>
        <p:txBody>
          <a:bodyPr/>
          <a:lstStyle/>
          <a:p>
            <a:pPr algn="just"/>
            <a:r>
              <a:rPr lang="en-US" sz="2200" dirty="0">
                <a:solidFill>
                  <a:schemeClr val="tx2">
                    <a:lumMod val="10000"/>
                  </a:schemeClr>
                </a:solidFill>
              </a:rPr>
              <a:t>The </a:t>
            </a:r>
            <a:r>
              <a:rPr lang="en-US" sz="2200" i="1" dirty="0">
                <a:solidFill>
                  <a:srgbClr val="0070C0"/>
                </a:solidFill>
              </a:rPr>
              <a:t>explained variance ratio </a:t>
            </a:r>
            <a:r>
              <a:rPr lang="en-US" sz="2200" dirty="0">
                <a:solidFill>
                  <a:schemeClr val="tx2">
                    <a:lumMod val="10000"/>
                  </a:schemeClr>
                </a:solidFill>
              </a:rPr>
              <a:t>of each principal component, available via the </a:t>
            </a:r>
            <a:r>
              <a:rPr lang="en-US" sz="2000" dirty="0" err="1">
                <a:solidFill>
                  <a:schemeClr val="tx2">
                    <a:lumMod val="10000"/>
                  </a:schemeClr>
                </a:solidFill>
                <a:latin typeface="Courier New" panose="02070309020205020404" pitchFamily="49" charset="0"/>
                <a:cs typeface="Courier New" panose="02070309020205020404" pitchFamily="49" charset="0"/>
              </a:rPr>
              <a:t>explained_variance_ratio</a:t>
            </a:r>
            <a:r>
              <a:rPr lang="en-US" sz="2000" dirty="0">
                <a:solidFill>
                  <a:schemeClr val="tx2">
                    <a:lumMod val="10000"/>
                  </a:schemeClr>
                </a:solidFill>
                <a:latin typeface="Courier New" panose="02070309020205020404" pitchFamily="49" charset="0"/>
                <a:cs typeface="Courier New" panose="02070309020205020404" pitchFamily="49" charset="0"/>
              </a:rPr>
              <a:t>_</a:t>
            </a:r>
            <a:r>
              <a:rPr lang="en-US" sz="2200" dirty="0">
                <a:solidFill>
                  <a:schemeClr val="tx2">
                    <a:lumMod val="10000"/>
                  </a:schemeClr>
                </a:solidFill>
              </a:rPr>
              <a:t> variable, indicates the proportion of the dataset’s variance that lies along each principal component.</a:t>
            </a:r>
          </a:p>
          <a:p>
            <a:pPr marL="114300" indent="0" algn="just">
              <a:buNone/>
            </a:pPr>
            <a:r>
              <a:rPr lang="en-US" sz="2200" dirty="0">
                <a:solidFill>
                  <a:schemeClr val="tx2">
                    <a:lumMod val="10000"/>
                  </a:schemeClr>
                </a:solidFill>
              </a:rPr>
              <a:t> </a:t>
            </a:r>
            <a:br>
              <a:rPr lang="en-US" sz="2000" dirty="0">
                <a:solidFill>
                  <a:schemeClr val="tx2">
                    <a:lumMod val="10000"/>
                  </a:schemeClr>
                </a:solidFill>
              </a:rPr>
            </a:br>
            <a:endParaRPr lang="en-US" sz="2200" dirty="0">
              <a:solidFill>
                <a:schemeClr val="tx2">
                  <a:lumMod val="10000"/>
                </a:schemeClr>
              </a:solidFill>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19</a:t>
            </a:fld>
            <a:endParaRPr lang="en-US"/>
          </a:p>
        </p:txBody>
      </p:sp>
      <p:pic>
        <p:nvPicPr>
          <p:cNvPr id="5" name="Picture 4"/>
          <p:cNvPicPr>
            <a:picLocks noChangeAspect="1"/>
          </p:cNvPicPr>
          <p:nvPr/>
        </p:nvPicPr>
        <p:blipFill>
          <a:blip r:embed="rId3"/>
          <a:stretch>
            <a:fillRect/>
          </a:stretch>
        </p:blipFill>
        <p:spPr>
          <a:xfrm>
            <a:off x="1621889" y="2803491"/>
            <a:ext cx="6033203" cy="875508"/>
          </a:xfrm>
          <a:prstGeom prst="rect">
            <a:avLst/>
          </a:prstGeom>
        </p:spPr>
      </p:pic>
    </p:spTree>
    <p:extLst>
      <p:ext uri="{BB962C8B-B14F-4D97-AF65-F5344CB8AC3E}">
        <p14:creationId xmlns:p14="http://schemas.microsoft.com/office/powerpoint/2010/main" val="17329154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1041" y="227174"/>
            <a:ext cx="7979534" cy="857400"/>
          </a:xfrm>
        </p:spPr>
        <p:txBody>
          <a:bodyPr/>
          <a:lstStyle/>
          <a:p>
            <a:r>
              <a:rPr lang="en-US" sz="3400" dirty="0"/>
              <a:t>Choosing the Right Number of Dimensions</a:t>
            </a:r>
            <a:endParaRPr lang="en-US" sz="3400" dirty="0">
              <a:solidFill>
                <a:schemeClr val="tx2">
                  <a:lumMod val="10000"/>
                </a:schemeClr>
              </a:solidFill>
            </a:endParaRPr>
          </a:p>
        </p:txBody>
      </p:sp>
      <p:sp>
        <p:nvSpPr>
          <p:cNvPr id="3" name="Text Placeholder 2"/>
          <p:cNvSpPr>
            <a:spLocks noGrp="1"/>
          </p:cNvSpPr>
          <p:nvPr>
            <p:ph type="body" idx="1"/>
          </p:nvPr>
        </p:nvSpPr>
        <p:spPr>
          <a:xfrm>
            <a:off x="501041" y="1084574"/>
            <a:ext cx="7979534" cy="3748441"/>
          </a:xfrm>
        </p:spPr>
        <p:txBody>
          <a:bodyPr/>
          <a:lstStyle/>
          <a:p>
            <a:r>
              <a:rPr lang="en-US" sz="2200" dirty="0">
                <a:solidFill>
                  <a:schemeClr val="tx2">
                    <a:lumMod val="10000"/>
                  </a:schemeClr>
                </a:solidFill>
              </a:rPr>
              <a:t>Choose the number of dimensions that add up to a sufficiently large portion of the variance—say, 95%.</a:t>
            </a:r>
          </a:p>
          <a:p>
            <a:endParaRPr lang="en-US" sz="2200" dirty="0">
              <a:solidFill>
                <a:schemeClr val="tx2">
                  <a:lumMod val="10000"/>
                </a:schemeClr>
              </a:solidFill>
            </a:endParaRPr>
          </a:p>
          <a:p>
            <a:endParaRPr lang="en-US" sz="2200" dirty="0">
              <a:solidFill>
                <a:schemeClr val="tx2">
                  <a:lumMod val="10000"/>
                </a:schemeClr>
              </a:solidFill>
            </a:endParaRPr>
          </a:p>
          <a:p>
            <a:endParaRPr lang="en-US" sz="2200" dirty="0">
              <a:solidFill>
                <a:schemeClr val="tx2">
                  <a:lumMod val="10000"/>
                </a:schemeClr>
              </a:solidFill>
            </a:endParaRPr>
          </a:p>
          <a:p>
            <a:endParaRPr lang="en-US" sz="2200" dirty="0">
              <a:solidFill>
                <a:schemeClr val="tx2">
                  <a:lumMod val="10000"/>
                </a:schemeClr>
              </a:solidFill>
            </a:endParaRPr>
          </a:p>
          <a:p>
            <a:endParaRPr lang="en-US" sz="2200" dirty="0">
              <a:solidFill>
                <a:schemeClr val="tx2">
                  <a:lumMod val="10000"/>
                </a:schemeClr>
              </a:solidFill>
            </a:endParaRPr>
          </a:p>
          <a:p>
            <a:endParaRPr lang="en-US" sz="600" dirty="0">
              <a:solidFill>
                <a:schemeClr val="tx2">
                  <a:lumMod val="10000"/>
                </a:schemeClr>
              </a:solidFill>
            </a:endParaRPr>
          </a:p>
          <a:p>
            <a:r>
              <a:rPr lang="en-US" sz="2200" dirty="0">
                <a:solidFill>
                  <a:schemeClr val="tx2">
                    <a:lumMod val="10000"/>
                  </a:schemeClr>
                </a:solidFill>
              </a:rPr>
              <a:t>You could then set </a:t>
            </a:r>
            <a:r>
              <a:rPr lang="en-US" sz="2200" dirty="0" err="1">
                <a:solidFill>
                  <a:schemeClr val="tx2">
                    <a:lumMod val="10000"/>
                  </a:schemeClr>
                </a:solidFill>
                <a:latin typeface="Courier New" panose="02070309020205020404" pitchFamily="49" charset="0"/>
                <a:cs typeface="Courier New" panose="02070309020205020404" pitchFamily="49" charset="0"/>
              </a:rPr>
              <a:t>n_components</a:t>
            </a:r>
            <a:r>
              <a:rPr lang="en-US" sz="2200" dirty="0">
                <a:solidFill>
                  <a:schemeClr val="tx2">
                    <a:lumMod val="10000"/>
                  </a:schemeClr>
                </a:solidFill>
                <a:latin typeface="Courier New" panose="02070309020205020404" pitchFamily="49" charset="0"/>
                <a:cs typeface="Courier New" panose="02070309020205020404" pitchFamily="49" charset="0"/>
              </a:rPr>
              <a:t>=d</a:t>
            </a:r>
            <a:r>
              <a:rPr lang="en-US" sz="2200" dirty="0">
                <a:solidFill>
                  <a:schemeClr val="tx2">
                    <a:lumMod val="10000"/>
                  </a:schemeClr>
                </a:solidFill>
              </a:rPr>
              <a:t> and run PCA again.</a:t>
            </a:r>
            <a:br>
              <a:rPr lang="en-US" sz="2200" dirty="0">
                <a:solidFill>
                  <a:schemeClr val="tx2">
                    <a:lumMod val="10000"/>
                  </a:schemeClr>
                </a:solidFill>
              </a:rPr>
            </a:br>
            <a:endParaRPr lang="en-US" sz="2200" dirty="0">
              <a:solidFill>
                <a:schemeClr val="tx2">
                  <a:lumMod val="10000"/>
                </a:schemeClr>
              </a:solidFill>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20</a:t>
            </a:fld>
            <a:endParaRPr lang="en-US"/>
          </a:p>
        </p:txBody>
      </p:sp>
      <p:pic>
        <p:nvPicPr>
          <p:cNvPr id="5" name="Picture 4"/>
          <p:cNvPicPr>
            <a:picLocks noChangeAspect="1"/>
          </p:cNvPicPr>
          <p:nvPr/>
        </p:nvPicPr>
        <p:blipFill>
          <a:blip r:embed="rId3"/>
          <a:stretch>
            <a:fillRect/>
          </a:stretch>
        </p:blipFill>
        <p:spPr>
          <a:xfrm>
            <a:off x="1242994" y="2089150"/>
            <a:ext cx="6486211" cy="1985174"/>
          </a:xfrm>
          <a:prstGeom prst="rect">
            <a:avLst/>
          </a:prstGeom>
        </p:spPr>
      </p:pic>
    </p:spTree>
    <p:extLst>
      <p:ext uri="{BB962C8B-B14F-4D97-AF65-F5344CB8AC3E}">
        <p14:creationId xmlns:p14="http://schemas.microsoft.com/office/powerpoint/2010/main" val="1027722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1041" y="227174"/>
            <a:ext cx="7979534" cy="857400"/>
          </a:xfrm>
        </p:spPr>
        <p:txBody>
          <a:bodyPr/>
          <a:lstStyle/>
          <a:p>
            <a:r>
              <a:rPr lang="en-US" sz="3400" dirty="0"/>
              <a:t>Choosing the Right Number of Dimensions</a:t>
            </a:r>
            <a:endParaRPr lang="en-US" sz="3400" dirty="0">
              <a:solidFill>
                <a:schemeClr val="tx2">
                  <a:lumMod val="10000"/>
                </a:schemeClr>
              </a:solidFill>
            </a:endParaRPr>
          </a:p>
        </p:txBody>
      </p:sp>
      <p:sp>
        <p:nvSpPr>
          <p:cNvPr id="3" name="Text Placeholder 2"/>
          <p:cNvSpPr>
            <a:spLocks noGrp="1"/>
          </p:cNvSpPr>
          <p:nvPr>
            <p:ph type="body" idx="1"/>
          </p:nvPr>
        </p:nvSpPr>
        <p:spPr>
          <a:xfrm>
            <a:off x="501041" y="1084574"/>
            <a:ext cx="7979534" cy="3748441"/>
          </a:xfrm>
        </p:spPr>
        <p:txBody>
          <a:bodyPr/>
          <a:lstStyle/>
          <a:p>
            <a:pPr algn="just"/>
            <a:r>
              <a:rPr lang="en-US" sz="2200" dirty="0">
                <a:solidFill>
                  <a:schemeClr val="tx2">
                    <a:lumMod val="10000"/>
                  </a:schemeClr>
                </a:solidFill>
              </a:rPr>
              <a:t>Instead of specifying the number of principal components you want to preserve, you can set </a:t>
            </a:r>
            <a:r>
              <a:rPr lang="en-US" sz="2000" dirty="0" err="1">
                <a:solidFill>
                  <a:schemeClr val="tx2">
                    <a:lumMod val="10000"/>
                  </a:schemeClr>
                </a:solidFill>
                <a:latin typeface="Courier New" panose="02070309020205020404" pitchFamily="49" charset="0"/>
                <a:cs typeface="Courier New" panose="02070309020205020404" pitchFamily="49" charset="0"/>
              </a:rPr>
              <a:t>n_components</a:t>
            </a:r>
            <a:r>
              <a:rPr lang="en-US" sz="2200" dirty="0">
                <a:solidFill>
                  <a:schemeClr val="tx2">
                    <a:lumMod val="10000"/>
                  </a:schemeClr>
                </a:solidFill>
              </a:rPr>
              <a:t> to be a float between 0.0 and 1.0, indicating the ratio of variance you wish to preserve: </a:t>
            </a:r>
          </a:p>
          <a:p>
            <a:pPr marL="114300" indent="0" algn="just">
              <a:buNone/>
            </a:pPr>
            <a:br>
              <a:rPr lang="en-US" sz="2200" dirty="0"/>
            </a:br>
            <a:endParaRPr lang="en-US" sz="2200" dirty="0">
              <a:solidFill>
                <a:schemeClr val="tx2">
                  <a:lumMod val="10000"/>
                </a:schemeClr>
              </a:solidFill>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21</a:t>
            </a:fld>
            <a:endParaRPr lang="en-US"/>
          </a:p>
        </p:txBody>
      </p:sp>
      <p:pic>
        <p:nvPicPr>
          <p:cNvPr id="7" name="Picture 6"/>
          <p:cNvPicPr>
            <a:picLocks noChangeAspect="1"/>
          </p:cNvPicPr>
          <p:nvPr/>
        </p:nvPicPr>
        <p:blipFill>
          <a:blip r:embed="rId3"/>
          <a:stretch>
            <a:fillRect/>
          </a:stretch>
        </p:blipFill>
        <p:spPr>
          <a:xfrm>
            <a:off x="883820" y="2832101"/>
            <a:ext cx="7707661" cy="1463678"/>
          </a:xfrm>
          <a:prstGeom prst="rect">
            <a:avLst/>
          </a:prstGeom>
        </p:spPr>
      </p:pic>
    </p:spTree>
    <p:extLst>
      <p:ext uri="{BB962C8B-B14F-4D97-AF65-F5344CB8AC3E}">
        <p14:creationId xmlns:p14="http://schemas.microsoft.com/office/powerpoint/2010/main" val="16032491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1041" y="227174"/>
            <a:ext cx="7979534" cy="857400"/>
          </a:xfrm>
        </p:spPr>
        <p:txBody>
          <a:bodyPr/>
          <a:lstStyle/>
          <a:p>
            <a:r>
              <a:rPr lang="en-US" sz="3400" dirty="0"/>
              <a:t>Choosing the Right Number of Dimensions</a:t>
            </a:r>
            <a:endParaRPr lang="en-US" sz="3400" dirty="0">
              <a:solidFill>
                <a:schemeClr val="tx2">
                  <a:lumMod val="10000"/>
                </a:schemeClr>
              </a:solidFill>
            </a:endParaRPr>
          </a:p>
        </p:txBody>
      </p:sp>
      <p:sp>
        <p:nvSpPr>
          <p:cNvPr id="3" name="Text Placeholder 2"/>
          <p:cNvSpPr>
            <a:spLocks noGrp="1"/>
          </p:cNvSpPr>
          <p:nvPr>
            <p:ph type="body" idx="1"/>
          </p:nvPr>
        </p:nvSpPr>
        <p:spPr>
          <a:xfrm>
            <a:off x="501041" y="1084574"/>
            <a:ext cx="7979534" cy="3748441"/>
          </a:xfrm>
        </p:spPr>
        <p:txBody>
          <a:bodyPr/>
          <a:lstStyle/>
          <a:p>
            <a:pPr algn="just"/>
            <a:r>
              <a:rPr lang="en-US" sz="2200" dirty="0">
                <a:solidFill>
                  <a:schemeClr val="tx2">
                    <a:lumMod val="10000"/>
                  </a:schemeClr>
                </a:solidFill>
              </a:rPr>
              <a:t>Plot the explained variance as a function of the number of</a:t>
            </a:r>
            <a:br>
              <a:rPr lang="en-US" sz="2200" dirty="0">
                <a:solidFill>
                  <a:schemeClr val="tx2">
                    <a:lumMod val="10000"/>
                  </a:schemeClr>
                </a:solidFill>
              </a:rPr>
            </a:br>
            <a:r>
              <a:rPr lang="en-US" sz="2200" dirty="0">
                <a:solidFill>
                  <a:schemeClr val="tx2">
                    <a:lumMod val="10000"/>
                  </a:schemeClr>
                </a:solidFill>
              </a:rPr>
              <a:t>dimensions, there will usually be an </a:t>
            </a:r>
            <a:r>
              <a:rPr lang="en-US" sz="2200" dirty="0">
                <a:solidFill>
                  <a:srgbClr val="0070C0"/>
                </a:solidFill>
              </a:rPr>
              <a:t>elbow</a:t>
            </a:r>
            <a:r>
              <a:rPr lang="en-US" sz="2200" dirty="0"/>
              <a:t> </a:t>
            </a:r>
            <a:r>
              <a:rPr lang="en-US" sz="2200" dirty="0">
                <a:solidFill>
                  <a:schemeClr val="tx2">
                    <a:lumMod val="10000"/>
                  </a:schemeClr>
                </a:solidFill>
              </a:rPr>
              <a:t>in the curve, where the explained variance stops growing fast:</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22</a:t>
            </a:fld>
            <a:endParaRPr lang="en-US"/>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78045" y="2290513"/>
            <a:ext cx="4362455" cy="2777069"/>
          </a:xfrm>
          <a:prstGeom prst="rect">
            <a:avLst/>
          </a:prstGeom>
        </p:spPr>
      </p:pic>
    </p:spTree>
    <p:extLst>
      <p:ext uri="{BB962C8B-B14F-4D97-AF65-F5344CB8AC3E}">
        <p14:creationId xmlns:p14="http://schemas.microsoft.com/office/powerpoint/2010/main" val="41012784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1041" y="89388"/>
            <a:ext cx="7979534" cy="857400"/>
          </a:xfrm>
        </p:spPr>
        <p:txBody>
          <a:bodyPr/>
          <a:lstStyle/>
          <a:p>
            <a:r>
              <a:rPr lang="en-US" sz="3400" dirty="0"/>
              <a:t>Choosing the Right Number of Dimensions</a:t>
            </a:r>
            <a:endParaRPr lang="en-US" sz="3400" dirty="0">
              <a:solidFill>
                <a:schemeClr val="tx2">
                  <a:lumMod val="10000"/>
                </a:schemeClr>
              </a:solidFill>
            </a:endParaRPr>
          </a:p>
        </p:txBody>
      </p:sp>
      <p:sp>
        <p:nvSpPr>
          <p:cNvPr id="3" name="Text Placeholder 2"/>
          <p:cNvSpPr>
            <a:spLocks noGrp="1"/>
          </p:cNvSpPr>
          <p:nvPr>
            <p:ph type="body" idx="1"/>
          </p:nvPr>
        </p:nvSpPr>
        <p:spPr>
          <a:xfrm>
            <a:off x="501041" y="959314"/>
            <a:ext cx="7979534" cy="3748441"/>
          </a:xfrm>
        </p:spPr>
        <p:txBody>
          <a:bodyPr/>
          <a:lstStyle/>
          <a:p>
            <a:r>
              <a:rPr lang="en-US" sz="2200" dirty="0">
                <a:solidFill>
                  <a:schemeClr val="tx2">
                    <a:lumMod val="10000"/>
                  </a:schemeClr>
                </a:solidFill>
              </a:rPr>
              <a:t>If you are using dimensionality reduction as a preprocessing step for a supervised learning task, then you can tune the number of dimensions as you would any other </a:t>
            </a:r>
            <a:r>
              <a:rPr lang="en-US" sz="2200" dirty="0" err="1">
                <a:solidFill>
                  <a:schemeClr val="tx2">
                    <a:lumMod val="10000"/>
                  </a:schemeClr>
                </a:solidFill>
              </a:rPr>
              <a:t>hyperparameter</a:t>
            </a:r>
            <a:r>
              <a:rPr lang="en-US" sz="2200" dirty="0">
                <a:solidFill>
                  <a:schemeClr val="tx2">
                    <a:lumMod val="10000"/>
                  </a:schemeClr>
                </a:solidFill>
              </a:rPr>
              <a:t>.</a:t>
            </a:r>
            <a:br>
              <a:rPr lang="en-US" sz="2000" dirty="0"/>
            </a:br>
            <a:endParaRPr lang="en-US" sz="2200" dirty="0">
              <a:solidFill>
                <a:schemeClr val="tx2">
                  <a:lumMod val="10000"/>
                </a:schemeClr>
              </a:solidFill>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23</a:t>
            </a:fld>
            <a:endParaRPr lang="en-US"/>
          </a:p>
        </p:txBody>
      </p:sp>
      <p:pic>
        <p:nvPicPr>
          <p:cNvPr id="7" name="Picture 6"/>
          <p:cNvPicPr>
            <a:picLocks noChangeAspect="1"/>
          </p:cNvPicPr>
          <p:nvPr/>
        </p:nvPicPr>
        <p:blipFill>
          <a:blip r:embed="rId3"/>
          <a:stretch>
            <a:fillRect/>
          </a:stretch>
        </p:blipFill>
        <p:spPr>
          <a:xfrm>
            <a:off x="902472" y="2181420"/>
            <a:ext cx="7371578" cy="2086958"/>
          </a:xfrm>
          <a:prstGeom prst="rect">
            <a:avLst/>
          </a:prstGeom>
        </p:spPr>
      </p:pic>
      <p:pic>
        <p:nvPicPr>
          <p:cNvPr id="8" name="Picture 7"/>
          <p:cNvPicPr>
            <a:picLocks noChangeAspect="1"/>
          </p:cNvPicPr>
          <p:nvPr/>
        </p:nvPicPr>
        <p:blipFill>
          <a:blip r:embed="rId4"/>
          <a:stretch>
            <a:fillRect/>
          </a:stretch>
        </p:blipFill>
        <p:spPr>
          <a:xfrm>
            <a:off x="908823" y="4282713"/>
            <a:ext cx="7371578" cy="580116"/>
          </a:xfrm>
          <a:prstGeom prst="rect">
            <a:avLst/>
          </a:prstGeom>
        </p:spPr>
      </p:pic>
    </p:spTree>
    <p:extLst>
      <p:ext uri="{BB962C8B-B14F-4D97-AF65-F5344CB8AC3E}">
        <p14:creationId xmlns:p14="http://schemas.microsoft.com/office/powerpoint/2010/main" val="2371763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1145" y="227174"/>
            <a:ext cx="8079288" cy="857400"/>
          </a:xfrm>
        </p:spPr>
        <p:txBody>
          <a:bodyPr/>
          <a:lstStyle/>
          <a:p>
            <a:r>
              <a:rPr lang="en-US" dirty="0"/>
              <a:t>PCA for Compression</a:t>
            </a:r>
          </a:p>
        </p:txBody>
      </p:sp>
      <p:sp>
        <p:nvSpPr>
          <p:cNvPr id="3" name="Text Placeholder 2"/>
          <p:cNvSpPr>
            <a:spLocks noGrp="1"/>
          </p:cNvSpPr>
          <p:nvPr>
            <p:ph type="body" idx="1"/>
          </p:nvPr>
        </p:nvSpPr>
        <p:spPr>
          <a:xfrm>
            <a:off x="551145" y="1144633"/>
            <a:ext cx="8079288" cy="3552300"/>
          </a:xfrm>
        </p:spPr>
        <p:txBody>
          <a:bodyPr/>
          <a:lstStyle/>
          <a:p>
            <a:r>
              <a:rPr lang="en-US" sz="2000" dirty="0">
                <a:solidFill>
                  <a:schemeClr val="tx2">
                    <a:lumMod val="10000"/>
                  </a:schemeClr>
                </a:solidFill>
              </a:rPr>
              <a:t>After dimensionality reduction, the training set takes up less space. </a:t>
            </a:r>
          </a:p>
          <a:p>
            <a:pPr lvl="1"/>
            <a:r>
              <a:rPr lang="en-US" sz="1800" dirty="0">
                <a:solidFill>
                  <a:schemeClr val="tx2">
                    <a:lumMod val="10000"/>
                  </a:schemeClr>
                </a:solidFill>
              </a:rPr>
              <a:t>E.g. MNIST dataset after PCA is less than 20% of its original size, and we only lost 5% of its variance! </a:t>
            </a:r>
          </a:p>
          <a:p>
            <a:r>
              <a:rPr lang="en-US" sz="2000" dirty="0">
                <a:solidFill>
                  <a:schemeClr val="tx2">
                    <a:lumMod val="10000"/>
                  </a:schemeClr>
                </a:solidFill>
              </a:rPr>
              <a:t>It is possible to decompress the reduced dataset by applying the inverse transformation of the PCA projection. </a:t>
            </a:r>
          </a:p>
          <a:p>
            <a:r>
              <a:rPr lang="en-US" sz="2000" dirty="0">
                <a:solidFill>
                  <a:schemeClr val="tx2">
                    <a:lumMod val="10000"/>
                  </a:schemeClr>
                </a:solidFill>
              </a:rPr>
              <a:t>The mean squared distance between the original data and the reconstructed data (compressed and then decompressed) is called the </a:t>
            </a:r>
            <a:r>
              <a:rPr lang="en-US" sz="2000" i="1" dirty="0">
                <a:solidFill>
                  <a:srgbClr val="0070C0"/>
                </a:solidFill>
              </a:rPr>
              <a:t>reconstruction error</a:t>
            </a:r>
            <a:r>
              <a:rPr lang="en-US" sz="2000" dirty="0">
                <a:solidFill>
                  <a:schemeClr val="tx2">
                    <a:lumMod val="10000"/>
                  </a:schemeClr>
                </a:solidFill>
              </a:rPr>
              <a:t>. </a:t>
            </a:r>
          </a:p>
          <a:p>
            <a:r>
              <a:rPr lang="en-US" sz="2000" dirty="0">
                <a:solidFill>
                  <a:schemeClr val="tx2">
                    <a:lumMod val="10000"/>
                  </a:schemeClr>
                </a:solidFill>
              </a:rPr>
              <a:t>Use the </a:t>
            </a:r>
            <a:r>
              <a:rPr lang="en-US" sz="1800" dirty="0" err="1">
                <a:solidFill>
                  <a:schemeClr val="tx2">
                    <a:lumMod val="10000"/>
                  </a:schemeClr>
                </a:solidFill>
                <a:latin typeface="Courier New" panose="02070309020205020404" pitchFamily="49" charset="0"/>
                <a:cs typeface="Courier New" panose="02070309020205020404" pitchFamily="49" charset="0"/>
              </a:rPr>
              <a:t>inverse_transform</a:t>
            </a:r>
            <a:r>
              <a:rPr lang="en-US" sz="2000" dirty="0">
                <a:solidFill>
                  <a:schemeClr val="tx2">
                    <a:lumMod val="10000"/>
                  </a:schemeClr>
                </a:solidFill>
              </a:rPr>
              <a:t>() method to decompress:</a:t>
            </a:r>
            <a:br>
              <a:rPr lang="en-US" sz="2000" dirty="0">
                <a:solidFill>
                  <a:schemeClr val="tx2">
                    <a:lumMod val="10000"/>
                  </a:schemeClr>
                </a:solidFill>
              </a:rPr>
            </a:br>
            <a:br>
              <a:rPr lang="en-US" sz="2000" dirty="0">
                <a:solidFill>
                  <a:schemeClr val="tx2">
                    <a:lumMod val="10000"/>
                  </a:schemeClr>
                </a:solidFill>
              </a:rPr>
            </a:br>
            <a:endParaRPr lang="en-US" sz="2000" dirty="0">
              <a:solidFill>
                <a:schemeClr val="tx2">
                  <a:lumMod val="10000"/>
                </a:schemeClr>
              </a:solidFill>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24</a:t>
            </a:fld>
            <a:endParaRPr lang="en-US"/>
          </a:p>
        </p:txBody>
      </p:sp>
      <p:pic>
        <p:nvPicPr>
          <p:cNvPr id="6" name="Picture 5"/>
          <p:cNvPicPr>
            <a:picLocks noChangeAspect="1"/>
          </p:cNvPicPr>
          <p:nvPr/>
        </p:nvPicPr>
        <p:blipFill>
          <a:blip r:embed="rId3"/>
          <a:stretch>
            <a:fillRect/>
          </a:stretch>
        </p:blipFill>
        <p:spPr>
          <a:xfrm>
            <a:off x="1345392" y="4305300"/>
            <a:ext cx="6674523" cy="500378"/>
          </a:xfrm>
          <a:prstGeom prst="rect">
            <a:avLst/>
          </a:prstGeom>
        </p:spPr>
      </p:pic>
    </p:spTree>
    <p:extLst>
      <p:ext uri="{BB962C8B-B14F-4D97-AF65-F5344CB8AC3E}">
        <p14:creationId xmlns:p14="http://schemas.microsoft.com/office/powerpoint/2010/main" val="1767181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PCA for Compression</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25</a:t>
            </a:fld>
            <a:endParaRPr lang="en-US"/>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44593" y="1276346"/>
            <a:ext cx="6400813" cy="3657607"/>
          </a:xfrm>
          <a:prstGeom prst="rect">
            <a:avLst/>
          </a:prstGeom>
        </p:spPr>
      </p:pic>
    </p:spTree>
    <p:extLst>
      <p:ext uri="{BB962C8B-B14F-4D97-AF65-F5344CB8AC3E}">
        <p14:creationId xmlns:p14="http://schemas.microsoft.com/office/powerpoint/2010/main" val="13627009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1145" y="227174"/>
            <a:ext cx="8079288" cy="857400"/>
          </a:xfrm>
        </p:spPr>
        <p:txBody>
          <a:bodyPr/>
          <a:lstStyle/>
          <a:p>
            <a:r>
              <a:rPr lang="en-US" dirty="0"/>
              <a:t>Randomized PCA</a:t>
            </a:r>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551145" y="1107055"/>
                <a:ext cx="8079288" cy="3552300"/>
              </a:xfrm>
            </p:spPr>
            <p:txBody>
              <a:bodyPr/>
              <a:lstStyle/>
              <a:p>
                <a:pPr algn="just"/>
                <a:r>
                  <a:rPr lang="en-US" sz="2000" dirty="0">
                    <a:solidFill>
                      <a:schemeClr val="tx2">
                        <a:lumMod val="10000"/>
                      </a:schemeClr>
                    </a:solidFill>
                  </a:rPr>
                  <a:t>If you set the </a:t>
                </a:r>
                <a:r>
                  <a:rPr lang="en-US" sz="1800" dirty="0" err="1">
                    <a:solidFill>
                      <a:schemeClr val="tx2">
                        <a:lumMod val="10000"/>
                      </a:schemeClr>
                    </a:solidFill>
                    <a:latin typeface="Courier New" panose="02070309020205020404" pitchFamily="49" charset="0"/>
                    <a:cs typeface="Courier New" panose="02070309020205020404" pitchFamily="49" charset="0"/>
                  </a:rPr>
                  <a:t>svd_solver</a:t>
                </a:r>
                <a:r>
                  <a:rPr lang="en-US" sz="2000" dirty="0">
                    <a:solidFill>
                      <a:schemeClr val="tx2">
                        <a:lumMod val="10000"/>
                      </a:schemeClr>
                    </a:solidFill>
                  </a:rPr>
                  <a:t> </a:t>
                </a:r>
                <a:r>
                  <a:rPr lang="en-US" sz="2000" dirty="0" err="1">
                    <a:solidFill>
                      <a:schemeClr val="tx2">
                        <a:lumMod val="10000"/>
                      </a:schemeClr>
                    </a:solidFill>
                  </a:rPr>
                  <a:t>hyperparameter</a:t>
                </a:r>
                <a:r>
                  <a:rPr lang="en-US" sz="2000" dirty="0">
                    <a:solidFill>
                      <a:schemeClr val="tx2">
                        <a:lumMod val="10000"/>
                      </a:schemeClr>
                    </a:solidFill>
                  </a:rPr>
                  <a:t> to "randomized", </a:t>
                </a:r>
                <a:r>
                  <a:rPr lang="en-US" sz="2000" dirty="0" err="1">
                    <a:solidFill>
                      <a:schemeClr val="tx2">
                        <a:lumMod val="10000"/>
                      </a:schemeClr>
                    </a:solidFill>
                  </a:rPr>
                  <a:t>Scikit</a:t>
                </a:r>
                <a:r>
                  <a:rPr lang="en-US" sz="2000" dirty="0">
                    <a:solidFill>
                      <a:schemeClr val="tx2">
                        <a:lumMod val="10000"/>
                      </a:schemeClr>
                    </a:solidFill>
                  </a:rPr>
                  <a:t>-Learn uses a stochastic algorithm called </a:t>
                </a:r>
                <a:r>
                  <a:rPr lang="en-US" sz="2000" i="1" dirty="0">
                    <a:solidFill>
                      <a:schemeClr val="tx2">
                        <a:lumMod val="10000"/>
                      </a:schemeClr>
                    </a:solidFill>
                  </a:rPr>
                  <a:t>randomized PCA </a:t>
                </a:r>
                <a:r>
                  <a:rPr lang="en-US" sz="2000" dirty="0">
                    <a:solidFill>
                      <a:schemeClr val="tx2">
                        <a:lumMod val="10000"/>
                      </a:schemeClr>
                    </a:solidFill>
                  </a:rPr>
                  <a:t>that quickly finds an </a:t>
                </a:r>
                <a:r>
                  <a:rPr lang="en-US" sz="2000" i="1" dirty="0">
                    <a:solidFill>
                      <a:schemeClr val="tx2">
                        <a:lumMod val="10000"/>
                      </a:schemeClr>
                    </a:solidFill>
                  </a:rPr>
                  <a:t>approximation</a:t>
                </a:r>
                <a:r>
                  <a:rPr lang="en-US" sz="2000" dirty="0">
                    <a:solidFill>
                      <a:schemeClr val="tx2">
                        <a:lumMod val="10000"/>
                      </a:schemeClr>
                    </a:solidFill>
                  </a:rPr>
                  <a:t> of the first </a:t>
                </a:r>
                <a14:m>
                  <m:oMath xmlns:m="http://schemas.openxmlformats.org/officeDocument/2006/math">
                    <m:r>
                      <a:rPr lang="en-US" sz="2000" i="1" dirty="0" smtClean="0">
                        <a:solidFill>
                          <a:schemeClr val="tx2">
                            <a:lumMod val="10000"/>
                          </a:schemeClr>
                        </a:solidFill>
                        <a:latin typeface="Cambria Math" panose="02040503050406030204" pitchFamily="18" charset="0"/>
                      </a:rPr>
                      <m:t>𝑑</m:t>
                    </m:r>
                  </m:oMath>
                </a14:m>
                <a:r>
                  <a:rPr lang="en-US" sz="2000" i="1" dirty="0">
                    <a:solidFill>
                      <a:schemeClr val="tx2">
                        <a:lumMod val="10000"/>
                      </a:schemeClr>
                    </a:solidFill>
                  </a:rPr>
                  <a:t> </a:t>
                </a:r>
                <a:r>
                  <a:rPr lang="en-US" sz="2000" dirty="0">
                    <a:solidFill>
                      <a:schemeClr val="tx2">
                        <a:lumMod val="10000"/>
                      </a:schemeClr>
                    </a:solidFill>
                  </a:rPr>
                  <a:t>principal components. </a:t>
                </a:r>
              </a:p>
              <a:p>
                <a:pPr algn="just"/>
                <a:r>
                  <a:rPr lang="en-US" sz="2000" dirty="0">
                    <a:solidFill>
                      <a:schemeClr val="tx2">
                        <a:lumMod val="10000"/>
                      </a:schemeClr>
                    </a:solidFill>
                  </a:rPr>
                  <a:t>Its computational complexity is </a:t>
                </a:r>
                <a14:m>
                  <m:oMath xmlns:m="http://schemas.openxmlformats.org/officeDocument/2006/math">
                    <m:r>
                      <a:rPr lang="en-US" sz="2000" i="1" dirty="0" smtClean="0">
                        <a:solidFill>
                          <a:schemeClr val="tx2">
                            <a:lumMod val="10000"/>
                          </a:schemeClr>
                        </a:solidFill>
                        <a:latin typeface="Cambria Math" panose="02040503050406030204" pitchFamily="18" charset="0"/>
                      </a:rPr>
                      <m:t>𝑂</m:t>
                    </m:r>
                    <m:r>
                      <a:rPr lang="en-US" sz="2000" i="1" dirty="0" smtClean="0">
                        <a:solidFill>
                          <a:schemeClr val="tx2">
                            <a:lumMod val="10000"/>
                          </a:schemeClr>
                        </a:solidFill>
                        <a:latin typeface="Cambria Math" panose="02040503050406030204" pitchFamily="18" charset="0"/>
                      </a:rPr>
                      <m:t>(</m:t>
                    </m:r>
                    <m:r>
                      <a:rPr lang="en-US" sz="2000" i="1" dirty="0" smtClean="0">
                        <a:solidFill>
                          <a:schemeClr val="tx2">
                            <a:lumMod val="10000"/>
                          </a:schemeClr>
                        </a:solidFill>
                        <a:latin typeface="Cambria Math" panose="02040503050406030204" pitchFamily="18" charset="0"/>
                      </a:rPr>
                      <m:t>𝑚</m:t>
                    </m:r>
                    <m:r>
                      <a:rPr lang="en-US" sz="2000" i="1" dirty="0" smtClean="0">
                        <a:solidFill>
                          <a:schemeClr val="tx2">
                            <a:lumMod val="10000"/>
                          </a:schemeClr>
                        </a:solidFill>
                        <a:latin typeface="Cambria Math" panose="02040503050406030204" pitchFamily="18" charset="0"/>
                      </a:rPr>
                      <m:t>×</m:t>
                    </m:r>
                    <m:sSup>
                      <m:sSupPr>
                        <m:ctrlPr>
                          <a:rPr lang="en-US" sz="2000" b="0" i="1" dirty="0" smtClean="0">
                            <a:solidFill>
                              <a:schemeClr val="tx2">
                                <a:lumMod val="10000"/>
                              </a:schemeClr>
                            </a:solidFill>
                            <a:latin typeface="Cambria Math" panose="02040503050406030204" pitchFamily="18" charset="0"/>
                          </a:rPr>
                        </m:ctrlPr>
                      </m:sSupPr>
                      <m:e>
                        <m:r>
                          <a:rPr lang="en-US" sz="2000" i="1" dirty="0" smtClean="0">
                            <a:solidFill>
                              <a:schemeClr val="tx2">
                                <a:lumMod val="10000"/>
                              </a:schemeClr>
                            </a:solidFill>
                            <a:latin typeface="Cambria Math" panose="02040503050406030204" pitchFamily="18" charset="0"/>
                          </a:rPr>
                          <m:t>𝑑</m:t>
                        </m:r>
                      </m:e>
                      <m:sup>
                        <m:r>
                          <a:rPr lang="en-US" sz="2000" i="1" dirty="0" smtClean="0">
                            <a:solidFill>
                              <a:schemeClr val="tx2">
                                <a:lumMod val="10000"/>
                              </a:schemeClr>
                            </a:solidFill>
                            <a:latin typeface="Cambria Math" panose="02040503050406030204" pitchFamily="18" charset="0"/>
                          </a:rPr>
                          <m:t>2</m:t>
                        </m:r>
                      </m:sup>
                    </m:sSup>
                    <m:r>
                      <a:rPr lang="en-US" sz="2000" i="1" dirty="0" smtClean="0">
                        <a:solidFill>
                          <a:schemeClr val="tx2">
                            <a:lumMod val="10000"/>
                          </a:schemeClr>
                        </a:solidFill>
                        <a:latin typeface="Cambria Math" panose="02040503050406030204" pitchFamily="18" charset="0"/>
                      </a:rPr>
                      <m:t>)+</m:t>
                    </m:r>
                    <m:r>
                      <a:rPr lang="en-US" sz="2000" i="1" dirty="0" smtClean="0">
                        <a:solidFill>
                          <a:schemeClr val="tx2">
                            <a:lumMod val="10000"/>
                          </a:schemeClr>
                        </a:solidFill>
                        <a:latin typeface="Cambria Math" panose="02040503050406030204" pitchFamily="18" charset="0"/>
                      </a:rPr>
                      <m:t>𝑂</m:t>
                    </m:r>
                    <m:r>
                      <a:rPr lang="en-US" sz="2000" i="1" dirty="0" smtClean="0">
                        <a:solidFill>
                          <a:schemeClr val="tx2">
                            <a:lumMod val="10000"/>
                          </a:schemeClr>
                        </a:solidFill>
                        <a:latin typeface="Cambria Math" panose="02040503050406030204" pitchFamily="18" charset="0"/>
                      </a:rPr>
                      <m:t>(</m:t>
                    </m:r>
                    <m:sSup>
                      <m:sSupPr>
                        <m:ctrlPr>
                          <a:rPr lang="en-US" sz="2000" b="0" i="1" dirty="0" smtClean="0">
                            <a:solidFill>
                              <a:schemeClr val="tx2">
                                <a:lumMod val="10000"/>
                              </a:schemeClr>
                            </a:solidFill>
                            <a:latin typeface="Cambria Math" panose="02040503050406030204" pitchFamily="18" charset="0"/>
                          </a:rPr>
                        </m:ctrlPr>
                      </m:sSupPr>
                      <m:e>
                        <m:r>
                          <a:rPr lang="en-US" sz="2000" i="1" dirty="0" smtClean="0">
                            <a:solidFill>
                              <a:schemeClr val="tx2">
                                <a:lumMod val="10000"/>
                              </a:schemeClr>
                            </a:solidFill>
                            <a:latin typeface="Cambria Math" panose="02040503050406030204" pitchFamily="18" charset="0"/>
                          </a:rPr>
                          <m:t>𝑑</m:t>
                        </m:r>
                      </m:e>
                      <m:sup>
                        <m:r>
                          <a:rPr lang="en-US" sz="2000" i="1" dirty="0" smtClean="0">
                            <a:solidFill>
                              <a:schemeClr val="tx2">
                                <a:lumMod val="10000"/>
                              </a:schemeClr>
                            </a:solidFill>
                            <a:latin typeface="Cambria Math" panose="02040503050406030204" pitchFamily="18" charset="0"/>
                          </a:rPr>
                          <m:t>3</m:t>
                        </m:r>
                      </m:sup>
                    </m:sSup>
                    <m:r>
                      <a:rPr lang="en-US" sz="2000" i="1" dirty="0" smtClean="0">
                        <a:solidFill>
                          <a:schemeClr val="tx2">
                            <a:lumMod val="10000"/>
                          </a:schemeClr>
                        </a:solidFill>
                        <a:latin typeface="Cambria Math" panose="02040503050406030204" pitchFamily="18" charset="0"/>
                      </a:rPr>
                      <m:t>)</m:t>
                    </m:r>
                  </m:oMath>
                </a14:m>
                <a:r>
                  <a:rPr lang="en-US" sz="2000" dirty="0">
                    <a:solidFill>
                      <a:schemeClr val="tx2">
                        <a:lumMod val="10000"/>
                      </a:schemeClr>
                    </a:solidFill>
                  </a:rPr>
                  <a:t>, instead of       </a:t>
                </a:r>
                <a14:m>
                  <m:oMath xmlns:m="http://schemas.openxmlformats.org/officeDocument/2006/math">
                    <m:r>
                      <a:rPr lang="en-US" sz="2000" i="1" dirty="0" smtClean="0">
                        <a:solidFill>
                          <a:schemeClr val="tx2">
                            <a:lumMod val="10000"/>
                          </a:schemeClr>
                        </a:solidFill>
                        <a:latin typeface="Cambria Math" panose="02040503050406030204" pitchFamily="18" charset="0"/>
                      </a:rPr>
                      <m:t>𝑂</m:t>
                    </m:r>
                    <m:r>
                      <a:rPr lang="en-US" sz="2000" i="1" dirty="0" smtClean="0">
                        <a:solidFill>
                          <a:schemeClr val="tx2">
                            <a:lumMod val="10000"/>
                          </a:schemeClr>
                        </a:solidFill>
                        <a:latin typeface="Cambria Math" panose="02040503050406030204" pitchFamily="18" charset="0"/>
                      </a:rPr>
                      <m:t>(</m:t>
                    </m:r>
                    <m:r>
                      <a:rPr lang="en-US" sz="2000" i="1" dirty="0" smtClean="0">
                        <a:solidFill>
                          <a:schemeClr val="tx2">
                            <a:lumMod val="10000"/>
                          </a:schemeClr>
                        </a:solidFill>
                        <a:latin typeface="Cambria Math" panose="02040503050406030204" pitchFamily="18" charset="0"/>
                      </a:rPr>
                      <m:t>𝑚</m:t>
                    </m:r>
                    <m:r>
                      <a:rPr lang="en-US" sz="2000" i="1" dirty="0" smtClean="0">
                        <a:solidFill>
                          <a:schemeClr val="tx2">
                            <a:lumMod val="10000"/>
                          </a:schemeClr>
                        </a:solidFill>
                        <a:latin typeface="Cambria Math" panose="02040503050406030204" pitchFamily="18" charset="0"/>
                      </a:rPr>
                      <m:t>×</m:t>
                    </m:r>
                    <m:sSup>
                      <m:sSupPr>
                        <m:ctrlPr>
                          <a:rPr lang="en-US" sz="2000" b="0" i="1" dirty="0" smtClean="0">
                            <a:solidFill>
                              <a:schemeClr val="tx2">
                                <a:lumMod val="10000"/>
                              </a:schemeClr>
                            </a:solidFill>
                            <a:latin typeface="Cambria Math" panose="02040503050406030204" pitchFamily="18" charset="0"/>
                          </a:rPr>
                        </m:ctrlPr>
                      </m:sSupPr>
                      <m:e>
                        <m:r>
                          <a:rPr lang="en-US" sz="2000" i="1" dirty="0" smtClean="0">
                            <a:solidFill>
                              <a:schemeClr val="tx2">
                                <a:lumMod val="10000"/>
                              </a:schemeClr>
                            </a:solidFill>
                            <a:latin typeface="Cambria Math" panose="02040503050406030204" pitchFamily="18" charset="0"/>
                          </a:rPr>
                          <m:t>𝑛</m:t>
                        </m:r>
                      </m:e>
                      <m:sup>
                        <m:r>
                          <a:rPr lang="en-US" sz="2000" i="1" dirty="0" smtClean="0">
                            <a:solidFill>
                              <a:schemeClr val="tx2">
                                <a:lumMod val="10000"/>
                              </a:schemeClr>
                            </a:solidFill>
                            <a:latin typeface="Cambria Math" panose="02040503050406030204" pitchFamily="18" charset="0"/>
                          </a:rPr>
                          <m:t>2</m:t>
                        </m:r>
                      </m:sup>
                    </m:sSup>
                    <m:r>
                      <a:rPr lang="en-US" sz="2000" i="1" dirty="0" smtClean="0">
                        <a:solidFill>
                          <a:schemeClr val="tx2">
                            <a:lumMod val="10000"/>
                          </a:schemeClr>
                        </a:solidFill>
                        <a:latin typeface="Cambria Math" panose="02040503050406030204" pitchFamily="18" charset="0"/>
                      </a:rPr>
                      <m:t>)+</m:t>
                    </m:r>
                    <m:r>
                      <a:rPr lang="en-US" sz="2000" i="1" dirty="0" smtClean="0">
                        <a:solidFill>
                          <a:schemeClr val="tx2">
                            <a:lumMod val="10000"/>
                          </a:schemeClr>
                        </a:solidFill>
                        <a:latin typeface="Cambria Math" panose="02040503050406030204" pitchFamily="18" charset="0"/>
                      </a:rPr>
                      <m:t>𝑂</m:t>
                    </m:r>
                    <m:r>
                      <a:rPr lang="en-US" sz="2000" i="1" dirty="0" smtClean="0">
                        <a:solidFill>
                          <a:schemeClr val="tx2">
                            <a:lumMod val="10000"/>
                          </a:schemeClr>
                        </a:solidFill>
                        <a:latin typeface="Cambria Math" panose="02040503050406030204" pitchFamily="18" charset="0"/>
                      </a:rPr>
                      <m:t>(</m:t>
                    </m:r>
                    <m:sSup>
                      <m:sSupPr>
                        <m:ctrlPr>
                          <a:rPr lang="en-US" sz="2000" b="0" i="1" dirty="0" smtClean="0">
                            <a:solidFill>
                              <a:schemeClr val="tx2">
                                <a:lumMod val="10000"/>
                              </a:schemeClr>
                            </a:solidFill>
                            <a:latin typeface="Cambria Math" panose="02040503050406030204" pitchFamily="18" charset="0"/>
                          </a:rPr>
                        </m:ctrlPr>
                      </m:sSupPr>
                      <m:e>
                        <m:r>
                          <a:rPr lang="en-US" sz="2000" i="1" dirty="0" smtClean="0">
                            <a:solidFill>
                              <a:schemeClr val="tx2">
                                <a:lumMod val="10000"/>
                              </a:schemeClr>
                            </a:solidFill>
                            <a:latin typeface="Cambria Math" panose="02040503050406030204" pitchFamily="18" charset="0"/>
                          </a:rPr>
                          <m:t>𝑛</m:t>
                        </m:r>
                      </m:e>
                      <m:sup>
                        <m:r>
                          <a:rPr lang="en-US" sz="2000" i="1" dirty="0" smtClean="0">
                            <a:solidFill>
                              <a:schemeClr val="tx2">
                                <a:lumMod val="10000"/>
                              </a:schemeClr>
                            </a:solidFill>
                            <a:latin typeface="Cambria Math" panose="02040503050406030204" pitchFamily="18" charset="0"/>
                          </a:rPr>
                          <m:t>3</m:t>
                        </m:r>
                      </m:sup>
                    </m:sSup>
                    <m:r>
                      <a:rPr lang="en-US" sz="2000" i="1" dirty="0" smtClean="0">
                        <a:solidFill>
                          <a:schemeClr val="tx2">
                            <a:lumMod val="10000"/>
                          </a:schemeClr>
                        </a:solidFill>
                        <a:latin typeface="Cambria Math" panose="02040503050406030204" pitchFamily="18" charset="0"/>
                      </a:rPr>
                      <m:t>)</m:t>
                    </m:r>
                  </m:oMath>
                </a14:m>
                <a:r>
                  <a:rPr lang="en-US" sz="2000" dirty="0">
                    <a:solidFill>
                      <a:schemeClr val="tx2">
                        <a:lumMod val="10000"/>
                      </a:schemeClr>
                    </a:solidFill>
                  </a:rPr>
                  <a:t> for the full SVD approach.</a:t>
                </a:r>
              </a:p>
              <a:p>
                <a:pPr lvl="1" algn="just"/>
                <a:r>
                  <a:rPr lang="en-US" sz="1800" dirty="0">
                    <a:solidFill>
                      <a:schemeClr val="tx2">
                        <a:lumMod val="10000"/>
                      </a:schemeClr>
                    </a:solidFill>
                  </a:rPr>
                  <a:t> Much faster than full SVD when </a:t>
                </a:r>
                <a14:m>
                  <m:oMath xmlns:m="http://schemas.openxmlformats.org/officeDocument/2006/math">
                    <m:r>
                      <a:rPr lang="en-US" sz="1800" i="1" dirty="0" smtClean="0">
                        <a:solidFill>
                          <a:schemeClr val="tx2">
                            <a:lumMod val="10000"/>
                          </a:schemeClr>
                        </a:solidFill>
                        <a:latin typeface="Cambria Math" panose="02040503050406030204" pitchFamily="18" charset="0"/>
                      </a:rPr>
                      <m:t>𝑑</m:t>
                    </m:r>
                  </m:oMath>
                </a14:m>
                <a:r>
                  <a:rPr lang="en-US" sz="1800" i="1" dirty="0">
                    <a:solidFill>
                      <a:schemeClr val="tx2">
                        <a:lumMod val="10000"/>
                      </a:schemeClr>
                    </a:solidFill>
                  </a:rPr>
                  <a:t> </a:t>
                </a:r>
                <a:r>
                  <a:rPr lang="en-US" sz="1800" dirty="0">
                    <a:solidFill>
                      <a:schemeClr val="tx2">
                        <a:lumMod val="10000"/>
                      </a:schemeClr>
                    </a:solidFill>
                  </a:rPr>
                  <a:t>is much smaller than </a:t>
                </a:r>
                <a14:m>
                  <m:oMath xmlns:m="http://schemas.openxmlformats.org/officeDocument/2006/math">
                    <m:r>
                      <a:rPr lang="en-US" sz="1800" i="1" dirty="0" smtClean="0">
                        <a:solidFill>
                          <a:schemeClr val="tx2">
                            <a:lumMod val="10000"/>
                          </a:schemeClr>
                        </a:solidFill>
                        <a:latin typeface="Cambria Math" panose="02040503050406030204" pitchFamily="18" charset="0"/>
                      </a:rPr>
                      <m:t>𝑛</m:t>
                    </m:r>
                    <m:r>
                      <a:rPr lang="en-US" sz="1800" b="0" i="0" dirty="0" smtClean="0">
                        <a:solidFill>
                          <a:schemeClr val="tx2">
                            <a:lumMod val="10000"/>
                          </a:schemeClr>
                        </a:solidFill>
                        <a:latin typeface="Cambria Math" panose="02040503050406030204" pitchFamily="18" charset="0"/>
                      </a:rPr>
                      <m:t>.</m:t>
                    </m:r>
                  </m:oMath>
                </a14:m>
                <a:r>
                  <a:rPr lang="en-US" sz="1800" dirty="0">
                    <a:solidFill>
                      <a:schemeClr val="tx2">
                        <a:lumMod val="10000"/>
                      </a:schemeClr>
                    </a:solidFill>
                  </a:rPr>
                  <a:t> </a:t>
                </a:r>
              </a:p>
              <a:p>
                <a:pPr lvl="1" algn="just"/>
                <a:endParaRPr lang="en-US" sz="1800" dirty="0">
                  <a:solidFill>
                    <a:schemeClr val="tx2">
                      <a:lumMod val="10000"/>
                    </a:schemeClr>
                  </a:solidFill>
                </a:endParaRPr>
              </a:p>
              <a:p>
                <a:pPr lvl="1" algn="just"/>
                <a:endParaRPr lang="en-US" sz="1800" dirty="0">
                  <a:solidFill>
                    <a:schemeClr val="tx2">
                      <a:lumMod val="10000"/>
                    </a:schemeClr>
                  </a:solidFill>
                </a:endParaRPr>
              </a:p>
              <a:p>
                <a:pPr lvl="1" algn="just"/>
                <a:endParaRPr lang="en-US" sz="400" dirty="0">
                  <a:solidFill>
                    <a:schemeClr val="tx2">
                      <a:lumMod val="10000"/>
                    </a:schemeClr>
                  </a:solidFill>
                </a:endParaRPr>
              </a:p>
              <a:p>
                <a:pPr algn="just"/>
                <a:r>
                  <a:rPr lang="en-US" sz="2000" dirty="0">
                    <a:solidFill>
                      <a:schemeClr val="tx2">
                        <a:lumMod val="10000"/>
                      </a:schemeClr>
                    </a:solidFill>
                    <a:latin typeface="Calibri" panose="020F0502020204030204" pitchFamily="34" charset="0"/>
                    <a:ea typeface="Arial"/>
                    <a:cs typeface="Arial"/>
                    <a:sym typeface="Arial"/>
                  </a:rPr>
                  <a:t>By default, </a:t>
                </a:r>
                <a:r>
                  <a:rPr lang="en-US" sz="1800" dirty="0" err="1">
                    <a:solidFill>
                      <a:schemeClr val="tx2">
                        <a:lumMod val="10000"/>
                      </a:schemeClr>
                    </a:solidFill>
                    <a:latin typeface="Courier New" panose="02070309020205020404" pitchFamily="49" charset="0"/>
                    <a:ea typeface="Arial"/>
                    <a:cs typeface="Courier New" panose="02070309020205020404" pitchFamily="49" charset="0"/>
                    <a:sym typeface="Arial"/>
                  </a:rPr>
                  <a:t>svd_solver</a:t>
                </a:r>
                <a:r>
                  <a:rPr lang="en-US" sz="2000" dirty="0">
                    <a:solidFill>
                      <a:schemeClr val="tx2">
                        <a:lumMod val="10000"/>
                      </a:schemeClr>
                    </a:solidFill>
                    <a:latin typeface="Calibri" panose="020F0502020204030204" pitchFamily="34" charset="0"/>
                    <a:ea typeface="Arial"/>
                    <a:cs typeface="Arial"/>
                    <a:sym typeface="Arial"/>
                  </a:rPr>
                  <a:t> is actually set to "</a:t>
                </a:r>
                <a:r>
                  <a:rPr lang="en-US" sz="1800" dirty="0">
                    <a:solidFill>
                      <a:schemeClr val="tx2">
                        <a:lumMod val="10000"/>
                      </a:schemeClr>
                    </a:solidFill>
                    <a:latin typeface="Courier New" panose="02070309020205020404" pitchFamily="49" charset="0"/>
                    <a:ea typeface="Arial"/>
                    <a:cs typeface="Courier New" panose="02070309020205020404" pitchFamily="49" charset="0"/>
                    <a:sym typeface="Arial"/>
                  </a:rPr>
                  <a:t>auto</a:t>
                </a:r>
                <a:r>
                  <a:rPr lang="en-US" sz="2000" dirty="0">
                    <a:solidFill>
                      <a:schemeClr val="tx2">
                        <a:lumMod val="10000"/>
                      </a:schemeClr>
                    </a:solidFill>
                    <a:latin typeface="Calibri" panose="020F0502020204030204" pitchFamily="34" charset="0"/>
                    <a:ea typeface="Arial"/>
                    <a:cs typeface="Arial"/>
                    <a:sym typeface="Arial"/>
                  </a:rPr>
                  <a:t>": </a:t>
                </a:r>
                <a:r>
                  <a:rPr lang="en-US" sz="2000" dirty="0" err="1">
                    <a:solidFill>
                      <a:schemeClr val="tx2">
                        <a:lumMod val="10000"/>
                      </a:schemeClr>
                    </a:solidFill>
                    <a:latin typeface="Calibri" panose="020F0502020204030204" pitchFamily="34" charset="0"/>
                    <a:ea typeface="Arial"/>
                    <a:cs typeface="Arial"/>
                    <a:sym typeface="Arial"/>
                  </a:rPr>
                  <a:t>Scikit</a:t>
                </a:r>
                <a:r>
                  <a:rPr lang="en-US" sz="2000" dirty="0">
                    <a:solidFill>
                      <a:schemeClr val="tx2">
                        <a:lumMod val="10000"/>
                      </a:schemeClr>
                    </a:solidFill>
                    <a:latin typeface="Calibri" panose="020F0502020204030204" pitchFamily="34" charset="0"/>
                    <a:ea typeface="Arial"/>
                    <a:cs typeface="Arial"/>
                    <a:sym typeface="Arial"/>
                  </a:rPr>
                  <a:t>-Learn uses the randomized PCA algorithm automatically if </a:t>
                </a:r>
                <a14:m>
                  <m:oMath xmlns:m="http://schemas.openxmlformats.org/officeDocument/2006/math">
                    <m:r>
                      <m:rPr>
                        <m:sty m:val="p"/>
                      </m:rPr>
                      <a:rPr lang="en-US" sz="2000" i="1" dirty="0" smtClean="0">
                        <a:solidFill>
                          <a:schemeClr val="tx2">
                            <a:lumMod val="10000"/>
                          </a:schemeClr>
                        </a:solidFill>
                        <a:latin typeface="Cambria Math" panose="02040503050406030204" pitchFamily="18" charset="0"/>
                        <a:ea typeface="Arial"/>
                        <a:cs typeface="Arial"/>
                        <a:sym typeface="Arial"/>
                      </a:rPr>
                      <m:t>max</m:t>
                    </m:r>
                    <m:r>
                      <a:rPr lang="en-US" sz="2000" i="1" dirty="0" smtClean="0">
                        <a:solidFill>
                          <a:schemeClr val="tx2">
                            <a:lumMod val="10000"/>
                          </a:schemeClr>
                        </a:solidFill>
                        <a:latin typeface="Cambria Math" panose="02040503050406030204" pitchFamily="18" charset="0"/>
                        <a:ea typeface="Arial"/>
                        <a:cs typeface="Arial"/>
                        <a:sym typeface="Arial"/>
                      </a:rPr>
                      <m:t>⁡(</m:t>
                    </m:r>
                    <m:r>
                      <a:rPr lang="en-US" sz="2000" i="1" dirty="0" smtClean="0">
                        <a:solidFill>
                          <a:schemeClr val="tx2">
                            <a:lumMod val="10000"/>
                          </a:schemeClr>
                        </a:solidFill>
                        <a:latin typeface="Cambria Math" panose="02040503050406030204" pitchFamily="18" charset="0"/>
                        <a:ea typeface="Arial"/>
                        <a:cs typeface="Arial"/>
                        <a:sym typeface="Arial"/>
                      </a:rPr>
                      <m:t>𝑚</m:t>
                    </m:r>
                    <m:r>
                      <a:rPr lang="en-US" sz="2000" i="1" dirty="0" smtClean="0">
                        <a:solidFill>
                          <a:schemeClr val="tx2">
                            <a:lumMod val="10000"/>
                          </a:schemeClr>
                        </a:solidFill>
                        <a:latin typeface="Cambria Math" panose="02040503050406030204" pitchFamily="18" charset="0"/>
                        <a:ea typeface="Arial"/>
                        <a:cs typeface="Arial"/>
                        <a:sym typeface="Arial"/>
                      </a:rPr>
                      <m:t>, </m:t>
                    </m:r>
                    <m:r>
                      <a:rPr lang="en-US" sz="2000" i="1" dirty="0" smtClean="0">
                        <a:solidFill>
                          <a:schemeClr val="tx2">
                            <a:lumMod val="10000"/>
                          </a:schemeClr>
                        </a:solidFill>
                        <a:latin typeface="Cambria Math" panose="02040503050406030204" pitchFamily="18" charset="0"/>
                        <a:ea typeface="Arial"/>
                        <a:cs typeface="Arial"/>
                        <a:sym typeface="Arial"/>
                      </a:rPr>
                      <m:t>𝑛</m:t>
                    </m:r>
                    <m:r>
                      <a:rPr lang="en-US" sz="2000" i="1" dirty="0" smtClean="0">
                        <a:solidFill>
                          <a:schemeClr val="tx2">
                            <a:lumMod val="10000"/>
                          </a:schemeClr>
                        </a:solidFill>
                        <a:latin typeface="Cambria Math" panose="02040503050406030204" pitchFamily="18" charset="0"/>
                        <a:ea typeface="Arial"/>
                        <a:cs typeface="Arial"/>
                        <a:sym typeface="Arial"/>
                      </a:rPr>
                      <m:t>)&gt;500 </m:t>
                    </m:r>
                  </m:oMath>
                </a14:m>
                <a:r>
                  <a:rPr lang="en-US" sz="2000" dirty="0">
                    <a:solidFill>
                      <a:schemeClr val="tx2">
                        <a:lumMod val="10000"/>
                      </a:schemeClr>
                    </a:solidFill>
                    <a:latin typeface="Calibri" panose="020F0502020204030204" pitchFamily="34" charset="0"/>
                    <a:ea typeface="Arial"/>
                    <a:cs typeface="Arial"/>
                    <a:sym typeface="Arial"/>
                  </a:rPr>
                  <a:t>and </a:t>
                </a:r>
                <a:r>
                  <a:rPr lang="en-US" sz="1800" dirty="0" err="1">
                    <a:solidFill>
                      <a:schemeClr val="tx2">
                        <a:lumMod val="10000"/>
                      </a:schemeClr>
                    </a:solidFill>
                    <a:latin typeface="Courier New" panose="02070309020205020404" pitchFamily="49" charset="0"/>
                    <a:ea typeface="Arial"/>
                    <a:cs typeface="Courier New" panose="02070309020205020404" pitchFamily="49" charset="0"/>
                    <a:sym typeface="Arial"/>
                  </a:rPr>
                  <a:t>n_components</a:t>
                </a:r>
                <a:r>
                  <a:rPr lang="en-US" sz="2000" dirty="0">
                    <a:solidFill>
                      <a:schemeClr val="tx2">
                        <a:lumMod val="10000"/>
                      </a:schemeClr>
                    </a:solidFill>
                    <a:latin typeface="Calibri" panose="020F0502020204030204" pitchFamily="34" charset="0"/>
                    <a:ea typeface="Arial"/>
                    <a:cs typeface="Arial"/>
                    <a:sym typeface="Arial"/>
                  </a:rPr>
                  <a:t> is an integer smaller than 80% of </a:t>
                </a:r>
                <a14:m>
                  <m:oMath xmlns:m="http://schemas.openxmlformats.org/officeDocument/2006/math">
                    <m:r>
                      <m:rPr>
                        <m:sty m:val="p"/>
                      </m:rPr>
                      <a:rPr lang="en-US" sz="2000" i="1" dirty="0" smtClean="0">
                        <a:solidFill>
                          <a:schemeClr val="tx2">
                            <a:lumMod val="10000"/>
                          </a:schemeClr>
                        </a:solidFill>
                        <a:latin typeface="Cambria Math" panose="02040503050406030204" pitchFamily="18" charset="0"/>
                        <a:ea typeface="Arial"/>
                        <a:cs typeface="Arial"/>
                        <a:sym typeface="Arial"/>
                      </a:rPr>
                      <m:t>min</m:t>
                    </m:r>
                    <m:r>
                      <a:rPr lang="en-US" sz="2000" i="1" dirty="0" smtClean="0">
                        <a:solidFill>
                          <a:schemeClr val="tx2">
                            <a:lumMod val="10000"/>
                          </a:schemeClr>
                        </a:solidFill>
                        <a:latin typeface="Cambria Math" panose="02040503050406030204" pitchFamily="18" charset="0"/>
                        <a:ea typeface="Arial"/>
                        <a:cs typeface="Arial"/>
                        <a:sym typeface="Arial"/>
                      </a:rPr>
                      <m:t>⁡(</m:t>
                    </m:r>
                    <m:r>
                      <a:rPr lang="en-US" sz="2000" i="1" dirty="0" err="1">
                        <a:solidFill>
                          <a:schemeClr val="tx2">
                            <a:lumMod val="10000"/>
                          </a:schemeClr>
                        </a:solidFill>
                        <a:latin typeface="Cambria Math" panose="02040503050406030204" pitchFamily="18" charset="0"/>
                        <a:ea typeface="Arial"/>
                        <a:cs typeface="Arial"/>
                        <a:sym typeface="Arial"/>
                      </a:rPr>
                      <m:t>𝑚</m:t>
                    </m:r>
                    <m:r>
                      <a:rPr lang="en-US" sz="2000" i="1" dirty="0" err="1">
                        <a:solidFill>
                          <a:schemeClr val="tx2">
                            <a:lumMod val="10000"/>
                          </a:schemeClr>
                        </a:solidFill>
                        <a:latin typeface="Cambria Math" panose="02040503050406030204" pitchFamily="18" charset="0"/>
                        <a:ea typeface="Arial"/>
                        <a:cs typeface="Arial"/>
                        <a:sym typeface="Arial"/>
                      </a:rPr>
                      <m:t>,</m:t>
                    </m:r>
                    <m:r>
                      <a:rPr lang="en-US" sz="2000" i="1" dirty="0" err="1">
                        <a:solidFill>
                          <a:schemeClr val="tx2">
                            <a:lumMod val="10000"/>
                          </a:schemeClr>
                        </a:solidFill>
                        <a:latin typeface="Cambria Math" panose="02040503050406030204" pitchFamily="18" charset="0"/>
                        <a:ea typeface="Arial"/>
                        <a:cs typeface="Arial"/>
                        <a:sym typeface="Arial"/>
                      </a:rPr>
                      <m:t>𝑛</m:t>
                    </m:r>
                    <m:r>
                      <a:rPr lang="en-US" sz="2000" i="1" dirty="0" smtClean="0">
                        <a:solidFill>
                          <a:schemeClr val="tx2">
                            <a:lumMod val="10000"/>
                          </a:schemeClr>
                        </a:solidFill>
                        <a:latin typeface="Cambria Math" panose="02040503050406030204" pitchFamily="18" charset="0"/>
                        <a:ea typeface="Arial"/>
                        <a:cs typeface="Arial"/>
                        <a:sym typeface="Arial"/>
                      </a:rPr>
                      <m:t>)</m:t>
                    </m:r>
                  </m:oMath>
                </a14:m>
                <a:r>
                  <a:rPr lang="en-US" sz="2000" dirty="0">
                    <a:solidFill>
                      <a:schemeClr val="tx2">
                        <a:lumMod val="10000"/>
                      </a:schemeClr>
                    </a:solidFill>
                    <a:latin typeface="Calibri" panose="020F0502020204030204" pitchFamily="34" charset="0"/>
                    <a:ea typeface="Arial"/>
                    <a:cs typeface="Arial"/>
                    <a:sym typeface="Arial"/>
                  </a:rPr>
                  <a:t>.</a:t>
                </a:r>
              </a:p>
              <a:p>
                <a:pPr marL="114300" indent="0" algn="just">
                  <a:buNone/>
                </a:pPr>
                <a:br>
                  <a:rPr lang="en-US" sz="1800" dirty="0">
                    <a:solidFill>
                      <a:schemeClr val="tx2">
                        <a:lumMod val="10000"/>
                      </a:schemeClr>
                    </a:solidFill>
                  </a:rPr>
                </a:br>
                <a:endParaRPr lang="en-US" sz="1800" dirty="0">
                  <a:solidFill>
                    <a:schemeClr val="tx2">
                      <a:lumMod val="10000"/>
                    </a:schemeClr>
                  </a:solidFill>
                </a:endParaRPr>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551145" y="1107055"/>
                <a:ext cx="8079288" cy="3552300"/>
              </a:xfrm>
              <a:blipFill rotWithShape="0">
                <a:blip r:embed="rId3"/>
                <a:stretch>
                  <a:fillRect r="-754" b="-6873"/>
                </a:stretch>
              </a:blipFill>
            </p:spPr>
            <p:txBody>
              <a:bodyPr/>
              <a:lstStyle/>
              <a:p>
                <a:r>
                  <a:rPr lang="en-US">
                    <a:noFill/>
                  </a:rPr>
                  <a:t> </a:t>
                </a:r>
              </a:p>
            </p:txBody>
          </p:sp>
        </mc:Fallback>
      </mc:AlternateContent>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26</a:t>
            </a:fld>
            <a:endParaRPr lang="en-US"/>
          </a:p>
        </p:txBody>
      </p:sp>
      <p:pic>
        <p:nvPicPr>
          <p:cNvPr id="5" name="Picture 4"/>
          <p:cNvPicPr>
            <a:picLocks noChangeAspect="1"/>
          </p:cNvPicPr>
          <p:nvPr/>
        </p:nvPicPr>
        <p:blipFill>
          <a:blip r:embed="rId4"/>
          <a:stretch>
            <a:fillRect/>
          </a:stretch>
        </p:blipFill>
        <p:spPr>
          <a:xfrm>
            <a:off x="1339833" y="3181351"/>
            <a:ext cx="7029460" cy="600076"/>
          </a:xfrm>
          <a:prstGeom prst="rect">
            <a:avLst/>
          </a:prstGeom>
        </p:spPr>
      </p:pic>
    </p:spTree>
    <p:extLst>
      <p:ext uri="{BB962C8B-B14F-4D97-AF65-F5344CB8AC3E}">
        <p14:creationId xmlns:p14="http://schemas.microsoft.com/office/powerpoint/2010/main" val="2946878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8619" y="227174"/>
            <a:ext cx="7941956" cy="857400"/>
          </a:xfrm>
        </p:spPr>
        <p:txBody>
          <a:bodyPr/>
          <a:lstStyle/>
          <a:p>
            <a:r>
              <a:rPr lang="en-US" dirty="0"/>
              <a:t>Incremental PCA</a:t>
            </a:r>
          </a:p>
        </p:txBody>
      </p:sp>
      <p:sp>
        <p:nvSpPr>
          <p:cNvPr id="3" name="Text Placeholder 2"/>
          <p:cNvSpPr>
            <a:spLocks noGrp="1"/>
          </p:cNvSpPr>
          <p:nvPr>
            <p:ph type="body" idx="1"/>
          </p:nvPr>
        </p:nvSpPr>
        <p:spPr>
          <a:xfrm>
            <a:off x="538619" y="1106135"/>
            <a:ext cx="7941955" cy="3698337"/>
          </a:xfrm>
        </p:spPr>
        <p:txBody>
          <a:bodyPr/>
          <a:lstStyle/>
          <a:p>
            <a:pPr algn="just"/>
            <a:r>
              <a:rPr lang="en-US" sz="2200" dirty="0">
                <a:solidFill>
                  <a:schemeClr val="tx2">
                    <a:lumMod val="10000"/>
                  </a:schemeClr>
                </a:solidFill>
              </a:rPr>
              <a:t>PCA requires the whole training set to fit in memory.</a:t>
            </a:r>
          </a:p>
          <a:p>
            <a:pPr algn="just"/>
            <a:r>
              <a:rPr lang="en-US" sz="2200" i="1" dirty="0">
                <a:solidFill>
                  <a:srgbClr val="0070C0"/>
                </a:solidFill>
              </a:rPr>
              <a:t>Incremental PCA </a:t>
            </a:r>
            <a:r>
              <a:rPr lang="en-US" sz="2200" dirty="0">
                <a:solidFill>
                  <a:schemeClr val="tx2">
                    <a:lumMod val="10000"/>
                  </a:schemeClr>
                </a:solidFill>
              </a:rPr>
              <a:t>(IPCA) algorithms have been developed that allow you to split the training set into mini-batches and feed these in one mini-batch at a time. </a:t>
            </a:r>
          </a:p>
          <a:p>
            <a:pPr lvl="1" algn="just"/>
            <a:r>
              <a:rPr lang="en-US" sz="2000" dirty="0">
                <a:solidFill>
                  <a:schemeClr val="tx2">
                    <a:lumMod val="10000"/>
                  </a:schemeClr>
                </a:solidFill>
              </a:rPr>
              <a:t>This is useful for large training sets and for applying PCA online.</a:t>
            </a:r>
          </a:p>
          <a:p>
            <a:pPr marL="581025" lvl="1" indent="0" algn="just">
              <a:buNone/>
            </a:pPr>
            <a:br>
              <a:rPr lang="en-US" sz="2000" dirty="0">
                <a:solidFill>
                  <a:schemeClr val="tx2">
                    <a:lumMod val="10000"/>
                  </a:schemeClr>
                </a:solidFill>
              </a:rPr>
            </a:br>
            <a:endParaRPr lang="en-US" sz="2000" dirty="0">
              <a:solidFill>
                <a:schemeClr val="tx2">
                  <a:lumMod val="10000"/>
                </a:schemeClr>
              </a:solidFill>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27</a:t>
            </a:fld>
            <a:endParaRPr lang="en-US"/>
          </a:p>
        </p:txBody>
      </p:sp>
      <p:pic>
        <p:nvPicPr>
          <p:cNvPr id="6" name="Picture 5"/>
          <p:cNvPicPr>
            <a:picLocks noChangeAspect="1"/>
          </p:cNvPicPr>
          <p:nvPr/>
        </p:nvPicPr>
        <p:blipFill>
          <a:blip r:embed="rId3"/>
          <a:stretch>
            <a:fillRect/>
          </a:stretch>
        </p:blipFill>
        <p:spPr>
          <a:xfrm>
            <a:off x="1824818" y="3117709"/>
            <a:ext cx="5389132" cy="1763588"/>
          </a:xfrm>
          <a:prstGeom prst="rect">
            <a:avLst/>
          </a:prstGeom>
        </p:spPr>
      </p:pic>
    </p:spTree>
    <p:extLst>
      <p:ext uri="{BB962C8B-B14F-4D97-AF65-F5344CB8AC3E}">
        <p14:creationId xmlns:p14="http://schemas.microsoft.com/office/powerpoint/2010/main" val="2453949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5"/>
          <p:cNvSpPr txBox="1">
            <a:spLocks noGrp="1"/>
          </p:cNvSpPr>
          <p:nvPr>
            <p:ph type="ctrTitle"/>
          </p:nvPr>
        </p:nvSpPr>
        <p:spPr>
          <a:xfrm>
            <a:off x="685800" y="1679354"/>
            <a:ext cx="7772400" cy="1159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4400" dirty="0">
                <a:solidFill>
                  <a:schemeClr val="accent2"/>
                </a:solidFill>
              </a:rPr>
              <a:t>3.</a:t>
            </a:r>
            <a:endParaRPr sz="4400" dirty="0">
              <a:solidFill>
                <a:schemeClr val="accent2"/>
              </a:solidFill>
            </a:endParaRPr>
          </a:p>
          <a:p>
            <a:pPr lvl="0"/>
            <a:r>
              <a:rPr lang="en-US" sz="4200" dirty="0"/>
              <a:t>Random Projection</a:t>
            </a:r>
            <a:endParaRPr sz="4200" dirty="0"/>
          </a:p>
        </p:txBody>
      </p:sp>
      <p:sp>
        <p:nvSpPr>
          <p:cNvPr id="113" name="Google Shape;113;p15"/>
          <p:cNvSpPr txBox="1">
            <a:spLocks noGrp="1"/>
          </p:cNvSpPr>
          <p:nvPr>
            <p:ph type="sldNum" idx="12"/>
          </p:nvPr>
        </p:nvSpPr>
        <p:spPr>
          <a:xfrm>
            <a:off x="-125" y="4830281"/>
            <a:ext cx="9144000" cy="313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28</a:t>
            </a:fld>
            <a:endParaRPr/>
          </a:p>
        </p:txBody>
      </p:sp>
    </p:spTree>
    <p:extLst>
      <p:ext uri="{BB962C8B-B14F-4D97-AF65-F5344CB8AC3E}">
        <p14:creationId xmlns:p14="http://schemas.microsoft.com/office/powerpoint/2010/main" val="5108125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8619" y="202122"/>
            <a:ext cx="7941956" cy="857400"/>
          </a:xfrm>
        </p:spPr>
        <p:txBody>
          <a:bodyPr/>
          <a:lstStyle/>
          <a:p>
            <a:r>
              <a:rPr lang="en-US" dirty="0"/>
              <a:t>Random Projection</a:t>
            </a:r>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538619" y="1089765"/>
                <a:ext cx="7941955" cy="3698337"/>
              </a:xfrm>
            </p:spPr>
            <p:txBody>
              <a:bodyPr/>
              <a:lstStyle/>
              <a:p>
                <a:pPr algn="just"/>
                <a:r>
                  <a:rPr lang="en-US" sz="2200" dirty="0">
                    <a:solidFill>
                      <a:schemeClr val="tx2">
                        <a:lumMod val="10000"/>
                      </a:schemeClr>
                    </a:solidFill>
                  </a:rPr>
                  <a:t>For very high-dimensional datasets, PCA can be too slow. </a:t>
                </a:r>
              </a:p>
              <a:p>
                <a:pPr lvl="1" algn="just"/>
                <a:r>
                  <a:rPr lang="en-US" sz="2000" dirty="0">
                    <a:solidFill>
                      <a:schemeClr val="tx2">
                        <a:lumMod val="10000"/>
                      </a:schemeClr>
                    </a:solidFill>
                  </a:rPr>
                  <a:t>Even if you use randomized PCA, its computational complexity is still </a:t>
                </a:r>
                <a14:m>
                  <m:oMath xmlns:m="http://schemas.openxmlformats.org/officeDocument/2006/math">
                    <m:r>
                      <a:rPr lang="en-US" sz="2000" i="1" dirty="0">
                        <a:solidFill>
                          <a:schemeClr val="tx2">
                            <a:lumMod val="10000"/>
                          </a:schemeClr>
                        </a:solidFill>
                        <a:latin typeface="Cambria Math" panose="02040503050406030204" pitchFamily="18" charset="0"/>
                      </a:rPr>
                      <m:t>𝑂</m:t>
                    </m:r>
                    <m:r>
                      <a:rPr lang="en-US" sz="2000" i="1" dirty="0">
                        <a:solidFill>
                          <a:schemeClr val="tx2">
                            <a:lumMod val="10000"/>
                          </a:schemeClr>
                        </a:solidFill>
                        <a:latin typeface="Cambria Math" panose="02040503050406030204" pitchFamily="18" charset="0"/>
                      </a:rPr>
                      <m:t>(</m:t>
                    </m:r>
                    <m:r>
                      <a:rPr lang="en-US" sz="2000" i="1" dirty="0">
                        <a:solidFill>
                          <a:schemeClr val="tx2">
                            <a:lumMod val="10000"/>
                          </a:schemeClr>
                        </a:solidFill>
                        <a:latin typeface="Cambria Math" panose="02040503050406030204" pitchFamily="18" charset="0"/>
                      </a:rPr>
                      <m:t>𝑚</m:t>
                    </m:r>
                    <m:r>
                      <a:rPr lang="en-US" sz="2000" i="1" dirty="0">
                        <a:solidFill>
                          <a:schemeClr val="tx2">
                            <a:lumMod val="10000"/>
                          </a:schemeClr>
                        </a:solidFill>
                        <a:latin typeface="Cambria Math" panose="02040503050406030204" pitchFamily="18" charset="0"/>
                      </a:rPr>
                      <m:t>×</m:t>
                    </m:r>
                    <m:sSup>
                      <m:sSupPr>
                        <m:ctrlPr>
                          <a:rPr lang="en-US" sz="2000" i="1" dirty="0">
                            <a:solidFill>
                              <a:schemeClr val="tx2">
                                <a:lumMod val="10000"/>
                              </a:schemeClr>
                            </a:solidFill>
                            <a:latin typeface="Cambria Math" panose="02040503050406030204" pitchFamily="18" charset="0"/>
                          </a:rPr>
                        </m:ctrlPr>
                      </m:sSupPr>
                      <m:e>
                        <m:r>
                          <a:rPr lang="en-US" sz="2000" i="1" dirty="0">
                            <a:solidFill>
                              <a:schemeClr val="tx2">
                                <a:lumMod val="10000"/>
                              </a:schemeClr>
                            </a:solidFill>
                            <a:latin typeface="Cambria Math" panose="02040503050406030204" pitchFamily="18" charset="0"/>
                          </a:rPr>
                          <m:t>𝑑</m:t>
                        </m:r>
                      </m:e>
                      <m:sup>
                        <m:r>
                          <a:rPr lang="en-US" sz="2000" i="1" dirty="0">
                            <a:solidFill>
                              <a:schemeClr val="tx2">
                                <a:lumMod val="10000"/>
                              </a:schemeClr>
                            </a:solidFill>
                            <a:latin typeface="Cambria Math" panose="02040503050406030204" pitchFamily="18" charset="0"/>
                          </a:rPr>
                          <m:t>2</m:t>
                        </m:r>
                      </m:sup>
                    </m:sSup>
                    <m:r>
                      <a:rPr lang="en-US" sz="2000" i="1" dirty="0">
                        <a:solidFill>
                          <a:schemeClr val="tx2">
                            <a:lumMod val="10000"/>
                          </a:schemeClr>
                        </a:solidFill>
                        <a:latin typeface="Cambria Math" panose="02040503050406030204" pitchFamily="18" charset="0"/>
                      </a:rPr>
                      <m:t>)+</m:t>
                    </m:r>
                    <m:r>
                      <a:rPr lang="en-US" sz="2000" i="1" dirty="0">
                        <a:solidFill>
                          <a:schemeClr val="tx2">
                            <a:lumMod val="10000"/>
                          </a:schemeClr>
                        </a:solidFill>
                        <a:latin typeface="Cambria Math" panose="02040503050406030204" pitchFamily="18" charset="0"/>
                      </a:rPr>
                      <m:t>𝑂</m:t>
                    </m:r>
                    <m:r>
                      <a:rPr lang="en-US" sz="2000" i="1" dirty="0">
                        <a:solidFill>
                          <a:schemeClr val="tx2">
                            <a:lumMod val="10000"/>
                          </a:schemeClr>
                        </a:solidFill>
                        <a:latin typeface="Cambria Math" panose="02040503050406030204" pitchFamily="18" charset="0"/>
                      </a:rPr>
                      <m:t>(</m:t>
                    </m:r>
                    <m:sSup>
                      <m:sSupPr>
                        <m:ctrlPr>
                          <a:rPr lang="en-US" sz="2000" i="1" dirty="0">
                            <a:solidFill>
                              <a:schemeClr val="tx2">
                                <a:lumMod val="10000"/>
                              </a:schemeClr>
                            </a:solidFill>
                            <a:latin typeface="Cambria Math" panose="02040503050406030204" pitchFamily="18" charset="0"/>
                          </a:rPr>
                        </m:ctrlPr>
                      </m:sSupPr>
                      <m:e>
                        <m:r>
                          <a:rPr lang="en-US" sz="2000" i="1" dirty="0">
                            <a:solidFill>
                              <a:schemeClr val="tx2">
                                <a:lumMod val="10000"/>
                              </a:schemeClr>
                            </a:solidFill>
                            <a:latin typeface="Cambria Math" panose="02040503050406030204" pitchFamily="18" charset="0"/>
                          </a:rPr>
                          <m:t>𝑑</m:t>
                        </m:r>
                      </m:e>
                      <m:sup>
                        <m:r>
                          <a:rPr lang="en-US" sz="2000" i="1" dirty="0">
                            <a:solidFill>
                              <a:schemeClr val="tx2">
                                <a:lumMod val="10000"/>
                              </a:schemeClr>
                            </a:solidFill>
                            <a:latin typeface="Cambria Math" panose="02040503050406030204" pitchFamily="18" charset="0"/>
                          </a:rPr>
                          <m:t>3</m:t>
                        </m:r>
                      </m:sup>
                    </m:sSup>
                    <m:r>
                      <a:rPr lang="en-US" sz="2000" i="1" dirty="0">
                        <a:solidFill>
                          <a:schemeClr val="tx2">
                            <a:lumMod val="10000"/>
                          </a:schemeClr>
                        </a:solidFill>
                        <a:latin typeface="Cambria Math" panose="02040503050406030204" pitchFamily="18" charset="0"/>
                      </a:rPr>
                      <m:t>)</m:t>
                    </m:r>
                  </m:oMath>
                </a14:m>
                <a:r>
                  <a:rPr lang="en-US" sz="2000" dirty="0">
                    <a:solidFill>
                      <a:schemeClr val="tx2">
                        <a:lumMod val="10000"/>
                      </a:schemeClr>
                    </a:solidFill>
                  </a:rPr>
                  <a:t>, so the target number of dimensions </a:t>
                </a:r>
                <a14:m>
                  <m:oMath xmlns:m="http://schemas.openxmlformats.org/officeDocument/2006/math">
                    <m:r>
                      <a:rPr lang="en-US" sz="2000" i="1" dirty="0" smtClean="0">
                        <a:solidFill>
                          <a:schemeClr val="tx2">
                            <a:lumMod val="10000"/>
                          </a:schemeClr>
                        </a:solidFill>
                        <a:latin typeface="Cambria Math" panose="02040503050406030204" pitchFamily="18" charset="0"/>
                      </a:rPr>
                      <m:t>𝑑</m:t>
                    </m:r>
                  </m:oMath>
                </a14:m>
                <a:r>
                  <a:rPr lang="en-US" sz="2000" i="1" dirty="0">
                    <a:solidFill>
                      <a:schemeClr val="tx2">
                        <a:lumMod val="10000"/>
                      </a:schemeClr>
                    </a:solidFill>
                  </a:rPr>
                  <a:t> </a:t>
                </a:r>
                <a:r>
                  <a:rPr lang="en-US" sz="2000" dirty="0">
                    <a:solidFill>
                      <a:schemeClr val="tx2">
                        <a:lumMod val="10000"/>
                      </a:schemeClr>
                    </a:solidFill>
                  </a:rPr>
                  <a:t>must not be too large.</a:t>
                </a:r>
              </a:p>
              <a:p>
                <a:pPr algn="just"/>
                <a:r>
                  <a:rPr lang="en-US" sz="2200" dirty="0">
                    <a:solidFill>
                      <a:schemeClr val="tx2">
                        <a:lumMod val="10000"/>
                      </a:schemeClr>
                    </a:solidFill>
                  </a:rPr>
                  <a:t> If you are dealing with a dataset with tens of thousands of features or more (e.g., images), you should consider using </a:t>
                </a:r>
                <a:r>
                  <a:rPr lang="en-US" sz="2200" i="1" dirty="0">
                    <a:solidFill>
                      <a:srgbClr val="0070C0"/>
                    </a:solidFill>
                  </a:rPr>
                  <a:t>random projection </a:t>
                </a:r>
                <a:r>
                  <a:rPr lang="en-US" sz="2200" dirty="0">
                    <a:solidFill>
                      <a:schemeClr val="tx2">
                        <a:lumMod val="10000"/>
                      </a:schemeClr>
                    </a:solidFill>
                    <a:latin typeface="Calibri" panose="020F0502020204030204" pitchFamily="34" charset="0"/>
                  </a:rPr>
                  <a:t>instead. </a:t>
                </a:r>
              </a:p>
              <a:p>
                <a:pPr algn="just"/>
                <a:r>
                  <a:rPr lang="en-US" sz="2200" dirty="0">
                    <a:solidFill>
                      <a:schemeClr val="tx2">
                        <a:lumMod val="10000"/>
                      </a:schemeClr>
                    </a:solidFill>
                    <a:latin typeface="Calibri" panose="020F0502020204030204" pitchFamily="34" charset="0"/>
                  </a:rPr>
                  <a:t>The random projection algorithm projects the data to a lower dimensional space using a random linear projection.</a:t>
                </a:r>
              </a:p>
              <a:p>
                <a:pPr lvl="1" algn="just"/>
                <a:r>
                  <a:rPr lang="en-US" sz="1800" dirty="0">
                    <a:solidFill>
                      <a:schemeClr val="tx2">
                        <a:lumMod val="10000"/>
                      </a:schemeClr>
                    </a:solidFill>
                    <a:latin typeface="Calibri" panose="020F0502020204030204" pitchFamily="34" charset="0"/>
                  </a:rPr>
                  <a:t>Very likely to preserve the distance according to a lemma by Johnson and </a:t>
                </a:r>
                <a:r>
                  <a:rPr lang="en-US" sz="1800" dirty="0" err="1">
                    <a:solidFill>
                      <a:schemeClr val="tx2">
                        <a:lumMod val="10000"/>
                      </a:schemeClr>
                    </a:solidFill>
                    <a:latin typeface="Calibri" panose="020F0502020204030204" pitchFamily="34" charset="0"/>
                    <a:ea typeface="Arial"/>
                    <a:cs typeface="Arial"/>
                    <a:sym typeface="Arial"/>
                  </a:rPr>
                  <a:t>Lindenstrauss</a:t>
                </a:r>
                <a:r>
                  <a:rPr lang="en-US" sz="1800" dirty="0">
                    <a:solidFill>
                      <a:schemeClr val="tx2">
                        <a:lumMod val="10000"/>
                      </a:schemeClr>
                    </a:solidFill>
                    <a:latin typeface="Calibri" panose="020F0502020204030204" pitchFamily="34" charset="0"/>
                    <a:ea typeface="Arial"/>
                    <a:cs typeface="Arial"/>
                    <a:sym typeface="Arial"/>
                  </a:rPr>
                  <a:t>.</a:t>
                </a:r>
                <a:endParaRPr lang="en-US" sz="1800" dirty="0">
                  <a:solidFill>
                    <a:schemeClr val="tx2">
                      <a:lumMod val="10000"/>
                    </a:schemeClr>
                  </a:solidFill>
                  <a:latin typeface="Calibri" panose="020F0502020204030204" pitchFamily="34" charset="0"/>
                </a:endParaRPr>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538619" y="1089765"/>
                <a:ext cx="7941955" cy="3698337"/>
              </a:xfrm>
              <a:blipFill rotWithShape="0">
                <a:blip r:embed="rId3"/>
                <a:stretch>
                  <a:fillRect r="-998" b="-6601"/>
                </a:stretch>
              </a:blipFill>
            </p:spPr>
            <p:txBody>
              <a:bodyPr/>
              <a:lstStyle/>
              <a:p>
                <a:r>
                  <a:rPr lang="en-US">
                    <a:noFill/>
                  </a:rPr>
                  <a:t> </a:t>
                </a:r>
              </a:p>
            </p:txBody>
          </p:sp>
        </mc:Fallback>
      </mc:AlternateContent>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29</a:t>
            </a:fld>
            <a:endParaRPr lang="en-US"/>
          </a:p>
        </p:txBody>
      </p:sp>
    </p:spTree>
    <p:extLst>
      <p:ext uri="{BB962C8B-B14F-4D97-AF65-F5344CB8AC3E}">
        <p14:creationId xmlns:p14="http://schemas.microsoft.com/office/powerpoint/2010/main" val="2401505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8619" y="202122"/>
            <a:ext cx="7941956" cy="857400"/>
          </a:xfrm>
        </p:spPr>
        <p:txBody>
          <a:bodyPr/>
          <a:lstStyle/>
          <a:p>
            <a:r>
              <a:rPr lang="en-US" dirty="0"/>
              <a:t>Random Projection</a:t>
            </a:r>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538619" y="1089765"/>
                <a:ext cx="7941955" cy="3698337"/>
              </a:xfrm>
            </p:spPr>
            <p:txBody>
              <a:bodyPr/>
              <a:lstStyle/>
              <a:p>
                <a:pPr algn="just"/>
                <a:r>
                  <a:rPr lang="en-US" sz="2200" dirty="0">
                    <a:solidFill>
                      <a:schemeClr val="tx2">
                        <a:lumMod val="10000"/>
                      </a:schemeClr>
                    </a:solidFill>
                  </a:rPr>
                  <a:t>Johnson and </a:t>
                </a:r>
                <a:r>
                  <a:rPr lang="en-US" sz="2200" dirty="0" err="1">
                    <a:solidFill>
                      <a:schemeClr val="tx2">
                        <a:lumMod val="10000"/>
                      </a:schemeClr>
                    </a:solidFill>
                  </a:rPr>
                  <a:t>Lindenstrauss</a:t>
                </a:r>
                <a:r>
                  <a:rPr lang="en-US" sz="2200" dirty="0">
                    <a:solidFill>
                      <a:schemeClr val="tx2">
                        <a:lumMod val="10000"/>
                      </a:schemeClr>
                    </a:solidFill>
                  </a:rPr>
                  <a:t> showed the minimum number of dimensions to preserve in order to ensure—with high probability—that distances won’t change by more than a given tolerance </a:t>
                </a:r>
                <a14:m>
                  <m:oMath xmlns:m="http://schemas.openxmlformats.org/officeDocument/2006/math">
                    <m:r>
                      <a:rPr lang="en-US" sz="2200" i="1" dirty="0" smtClean="0">
                        <a:solidFill>
                          <a:schemeClr val="tx2">
                            <a:lumMod val="10000"/>
                          </a:schemeClr>
                        </a:solidFill>
                        <a:latin typeface="Cambria Math" panose="02040503050406030204" pitchFamily="18" charset="0"/>
                      </a:rPr>
                      <m:t>𝜀</m:t>
                    </m:r>
                  </m:oMath>
                </a14:m>
                <a:r>
                  <a:rPr lang="en-US" sz="2200" dirty="0">
                    <a:solidFill>
                      <a:schemeClr val="tx2">
                        <a:lumMod val="10000"/>
                      </a:schemeClr>
                    </a:solidFill>
                  </a:rPr>
                  <a:t> is:</a:t>
                </a:r>
              </a:p>
              <a:p>
                <a:pPr marL="114300" indent="0" algn="just">
                  <a:buNone/>
                </a:pPr>
                <a14:m>
                  <m:oMathPara xmlns:m="http://schemas.openxmlformats.org/officeDocument/2006/math">
                    <m:oMathParaPr>
                      <m:jc m:val="centerGroup"/>
                    </m:oMathParaPr>
                    <m:oMath xmlns:m="http://schemas.openxmlformats.org/officeDocument/2006/math">
                      <m:r>
                        <a:rPr lang="en-US" sz="2200" i="1" dirty="0" smtClean="0">
                          <a:solidFill>
                            <a:schemeClr val="tx2">
                              <a:lumMod val="10000"/>
                            </a:schemeClr>
                          </a:solidFill>
                          <a:latin typeface="Cambria Math" panose="02040503050406030204" pitchFamily="18" charset="0"/>
                        </a:rPr>
                        <m:t>𝑑</m:t>
                      </m:r>
                      <m:r>
                        <a:rPr lang="en-US" sz="2200" i="1" dirty="0" smtClean="0">
                          <a:solidFill>
                            <a:schemeClr val="tx2">
                              <a:lumMod val="10000"/>
                            </a:schemeClr>
                          </a:solidFill>
                          <a:latin typeface="Cambria Math" panose="02040503050406030204" pitchFamily="18" charset="0"/>
                        </a:rPr>
                        <m:t> ≥ 4 </m:t>
                      </m:r>
                      <m:r>
                        <m:rPr>
                          <m:sty m:val="p"/>
                        </m:rPr>
                        <a:rPr lang="en-US" sz="2200" i="1" dirty="0" smtClean="0">
                          <a:solidFill>
                            <a:schemeClr val="tx2">
                              <a:lumMod val="10000"/>
                            </a:schemeClr>
                          </a:solidFill>
                          <a:latin typeface="Cambria Math" panose="02040503050406030204" pitchFamily="18" charset="0"/>
                        </a:rPr>
                        <m:t>log</m:t>
                      </m:r>
                      <m:r>
                        <a:rPr lang="en-US" sz="2200" i="1" dirty="0" smtClean="0">
                          <a:solidFill>
                            <a:schemeClr val="tx2">
                              <a:lumMod val="10000"/>
                            </a:schemeClr>
                          </a:solidFill>
                          <a:latin typeface="Cambria Math" panose="02040503050406030204" pitchFamily="18" charset="0"/>
                        </a:rPr>
                        <m:t>⁡(</m:t>
                      </m:r>
                      <m:r>
                        <a:rPr lang="en-US" sz="2200" i="1" dirty="0" smtClean="0">
                          <a:solidFill>
                            <a:schemeClr val="tx2">
                              <a:lumMod val="10000"/>
                            </a:schemeClr>
                          </a:solidFill>
                          <a:latin typeface="Cambria Math" panose="02040503050406030204" pitchFamily="18" charset="0"/>
                        </a:rPr>
                        <m:t>𝑚</m:t>
                      </m:r>
                      <m:r>
                        <a:rPr lang="en-US" sz="2200" i="1" dirty="0" smtClean="0">
                          <a:solidFill>
                            <a:schemeClr val="tx2">
                              <a:lumMod val="10000"/>
                            </a:schemeClr>
                          </a:solidFill>
                          <a:latin typeface="Cambria Math" panose="02040503050406030204" pitchFamily="18" charset="0"/>
                        </a:rPr>
                        <m:t>) / (½ </m:t>
                      </m:r>
                      <m:r>
                        <a:rPr lang="en-US" sz="2200" i="1" dirty="0" smtClean="0">
                          <a:solidFill>
                            <a:schemeClr val="tx2">
                              <a:lumMod val="10000"/>
                            </a:schemeClr>
                          </a:solidFill>
                          <a:latin typeface="Cambria Math" panose="02040503050406030204" pitchFamily="18" charset="0"/>
                        </a:rPr>
                        <m:t>𝜀</m:t>
                      </m:r>
                      <m:r>
                        <a:rPr lang="en-US" sz="2200" i="1" dirty="0" smtClean="0">
                          <a:solidFill>
                            <a:schemeClr val="tx2">
                              <a:lumMod val="10000"/>
                            </a:schemeClr>
                          </a:solidFill>
                          <a:latin typeface="Cambria Math" panose="02040503050406030204" pitchFamily="18" charset="0"/>
                        </a:rPr>
                        <m:t>² − ⅓ </m:t>
                      </m:r>
                      <m:r>
                        <a:rPr lang="en-US" sz="2200" i="1" dirty="0" smtClean="0">
                          <a:solidFill>
                            <a:schemeClr val="tx2">
                              <a:lumMod val="10000"/>
                            </a:schemeClr>
                          </a:solidFill>
                          <a:latin typeface="Cambria Math" panose="02040503050406030204" pitchFamily="18" charset="0"/>
                        </a:rPr>
                        <m:t>𝜀</m:t>
                      </m:r>
                      <m:r>
                        <a:rPr lang="en-US" sz="2200" i="1" dirty="0" smtClean="0">
                          <a:solidFill>
                            <a:schemeClr val="tx2">
                              <a:lumMod val="10000"/>
                            </a:schemeClr>
                          </a:solidFill>
                          <a:latin typeface="Cambria Math" panose="02040503050406030204" pitchFamily="18" charset="0"/>
                        </a:rPr>
                        <m:t>³)</m:t>
                      </m:r>
                    </m:oMath>
                  </m:oMathPara>
                </a14:m>
                <a:endParaRPr lang="en-US" sz="2200" dirty="0">
                  <a:solidFill>
                    <a:schemeClr val="tx2">
                      <a:lumMod val="10000"/>
                    </a:schemeClr>
                  </a:solidFill>
                </a:endParaRPr>
              </a:p>
              <a:p>
                <a:endParaRPr lang="en-US" sz="2200" dirty="0">
                  <a:solidFill>
                    <a:schemeClr val="tx2">
                      <a:lumMod val="10000"/>
                    </a:schemeClr>
                  </a:solidFill>
                </a:endParaRPr>
              </a:p>
              <a:p>
                <a:endParaRPr lang="en-US" sz="2200" dirty="0">
                  <a:solidFill>
                    <a:schemeClr val="tx2">
                      <a:lumMod val="10000"/>
                    </a:schemeClr>
                  </a:solidFill>
                </a:endParaRPr>
              </a:p>
              <a:p>
                <a:endParaRPr lang="en-US" sz="2200" dirty="0">
                  <a:solidFill>
                    <a:schemeClr val="tx2">
                      <a:lumMod val="10000"/>
                    </a:schemeClr>
                  </a:solidFill>
                </a:endParaRPr>
              </a:p>
              <a:p>
                <a:pPr marL="114300" indent="0">
                  <a:buNone/>
                </a:pPr>
                <a:br>
                  <a:rPr lang="en-US" sz="2200" dirty="0">
                    <a:solidFill>
                      <a:schemeClr val="tx2">
                        <a:lumMod val="10000"/>
                      </a:schemeClr>
                    </a:solidFill>
                  </a:rPr>
                </a:br>
                <a:br>
                  <a:rPr lang="en-US" sz="2200" dirty="0">
                    <a:solidFill>
                      <a:schemeClr val="tx2">
                        <a:lumMod val="10000"/>
                      </a:schemeClr>
                    </a:solidFill>
                  </a:rPr>
                </a:br>
                <a:endParaRPr lang="en-US" sz="2200" dirty="0">
                  <a:solidFill>
                    <a:schemeClr val="tx2">
                      <a:lumMod val="10000"/>
                    </a:schemeClr>
                  </a:solidFill>
                  <a:latin typeface="Calibri" panose="020F0502020204030204" pitchFamily="34" charset="0"/>
                </a:endParaRPr>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538619" y="1089765"/>
                <a:ext cx="7941955" cy="3698337"/>
              </a:xfrm>
              <a:blipFill rotWithShape="0">
                <a:blip r:embed="rId3"/>
                <a:stretch>
                  <a:fillRect r="-998"/>
                </a:stretch>
              </a:blipFill>
            </p:spPr>
            <p:txBody>
              <a:bodyPr/>
              <a:lstStyle/>
              <a:p>
                <a:r>
                  <a:rPr lang="en-US">
                    <a:noFill/>
                  </a:rPr>
                  <a:t> </a:t>
                </a:r>
              </a:p>
            </p:txBody>
          </p:sp>
        </mc:Fallback>
      </mc:AlternateContent>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30</a:t>
            </a:fld>
            <a:endParaRPr lang="en-US"/>
          </a:p>
        </p:txBody>
      </p:sp>
      <p:pic>
        <p:nvPicPr>
          <p:cNvPr id="5" name="Picture 4"/>
          <p:cNvPicPr>
            <a:picLocks noChangeAspect="1"/>
          </p:cNvPicPr>
          <p:nvPr/>
        </p:nvPicPr>
        <p:blipFill>
          <a:blip r:embed="rId4"/>
          <a:stretch>
            <a:fillRect/>
          </a:stretch>
        </p:blipFill>
        <p:spPr>
          <a:xfrm>
            <a:off x="1070072" y="3155951"/>
            <a:ext cx="7210130" cy="1482728"/>
          </a:xfrm>
          <a:prstGeom prst="rect">
            <a:avLst/>
          </a:prstGeom>
        </p:spPr>
      </p:pic>
    </p:spTree>
    <p:extLst>
      <p:ext uri="{BB962C8B-B14F-4D97-AF65-F5344CB8AC3E}">
        <p14:creationId xmlns:p14="http://schemas.microsoft.com/office/powerpoint/2010/main" val="7115006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8619" y="202122"/>
            <a:ext cx="7941956" cy="857400"/>
          </a:xfrm>
        </p:spPr>
        <p:txBody>
          <a:bodyPr/>
          <a:lstStyle/>
          <a:p>
            <a:r>
              <a:rPr lang="en-US" dirty="0"/>
              <a:t>Random Projection</a:t>
            </a:r>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538619" y="975465"/>
                <a:ext cx="7941955" cy="3698337"/>
              </a:xfrm>
            </p:spPr>
            <p:txBody>
              <a:bodyPr/>
              <a:lstStyle/>
              <a:p>
                <a:pPr algn="just"/>
                <a:r>
                  <a:rPr lang="en-US" sz="2000" dirty="0">
                    <a:solidFill>
                      <a:schemeClr val="tx2">
                        <a:lumMod val="10000"/>
                      </a:schemeClr>
                    </a:solidFill>
                  </a:rPr>
                  <a:t>Generate a random matrix </a:t>
                </a:r>
                <a14:m>
                  <m:oMath xmlns:m="http://schemas.openxmlformats.org/officeDocument/2006/math">
                    <m:r>
                      <a:rPr lang="en-US" sz="2000" b="1" i="1" dirty="0" smtClean="0">
                        <a:solidFill>
                          <a:schemeClr val="tx2">
                            <a:lumMod val="10000"/>
                          </a:schemeClr>
                        </a:solidFill>
                        <a:latin typeface="Cambria Math" panose="02040503050406030204" pitchFamily="18" charset="0"/>
                      </a:rPr>
                      <m:t>𝑷</m:t>
                    </m:r>
                  </m:oMath>
                </a14:m>
                <a:r>
                  <a:rPr lang="en-US" sz="2000" b="1" dirty="0">
                    <a:solidFill>
                      <a:schemeClr val="tx2">
                        <a:lumMod val="10000"/>
                      </a:schemeClr>
                    </a:solidFill>
                  </a:rPr>
                  <a:t> </a:t>
                </a:r>
                <a:r>
                  <a:rPr lang="en-US" sz="2000" dirty="0">
                    <a:solidFill>
                      <a:schemeClr val="tx2">
                        <a:lumMod val="10000"/>
                      </a:schemeClr>
                    </a:solidFill>
                  </a:rPr>
                  <a:t>of shape </a:t>
                </a:r>
                <a14:m>
                  <m:oMath xmlns:m="http://schemas.openxmlformats.org/officeDocument/2006/math">
                    <m:r>
                      <a:rPr lang="en-US" sz="2000" i="1" dirty="0" smtClean="0">
                        <a:solidFill>
                          <a:schemeClr val="tx2">
                            <a:lumMod val="10000"/>
                          </a:schemeClr>
                        </a:solidFill>
                        <a:latin typeface="Cambria Math" panose="02040503050406030204" pitchFamily="18" charset="0"/>
                      </a:rPr>
                      <m:t>[</m:t>
                    </m:r>
                    <m:r>
                      <a:rPr lang="en-US" sz="2000" i="1" dirty="0" smtClean="0">
                        <a:solidFill>
                          <a:schemeClr val="tx2">
                            <a:lumMod val="10000"/>
                          </a:schemeClr>
                        </a:solidFill>
                        <a:latin typeface="Cambria Math" panose="02040503050406030204" pitchFamily="18" charset="0"/>
                      </a:rPr>
                      <m:t>𝑑</m:t>
                    </m:r>
                    <m:r>
                      <a:rPr lang="en-US" sz="2000" i="1" dirty="0" smtClean="0">
                        <a:solidFill>
                          <a:schemeClr val="tx2">
                            <a:lumMod val="10000"/>
                          </a:schemeClr>
                        </a:solidFill>
                        <a:latin typeface="Cambria Math" panose="02040503050406030204" pitchFamily="18" charset="0"/>
                      </a:rPr>
                      <m:t>, </m:t>
                    </m:r>
                    <m:r>
                      <a:rPr lang="en-US" sz="2000" i="1" dirty="0" smtClean="0">
                        <a:solidFill>
                          <a:schemeClr val="tx2">
                            <a:lumMod val="10000"/>
                          </a:schemeClr>
                        </a:solidFill>
                        <a:latin typeface="Cambria Math" panose="02040503050406030204" pitchFamily="18" charset="0"/>
                      </a:rPr>
                      <m:t>𝑛</m:t>
                    </m:r>
                    <m:r>
                      <a:rPr lang="en-US" sz="2000" i="1" dirty="0" smtClean="0">
                        <a:solidFill>
                          <a:schemeClr val="tx2">
                            <a:lumMod val="10000"/>
                          </a:schemeClr>
                        </a:solidFill>
                        <a:latin typeface="Cambria Math" panose="02040503050406030204" pitchFamily="18" charset="0"/>
                      </a:rPr>
                      <m:t>],</m:t>
                    </m:r>
                  </m:oMath>
                </a14:m>
                <a:r>
                  <a:rPr lang="en-US" sz="2000" dirty="0">
                    <a:solidFill>
                      <a:schemeClr val="tx2">
                        <a:lumMod val="10000"/>
                      </a:schemeClr>
                    </a:solidFill>
                  </a:rPr>
                  <a:t> where each item is sampled randomly from a Gaussian distribution with mean 0 and variance </a:t>
                </a:r>
                <a14:m>
                  <m:oMath xmlns:m="http://schemas.openxmlformats.org/officeDocument/2006/math">
                    <m:r>
                      <a:rPr lang="en-US" sz="2000" b="0" i="1" smtClean="0">
                        <a:solidFill>
                          <a:schemeClr val="tx2">
                            <a:lumMod val="10000"/>
                          </a:schemeClr>
                        </a:solidFill>
                        <a:latin typeface="Cambria Math" panose="02040503050406030204" pitchFamily="18" charset="0"/>
                      </a:rPr>
                      <m:t>1/</m:t>
                    </m:r>
                    <m:r>
                      <a:rPr lang="en-US" sz="2000" b="0" i="1" smtClean="0">
                        <a:solidFill>
                          <a:schemeClr val="tx2">
                            <a:lumMod val="10000"/>
                          </a:schemeClr>
                        </a:solidFill>
                        <a:latin typeface="Cambria Math" panose="02040503050406030204" pitchFamily="18" charset="0"/>
                      </a:rPr>
                      <m:t>𝑑</m:t>
                    </m:r>
                  </m:oMath>
                </a14:m>
                <a:r>
                  <a:rPr lang="en-US" sz="2000" dirty="0">
                    <a:solidFill>
                      <a:schemeClr val="tx2">
                        <a:lumMod val="10000"/>
                      </a:schemeClr>
                    </a:solidFill>
                  </a:rPr>
                  <a:t>, and use it to project a dataset from </a:t>
                </a:r>
                <a14:m>
                  <m:oMath xmlns:m="http://schemas.openxmlformats.org/officeDocument/2006/math">
                    <m:r>
                      <a:rPr lang="en-US" sz="2000" i="1" dirty="0" smtClean="0">
                        <a:solidFill>
                          <a:schemeClr val="tx2">
                            <a:lumMod val="10000"/>
                          </a:schemeClr>
                        </a:solidFill>
                        <a:latin typeface="Cambria Math" panose="02040503050406030204" pitchFamily="18" charset="0"/>
                      </a:rPr>
                      <m:t>𝑛</m:t>
                    </m:r>
                  </m:oMath>
                </a14:m>
                <a:r>
                  <a:rPr lang="en-US" sz="2000" i="1" dirty="0">
                    <a:solidFill>
                      <a:schemeClr val="tx2">
                        <a:lumMod val="10000"/>
                      </a:schemeClr>
                    </a:solidFill>
                  </a:rPr>
                  <a:t> </a:t>
                </a:r>
                <a:r>
                  <a:rPr lang="en-US" sz="2000" dirty="0">
                    <a:solidFill>
                      <a:schemeClr val="tx2">
                        <a:lumMod val="10000"/>
                      </a:schemeClr>
                    </a:solidFill>
                  </a:rPr>
                  <a:t>dimensions down to </a:t>
                </a:r>
                <a14:m>
                  <m:oMath xmlns:m="http://schemas.openxmlformats.org/officeDocument/2006/math">
                    <m:r>
                      <a:rPr lang="en-US" sz="2000" i="1" dirty="0" smtClean="0">
                        <a:solidFill>
                          <a:schemeClr val="tx2">
                            <a:lumMod val="10000"/>
                          </a:schemeClr>
                        </a:solidFill>
                        <a:latin typeface="Cambria Math" panose="02040503050406030204" pitchFamily="18" charset="0"/>
                      </a:rPr>
                      <m:t>𝑑</m:t>
                    </m:r>
                  </m:oMath>
                </a14:m>
                <a:r>
                  <a:rPr lang="en-US" sz="2000" dirty="0">
                    <a:solidFill>
                      <a:schemeClr val="tx2">
                        <a:lumMod val="10000"/>
                      </a:schemeClr>
                    </a:solidFill>
                  </a:rPr>
                  <a:t>: </a:t>
                </a:r>
              </a:p>
              <a:p>
                <a:endParaRPr lang="en-US" sz="2200" dirty="0">
                  <a:solidFill>
                    <a:schemeClr val="tx2">
                      <a:lumMod val="10000"/>
                    </a:schemeClr>
                  </a:solidFill>
                </a:endParaRPr>
              </a:p>
              <a:p>
                <a:endParaRPr lang="en-US" sz="2200" dirty="0">
                  <a:solidFill>
                    <a:schemeClr val="tx2">
                      <a:lumMod val="10000"/>
                    </a:schemeClr>
                  </a:solidFill>
                </a:endParaRPr>
              </a:p>
              <a:p>
                <a:endParaRPr lang="en-US" sz="1200" dirty="0">
                  <a:solidFill>
                    <a:schemeClr val="tx2">
                      <a:lumMod val="10000"/>
                    </a:schemeClr>
                  </a:solidFill>
                </a:endParaRPr>
              </a:p>
              <a:p>
                <a:r>
                  <a:rPr lang="en-US" sz="2000" dirty="0" err="1">
                    <a:solidFill>
                      <a:schemeClr val="tx2">
                        <a:lumMod val="10000"/>
                      </a:schemeClr>
                    </a:solidFill>
                  </a:rPr>
                  <a:t>Scikit</a:t>
                </a:r>
                <a:r>
                  <a:rPr lang="en-US" sz="2000" dirty="0">
                    <a:solidFill>
                      <a:schemeClr val="tx2">
                        <a:lumMod val="10000"/>
                      </a:schemeClr>
                    </a:solidFill>
                  </a:rPr>
                  <a:t>-Learn offers a </a:t>
                </a:r>
                <a:r>
                  <a:rPr lang="en-US" sz="1800" dirty="0" err="1">
                    <a:solidFill>
                      <a:schemeClr val="tx2">
                        <a:lumMod val="10000"/>
                      </a:schemeClr>
                    </a:solidFill>
                    <a:latin typeface="Courier New" panose="02070309020205020404" pitchFamily="49" charset="0"/>
                    <a:cs typeface="Courier New" panose="02070309020205020404" pitchFamily="49" charset="0"/>
                  </a:rPr>
                  <a:t>GaussianRandomProjection</a:t>
                </a:r>
                <a:r>
                  <a:rPr lang="en-US" sz="2000" dirty="0">
                    <a:solidFill>
                      <a:schemeClr val="tx2">
                        <a:lumMod val="10000"/>
                      </a:schemeClr>
                    </a:solidFill>
                  </a:rPr>
                  <a:t> class to do this: </a:t>
                </a:r>
                <a:br>
                  <a:rPr lang="en-US" sz="2000" dirty="0">
                    <a:solidFill>
                      <a:schemeClr val="tx2">
                        <a:lumMod val="10000"/>
                      </a:schemeClr>
                    </a:solidFill>
                  </a:rPr>
                </a:br>
                <a:br>
                  <a:rPr lang="en-US" sz="2000" dirty="0">
                    <a:solidFill>
                      <a:schemeClr val="tx2">
                        <a:lumMod val="10000"/>
                      </a:schemeClr>
                    </a:solidFill>
                  </a:rPr>
                </a:br>
                <a:br>
                  <a:rPr lang="en-US" sz="2000" dirty="0">
                    <a:solidFill>
                      <a:schemeClr val="tx2">
                        <a:lumMod val="10000"/>
                      </a:schemeClr>
                    </a:solidFill>
                  </a:rPr>
                </a:br>
                <a:endParaRPr lang="en-US" sz="2000" dirty="0">
                  <a:solidFill>
                    <a:schemeClr val="tx2">
                      <a:lumMod val="10000"/>
                    </a:schemeClr>
                  </a:solidFill>
                  <a:latin typeface="Calibri" panose="020F0502020204030204" pitchFamily="34" charset="0"/>
                </a:endParaRPr>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538619" y="975465"/>
                <a:ext cx="7941955" cy="3698337"/>
              </a:xfrm>
              <a:blipFill rotWithShape="0">
                <a:blip r:embed="rId3"/>
                <a:stretch>
                  <a:fillRect r="-844"/>
                </a:stretch>
              </a:blipFill>
            </p:spPr>
            <p:txBody>
              <a:bodyPr/>
              <a:lstStyle/>
              <a:p>
                <a:r>
                  <a:rPr lang="en-US">
                    <a:noFill/>
                  </a:rPr>
                  <a:t> </a:t>
                </a:r>
              </a:p>
            </p:txBody>
          </p:sp>
        </mc:Fallback>
      </mc:AlternateContent>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31</a:t>
            </a:fld>
            <a:endParaRPr lang="en-US"/>
          </a:p>
        </p:txBody>
      </p:sp>
      <p:pic>
        <p:nvPicPr>
          <p:cNvPr id="6" name="Picture 5"/>
          <p:cNvPicPr>
            <a:picLocks noChangeAspect="1"/>
          </p:cNvPicPr>
          <p:nvPr/>
        </p:nvPicPr>
        <p:blipFill>
          <a:blip r:embed="rId4"/>
          <a:stretch>
            <a:fillRect/>
          </a:stretch>
        </p:blipFill>
        <p:spPr>
          <a:xfrm>
            <a:off x="1686578" y="2124135"/>
            <a:ext cx="6644622" cy="1307249"/>
          </a:xfrm>
          <a:prstGeom prst="rect">
            <a:avLst/>
          </a:prstGeom>
        </p:spPr>
      </p:pic>
      <p:pic>
        <p:nvPicPr>
          <p:cNvPr id="8" name="Picture 7"/>
          <p:cNvPicPr>
            <a:picLocks noChangeAspect="1"/>
          </p:cNvPicPr>
          <p:nvPr/>
        </p:nvPicPr>
        <p:blipFill>
          <a:blip r:embed="rId5"/>
          <a:stretch>
            <a:fillRect/>
          </a:stretch>
        </p:blipFill>
        <p:spPr>
          <a:xfrm>
            <a:off x="1686578" y="3877007"/>
            <a:ext cx="6644622" cy="956933"/>
          </a:xfrm>
          <a:prstGeom prst="rect">
            <a:avLst/>
          </a:prstGeom>
        </p:spPr>
      </p:pic>
    </p:spTree>
    <p:extLst>
      <p:ext uri="{BB962C8B-B14F-4D97-AF65-F5344CB8AC3E}">
        <p14:creationId xmlns:p14="http://schemas.microsoft.com/office/powerpoint/2010/main" val="560097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8619" y="202122"/>
            <a:ext cx="7941956" cy="857400"/>
          </a:xfrm>
        </p:spPr>
        <p:txBody>
          <a:bodyPr/>
          <a:lstStyle/>
          <a:p>
            <a:r>
              <a:rPr lang="en-US" dirty="0"/>
              <a:t>Sparse Random Projection</a:t>
            </a:r>
          </a:p>
        </p:txBody>
      </p:sp>
      <p:sp>
        <p:nvSpPr>
          <p:cNvPr id="3" name="Text Placeholder 2"/>
          <p:cNvSpPr>
            <a:spLocks noGrp="1"/>
          </p:cNvSpPr>
          <p:nvPr>
            <p:ph type="body" idx="1"/>
          </p:nvPr>
        </p:nvSpPr>
        <p:spPr>
          <a:xfrm>
            <a:off x="538619" y="1089765"/>
            <a:ext cx="7941955" cy="3698337"/>
          </a:xfrm>
        </p:spPr>
        <p:txBody>
          <a:bodyPr/>
          <a:lstStyle/>
          <a:p>
            <a:pPr algn="just"/>
            <a:r>
              <a:rPr lang="en-US" sz="2000" dirty="0" err="1">
                <a:solidFill>
                  <a:schemeClr val="tx2">
                    <a:lumMod val="10000"/>
                  </a:schemeClr>
                </a:solidFill>
              </a:rPr>
              <a:t>Scikit</a:t>
            </a:r>
            <a:r>
              <a:rPr lang="en-US" sz="2000" dirty="0">
                <a:solidFill>
                  <a:schemeClr val="tx2">
                    <a:lumMod val="10000"/>
                  </a:schemeClr>
                </a:solidFill>
              </a:rPr>
              <a:t>-Learn also provides </a:t>
            </a:r>
            <a:r>
              <a:rPr lang="en-US" sz="1800" dirty="0" err="1">
                <a:solidFill>
                  <a:schemeClr val="tx2">
                    <a:lumMod val="10000"/>
                  </a:schemeClr>
                </a:solidFill>
                <a:latin typeface="Courier New" panose="02070309020205020404" pitchFamily="49" charset="0"/>
                <a:cs typeface="Courier New" panose="02070309020205020404" pitchFamily="49" charset="0"/>
              </a:rPr>
              <a:t>SparseRandomProjection</a:t>
            </a:r>
            <a:r>
              <a:rPr lang="en-US" sz="2000" dirty="0">
                <a:solidFill>
                  <a:schemeClr val="tx2">
                    <a:lumMod val="10000"/>
                  </a:schemeClr>
                </a:solidFill>
              </a:rPr>
              <a:t>. </a:t>
            </a:r>
          </a:p>
          <a:p>
            <a:pPr lvl="1" algn="just"/>
            <a:r>
              <a:rPr lang="en-US" sz="1800" dirty="0">
                <a:solidFill>
                  <a:schemeClr val="tx2">
                    <a:lumMod val="10000"/>
                  </a:schemeClr>
                </a:solidFill>
              </a:rPr>
              <a:t>The main difference is that the random matrix is sparse. </a:t>
            </a:r>
          </a:p>
          <a:p>
            <a:pPr algn="just"/>
            <a:r>
              <a:rPr lang="en-US" sz="2000" dirty="0">
                <a:solidFill>
                  <a:schemeClr val="tx2">
                    <a:lumMod val="10000"/>
                  </a:schemeClr>
                </a:solidFill>
              </a:rPr>
              <a:t>This means it uses much less memory: about 25 MB instead of almost 1.2 GB in the previous example! </a:t>
            </a:r>
          </a:p>
          <a:p>
            <a:pPr lvl="1" algn="just"/>
            <a:r>
              <a:rPr lang="en-US" sz="1800" dirty="0">
                <a:solidFill>
                  <a:schemeClr val="tx2">
                    <a:lumMod val="10000"/>
                  </a:schemeClr>
                </a:solidFill>
              </a:rPr>
              <a:t>And much faster, both to generate the random matrix and to reduce dimensionality: about 50% faster in this case. </a:t>
            </a:r>
          </a:p>
          <a:p>
            <a:pPr algn="just"/>
            <a:r>
              <a:rPr lang="en-US" sz="2000" dirty="0">
                <a:solidFill>
                  <a:schemeClr val="tx2">
                    <a:lumMod val="10000"/>
                  </a:schemeClr>
                </a:solidFill>
              </a:rPr>
              <a:t>If the input is sparse, the transformation keeps it sparse.</a:t>
            </a:r>
          </a:p>
          <a:p>
            <a:pPr algn="just"/>
            <a:r>
              <a:rPr lang="en-US" sz="2000" dirty="0">
                <a:solidFill>
                  <a:schemeClr val="tx2">
                    <a:lumMod val="10000"/>
                  </a:schemeClr>
                </a:solidFill>
              </a:rPr>
              <a:t>It enjoys the same distance-preserving property, and the quality of</a:t>
            </a:r>
            <a:br>
              <a:rPr lang="en-US" sz="2000" dirty="0">
                <a:solidFill>
                  <a:schemeClr val="tx2">
                    <a:lumMod val="10000"/>
                  </a:schemeClr>
                </a:solidFill>
              </a:rPr>
            </a:br>
            <a:r>
              <a:rPr lang="en-US" sz="2000" dirty="0">
                <a:solidFill>
                  <a:schemeClr val="tx2">
                    <a:lumMod val="10000"/>
                  </a:schemeClr>
                </a:solidFill>
              </a:rPr>
              <a:t>the dimensionality reduction is comparable. </a:t>
            </a:r>
          </a:p>
          <a:p>
            <a:pPr algn="just"/>
            <a:r>
              <a:rPr lang="en-US" sz="2000" dirty="0">
                <a:solidFill>
                  <a:schemeClr val="tx2">
                    <a:lumMod val="10000"/>
                  </a:schemeClr>
                </a:solidFill>
              </a:rPr>
              <a:t>In short, it’s usually preferable to use this transformer instead of the first one, especially for large or sparse datasets.</a:t>
            </a:r>
          </a:p>
          <a:p>
            <a:pPr marL="114300" indent="0" algn="just">
              <a:buNone/>
            </a:pPr>
            <a:r>
              <a:rPr lang="en-US" sz="2000" dirty="0">
                <a:solidFill>
                  <a:schemeClr val="tx2">
                    <a:lumMod val="10000"/>
                  </a:schemeClr>
                </a:solidFill>
              </a:rPr>
              <a:t> </a:t>
            </a:r>
            <a:br>
              <a:rPr lang="en-US" sz="2000" dirty="0">
                <a:solidFill>
                  <a:schemeClr val="tx2">
                    <a:lumMod val="10000"/>
                  </a:schemeClr>
                </a:solidFill>
              </a:rPr>
            </a:br>
            <a:endParaRPr lang="en-US" sz="2200" dirty="0">
              <a:solidFill>
                <a:schemeClr val="tx2">
                  <a:lumMod val="10000"/>
                </a:schemeClr>
              </a:solidFill>
              <a:latin typeface="Calibri" panose="020F0502020204030204" pitchFamily="34" charset="0"/>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32</a:t>
            </a:fld>
            <a:endParaRPr lang="en-US"/>
          </a:p>
        </p:txBody>
      </p:sp>
    </p:spTree>
    <p:extLst>
      <p:ext uri="{BB962C8B-B14F-4D97-AF65-F5344CB8AC3E}">
        <p14:creationId xmlns:p14="http://schemas.microsoft.com/office/powerpoint/2010/main" val="3357611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33</a:t>
            </a:fld>
            <a:endParaRPr lang="en-US"/>
          </a:p>
        </p:txBody>
      </p:sp>
      <p:sp>
        <p:nvSpPr>
          <p:cNvPr id="6" name="Title 1"/>
          <p:cNvSpPr>
            <a:spLocks noGrp="1"/>
          </p:cNvSpPr>
          <p:nvPr>
            <p:ph type="title"/>
          </p:nvPr>
        </p:nvSpPr>
        <p:spPr>
          <a:xfrm>
            <a:off x="538619" y="189596"/>
            <a:ext cx="8129392" cy="857400"/>
          </a:xfrm>
        </p:spPr>
        <p:txBody>
          <a:bodyPr/>
          <a:lstStyle/>
          <a:p>
            <a:r>
              <a:rPr lang="en-US" sz="3400" dirty="0"/>
              <a:t>Other Dimensionality Reduction Techniques</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341004"/>
            <a:ext cx="9144000" cy="3325091"/>
          </a:xfrm>
          <a:prstGeom prst="rect">
            <a:avLst/>
          </a:prstGeom>
        </p:spPr>
      </p:pic>
    </p:spTree>
    <p:extLst>
      <p:ext uri="{BB962C8B-B14F-4D97-AF65-F5344CB8AC3E}">
        <p14:creationId xmlns:p14="http://schemas.microsoft.com/office/powerpoint/2010/main" val="26679089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239A11-0A2C-AFA5-6B82-3CE7CFF0908E}"/>
              </a:ext>
            </a:extLst>
          </p:cNvPr>
          <p:cNvSpPr>
            <a:spLocks noGrp="1"/>
          </p:cNvSpPr>
          <p:nvPr>
            <p:ph type="ctrTitle"/>
          </p:nvPr>
        </p:nvSpPr>
        <p:spPr/>
        <p:txBody>
          <a:bodyPr/>
          <a:lstStyle/>
          <a:p>
            <a:r>
              <a:rPr lang="en-US" dirty="0"/>
              <a:t>Unsupervised</a:t>
            </a:r>
            <a:r>
              <a:rPr lang="en-US" spc="-40" dirty="0"/>
              <a:t> </a:t>
            </a:r>
            <a:r>
              <a:rPr lang="en-US" spc="-10" dirty="0"/>
              <a:t>Learning (K-Means)</a:t>
            </a:r>
            <a:endParaRPr lang="en-US" dirty="0"/>
          </a:p>
        </p:txBody>
      </p:sp>
      <p:sp>
        <p:nvSpPr>
          <p:cNvPr id="3" name="Subtitle 2">
            <a:extLst>
              <a:ext uri="{FF2B5EF4-FFF2-40B4-BE49-F238E27FC236}">
                <a16:creationId xmlns:a16="http://schemas.microsoft.com/office/drawing/2014/main" id="{D5B29E0C-4646-80CE-1F26-68816E217CFF}"/>
              </a:ext>
            </a:extLst>
          </p:cNvPr>
          <p:cNvSpPr>
            <a:spLocks noGrp="1"/>
          </p:cNvSpPr>
          <p:nvPr>
            <p:ph type="subTitle" idx="1"/>
          </p:nvPr>
        </p:nvSpPr>
        <p:spPr/>
        <p:txBody>
          <a:bodyPr/>
          <a:lstStyle/>
          <a:p>
            <a:endParaRPr lang="en-US"/>
          </a:p>
        </p:txBody>
      </p:sp>
      <p:sp>
        <p:nvSpPr>
          <p:cNvPr id="4" name="Slide Number Placeholder 3">
            <a:extLst>
              <a:ext uri="{FF2B5EF4-FFF2-40B4-BE49-F238E27FC236}">
                <a16:creationId xmlns:a16="http://schemas.microsoft.com/office/drawing/2014/main" id="{AB5A1F85-A02C-1BD2-DDF3-D6A084109408}"/>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34</a:t>
            </a:fld>
            <a:endParaRPr lang="en"/>
          </a:p>
        </p:txBody>
      </p:sp>
    </p:spTree>
    <p:extLst>
      <p:ext uri="{BB962C8B-B14F-4D97-AF65-F5344CB8AC3E}">
        <p14:creationId xmlns:p14="http://schemas.microsoft.com/office/powerpoint/2010/main" val="42423211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34290">
              <a:lnSpc>
                <a:spcPct val="100000"/>
              </a:lnSpc>
              <a:spcBef>
                <a:spcPts val="105"/>
              </a:spcBef>
            </a:pPr>
            <a:r>
              <a:rPr dirty="0"/>
              <a:t>Unsupervised</a:t>
            </a:r>
            <a:r>
              <a:rPr spc="-40" dirty="0"/>
              <a:t> </a:t>
            </a:r>
            <a:r>
              <a:rPr spc="-10" dirty="0"/>
              <a:t>Learning</a:t>
            </a:r>
          </a:p>
        </p:txBody>
      </p:sp>
      <p:sp>
        <p:nvSpPr>
          <p:cNvPr id="4" name="object 4"/>
          <p:cNvSpPr txBox="1">
            <a:spLocks noGrp="1"/>
          </p:cNvSpPr>
          <p:nvPr>
            <p:ph type="sldNum" sz="quarter" idx="7"/>
          </p:nvPr>
        </p:nvSpPr>
        <p:spPr>
          <a:prstGeom prst="rect">
            <a:avLst/>
          </a:prstGeom>
        </p:spPr>
        <p:txBody>
          <a:bodyPr vert="horz" wrap="square" lIns="0" tIns="10160" rIns="0" bIns="0" rtlCol="0">
            <a:spAutoFit/>
          </a:bodyPr>
          <a:lstStyle/>
          <a:p>
            <a:pPr marL="133985">
              <a:lnSpc>
                <a:spcPct val="100000"/>
              </a:lnSpc>
              <a:spcBef>
                <a:spcPts val="80"/>
              </a:spcBef>
            </a:pPr>
            <a:fld id="{81D60167-4931-47E6-BA6A-407CBD079E47}" type="slidenum">
              <a:rPr spc="-50" dirty="0"/>
              <a:t>35</a:t>
            </a:fld>
            <a:endParaRPr spc="-50" dirty="0"/>
          </a:p>
        </p:txBody>
      </p:sp>
      <p:sp>
        <p:nvSpPr>
          <p:cNvPr id="3" name="object 3"/>
          <p:cNvSpPr txBox="1"/>
          <p:nvPr/>
        </p:nvSpPr>
        <p:spPr>
          <a:xfrm>
            <a:off x="753262" y="1349705"/>
            <a:ext cx="7651115" cy="3227705"/>
          </a:xfrm>
          <a:prstGeom prst="rect">
            <a:avLst/>
          </a:prstGeom>
        </p:spPr>
        <p:txBody>
          <a:bodyPr vert="horz" wrap="square" lIns="0" tIns="12065" rIns="0" bIns="0" rtlCol="0">
            <a:spAutoFit/>
          </a:bodyPr>
          <a:lstStyle/>
          <a:p>
            <a:pPr marL="355600" marR="5715" indent="-342900" algn="just">
              <a:lnSpc>
                <a:spcPct val="100000"/>
              </a:lnSpc>
              <a:spcBef>
                <a:spcPts val="95"/>
              </a:spcBef>
              <a:buClr>
                <a:srgbClr val="333940"/>
              </a:buClr>
              <a:buSzPct val="81818"/>
              <a:buFont typeface="Wingdings"/>
              <a:buChar char=""/>
              <a:tabLst>
                <a:tab pos="355600" algn="l"/>
              </a:tabLst>
            </a:pPr>
            <a:r>
              <a:rPr sz="2200" dirty="0">
                <a:solidFill>
                  <a:srgbClr val="12171A"/>
                </a:solidFill>
                <a:latin typeface="Calibri"/>
                <a:cs typeface="Calibri"/>
              </a:rPr>
              <a:t>Most</a:t>
            </a:r>
            <a:r>
              <a:rPr sz="2200" spc="250" dirty="0">
                <a:solidFill>
                  <a:srgbClr val="12171A"/>
                </a:solidFill>
                <a:latin typeface="Calibri"/>
                <a:cs typeface="Calibri"/>
              </a:rPr>
              <a:t> </a:t>
            </a:r>
            <a:r>
              <a:rPr sz="2200" dirty="0">
                <a:solidFill>
                  <a:srgbClr val="12171A"/>
                </a:solidFill>
                <a:latin typeface="Calibri"/>
                <a:cs typeface="Calibri"/>
              </a:rPr>
              <a:t>of</a:t>
            </a:r>
            <a:r>
              <a:rPr sz="2200" spc="270" dirty="0">
                <a:solidFill>
                  <a:srgbClr val="12171A"/>
                </a:solidFill>
                <a:latin typeface="Calibri"/>
                <a:cs typeface="Calibri"/>
              </a:rPr>
              <a:t> </a:t>
            </a:r>
            <a:r>
              <a:rPr sz="2200" dirty="0">
                <a:solidFill>
                  <a:srgbClr val="12171A"/>
                </a:solidFill>
                <a:latin typeface="Calibri"/>
                <a:cs typeface="Calibri"/>
              </a:rPr>
              <a:t>the</a:t>
            </a:r>
            <a:r>
              <a:rPr sz="2200" spc="265" dirty="0">
                <a:solidFill>
                  <a:srgbClr val="12171A"/>
                </a:solidFill>
                <a:latin typeface="Calibri"/>
                <a:cs typeface="Calibri"/>
              </a:rPr>
              <a:t> </a:t>
            </a:r>
            <a:r>
              <a:rPr sz="2200" dirty="0">
                <a:solidFill>
                  <a:srgbClr val="12171A"/>
                </a:solidFill>
                <a:latin typeface="Calibri"/>
                <a:cs typeface="Calibri"/>
              </a:rPr>
              <a:t>applications</a:t>
            </a:r>
            <a:r>
              <a:rPr sz="2200" spc="250" dirty="0">
                <a:solidFill>
                  <a:srgbClr val="12171A"/>
                </a:solidFill>
                <a:latin typeface="Calibri"/>
                <a:cs typeface="Calibri"/>
              </a:rPr>
              <a:t> </a:t>
            </a:r>
            <a:r>
              <a:rPr sz="2200" dirty="0">
                <a:solidFill>
                  <a:srgbClr val="12171A"/>
                </a:solidFill>
                <a:latin typeface="Calibri"/>
                <a:cs typeface="Calibri"/>
              </a:rPr>
              <a:t>of</a:t>
            </a:r>
            <a:r>
              <a:rPr sz="2200" spc="254" dirty="0">
                <a:solidFill>
                  <a:srgbClr val="12171A"/>
                </a:solidFill>
                <a:latin typeface="Calibri"/>
                <a:cs typeface="Calibri"/>
              </a:rPr>
              <a:t> </a:t>
            </a:r>
            <a:r>
              <a:rPr sz="2200" dirty="0">
                <a:solidFill>
                  <a:srgbClr val="12171A"/>
                </a:solidFill>
                <a:latin typeface="Calibri"/>
                <a:cs typeface="Calibri"/>
              </a:rPr>
              <a:t>machine</a:t>
            </a:r>
            <a:r>
              <a:rPr sz="2200" spc="250" dirty="0">
                <a:solidFill>
                  <a:srgbClr val="12171A"/>
                </a:solidFill>
                <a:latin typeface="Calibri"/>
                <a:cs typeface="Calibri"/>
              </a:rPr>
              <a:t> </a:t>
            </a:r>
            <a:r>
              <a:rPr sz="2200" dirty="0">
                <a:solidFill>
                  <a:srgbClr val="12171A"/>
                </a:solidFill>
                <a:latin typeface="Calibri"/>
                <a:cs typeface="Calibri"/>
              </a:rPr>
              <a:t>learning</a:t>
            </a:r>
            <a:r>
              <a:rPr sz="2200" spc="265" dirty="0">
                <a:solidFill>
                  <a:srgbClr val="12171A"/>
                </a:solidFill>
                <a:latin typeface="Calibri"/>
                <a:cs typeface="Calibri"/>
              </a:rPr>
              <a:t> </a:t>
            </a:r>
            <a:r>
              <a:rPr sz="2200" dirty="0">
                <a:solidFill>
                  <a:srgbClr val="12171A"/>
                </a:solidFill>
                <a:latin typeface="Calibri"/>
                <a:cs typeface="Calibri"/>
              </a:rPr>
              <a:t>today</a:t>
            </a:r>
            <a:r>
              <a:rPr sz="2200" spc="250" dirty="0">
                <a:solidFill>
                  <a:srgbClr val="12171A"/>
                </a:solidFill>
                <a:latin typeface="Calibri"/>
                <a:cs typeface="Calibri"/>
              </a:rPr>
              <a:t> </a:t>
            </a:r>
            <a:r>
              <a:rPr sz="2200" dirty="0">
                <a:solidFill>
                  <a:srgbClr val="12171A"/>
                </a:solidFill>
                <a:latin typeface="Calibri"/>
                <a:cs typeface="Calibri"/>
              </a:rPr>
              <a:t>are</a:t>
            </a:r>
            <a:r>
              <a:rPr sz="2200" spc="254" dirty="0">
                <a:solidFill>
                  <a:srgbClr val="12171A"/>
                </a:solidFill>
                <a:latin typeface="Calibri"/>
                <a:cs typeface="Calibri"/>
              </a:rPr>
              <a:t> </a:t>
            </a:r>
            <a:r>
              <a:rPr sz="2200" spc="-10" dirty="0">
                <a:solidFill>
                  <a:srgbClr val="12171A"/>
                </a:solidFill>
                <a:latin typeface="Calibri"/>
                <a:cs typeface="Calibri"/>
              </a:rPr>
              <a:t>based </a:t>
            </a:r>
            <a:r>
              <a:rPr sz="2200" dirty="0">
                <a:solidFill>
                  <a:srgbClr val="12171A"/>
                </a:solidFill>
                <a:latin typeface="Calibri"/>
                <a:cs typeface="Calibri"/>
              </a:rPr>
              <a:t>on</a:t>
            </a:r>
            <a:r>
              <a:rPr sz="2200" spc="330" dirty="0">
                <a:solidFill>
                  <a:srgbClr val="12171A"/>
                </a:solidFill>
                <a:latin typeface="Calibri"/>
                <a:cs typeface="Calibri"/>
              </a:rPr>
              <a:t> </a:t>
            </a:r>
            <a:r>
              <a:rPr sz="2200" dirty="0">
                <a:solidFill>
                  <a:srgbClr val="12171A"/>
                </a:solidFill>
                <a:latin typeface="Calibri"/>
                <a:cs typeface="Calibri"/>
              </a:rPr>
              <a:t>supervised</a:t>
            </a:r>
            <a:r>
              <a:rPr sz="2200" spc="330" dirty="0">
                <a:solidFill>
                  <a:srgbClr val="12171A"/>
                </a:solidFill>
                <a:latin typeface="Calibri"/>
                <a:cs typeface="Calibri"/>
              </a:rPr>
              <a:t> </a:t>
            </a:r>
            <a:r>
              <a:rPr sz="2200" dirty="0">
                <a:solidFill>
                  <a:srgbClr val="12171A"/>
                </a:solidFill>
                <a:latin typeface="Calibri"/>
                <a:cs typeface="Calibri"/>
              </a:rPr>
              <a:t>learning,</a:t>
            </a:r>
            <a:r>
              <a:rPr sz="2200" spc="325" dirty="0">
                <a:solidFill>
                  <a:srgbClr val="12171A"/>
                </a:solidFill>
                <a:latin typeface="Calibri"/>
                <a:cs typeface="Calibri"/>
              </a:rPr>
              <a:t> </a:t>
            </a:r>
            <a:r>
              <a:rPr sz="2200" dirty="0">
                <a:solidFill>
                  <a:srgbClr val="12171A"/>
                </a:solidFill>
                <a:latin typeface="Calibri"/>
                <a:cs typeface="Calibri"/>
              </a:rPr>
              <a:t>but</a:t>
            </a:r>
            <a:r>
              <a:rPr sz="2200" spc="325" dirty="0">
                <a:solidFill>
                  <a:srgbClr val="12171A"/>
                </a:solidFill>
                <a:latin typeface="Calibri"/>
                <a:cs typeface="Calibri"/>
              </a:rPr>
              <a:t> </a:t>
            </a:r>
            <a:r>
              <a:rPr sz="2200" dirty="0">
                <a:solidFill>
                  <a:srgbClr val="12171A"/>
                </a:solidFill>
                <a:latin typeface="Calibri"/>
                <a:cs typeface="Calibri"/>
              </a:rPr>
              <a:t>the</a:t>
            </a:r>
            <a:r>
              <a:rPr sz="2200" spc="335" dirty="0">
                <a:solidFill>
                  <a:srgbClr val="12171A"/>
                </a:solidFill>
                <a:latin typeface="Calibri"/>
                <a:cs typeface="Calibri"/>
              </a:rPr>
              <a:t> </a:t>
            </a:r>
            <a:r>
              <a:rPr sz="2200" dirty="0">
                <a:solidFill>
                  <a:srgbClr val="12171A"/>
                </a:solidFill>
                <a:latin typeface="Calibri"/>
                <a:cs typeface="Calibri"/>
              </a:rPr>
              <a:t>vast</a:t>
            </a:r>
            <a:r>
              <a:rPr sz="2200" spc="345" dirty="0">
                <a:solidFill>
                  <a:srgbClr val="12171A"/>
                </a:solidFill>
                <a:latin typeface="Calibri"/>
                <a:cs typeface="Calibri"/>
              </a:rPr>
              <a:t> </a:t>
            </a:r>
            <a:r>
              <a:rPr sz="2200" dirty="0">
                <a:solidFill>
                  <a:srgbClr val="12171A"/>
                </a:solidFill>
                <a:latin typeface="Calibri"/>
                <a:cs typeface="Calibri"/>
              </a:rPr>
              <a:t>majority</a:t>
            </a:r>
            <a:r>
              <a:rPr sz="2200" spc="340" dirty="0">
                <a:solidFill>
                  <a:srgbClr val="12171A"/>
                </a:solidFill>
                <a:latin typeface="Calibri"/>
                <a:cs typeface="Calibri"/>
              </a:rPr>
              <a:t> </a:t>
            </a:r>
            <a:r>
              <a:rPr sz="2200" dirty="0">
                <a:solidFill>
                  <a:srgbClr val="12171A"/>
                </a:solidFill>
                <a:latin typeface="Calibri"/>
                <a:cs typeface="Calibri"/>
              </a:rPr>
              <a:t>of</a:t>
            </a:r>
            <a:r>
              <a:rPr sz="2200" spc="330" dirty="0">
                <a:solidFill>
                  <a:srgbClr val="12171A"/>
                </a:solidFill>
                <a:latin typeface="Calibri"/>
                <a:cs typeface="Calibri"/>
              </a:rPr>
              <a:t> </a:t>
            </a:r>
            <a:r>
              <a:rPr sz="2200" dirty="0">
                <a:solidFill>
                  <a:srgbClr val="12171A"/>
                </a:solidFill>
                <a:latin typeface="Calibri"/>
                <a:cs typeface="Calibri"/>
              </a:rPr>
              <a:t>the</a:t>
            </a:r>
            <a:r>
              <a:rPr sz="2200" spc="330" dirty="0">
                <a:solidFill>
                  <a:srgbClr val="12171A"/>
                </a:solidFill>
                <a:latin typeface="Calibri"/>
                <a:cs typeface="Calibri"/>
              </a:rPr>
              <a:t> </a:t>
            </a:r>
            <a:r>
              <a:rPr sz="2200" spc="-10" dirty="0">
                <a:solidFill>
                  <a:srgbClr val="12171A"/>
                </a:solidFill>
                <a:latin typeface="Calibri"/>
                <a:cs typeface="Calibri"/>
              </a:rPr>
              <a:t>available </a:t>
            </a:r>
            <a:r>
              <a:rPr sz="2200" dirty="0">
                <a:solidFill>
                  <a:srgbClr val="12171A"/>
                </a:solidFill>
                <a:latin typeface="Calibri"/>
                <a:cs typeface="Calibri"/>
              </a:rPr>
              <a:t>data</a:t>
            </a:r>
            <a:r>
              <a:rPr sz="2200" spc="-10" dirty="0">
                <a:solidFill>
                  <a:srgbClr val="12171A"/>
                </a:solidFill>
                <a:latin typeface="Calibri"/>
                <a:cs typeface="Calibri"/>
              </a:rPr>
              <a:t> </a:t>
            </a:r>
            <a:r>
              <a:rPr sz="2200" dirty="0">
                <a:solidFill>
                  <a:srgbClr val="12171A"/>
                </a:solidFill>
                <a:latin typeface="Calibri"/>
                <a:cs typeface="Calibri"/>
              </a:rPr>
              <a:t>is </a:t>
            </a:r>
            <a:r>
              <a:rPr sz="2200" spc="-10" dirty="0">
                <a:solidFill>
                  <a:srgbClr val="12171A"/>
                </a:solidFill>
                <a:latin typeface="Calibri"/>
                <a:cs typeface="Calibri"/>
              </a:rPr>
              <a:t>unlabeled.</a:t>
            </a:r>
            <a:endParaRPr sz="2200">
              <a:latin typeface="Calibri"/>
              <a:cs typeface="Calibri"/>
            </a:endParaRPr>
          </a:p>
          <a:p>
            <a:pPr marL="354965" indent="-342265">
              <a:lnSpc>
                <a:spcPct val="100000"/>
              </a:lnSpc>
              <a:spcBef>
                <a:spcPts val="2645"/>
              </a:spcBef>
              <a:buClr>
                <a:srgbClr val="333940"/>
              </a:buClr>
              <a:buSzPct val="81818"/>
              <a:buFont typeface="Wingdings"/>
              <a:buChar char=""/>
              <a:tabLst>
                <a:tab pos="354965" algn="l"/>
              </a:tabLst>
            </a:pPr>
            <a:r>
              <a:rPr sz="2200" dirty="0">
                <a:solidFill>
                  <a:srgbClr val="12171A"/>
                </a:solidFill>
                <a:latin typeface="Calibri"/>
                <a:cs typeface="Calibri"/>
              </a:rPr>
              <a:t>Common</a:t>
            </a:r>
            <a:r>
              <a:rPr sz="2200" spc="-35" dirty="0">
                <a:solidFill>
                  <a:srgbClr val="12171A"/>
                </a:solidFill>
                <a:latin typeface="Calibri"/>
                <a:cs typeface="Calibri"/>
              </a:rPr>
              <a:t> </a:t>
            </a:r>
            <a:r>
              <a:rPr sz="2200" dirty="0">
                <a:solidFill>
                  <a:srgbClr val="12171A"/>
                </a:solidFill>
                <a:latin typeface="Calibri"/>
                <a:cs typeface="Calibri"/>
              </a:rPr>
              <a:t>unsupervised</a:t>
            </a:r>
            <a:r>
              <a:rPr sz="2200" spc="-65" dirty="0">
                <a:solidFill>
                  <a:srgbClr val="12171A"/>
                </a:solidFill>
                <a:latin typeface="Calibri"/>
                <a:cs typeface="Calibri"/>
              </a:rPr>
              <a:t> </a:t>
            </a:r>
            <a:r>
              <a:rPr sz="2200" dirty="0">
                <a:solidFill>
                  <a:srgbClr val="12171A"/>
                </a:solidFill>
                <a:latin typeface="Calibri"/>
                <a:cs typeface="Calibri"/>
              </a:rPr>
              <a:t>learning</a:t>
            </a:r>
            <a:r>
              <a:rPr sz="2200" spc="-60" dirty="0">
                <a:solidFill>
                  <a:srgbClr val="12171A"/>
                </a:solidFill>
                <a:latin typeface="Calibri"/>
                <a:cs typeface="Calibri"/>
              </a:rPr>
              <a:t> </a:t>
            </a:r>
            <a:r>
              <a:rPr sz="2200" spc="-10" dirty="0">
                <a:solidFill>
                  <a:srgbClr val="12171A"/>
                </a:solidFill>
                <a:latin typeface="Calibri"/>
                <a:cs typeface="Calibri"/>
              </a:rPr>
              <a:t>task:</a:t>
            </a:r>
            <a:endParaRPr sz="2200">
              <a:latin typeface="Calibri"/>
              <a:cs typeface="Calibri"/>
            </a:endParaRPr>
          </a:p>
          <a:p>
            <a:pPr marL="812165" lvl="1" indent="-333375">
              <a:lnSpc>
                <a:spcPct val="100000"/>
              </a:lnSpc>
              <a:spcBef>
                <a:spcPts val="10"/>
              </a:spcBef>
              <a:buClr>
                <a:srgbClr val="121618"/>
              </a:buClr>
              <a:buSzPct val="85000"/>
              <a:buFont typeface="Wingdings"/>
              <a:buChar char=""/>
              <a:tabLst>
                <a:tab pos="812165" algn="l"/>
              </a:tabLst>
            </a:pPr>
            <a:r>
              <a:rPr sz="2000" i="1" dirty="0">
                <a:solidFill>
                  <a:srgbClr val="006FC0"/>
                </a:solidFill>
                <a:latin typeface="Calibri"/>
                <a:cs typeface="Calibri"/>
              </a:rPr>
              <a:t>Clustering</a:t>
            </a:r>
            <a:r>
              <a:rPr sz="2000" i="1" dirty="0">
                <a:solidFill>
                  <a:srgbClr val="121618"/>
                </a:solidFill>
                <a:latin typeface="Calibri"/>
                <a:cs typeface="Calibri"/>
              </a:rPr>
              <a:t>:</a:t>
            </a:r>
            <a:r>
              <a:rPr sz="2000" i="1" spc="-60" dirty="0">
                <a:solidFill>
                  <a:srgbClr val="121618"/>
                </a:solidFill>
                <a:latin typeface="Calibri"/>
                <a:cs typeface="Calibri"/>
              </a:rPr>
              <a:t> </a:t>
            </a:r>
            <a:r>
              <a:rPr sz="2000" dirty="0">
                <a:solidFill>
                  <a:srgbClr val="121618"/>
                </a:solidFill>
                <a:latin typeface="Calibri"/>
                <a:cs typeface="Calibri"/>
              </a:rPr>
              <a:t>group</a:t>
            </a:r>
            <a:r>
              <a:rPr sz="2000" spc="-50" dirty="0">
                <a:solidFill>
                  <a:srgbClr val="121618"/>
                </a:solidFill>
                <a:latin typeface="Calibri"/>
                <a:cs typeface="Calibri"/>
              </a:rPr>
              <a:t> </a:t>
            </a:r>
            <a:r>
              <a:rPr sz="2000" dirty="0">
                <a:solidFill>
                  <a:srgbClr val="121618"/>
                </a:solidFill>
                <a:latin typeface="Calibri"/>
                <a:cs typeface="Calibri"/>
              </a:rPr>
              <a:t>similar</a:t>
            </a:r>
            <a:r>
              <a:rPr sz="2000" spc="-10" dirty="0">
                <a:solidFill>
                  <a:srgbClr val="121618"/>
                </a:solidFill>
                <a:latin typeface="Calibri"/>
                <a:cs typeface="Calibri"/>
              </a:rPr>
              <a:t> instances</a:t>
            </a:r>
            <a:r>
              <a:rPr sz="2000" spc="-40" dirty="0">
                <a:solidFill>
                  <a:srgbClr val="121618"/>
                </a:solidFill>
                <a:latin typeface="Calibri"/>
                <a:cs typeface="Calibri"/>
              </a:rPr>
              <a:t> </a:t>
            </a:r>
            <a:r>
              <a:rPr sz="2000" dirty="0">
                <a:solidFill>
                  <a:srgbClr val="121618"/>
                </a:solidFill>
                <a:latin typeface="Calibri"/>
                <a:cs typeface="Calibri"/>
              </a:rPr>
              <a:t>together</a:t>
            </a:r>
            <a:r>
              <a:rPr sz="2000" spc="-35" dirty="0">
                <a:solidFill>
                  <a:srgbClr val="121618"/>
                </a:solidFill>
                <a:latin typeface="Calibri"/>
                <a:cs typeface="Calibri"/>
              </a:rPr>
              <a:t> </a:t>
            </a:r>
            <a:r>
              <a:rPr sz="2000" dirty="0">
                <a:solidFill>
                  <a:srgbClr val="121618"/>
                </a:solidFill>
                <a:latin typeface="Calibri"/>
                <a:cs typeface="Calibri"/>
              </a:rPr>
              <a:t>into</a:t>
            </a:r>
            <a:r>
              <a:rPr sz="2000" spc="-45" dirty="0">
                <a:solidFill>
                  <a:srgbClr val="121618"/>
                </a:solidFill>
                <a:latin typeface="Calibri"/>
                <a:cs typeface="Calibri"/>
              </a:rPr>
              <a:t> </a:t>
            </a:r>
            <a:r>
              <a:rPr sz="2000" i="1" spc="-10" dirty="0">
                <a:solidFill>
                  <a:srgbClr val="121618"/>
                </a:solidFill>
                <a:latin typeface="Calibri"/>
                <a:cs typeface="Calibri"/>
              </a:rPr>
              <a:t>clusters.</a:t>
            </a:r>
            <a:endParaRPr sz="2000">
              <a:latin typeface="Calibri"/>
              <a:cs typeface="Calibri"/>
            </a:endParaRPr>
          </a:p>
          <a:p>
            <a:pPr marL="812165" lvl="1" indent="-333375">
              <a:lnSpc>
                <a:spcPct val="100000"/>
              </a:lnSpc>
              <a:buClr>
                <a:srgbClr val="121618"/>
              </a:buClr>
              <a:buSzPct val="85000"/>
              <a:buFont typeface="Wingdings"/>
              <a:buChar char=""/>
              <a:tabLst>
                <a:tab pos="812165" algn="l"/>
              </a:tabLst>
            </a:pPr>
            <a:r>
              <a:rPr sz="2000" i="1" dirty="0">
                <a:solidFill>
                  <a:srgbClr val="006FC0"/>
                </a:solidFill>
                <a:latin typeface="Calibri"/>
                <a:cs typeface="Calibri"/>
              </a:rPr>
              <a:t>Anomaly</a:t>
            </a:r>
            <a:r>
              <a:rPr sz="2000" i="1" spc="180" dirty="0">
                <a:solidFill>
                  <a:srgbClr val="006FC0"/>
                </a:solidFill>
                <a:latin typeface="Calibri"/>
                <a:cs typeface="Calibri"/>
              </a:rPr>
              <a:t> </a:t>
            </a:r>
            <a:r>
              <a:rPr sz="2000" i="1" dirty="0">
                <a:solidFill>
                  <a:srgbClr val="006FC0"/>
                </a:solidFill>
                <a:latin typeface="Calibri"/>
                <a:cs typeface="Calibri"/>
              </a:rPr>
              <a:t>detection</a:t>
            </a:r>
            <a:r>
              <a:rPr sz="2000" i="1" spc="195" dirty="0">
                <a:solidFill>
                  <a:srgbClr val="006FC0"/>
                </a:solidFill>
                <a:latin typeface="Calibri"/>
                <a:cs typeface="Calibri"/>
              </a:rPr>
              <a:t> </a:t>
            </a:r>
            <a:r>
              <a:rPr sz="2000" i="1" dirty="0">
                <a:solidFill>
                  <a:srgbClr val="121618"/>
                </a:solidFill>
                <a:latin typeface="Calibri"/>
                <a:cs typeface="Calibri"/>
              </a:rPr>
              <a:t>(</a:t>
            </a:r>
            <a:r>
              <a:rPr sz="2000" i="1" dirty="0">
                <a:solidFill>
                  <a:srgbClr val="006FC0"/>
                </a:solidFill>
                <a:latin typeface="Calibri"/>
                <a:cs typeface="Calibri"/>
              </a:rPr>
              <a:t>outlier</a:t>
            </a:r>
            <a:r>
              <a:rPr sz="2000" i="1" spc="175" dirty="0">
                <a:solidFill>
                  <a:srgbClr val="006FC0"/>
                </a:solidFill>
                <a:latin typeface="Calibri"/>
                <a:cs typeface="Calibri"/>
              </a:rPr>
              <a:t> </a:t>
            </a:r>
            <a:r>
              <a:rPr sz="2000" i="1" dirty="0">
                <a:solidFill>
                  <a:srgbClr val="006FC0"/>
                </a:solidFill>
                <a:latin typeface="Calibri"/>
                <a:cs typeface="Calibri"/>
              </a:rPr>
              <a:t>detection</a:t>
            </a:r>
            <a:r>
              <a:rPr sz="2000" i="1" dirty="0">
                <a:solidFill>
                  <a:srgbClr val="121618"/>
                </a:solidFill>
                <a:latin typeface="Calibri"/>
                <a:cs typeface="Calibri"/>
              </a:rPr>
              <a:t>):</a:t>
            </a:r>
            <a:r>
              <a:rPr sz="2000" i="1" spc="185" dirty="0">
                <a:solidFill>
                  <a:srgbClr val="121618"/>
                </a:solidFill>
                <a:latin typeface="Calibri"/>
                <a:cs typeface="Calibri"/>
              </a:rPr>
              <a:t> </a:t>
            </a:r>
            <a:r>
              <a:rPr sz="2000" dirty="0">
                <a:solidFill>
                  <a:srgbClr val="121618"/>
                </a:solidFill>
                <a:latin typeface="Calibri"/>
                <a:cs typeface="Calibri"/>
              </a:rPr>
              <a:t>learn</a:t>
            </a:r>
            <a:r>
              <a:rPr sz="2000" spc="195" dirty="0">
                <a:solidFill>
                  <a:srgbClr val="121618"/>
                </a:solidFill>
                <a:latin typeface="Calibri"/>
                <a:cs typeface="Calibri"/>
              </a:rPr>
              <a:t> </a:t>
            </a:r>
            <a:r>
              <a:rPr sz="2000" dirty="0">
                <a:solidFill>
                  <a:srgbClr val="121618"/>
                </a:solidFill>
                <a:latin typeface="Calibri"/>
                <a:cs typeface="Calibri"/>
              </a:rPr>
              <a:t>what</a:t>
            </a:r>
            <a:r>
              <a:rPr sz="2000" spc="180" dirty="0">
                <a:solidFill>
                  <a:srgbClr val="121618"/>
                </a:solidFill>
                <a:latin typeface="Calibri"/>
                <a:cs typeface="Calibri"/>
              </a:rPr>
              <a:t> </a:t>
            </a:r>
            <a:r>
              <a:rPr sz="2000" dirty="0">
                <a:solidFill>
                  <a:srgbClr val="121618"/>
                </a:solidFill>
                <a:latin typeface="Calibri"/>
                <a:cs typeface="Calibri"/>
              </a:rPr>
              <a:t>“normal”</a:t>
            </a:r>
            <a:r>
              <a:rPr sz="2000" spc="200" dirty="0">
                <a:solidFill>
                  <a:srgbClr val="121618"/>
                </a:solidFill>
                <a:latin typeface="Calibri"/>
                <a:cs typeface="Calibri"/>
              </a:rPr>
              <a:t> </a:t>
            </a:r>
            <a:r>
              <a:rPr sz="2000" spc="-20" dirty="0">
                <a:solidFill>
                  <a:srgbClr val="121618"/>
                </a:solidFill>
                <a:latin typeface="Calibri"/>
                <a:cs typeface="Calibri"/>
              </a:rPr>
              <a:t>data</a:t>
            </a:r>
            <a:endParaRPr sz="2000">
              <a:latin typeface="Calibri"/>
              <a:cs typeface="Calibri"/>
            </a:endParaRPr>
          </a:p>
          <a:p>
            <a:pPr marL="812165">
              <a:lnSpc>
                <a:spcPct val="100000"/>
              </a:lnSpc>
            </a:pPr>
            <a:r>
              <a:rPr sz="2000" dirty="0">
                <a:solidFill>
                  <a:srgbClr val="121618"/>
                </a:solidFill>
                <a:latin typeface="Calibri"/>
                <a:cs typeface="Calibri"/>
              </a:rPr>
              <a:t>looks</a:t>
            </a:r>
            <a:r>
              <a:rPr sz="2000" spc="-35" dirty="0">
                <a:solidFill>
                  <a:srgbClr val="121618"/>
                </a:solidFill>
                <a:latin typeface="Calibri"/>
                <a:cs typeface="Calibri"/>
              </a:rPr>
              <a:t> </a:t>
            </a:r>
            <a:r>
              <a:rPr sz="2000" dirty="0">
                <a:solidFill>
                  <a:srgbClr val="121618"/>
                </a:solidFill>
                <a:latin typeface="Calibri"/>
                <a:cs typeface="Calibri"/>
              </a:rPr>
              <a:t>like,</a:t>
            </a:r>
            <a:r>
              <a:rPr sz="2000" spc="-25" dirty="0">
                <a:solidFill>
                  <a:srgbClr val="121618"/>
                </a:solidFill>
                <a:latin typeface="Calibri"/>
                <a:cs typeface="Calibri"/>
              </a:rPr>
              <a:t> </a:t>
            </a:r>
            <a:r>
              <a:rPr sz="2000" dirty="0">
                <a:solidFill>
                  <a:srgbClr val="121618"/>
                </a:solidFill>
                <a:latin typeface="Calibri"/>
                <a:cs typeface="Calibri"/>
              </a:rPr>
              <a:t>and</a:t>
            </a:r>
            <a:r>
              <a:rPr sz="2000" spc="-35" dirty="0">
                <a:solidFill>
                  <a:srgbClr val="121618"/>
                </a:solidFill>
                <a:latin typeface="Calibri"/>
                <a:cs typeface="Calibri"/>
              </a:rPr>
              <a:t> </a:t>
            </a:r>
            <a:r>
              <a:rPr sz="2000" dirty="0">
                <a:solidFill>
                  <a:srgbClr val="121618"/>
                </a:solidFill>
                <a:latin typeface="Calibri"/>
                <a:cs typeface="Calibri"/>
              </a:rPr>
              <a:t>then</a:t>
            </a:r>
            <a:r>
              <a:rPr sz="2000" spc="-30" dirty="0">
                <a:solidFill>
                  <a:srgbClr val="121618"/>
                </a:solidFill>
                <a:latin typeface="Calibri"/>
                <a:cs typeface="Calibri"/>
              </a:rPr>
              <a:t> </a:t>
            </a:r>
            <a:r>
              <a:rPr sz="2000" dirty="0">
                <a:solidFill>
                  <a:srgbClr val="121618"/>
                </a:solidFill>
                <a:latin typeface="Calibri"/>
                <a:cs typeface="Calibri"/>
              </a:rPr>
              <a:t>use</a:t>
            </a:r>
            <a:r>
              <a:rPr sz="2000" spc="-30" dirty="0">
                <a:solidFill>
                  <a:srgbClr val="121618"/>
                </a:solidFill>
                <a:latin typeface="Calibri"/>
                <a:cs typeface="Calibri"/>
              </a:rPr>
              <a:t> </a:t>
            </a:r>
            <a:r>
              <a:rPr sz="2000" dirty="0">
                <a:solidFill>
                  <a:srgbClr val="121618"/>
                </a:solidFill>
                <a:latin typeface="Calibri"/>
                <a:cs typeface="Calibri"/>
              </a:rPr>
              <a:t>that</a:t>
            </a:r>
            <a:r>
              <a:rPr sz="2000" spc="-25" dirty="0">
                <a:solidFill>
                  <a:srgbClr val="121618"/>
                </a:solidFill>
                <a:latin typeface="Calibri"/>
                <a:cs typeface="Calibri"/>
              </a:rPr>
              <a:t> </a:t>
            </a:r>
            <a:r>
              <a:rPr sz="2000" dirty="0">
                <a:solidFill>
                  <a:srgbClr val="121618"/>
                </a:solidFill>
                <a:latin typeface="Calibri"/>
                <a:cs typeface="Calibri"/>
              </a:rPr>
              <a:t>to</a:t>
            </a:r>
            <a:r>
              <a:rPr sz="2000" spc="-40" dirty="0">
                <a:solidFill>
                  <a:srgbClr val="121618"/>
                </a:solidFill>
                <a:latin typeface="Calibri"/>
                <a:cs typeface="Calibri"/>
              </a:rPr>
              <a:t> </a:t>
            </a:r>
            <a:r>
              <a:rPr sz="2000" dirty="0">
                <a:solidFill>
                  <a:srgbClr val="121618"/>
                </a:solidFill>
                <a:latin typeface="Calibri"/>
                <a:cs typeface="Calibri"/>
              </a:rPr>
              <a:t>detect</a:t>
            </a:r>
            <a:r>
              <a:rPr sz="2000" spc="-20" dirty="0">
                <a:solidFill>
                  <a:srgbClr val="121618"/>
                </a:solidFill>
                <a:latin typeface="Calibri"/>
                <a:cs typeface="Calibri"/>
              </a:rPr>
              <a:t> </a:t>
            </a:r>
            <a:r>
              <a:rPr sz="2000" dirty="0">
                <a:solidFill>
                  <a:srgbClr val="121618"/>
                </a:solidFill>
                <a:latin typeface="Calibri"/>
                <a:cs typeface="Calibri"/>
              </a:rPr>
              <a:t>abnormal</a:t>
            </a:r>
            <a:r>
              <a:rPr sz="2000" spc="-30" dirty="0">
                <a:solidFill>
                  <a:srgbClr val="121618"/>
                </a:solidFill>
                <a:latin typeface="Calibri"/>
                <a:cs typeface="Calibri"/>
              </a:rPr>
              <a:t> </a:t>
            </a:r>
            <a:r>
              <a:rPr sz="2000" spc="-10" dirty="0">
                <a:solidFill>
                  <a:srgbClr val="121618"/>
                </a:solidFill>
                <a:latin typeface="Calibri"/>
                <a:cs typeface="Calibri"/>
              </a:rPr>
              <a:t>instances.</a:t>
            </a:r>
            <a:endParaRPr sz="2000">
              <a:latin typeface="Calibri"/>
              <a:cs typeface="Calibri"/>
            </a:endParaRPr>
          </a:p>
          <a:p>
            <a:pPr marL="812165" lvl="1" indent="-333375">
              <a:lnSpc>
                <a:spcPct val="100000"/>
              </a:lnSpc>
              <a:buClr>
                <a:srgbClr val="121618"/>
              </a:buClr>
              <a:buSzPct val="85000"/>
              <a:buFont typeface="Wingdings"/>
              <a:buChar char=""/>
              <a:tabLst>
                <a:tab pos="812165" algn="l"/>
              </a:tabLst>
            </a:pPr>
            <a:r>
              <a:rPr sz="2000" i="1" dirty="0">
                <a:solidFill>
                  <a:srgbClr val="006FC0"/>
                </a:solidFill>
                <a:latin typeface="Calibri"/>
                <a:cs typeface="Calibri"/>
              </a:rPr>
              <a:t>Density</a:t>
            </a:r>
            <a:r>
              <a:rPr sz="2000" i="1" spc="475" dirty="0">
                <a:solidFill>
                  <a:srgbClr val="006FC0"/>
                </a:solidFill>
                <a:latin typeface="Calibri"/>
                <a:cs typeface="Calibri"/>
              </a:rPr>
              <a:t> </a:t>
            </a:r>
            <a:r>
              <a:rPr sz="2000" i="1" dirty="0">
                <a:solidFill>
                  <a:srgbClr val="006FC0"/>
                </a:solidFill>
                <a:latin typeface="Calibri"/>
                <a:cs typeface="Calibri"/>
              </a:rPr>
              <a:t>estimation</a:t>
            </a:r>
            <a:r>
              <a:rPr sz="2000" i="1" dirty="0">
                <a:solidFill>
                  <a:srgbClr val="121618"/>
                </a:solidFill>
                <a:latin typeface="Calibri"/>
                <a:cs typeface="Calibri"/>
              </a:rPr>
              <a:t>:</a:t>
            </a:r>
            <a:r>
              <a:rPr sz="2000" i="1" spc="475" dirty="0">
                <a:solidFill>
                  <a:srgbClr val="121618"/>
                </a:solidFill>
                <a:latin typeface="Calibri"/>
                <a:cs typeface="Calibri"/>
              </a:rPr>
              <a:t> </a:t>
            </a:r>
            <a:r>
              <a:rPr sz="2000" dirty="0">
                <a:solidFill>
                  <a:srgbClr val="121618"/>
                </a:solidFill>
                <a:latin typeface="Calibri"/>
                <a:cs typeface="Calibri"/>
              </a:rPr>
              <a:t>estimating</a:t>
            </a:r>
            <a:r>
              <a:rPr sz="2000" spc="475" dirty="0">
                <a:solidFill>
                  <a:srgbClr val="121618"/>
                </a:solidFill>
                <a:latin typeface="Calibri"/>
                <a:cs typeface="Calibri"/>
              </a:rPr>
              <a:t> </a:t>
            </a:r>
            <a:r>
              <a:rPr sz="2000" dirty="0">
                <a:solidFill>
                  <a:srgbClr val="121618"/>
                </a:solidFill>
                <a:latin typeface="Calibri"/>
                <a:cs typeface="Calibri"/>
              </a:rPr>
              <a:t>the</a:t>
            </a:r>
            <a:r>
              <a:rPr sz="2000" spc="470" dirty="0">
                <a:solidFill>
                  <a:srgbClr val="121618"/>
                </a:solidFill>
                <a:latin typeface="Calibri"/>
                <a:cs typeface="Calibri"/>
              </a:rPr>
              <a:t> </a:t>
            </a:r>
            <a:r>
              <a:rPr sz="2000" i="1" dirty="0">
                <a:solidFill>
                  <a:srgbClr val="121618"/>
                </a:solidFill>
                <a:latin typeface="Calibri"/>
                <a:cs typeface="Calibri"/>
              </a:rPr>
              <a:t>probability</a:t>
            </a:r>
            <a:r>
              <a:rPr sz="2000" i="1" spc="475" dirty="0">
                <a:solidFill>
                  <a:srgbClr val="121618"/>
                </a:solidFill>
                <a:latin typeface="Calibri"/>
                <a:cs typeface="Calibri"/>
              </a:rPr>
              <a:t> </a:t>
            </a:r>
            <a:r>
              <a:rPr sz="2000" i="1" dirty="0">
                <a:solidFill>
                  <a:srgbClr val="121618"/>
                </a:solidFill>
                <a:latin typeface="Calibri"/>
                <a:cs typeface="Calibri"/>
              </a:rPr>
              <a:t>density</a:t>
            </a:r>
            <a:r>
              <a:rPr sz="2000" i="1" spc="475" dirty="0">
                <a:solidFill>
                  <a:srgbClr val="121618"/>
                </a:solidFill>
                <a:latin typeface="Calibri"/>
                <a:cs typeface="Calibri"/>
              </a:rPr>
              <a:t> </a:t>
            </a:r>
            <a:r>
              <a:rPr sz="2000" i="1" spc="-10" dirty="0">
                <a:solidFill>
                  <a:srgbClr val="121618"/>
                </a:solidFill>
                <a:latin typeface="Calibri"/>
                <a:cs typeface="Calibri"/>
              </a:rPr>
              <a:t>function</a:t>
            </a:r>
            <a:endParaRPr sz="2000">
              <a:latin typeface="Calibri"/>
              <a:cs typeface="Calibri"/>
            </a:endParaRPr>
          </a:p>
          <a:p>
            <a:pPr marL="812165">
              <a:lnSpc>
                <a:spcPct val="100000"/>
              </a:lnSpc>
            </a:pPr>
            <a:r>
              <a:rPr sz="2000" dirty="0">
                <a:solidFill>
                  <a:srgbClr val="121618"/>
                </a:solidFill>
                <a:latin typeface="Calibri"/>
                <a:cs typeface="Calibri"/>
              </a:rPr>
              <a:t>(PDF)</a:t>
            </a:r>
            <a:r>
              <a:rPr sz="2000" spc="-40" dirty="0">
                <a:solidFill>
                  <a:srgbClr val="121618"/>
                </a:solidFill>
                <a:latin typeface="Calibri"/>
                <a:cs typeface="Calibri"/>
              </a:rPr>
              <a:t> </a:t>
            </a:r>
            <a:r>
              <a:rPr sz="2000" dirty="0">
                <a:solidFill>
                  <a:srgbClr val="121618"/>
                </a:solidFill>
                <a:latin typeface="Calibri"/>
                <a:cs typeface="Calibri"/>
              </a:rPr>
              <a:t>of</a:t>
            </a:r>
            <a:r>
              <a:rPr sz="2000" spc="-50" dirty="0">
                <a:solidFill>
                  <a:srgbClr val="121618"/>
                </a:solidFill>
                <a:latin typeface="Calibri"/>
                <a:cs typeface="Calibri"/>
              </a:rPr>
              <a:t> </a:t>
            </a:r>
            <a:r>
              <a:rPr sz="2000" dirty="0">
                <a:solidFill>
                  <a:srgbClr val="121618"/>
                </a:solidFill>
                <a:latin typeface="Calibri"/>
                <a:cs typeface="Calibri"/>
              </a:rPr>
              <a:t>the</a:t>
            </a:r>
            <a:r>
              <a:rPr sz="2000" spc="-35" dirty="0">
                <a:solidFill>
                  <a:srgbClr val="121618"/>
                </a:solidFill>
                <a:latin typeface="Calibri"/>
                <a:cs typeface="Calibri"/>
              </a:rPr>
              <a:t> </a:t>
            </a:r>
            <a:r>
              <a:rPr sz="2000" dirty="0">
                <a:solidFill>
                  <a:srgbClr val="121618"/>
                </a:solidFill>
                <a:latin typeface="Calibri"/>
                <a:cs typeface="Calibri"/>
              </a:rPr>
              <a:t>random</a:t>
            </a:r>
            <a:r>
              <a:rPr sz="2000" spc="-55" dirty="0">
                <a:solidFill>
                  <a:srgbClr val="121618"/>
                </a:solidFill>
                <a:latin typeface="Calibri"/>
                <a:cs typeface="Calibri"/>
              </a:rPr>
              <a:t> </a:t>
            </a:r>
            <a:r>
              <a:rPr sz="2000" dirty="0">
                <a:solidFill>
                  <a:srgbClr val="121618"/>
                </a:solidFill>
                <a:latin typeface="Calibri"/>
                <a:cs typeface="Calibri"/>
              </a:rPr>
              <a:t>process</a:t>
            </a:r>
            <a:r>
              <a:rPr sz="2000" spc="-35" dirty="0">
                <a:solidFill>
                  <a:srgbClr val="121618"/>
                </a:solidFill>
                <a:latin typeface="Calibri"/>
                <a:cs typeface="Calibri"/>
              </a:rPr>
              <a:t> </a:t>
            </a:r>
            <a:r>
              <a:rPr sz="2000" dirty="0">
                <a:solidFill>
                  <a:srgbClr val="121618"/>
                </a:solidFill>
                <a:latin typeface="Calibri"/>
                <a:cs typeface="Calibri"/>
              </a:rPr>
              <a:t>that</a:t>
            </a:r>
            <a:r>
              <a:rPr sz="2000" spc="-35" dirty="0">
                <a:solidFill>
                  <a:srgbClr val="121618"/>
                </a:solidFill>
                <a:latin typeface="Calibri"/>
                <a:cs typeface="Calibri"/>
              </a:rPr>
              <a:t> </a:t>
            </a:r>
            <a:r>
              <a:rPr sz="2000" dirty="0">
                <a:solidFill>
                  <a:srgbClr val="121618"/>
                </a:solidFill>
                <a:latin typeface="Calibri"/>
                <a:cs typeface="Calibri"/>
              </a:rPr>
              <a:t>generated</a:t>
            </a:r>
            <a:r>
              <a:rPr sz="2000" spc="-40" dirty="0">
                <a:solidFill>
                  <a:srgbClr val="121618"/>
                </a:solidFill>
                <a:latin typeface="Calibri"/>
                <a:cs typeface="Calibri"/>
              </a:rPr>
              <a:t> </a:t>
            </a:r>
            <a:r>
              <a:rPr sz="2000" dirty="0">
                <a:solidFill>
                  <a:srgbClr val="121618"/>
                </a:solidFill>
                <a:latin typeface="Calibri"/>
                <a:cs typeface="Calibri"/>
              </a:rPr>
              <a:t>the</a:t>
            </a:r>
            <a:r>
              <a:rPr sz="2000" spc="-40" dirty="0">
                <a:solidFill>
                  <a:srgbClr val="121618"/>
                </a:solidFill>
                <a:latin typeface="Calibri"/>
                <a:cs typeface="Calibri"/>
              </a:rPr>
              <a:t> </a:t>
            </a:r>
            <a:r>
              <a:rPr sz="2000" spc="-10" dirty="0">
                <a:solidFill>
                  <a:srgbClr val="121618"/>
                </a:solidFill>
                <a:latin typeface="Calibri"/>
                <a:cs typeface="Calibri"/>
              </a:rPr>
              <a:t>dataset.</a:t>
            </a:r>
            <a:endParaRPr sz="2000">
              <a:latin typeface="Calibri"/>
              <a:cs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396240">
              <a:lnSpc>
                <a:spcPct val="100000"/>
              </a:lnSpc>
              <a:spcBef>
                <a:spcPts val="105"/>
              </a:spcBef>
            </a:pPr>
            <a:r>
              <a:rPr spc="-10" dirty="0"/>
              <a:t>Question</a:t>
            </a:r>
          </a:p>
        </p:txBody>
      </p:sp>
      <p:sp>
        <p:nvSpPr>
          <p:cNvPr id="4" name="object 4"/>
          <p:cNvSpPr txBox="1">
            <a:spLocks noGrp="1"/>
          </p:cNvSpPr>
          <p:nvPr>
            <p:ph type="sldNum" sz="quarter" idx="7"/>
          </p:nvPr>
        </p:nvSpPr>
        <p:spPr>
          <a:prstGeom prst="rect">
            <a:avLst/>
          </a:prstGeom>
        </p:spPr>
        <p:txBody>
          <a:bodyPr vert="horz" wrap="square" lIns="0" tIns="10160" rIns="0" bIns="0" rtlCol="0">
            <a:spAutoFit/>
          </a:bodyPr>
          <a:lstStyle/>
          <a:p>
            <a:pPr marL="133985">
              <a:lnSpc>
                <a:spcPct val="100000"/>
              </a:lnSpc>
              <a:spcBef>
                <a:spcPts val="80"/>
              </a:spcBef>
            </a:pPr>
            <a:fld id="{81D60167-4931-47E6-BA6A-407CBD079E47}" type="slidenum">
              <a:rPr spc="-50" dirty="0"/>
              <a:t>36</a:t>
            </a:fld>
            <a:endParaRPr spc="-50" dirty="0"/>
          </a:p>
        </p:txBody>
      </p:sp>
      <p:sp>
        <p:nvSpPr>
          <p:cNvPr id="3" name="object 3"/>
          <p:cNvSpPr txBox="1"/>
          <p:nvPr/>
        </p:nvSpPr>
        <p:spPr>
          <a:xfrm>
            <a:off x="1087018" y="1509140"/>
            <a:ext cx="6151880" cy="391160"/>
          </a:xfrm>
          <a:prstGeom prst="rect">
            <a:avLst/>
          </a:prstGeom>
        </p:spPr>
        <p:txBody>
          <a:bodyPr vert="horz" wrap="square" lIns="0" tIns="12700" rIns="0" bIns="0" rtlCol="0">
            <a:spAutoFit/>
          </a:bodyPr>
          <a:lstStyle/>
          <a:p>
            <a:pPr marL="354965" indent="-342265">
              <a:lnSpc>
                <a:spcPct val="100000"/>
              </a:lnSpc>
              <a:spcBef>
                <a:spcPts val="100"/>
              </a:spcBef>
              <a:buSzPct val="75000"/>
              <a:buFont typeface="Wingdings"/>
              <a:buChar char=""/>
              <a:tabLst>
                <a:tab pos="354965" algn="l"/>
              </a:tabLst>
            </a:pPr>
            <a:r>
              <a:rPr sz="2400" dirty="0">
                <a:solidFill>
                  <a:srgbClr val="333940"/>
                </a:solidFill>
                <a:latin typeface="Calibri"/>
                <a:cs typeface="Calibri"/>
              </a:rPr>
              <a:t>Difference</a:t>
            </a:r>
            <a:r>
              <a:rPr sz="2400" spc="-45" dirty="0">
                <a:solidFill>
                  <a:srgbClr val="333940"/>
                </a:solidFill>
                <a:latin typeface="Calibri"/>
                <a:cs typeface="Calibri"/>
              </a:rPr>
              <a:t> </a:t>
            </a:r>
            <a:r>
              <a:rPr sz="2400" dirty="0">
                <a:solidFill>
                  <a:srgbClr val="333940"/>
                </a:solidFill>
                <a:latin typeface="Calibri"/>
                <a:cs typeface="Calibri"/>
              </a:rPr>
              <a:t>between</a:t>
            </a:r>
            <a:r>
              <a:rPr sz="2400" spc="-60" dirty="0">
                <a:solidFill>
                  <a:srgbClr val="333940"/>
                </a:solidFill>
                <a:latin typeface="Calibri"/>
                <a:cs typeface="Calibri"/>
              </a:rPr>
              <a:t> </a:t>
            </a:r>
            <a:r>
              <a:rPr sz="2400" dirty="0">
                <a:solidFill>
                  <a:srgbClr val="333940"/>
                </a:solidFill>
                <a:latin typeface="Calibri"/>
                <a:cs typeface="Calibri"/>
              </a:rPr>
              <a:t>anomaly</a:t>
            </a:r>
            <a:r>
              <a:rPr sz="2400" spc="-50" dirty="0">
                <a:solidFill>
                  <a:srgbClr val="333940"/>
                </a:solidFill>
                <a:latin typeface="Calibri"/>
                <a:cs typeface="Calibri"/>
              </a:rPr>
              <a:t> </a:t>
            </a:r>
            <a:r>
              <a:rPr sz="2400" dirty="0">
                <a:solidFill>
                  <a:srgbClr val="333940"/>
                </a:solidFill>
                <a:latin typeface="Calibri"/>
                <a:cs typeface="Calibri"/>
              </a:rPr>
              <a:t>and</a:t>
            </a:r>
            <a:r>
              <a:rPr sz="2400" spc="-50" dirty="0">
                <a:solidFill>
                  <a:srgbClr val="333940"/>
                </a:solidFill>
                <a:latin typeface="Calibri"/>
                <a:cs typeface="Calibri"/>
              </a:rPr>
              <a:t> </a:t>
            </a:r>
            <a:r>
              <a:rPr sz="2400" dirty="0">
                <a:solidFill>
                  <a:srgbClr val="333940"/>
                </a:solidFill>
                <a:latin typeface="Calibri"/>
                <a:cs typeface="Calibri"/>
              </a:rPr>
              <a:t>outlier</a:t>
            </a:r>
            <a:r>
              <a:rPr sz="2400" spc="-50" dirty="0">
                <a:solidFill>
                  <a:srgbClr val="333940"/>
                </a:solidFill>
                <a:latin typeface="Calibri"/>
                <a:cs typeface="Calibri"/>
              </a:rPr>
              <a:t> </a:t>
            </a:r>
            <a:r>
              <a:rPr sz="2400" spc="-10" dirty="0">
                <a:solidFill>
                  <a:srgbClr val="333940"/>
                </a:solidFill>
                <a:latin typeface="Calibri"/>
                <a:cs typeface="Calibri"/>
              </a:rPr>
              <a:t>data?</a:t>
            </a:r>
            <a:endParaRPr sz="2400">
              <a:latin typeface="Calibri"/>
              <a:cs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26999" y="340604"/>
            <a:ext cx="8083905" cy="4450320"/>
          </a:xfrm>
          <a:prstGeom prst="rect">
            <a:avLst/>
          </a:prstGeom>
        </p:spPr>
      </p:pic>
      <p:sp>
        <p:nvSpPr>
          <p:cNvPr id="3" name="object 3"/>
          <p:cNvSpPr txBox="1">
            <a:spLocks noGrp="1"/>
          </p:cNvSpPr>
          <p:nvPr>
            <p:ph type="sldNum" sz="quarter" idx="7"/>
          </p:nvPr>
        </p:nvSpPr>
        <p:spPr>
          <a:prstGeom prst="rect">
            <a:avLst/>
          </a:prstGeom>
        </p:spPr>
        <p:txBody>
          <a:bodyPr vert="horz" wrap="square" lIns="0" tIns="10160" rIns="0" bIns="0" rtlCol="0">
            <a:spAutoFit/>
          </a:bodyPr>
          <a:lstStyle/>
          <a:p>
            <a:pPr marL="133985">
              <a:lnSpc>
                <a:spcPct val="100000"/>
              </a:lnSpc>
              <a:spcBef>
                <a:spcPts val="80"/>
              </a:spcBef>
            </a:pPr>
            <a:fld id="{81D60167-4931-47E6-BA6A-407CBD079E47}" type="slidenum">
              <a:rPr spc="-50" dirty="0"/>
              <a:t>37</a:t>
            </a:fld>
            <a:endParaRPr spc="-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9144000" cy="3992879"/>
          </a:xfrm>
          <a:custGeom>
            <a:avLst/>
            <a:gdLst/>
            <a:ahLst/>
            <a:cxnLst/>
            <a:rect l="l" t="t" r="r" b="b"/>
            <a:pathLst>
              <a:path w="9144000" h="3992879">
                <a:moveTo>
                  <a:pt x="9144000" y="0"/>
                </a:moveTo>
                <a:lnTo>
                  <a:pt x="0" y="0"/>
                </a:lnTo>
                <a:lnTo>
                  <a:pt x="0" y="3992879"/>
                </a:lnTo>
                <a:lnTo>
                  <a:pt x="9144000" y="3992879"/>
                </a:lnTo>
                <a:lnTo>
                  <a:pt x="9144000" y="0"/>
                </a:lnTo>
                <a:close/>
              </a:path>
            </a:pathLst>
          </a:custGeom>
          <a:solidFill>
            <a:srgbClr val="2085C5"/>
          </a:solidFill>
        </p:spPr>
        <p:txBody>
          <a:bodyPr wrap="square" lIns="0" tIns="0" rIns="0" bIns="0" rtlCol="0"/>
          <a:lstStyle/>
          <a:p>
            <a:endParaRPr/>
          </a:p>
        </p:txBody>
      </p:sp>
      <p:grpSp>
        <p:nvGrpSpPr>
          <p:cNvPr id="3" name="object 3"/>
          <p:cNvGrpSpPr/>
          <p:nvPr/>
        </p:nvGrpSpPr>
        <p:grpSpPr>
          <a:xfrm>
            <a:off x="0" y="3992879"/>
            <a:ext cx="9144000" cy="78105"/>
            <a:chOff x="0" y="3992879"/>
            <a:chExt cx="9144000" cy="78105"/>
          </a:xfrm>
        </p:grpSpPr>
        <p:sp>
          <p:nvSpPr>
            <p:cNvPr id="4" name="object 4"/>
            <p:cNvSpPr/>
            <p:nvPr/>
          </p:nvSpPr>
          <p:spPr>
            <a:xfrm>
              <a:off x="3048000" y="3992879"/>
              <a:ext cx="3048000" cy="78105"/>
            </a:xfrm>
            <a:custGeom>
              <a:avLst/>
              <a:gdLst/>
              <a:ahLst/>
              <a:cxnLst/>
              <a:rect l="l" t="t" r="r" b="b"/>
              <a:pathLst>
                <a:path w="3048000" h="78104">
                  <a:moveTo>
                    <a:pt x="3048000" y="0"/>
                  </a:moveTo>
                  <a:lnTo>
                    <a:pt x="0" y="0"/>
                  </a:lnTo>
                  <a:lnTo>
                    <a:pt x="0" y="77724"/>
                  </a:lnTo>
                  <a:lnTo>
                    <a:pt x="3048000" y="77724"/>
                  </a:lnTo>
                  <a:lnTo>
                    <a:pt x="3048000" y="0"/>
                  </a:lnTo>
                  <a:close/>
                </a:path>
              </a:pathLst>
            </a:custGeom>
            <a:solidFill>
              <a:srgbClr val="FF9615"/>
            </a:solidFill>
          </p:spPr>
          <p:txBody>
            <a:bodyPr wrap="square" lIns="0" tIns="0" rIns="0" bIns="0" rtlCol="0"/>
            <a:lstStyle/>
            <a:p>
              <a:endParaRPr/>
            </a:p>
          </p:txBody>
        </p:sp>
        <p:sp>
          <p:nvSpPr>
            <p:cNvPr id="5" name="object 5"/>
            <p:cNvSpPr/>
            <p:nvPr/>
          </p:nvSpPr>
          <p:spPr>
            <a:xfrm>
              <a:off x="6096000" y="3992879"/>
              <a:ext cx="3048000" cy="78105"/>
            </a:xfrm>
            <a:custGeom>
              <a:avLst/>
              <a:gdLst/>
              <a:ahLst/>
              <a:cxnLst/>
              <a:rect l="l" t="t" r="r" b="b"/>
              <a:pathLst>
                <a:path w="3048000" h="78104">
                  <a:moveTo>
                    <a:pt x="3048000" y="0"/>
                  </a:moveTo>
                  <a:lnTo>
                    <a:pt x="0" y="0"/>
                  </a:lnTo>
                  <a:lnTo>
                    <a:pt x="0" y="77724"/>
                  </a:lnTo>
                  <a:lnTo>
                    <a:pt x="3048000" y="77724"/>
                  </a:lnTo>
                  <a:lnTo>
                    <a:pt x="3048000" y="0"/>
                  </a:lnTo>
                  <a:close/>
                </a:path>
              </a:pathLst>
            </a:custGeom>
            <a:solidFill>
              <a:srgbClr val="F10152"/>
            </a:solidFill>
          </p:spPr>
          <p:txBody>
            <a:bodyPr wrap="square" lIns="0" tIns="0" rIns="0" bIns="0" rtlCol="0"/>
            <a:lstStyle/>
            <a:p>
              <a:endParaRPr/>
            </a:p>
          </p:txBody>
        </p:sp>
        <p:sp>
          <p:nvSpPr>
            <p:cNvPr id="6" name="object 6"/>
            <p:cNvSpPr/>
            <p:nvPr/>
          </p:nvSpPr>
          <p:spPr>
            <a:xfrm>
              <a:off x="0" y="3992879"/>
              <a:ext cx="3048000" cy="78105"/>
            </a:xfrm>
            <a:custGeom>
              <a:avLst/>
              <a:gdLst/>
              <a:ahLst/>
              <a:cxnLst/>
              <a:rect l="l" t="t" r="r" b="b"/>
              <a:pathLst>
                <a:path w="3048000" h="78104">
                  <a:moveTo>
                    <a:pt x="3048000" y="0"/>
                  </a:moveTo>
                  <a:lnTo>
                    <a:pt x="0" y="0"/>
                  </a:lnTo>
                  <a:lnTo>
                    <a:pt x="0" y="77724"/>
                  </a:lnTo>
                  <a:lnTo>
                    <a:pt x="3048000" y="77724"/>
                  </a:lnTo>
                  <a:lnTo>
                    <a:pt x="3048000" y="0"/>
                  </a:lnTo>
                  <a:close/>
                </a:path>
              </a:pathLst>
            </a:custGeom>
            <a:solidFill>
              <a:srgbClr val="7DCEFC"/>
            </a:solidFill>
          </p:spPr>
          <p:txBody>
            <a:bodyPr wrap="square" lIns="0" tIns="0" rIns="0" bIns="0" rtlCol="0"/>
            <a:lstStyle/>
            <a:p>
              <a:endParaRPr/>
            </a:p>
          </p:txBody>
        </p:sp>
      </p:grpSp>
      <p:sp>
        <p:nvSpPr>
          <p:cNvPr id="7" name="object 7"/>
          <p:cNvSpPr txBox="1"/>
          <p:nvPr/>
        </p:nvSpPr>
        <p:spPr>
          <a:xfrm>
            <a:off x="4386834" y="1371727"/>
            <a:ext cx="370840" cy="696595"/>
          </a:xfrm>
          <a:prstGeom prst="rect">
            <a:avLst/>
          </a:prstGeom>
        </p:spPr>
        <p:txBody>
          <a:bodyPr vert="horz" wrap="square" lIns="0" tIns="13335" rIns="0" bIns="0" rtlCol="0">
            <a:spAutoFit/>
          </a:bodyPr>
          <a:lstStyle/>
          <a:p>
            <a:pPr marL="12700">
              <a:lnSpc>
                <a:spcPct val="100000"/>
              </a:lnSpc>
              <a:spcBef>
                <a:spcPts val="105"/>
              </a:spcBef>
            </a:pPr>
            <a:r>
              <a:rPr sz="4400" spc="-640" dirty="0">
                <a:solidFill>
                  <a:srgbClr val="7DCEFC"/>
                </a:solidFill>
                <a:latin typeface="Trebuchet MS"/>
                <a:cs typeface="Trebuchet MS"/>
              </a:rPr>
              <a:t>1.</a:t>
            </a:r>
            <a:endParaRPr sz="4400">
              <a:latin typeface="Trebuchet MS"/>
              <a:cs typeface="Trebuchet MS"/>
            </a:endParaRPr>
          </a:p>
        </p:txBody>
      </p:sp>
      <p:sp>
        <p:nvSpPr>
          <p:cNvPr id="8" name="object 8"/>
          <p:cNvSpPr txBox="1">
            <a:spLocks noGrp="1"/>
          </p:cNvSpPr>
          <p:nvPr>
            <p:ph type="title"/>
          </p:nvPr>
        </p:nvSpPr>
        <p:spPr>
          <a:xfrm>
            <a:off x="3237738" y="2041982"/>
            <a:ext cx="2670810" cy="697230"/>
          </a:xfrm>
          <a:prstGeom prst="rect">
            <a:avLst/>
          </a:prstGeom>
        </p:spPr>
        <p:txBody>
          <a:bodyPr vert="horz" wrap="square" lIns="0" tIns="13335" rIns="0" bIns="0" rtlCol="0">
            <a:spAutoFit/>
          </a:bodyPr>
          <a:lstStyle/>
          <a:p>
            <a:pPr marL="12700">
              <a:lnSpc>
                <a:spcPct val="100000"/>
              </a:lnSpc>
              <a:spcBef>
                <a:spcPts val="105"/>
              </a:spcBef>
            </a:pPr>
            <a:r>
              <a:rPr b="0" spc="65" dirty="0">
                <a:solidFill>
                  <a:srgbClr val="FFFFFF"/>
                </a:solidFill>
                <a:latin typeface="Trebuchet MS"/>
                <a:cs typeface="Trebuchet MS"/>
              </a:rPr>
              <a:t>Clustering</a:t>
            </a:r>
          </a:p>
        </p:txBody>
      </p:sp>
      <p:sp>
        <p:nvSpPr>
          <p:cNvPr id="9" name="object 9"/>
          <p:cNvSpPr txBox="1"/>
          <p:nvPr/>
        </p:nvSpPr>
        <p:spPr>
          <a:xfrm>
            <a:off x="4511802" y="4908905"/>
            <a:ext cx="121285" cy="223520"/>
          </a:xfrm>
          <a:prstGeom prst="rect">
            <a:avLst/>
          </a:prstGeom>
        </p:spPr>
        <p:txBody>
          <a:bodyPr vert="horz" wrap="square" lIns="0" tIns="12065" rIns="0" bIns="0" rtlCol="0">
            <a:spAutoFit/>
          </a:bodyPr>
          <a:lstStyle/>
          <a:p>
            <a:pPr marL="12700">
              <a:lnSpc>
                <a:spcPct val="100000"/>
              </a:lnSpc>
              <a:spcBef>
                <a:spcPts val="95"/>
              </a:spcBef>
            </a:pPr>
            <a:r>
              <a:rPr sz="1300" spc="-50" dirty="0">
                <a:solidFill>
                  <a:srgbClr val="96ABBB"/>
                </a:solidFill>
                <a:latin typeface="Franklin Gothic Book"/>
                <a:cs typeface="Franklin Gothic Book"/>
              </a:rPr>
              <a:t>5</a:t>
            </a:r>
            <a:endParaRPr sz="1300">
              <a:latin typeface="Franklin Gothic Book"/>
              <a:cs typeface="Franklin Gothic Book"/>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a:lnSpc>
                <a:spcPct val="100000"/>
              </a:lnSpc>
              <a:spcBef>
                <a:spcPts val="105"/>
              </a:spcBef>
            </a:pPr>
            <a:r>
              <a:rPr spc="-10" dirty="0"/>
              <a:t>Clustering</a:t>
            </a:r>
          </a:p>
        </p:txBody>
      </p:sp>
      <p:sp>
        <p:nvSpPr>
          <p:cNvPr id="3" name="object 3"/>
          <p:cNvSpPr txBox="1"/>
          <p:nvPr/>
        </p:nvSpPr>
        <p:spPr>
          <a:xfrm>
            <a:off x="604824" y="1302257"/>
            <a:ext cx="7884159" cy="1322070"/>
          </a:xfrm>
          <a:prstGeom prst="rect">
            <a:avLst/>
          </a:prstGeom>
        </p:spPr>
        <p:txBody>
          <a:bodyPr vert="horz" wrap="square" lIns="0" tIns="13335" rIns="0" bIns="0" rtlCol="0">
            <a:spAutoFit/>
          </a:bodyPr>
          <a:lstStyle/>
          <a:p>
            <a:pPr marL="354965" indent="-342265">
              <a:lnSpc>
                <a:spcPct val="100000"/>
              </a:lnSpc>
              <a:spcBef>
                <a:spcPts val="105"/>
              </a:spcBef>
              <a:buClr>
                <a:srgbClr val="333940"/>
              </a:buClr>
              <a:buSzPct val="90000"/>
              <a:buFont typeface="Wingdings"/>
              <a:buChar char=""/>
              <a:tabLst>
                <a:tab pos="354965" algn="l"/>
              </a:tabLst>
            </a:pPr>
            <a:r>
              <a:rPr sz="2000" i="1" dirty="0">
                <a:solidFill>
                  <a:srgbClr val="006FC0"/>
                </a:solidFill>
                <a:latin typeface="Calibri"/>
                <a:cs typeface="Calibri"/>
              </a:rPr>
              <a:t>Clustering</a:t>
            </a:r>
            <a:r>
              <a:rPr sz="2000" dirty="0">
                <a:solidFill>
                  <a:srgbClr val="12171A"/>
                </a:solidFill>
                <a:latin typeface="Calibri"/>
                <a:cs typeface="Calibri"/>
              </a:rPr>
              <a:t>:</a:t>
            </a:r>
            <a:r>
              <a:rPr sz="2000" spc="-60" dirty="0">
                <a:solidFill>
                  <a:srgbClr val="12171A"/>
                </a:solidFill>
                <a:latin typeface="Calibri"/>
                <a:cs typeface="Calibri"/>
              </a:rPr>
              <a:t> </a:t>
            </a:r>
            <a:r>
              <a:rPr sz="2000" dirty="0">
                <a:solidFill>
                  <a:srgbClr val="12171A"/>
                </a:solidFill>
                <a:latin typeface="Calibri"/>
                <a:cs typeface="Calibri"/>
              </a:rPr>
              <a:t>the</a:t>
            </a:r>
            <a:r>
              <a:rPr sz="2000" spc="-40" dirty="0">
                <a:solidFill>
                  <a:srgbClr val="12171A"/>
                </a:solidFill>
                <a:latin typeface="Calibri"/>
                <a:cs typeface="Calibri"/>
              </a:rPr>
              <a:t> </a:t>
            </a:r>
            <a:r>
              <a:rPr sz="2000" dirty="0">
                <a:solidFill>
                  <a:srgbClr val="12171A"/>
                </a:solidFill>
                <a:latin typeface="Calibri"/>
                <a:cs typeface="Calibri"/>
              </a:rPr>
              <a:t>task</a:t>
            </a:r>
            <a:r>
              <a:rPr sz="2000" spc="-30" dirty="0">
                <a:solidFill>
                  <a:srgbClr val="12171A"/>
                </a:solidFill>
                <a:latin typeface="Calibri"/>
                <a:cs typeface="Calibri"/>
              </a:rPr>
              <a:t> </a:t>
            </a:r>
            <a:r>
              <a:rPr sz="2000" dirty="0">
                <a:solidFill>
                  <a:srgbClr val="12171A"/>
                </a:solidFill>
                <a:latin typeface="Calibri"/>
                <a:cs typeface="Calibri"/>
              </a:rPr>
              <a:t>of</a:t>
            </a:r>
            <a:r>
              <a:rPr sz="2000" spc="-45" dirty="0">
                <a:solidFill>
                  <a:srgbClr val="12171A"/>
                </a:solidFill>
                <a:latin typeface="Calibri"/>
                <a:cs typeface="Calibri"/>
              </a:rPr>
              <a:t> </a:t>
            </a:r>
            <a:r>
              <a:rPr sz="2000" dirty="0">
                <a:solidFill>
                  <a:srgbClr val="12171A"/>
                </a:solidFill>
                <a:latin typeface="Calibri"/>
                <a:cs typeface="Calibri"/>
              </a:rPr>
              <a:t>identifying</a:t>
            </a:r>
            <a:r>
              <a:rPr sz="2000" spc="-55" dirty="0">
                <a:solidFill>
                  <a:srgbClr val="12171A"/>
                </a:solidFill>
                <a:latin typeface="Calibri"/>
                <a:cs typeface="Calibri"/>
              </a:rPr>
              <a:t> </a:t>
            </a:r>
            <a:r>
              <a:rPr sz="2000" dirty="0">
                <a:solidFill>
                  <a:srgbClr val="12171A"/>
                </a:solidFill>
                <a:latin typeface="Calibri"/>
                <a:cs typeface="Calibri"/>
              </a:rPr>
              <a:t>similar</a:t>
            </a:r>
            <a:r>
              <a:rPr sz="2000" spc="-10" dirty="0">
                <a:solidFill>
                  <a:srgbClr val="12171A"/>
                </a:solidFill>
                <a:latin typeface="Calibri"/>
                <a:cs typeface="Calibri"/>
              </a:rPr>
              <a:t> </a:t>
            </a:r>
            <a:r>
              <a:rPr sz="2000" dirty="0">
                <a:solidFill>
                  <a:srgbClr val="12171A"/>
                </a:solidFill>
                <a:latin typeface="Calibri"/>
                <a:cs typeface="Calibri"/>
              </a:rPr>
              <a:t>instances</a:t>
            </a:r>
            <a:r>
              <a:rPr sz="2000" spc="-30" dirty="0">
                <a:solidFill>
                  <a:srgbClr val="12171A"/>
                </a:solidFill>
                <a:latin typeface="Calibri"/>
                <a:cs typeface="Calibri"/>
              </a:rPr>
              <a:t> </a:t>
            </a:r>
            <a:r>
              <a:rPr sz="2000" dirty="0">
                <a:solidFill>
                  <a:srgbClr val="12171A"/>
                </a:solidFill>
                <a:latin typeface="Calibri"/>
                <a:cs typeface="Calibri"/>
              </a:rPr>
              <a:t>and</a:t>
            </a:r>
            <a:r>
              <a:rPr sz="2000" spc="-50" dirty="0">
                <a:solidFill>
                  <a:srgbClr val="12171A"/>
                </a:solidFill>
                <a:latin typeface="Calibri"/>
                <a:cs typeface="Calibri"/>
              </a:rPr>
              <a:t> </a:t>
            </a:r>
            <a:r>
              <a:rPr sz="2000" dirty="0">
                <a:solidFill>
                  <a:srgbClr val="12171A"/>
                </a:solidFill>
                <a:latin typeface="Calibri"/>
                <a:cs typeface="Calibri"/>
              </a:rPr>
              <a:t>assigning</a:t>
            </a:r>
            <a:r>
              <a:rPr sz="2000" spc="-35" dirty="0">
                <a:solidFill>
                  <a:srgbClr val="12171A"/>
                </a:solidFill>
                <a:latin typeface="Calibri"/>
                <a:cs typeface="Calibri"/>
              </a:rPr>
              <a:t> </a:t>
            </a:r>
            <a:r>
              <a:rPr sz="2000" dirty="0">
                <a:solidFill>
                  <a:srgbClr val="12171A"/>
                </a:solidFill>
                <a:latin typeface="Calibri"/>
                <a:cs typeface="Calibri"/>
              </a:rPr>
              <a:t>them</a:t>
            </a:r>
            <a:r>
              <a:rPr sz="2000" spc="-50" dirty="0">
                <a:solidFill>
                  <a:srgbClr val="12171A"/>
                </a:solidFill>
                <a:latin typeface="Calibri"/>
                <a:cs typeface="Calibri"/>
              </a:rPr>
              <a:t> </a:t>
            </a:r>
            <a:r>
              <a:rPr sz="2000" spc="-25" dirty="0">
                <a:solidFill>
                  <a:srgbClr val="12171A"/>
                </a:solidFill>
                <a:latin typeface="Calibri"/>
                <a:cs typeface="Calibri"/>
              </a:rPr>
              <a:t>to</a:t>
            </a:r>
            <a:endParaRPr sz="2000">
              <a:latin typeface="Calibri"/>
              <a:cs typeface="Calibri"/>
            </a:endParaRPr>
          </a:p>
          <a:p>
            <a:pPr marL="354965">
              <a:lnSpc>
                <a:spcPct val="100000"/>
              </a:lnSpc>
            </a:pPr>
            <a:r>
              <a:rPr sz="2000" i="1" dirty="0">
                <a:solidFill>
                  <a:srgbClr val="006FC0"/>
                </a:solidFill>
                <a:latin typeface="Calibri"/>
                <a:cs typeface="Calibri"/>
              </a:rPr>
              <a:t>clusters</a:t>
            </a:r>
            <a:r>
              <a:rPr sz="2000" dirty="0">
                <a:solidFill>
                  <a:srgbClr val="12171A"/>
                </a:solidFill>
                <a:latin typeface="Calibri"/>
                <a:cs typeface="Calibri"/>
              </a:rPr>
              <a:t>,</a:t>
            </a:r>
            <a:r>
              <a:rPr sz="2000" spc="-40" dirty="0">
                <a:solidFill>
                  <a:srgbClr val="12171A"/>
                </a:solidFill>
                <a:latin typeface="Calibri"/>
                <a:cs typeface="Calibri"/>
              </a:rPr>
              <a:t> </a:t>
            </a:r>
            <a:r>
              <a:rPr sz="2000" dirty="0">
                <a:solidFill>
                  <a:srgbClr val="12171A"/>
                </a:solidFill>
                <a:latin typeface="Calibri"/>
                <a:cs typeface="Calibri"/>
              </a:rPr>
              <a:t>or</a:t>
            </a:r>
            <a:r>
              <a:rPr sz="2000" spc="-40" dirty="0">
                <a:solidFill>
                  <a:srgbClr val="12171A"/>
                </a:solidFill>
                <a:latin typeface="Calibri"/>
                <a:cs typeface="Calibri"/>
              </a:rPr>
              <a:t> </a:t>
            </a:r>
            <a:r>
              <a:rPr sz="2000" dirty="0">
                <a:solidFill>
                  <a:srgbClr val="12171A"/>
                </a:solidFill>
                <a:latin typeface="Calibri"/>
                <a:cs typeface="Calibri"/>
              </a:rPr>
              <a:t>groups</a:t>
            </a:r>
            <a:r>
              <a:rPr sz="2000" spc="-50" dirty="0">
                <a:solidFill>
                  <a:srgbClr val="12171A"/>
                </a:solidFill>
                <a:latin typeface="Calibri"/>
                <a:cs typeface="Calibri"/>
              </a:rPr>
              <a:t> </a:t>
            </a:r>
            <a:r>
              <a:rPr sz="2000" dirty="0">
                <a:solidFill>
                  <a:srgbClr val="12171A"/>
                </a:solidFill>
                <a:latin typeface="Calibri"/>
                <a:cs typeface="Calibri"/>
              </a:rPr>
              <a:t>of</a:t>
            </a:r>
            <a:r>
              <a:rPr sz="2000" spc="-40" dirty="0">
                <a:solidFill>
                  <a:srgbClr val="12171A"/>
                </a:solidFill>
                <a:latin typeface="Calibri"/>
                <a:cs typeface="Calibri"/>
              </a:rPr>
              <a:t> </a:t>
            </a:r>
            <a:r>
              <a:rPr sz="2000" dirty="0">
                <a:solidFill>
                  <a:srgbClr val="12171A"/>
                </a:solidFill>
                <a:latin typeface="Calibri"/>
                <a:cs typeface="Calibri"/>
              </a:rPr>
              <a:t>similar </a:t>
            </a:r>
            <a:r>
              <a:rPr sz="2000" spc="-10" dirty="0">
                <a:solidFill>
                  <a:srgbClr val="12171A"/>
                </a:solidFill>
                <a:latin typeface="Calibri"/>
                <a:cs typeface="Calibri"/>
              </a:rPr>
              <a:t>instances.</a:t>
            </a:r>
            <a:endParaRPr sz="2000">
              <a:latin typeface="Calibri"/>
              <a:cs typeface="Calibri"/>
            </a:endParaRPr>
          </a:p>
          <a:p>
            <a:pPr marL="354965" marR="504190" indent="-342900">
              <a:lnSpc>
                <a:spcPct val="100000"/>
              </a:lnSpc>
              <a:spcBef>
                <a:spcPts val="600"/>
              </a:spcBef>
              <a:buClr>
                <a:srgbClr val="333940"/>
              </a:buClr>
              <a:buSzPct val="90000"/>
              <a:buFont typeface="Wingdings"/>
              <a:buChar char=""/>
              <a:tabLst>
                <a:tab pos="354965" algn="l"/>
              </a:tabLst>
            </a:pPr>
            <a:r>
              <a:rPr sz="2000" dirty="0">
                <a:solidFill>
                  <a:srgbClr val="12171A"/>
                </a:solidFill>
                <a:latin typeface="Calibri"/>
                <a:cs typeface="Calibri"/>
              </a:rPr>
              <a:t>Similar</a:t>
            </a:r>
            <a:r>
              <a:rPr sz="2000" spc="-10" dirty="0">
                <a:solidFill>
                  <a:srgbClr val="12171A"/>
                </a:solidFill>
                <a:latin typeface="Calibri"/>
                <a:cs typeface="Calibri"/>
              </a:rPr>
              <a:t> </a:t>
            </a:r>
            <a:r>
              <a:rPr sz="2000" dirty="0">
                <a:solidFill>
                  <a:srgbClr val="12171A"/>
                </a:solidFill>
                <a:latin typeface="Calibri"/>
                <a:cs typeface="Calibri"/>
              </a:rPr>
              <a:t>to</a:t>
            </a:r>
            <a:r>
              <a:rPr sz="2000" spc="-30" dirty="0">
                <a:solidFill>
                  <a:srgbClr val="12171A"/>
                </a:solidFill>
                <a:latin typeface="Calibri"/>
                <a:cs typeface="Calibri"/>
              </a:rPr>
              <a:t> </a:t>
            </a:r>
            <a:r>
              <a:rPr sz="2000" dirty="0">
                <a:solidFill>
                  <a:srgbClr val="12171A"/>
                </a:solidFill>
                <a:latin typeface="Calibri"/>
                <a:cs typeface="Calibri"/>
              </a:rPr>
              <a:t>classification,</a:t>
            </a:r>
            <a:r>
              <a:rPr sz="2000" spc="-5" dirty="0">
                <a:solidFill>
                  <a:srgbClr val="12171A"/>
                </a:solidFill>
                <a:latin typeface="Calibri"/>
                <a:cs typeface="Calibri"/>
              </a:rPr>
              <a:t> </a:t>
            </a:r>
            <a:r>
              <a:rPr sz="2000" dirty="0">
                <a:solidFill>
                  <a:srgbClr val="12171A"/>
                </a:solidFill>
                <a:latin typeface="Calibri"/>
                <a:cs typeface="Calibri"/>
              </a:rPr>
              <a:t>each</a:t>
            </a:r>
            <a:r>
              <a:rPr sz="2000" spc="-30" dirty="0">
                <a:solidFill>
                  <a:srgbClr val="12171A"/>
                </a:solidFill>
                <a:latin typeface="Calibri"/>
                <a:cs typeface="Calibri"/>
              </a:rPr>
              <a:t> </a:t>
            </a:r>
            <a:r>
              <a:rPr sz="2000" dirty="0">
                <a:solidFill>
                  <a:srgbClr val="12171A"/>
                </a:solidFill>
                <a:latin typeface="Calibri"/>
                <a:cs typeface="Calibri"/>
              </a:rPr>
              <a:t>instance</a:t>
            </a:r>
            <a:r>
              <a:rPr sz="2000" spc="-35" dirty="0">
                <a:solidFill>
                  <a:srgbClr val="12171A"/>
                </a:solidFill>
                <a:latin typeface="Calibri"/>
                <a:cs typeface="Calibri"/>
              </a:rPr>
              <a:t> </a:t>
            </a:r>
            <a:r>
              <a:rPr sz="2000" dirty="0">
                <a:solidFill>
                  <a:srgbClr val="12171A"/>
                </a:solidFill>
                <a:latin typeface="Calibri"/>
                <a:cs typeface="Calibri"/>
              </a:rPr>
              <a:t>gets</a:t>
            </a:r>
            <a:r>
              <a:rPr sz="2000" spc="-30" dirty="0">
                <a:solidFill>
                  <a:srgbClr val="12171A"/>
                </a:solidFill>
                <a:latin typeface="Calibri"/>
                <a:cs typeface="Calibri"/>
              </a:rPr>
              <a:t> </a:t>
            </a:r>
            <a:r>
              <a:rPr sz="2000" dirty="0">
                <a:solidFill>
                  <a:srgbClr val="12171A"/>
                </a:solidFill>
                <a:latin typeface="Calibri"/>
                <a:cs typeface="Calibri"/>
              </a:rPr>
              <a:t>assigned</a:t>
            </a:r>
            <a:r>
              <a:rPr sz="2000" spc="-30" dirty="0">
                <a:solidFill>
                  <a:srgbClr val="12171A"/>
                </a:solidFill>
                <a:latin typeface="Calibri"/>
                <a:cs typeface="Calibri"/>
              </a:rPr>
              <a:t> </a:t>
            </a:r>
            <a:r>
              <a:rPr sz="2000" dirty="0">
                <a:solidFill>
                  <a:srgbClr val="12171A"/>
                </a:solidFill>
                <a:latin typeface="Calibri"/>
                <a:cs typeface="Calibri"/>
              </a:rPr>
              <a:t>to</a:t>
            </a:r>
            <a:r>
              <a:rPr sz="2000" spc="-40" dirty="0">
                <a:solidFill>
                  <a:srgbClr val="12171A"/>
                </a:solidFill>
                <a:latin typeface="Calibri"/>
                <a:cs typeface="Calibri"/>
              </a:rPr>
              <a:t> </a:t>
            </a:r>
            <a:r>
              <a:rPr sz="2000" dirty="0">
                <a:solidFill>
                  <a:srgbClr val="12171A"/>
                </a:solidFill>
                <a:latin typeface="Calibri"/>
                <a:cs typeface="Calibri"/>
              </a:rPr>
              <a:t>a</a:t>
            </a:r>
            <a:r>
              <a:rPr sz="2000" spc="-35" dirty="0">
                <a:solidFill>
                  <a:srgbClr val="12171A"/>
                </a:solidFill>
                <a:latin typeface="Calibri"/>
                <a:cs typeface="Calibri"/>
              </a:rPr>
              <a:t> </a:t>
            </a:r>
            <a:r>
              <a:rPr sz="2000" dirty="0">
                <a:solidFill>
                  <a:srgbClr val="12171A"/>
                </a:solidFill>
                <a:latin typeface="Calibri"/>
                <a:cs typeface="Calibri"/>
              </a:rPr>
              <a:t>group.</a:t>
            </a:r>
            <a:r>
              <a:rPr sz="2000" spc="-65" dirty="0">
                <a:solidFill>
                  <a:srgbClr val="12171A"/>
                </a:solidFill>
                <a:latin typeface="Calibri"/>
                <a:cs typeface="Calibri"/>
              </a:rPr>
              <a:t> </a:t>
            </a:r>
            <a:r>
              <a:rPr sz="2000" spc="-20" dirty="0">
                <a:solidFill>
                  <a:srgbClr val="12171A"/>
                </a:solidFill>
                <a:latin typeface="Calibri"/>
                <a:cs typeface="Calibri"/>
              </a:rPr>
              <a:t>But, </a:t>
            </a:r>
            <a:r>
              <a:rPr sz="2000" dirty="0">
                <a:solidFill>
                  <a:srgbClr val="12171A"/>
                </a:solidFill>
                <a:latin typeface="Calibri"/>
                <a:cs typeface="Calibri"/>
              </a:rPr>
              <a:t>unlike</a:t>
            </a:r>
            <a:r>
              <a:rPr sz="2000" spc="-50" dirty="0">
                <a:solidFill>
                  <a:srgbClr val="12171A"/>
                </a:solidFill>
                <a:latin typeface="Calibri"/>
                <a:cs typeface="Calibri"/>
              </a:rPr>
              <a:t> </a:t>
            </a:r>
            <a:r>
              <a:rPr sz="2000" dirty="0">
                <a:solidFill>
                  <a:srgbClr val="12171A"/>
                </a:solidFill>
                <a:latin typeface="Calibri"/>
                <a:cs typeface="Calibri"/>
              </a:rPr>
              <a:t>classification,</a:t>
            </a:r>
            <a:r>
              <a:rPr sz="2000" spc="-25" dirty="0">
                <a:solidFill>
                  <a:srgbClr val="12171A"/>
                </a:solidFill>
                <a:latin typeface="Calibri"/>
                <a:cs typeface="Calibri"/>
              </a:rPr>
              <a:t> </a:t>
            </a:r>
            <a:r>
              <a:rPr sz="2000" dirty="0">
                <a:solidFill>
                  <a:srgbClr val="12171A"/>
                </a:solidFill>
                <a:latin typeface="Calibri"/>
                <a:cs typeface="Calibri"/>
              </a:rPr>
              <a:t>clustering</a:t>
            </a:r>
            <a:r>
              <a:rPr sz="2000" spc="-45" dirty="0">
                <a:solidFill>
                  <a:srgbClr val="12171A"/>
                </a:solidFill>
                <a:latin typeface="Calibri"/>
                <a:cs typeface="Calibri"/>
              </a:rPr>
              <a:t> </a:t>
            </a:r>
            <a:r>
              <a:rPr sz="2000" dirty="0">
                <a:solidFill>
                  <a:srgbClr val="12171A"/>
                </a:solidFill>
                <a:latin typeface="Calibri"/>
                <a:cs typeface="Calibri"/>
              </a:rPr>
              <a:t>is</a:t>
            </a:r>
            <a:r>
              <a:rPr sz="2000" spc="-45" dirty="0">
                <a:solidFill>
                  <a:srgbClr val="12171A"/>
                </a:solidFill>
                <a:latin typeface="Calibri"/>
                <a:cs typeface="Calibri"/>
              </a:rPr>
              <a:t> </a:t>
            </a:r>
            <a:r>
              <a:rPr sz="2000" dirty="0">
                <a:solidFill>
                  <a:srgbClr val="12171A"/>
                </a:solidFill>
                <a:latin typeface="Calibri"/>
                <a:cs typeface="Calibri"/>
              </a:rPr>
              <a:t>an</a:t>
            </a:r>
            <a:r>
              <a:rPr sz="2000" spc="-55" dirty="0">
                <a:solidFill>
                  <a:srgbClr val="12171A"/>
                </a:solidFill>
                <a:latin typeface="Calibri"/>
                <a:cs typeface="Calibri"/>
              </a:rPr>
              <a:t> </a:t>
            </a:r>
            <a:r>
              <a:rPr sz="2000" dirty="0">
                <a:solidFill>
                  <a:srgbClr val="12171A"/>
                </a:solidFill>
                <a:latin typeface="Calibri"/>
                <a:cs typeface="Calibri"/>
              </a:rPr>
              <a:t>unsupervised</a:t>
            </a:r>
            <a:r>
              <a:rPr sz="2000" spc="-50" dirty="0">
                <a:solidFill>
                  <a:srgbClr val="12171A"/>
                </a:solidFill>
                <a:latin typeface="Calibri"/>
                <a:cs typeface="Calibri"/>
              </a:rPr>
              <a:t> </a:t>
            </a:r>
            <a:r>
              <a:rPr sz="2000" spc="-10" dirty="0">
                <a:solidFill>
                  <a:srgbClr val="12171A"/>
                </a:solidFill>
                <a:latin typeface="Calibri"/>
                <a:cs typeface="Calibri"/>
              </a:rPr>
              <a:t>task.</a:t>
            </a:r>
            <a:endParaRPr sz="2000">
              <a:latin typeface="Calibri"/>
              <a:cs typeface="Calibri"/>
            </a:endParaRPr>
          </a:p>
        </p:txBody>
      </p:sp>
      <p:pic>
        <p:nvPicPr>
          <p:cNvPr id="4" name="object 4"/>
          <p:cNvPicPr/>
          <p:nvPr/>
        </p:nvPicPr>
        <p:blipFill>
          <a:blip r:embed="rId2" cstate="print"/>
          <a:stretch>
            <a:fillRect/>
          </a:stretch>
        </p:blipFill>
        <p:spPr>
          <a:xfrm>
            <a:off x="1594206" y="2833203"/>
            <a:ext cx="5678223" cy="2035882"/>
          </a:xfrm>
          <a:prstGeom prst="rect">
            <a:avLst/>
          </a:prstGeom>
        </p:spPr>
      </p:pic>
      <p:sp>
        <p:nvSpPr>
          <p:cNvPr id="5" name="object 5"/>
          <p:cNvSpPr txBox="1">
            <a:spLocks noGrp="1"/>
          </p:cNvSpPr>
          <p:nvPr>
            <p:ph type="sldNum" sz="quarter" idx="7"/>
          </p:nvPr>
        </p:nvSpPr>
        <p:spPr>
          <a:prstGeom prst="rect">
            <a:avLst/>
          </a:prstGeom>
        </p:spPr>
        <p:txBody>
          <a:bodyPr vert="horz" wrap="square" lIns="0" tIns="10160" rIns="0" bIns="0" rtlCol="0">
            <a:spAutoFit/>
          </a:bodyPr>
          <a:lstStyle/>
          <a:p>
            <a:pPr marL="133985">
              <a:lnSpc>
                <a:spcPct val="100000"/>
              </a:lnSpc>
              <a:spcBef>
                <a:spcPts val="80"/>
              </a:spcBef>
            </a:pPr>
            <a:fld id="{81D60167-4931-47E6-BA6A-407CBD079E47}" type="slidenum">
              <a:rPr spc="-50" dirty="0"/>
              <a:t>39</a:t>
            </a:fld>
            <a:endParaRPr spc="-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50165">
              <a:lnSpc>
                <a:spcPct val="100000"/>
              </a:lnSpc>
              <a:spcBef>
                <a:spcPts val="105"/>
              </a:spcBef>
            </a:pPr>
            <a:r>
              <a:rPr dirty="0"/>
              <a:t>Applications</a:t>
            </a:r>
            <a:r>
              <a:rPr spc="-60" dirty="0"/>
              <a:t> </a:t>
            </a:r>
            <a:r>
              <a:rPr dirty="0"/>
              <a:t>of</a:t>
            </a:r>
            <a:r>
              <a:rPr spc="-25" dirty="0"/>
              <a:t> </a:t>
            </a:r>
            <a:r>
              <a:rPr spc="-10" dirty="0"/>
              <a:t>Clustering</a:t>
            </a:r>
          </a:p>
        </p:txBody>
      </p:sp>
      <p:sp>
        <p:nvSpPr>
          <p:cNvPr id="4" name="object 4"/>
          <p:cNvSpPr txBox="1">
            <a:spLocks noGrp="1"/>
          </p:cNvSpPr>
          <p:nvPr>
            <p:ph type="sldNum" sz="quarter" idx="7"/>
          </p:nvPr>
        </p:nvSpPr>
        <p:spPr>
          <a:prstGeom prst="rect">
            <a:avLst/>
          </a:prstGeom>
        </p:spPr>
        <p:txBody>
          <a:bodyPr vert="horz" wrap="square" lIns="0" tIns="10160" rIns="0" bIns="0" rtlCol="0">
            <a:spAutoFit/>
          </a:bodyPr>
          <a:lstStyle/>
          <a:p>
            <a:pPr marL="133985">
              <a:lnSpc>
                <a:spcPct val="100000"/>
              </a:lnSpc>
              <a:spcBef>
                <a:spcPts val="80"/>
              </a:spcBef>
            </a:pPr>
            <a:fld id="{81D60167-4931-47E6-BA6A-407CBD079E47}" type="slidenum">
              <a:rPr spc="-50" dirty="0"/>
              <a:t>40</a:t>
            </a:fld>
            <a:endParaRPr spc="-50" dirty="0"/>
          </a:p>
        </p:txBody>
      </p:sp>
      <p:sp>
        <p:nvSpPr>
          <p:cNvPr id="3" name="object 3"/>
          <p:cNvSpPr txBox="1"/>
          <p:nvPr/>
        </p:nvSpPr>
        <p:spPr>
          <a:xfrm>
            <a:off x="744423" y="1226946"/>
            <a:ext cx="7835265" cy="3475990"/>
          </a:xfrm>
          <a:prstGeom prst="rect">
            <a:avLst/>
          </a:prstGeom>
        </p:spPr>
        <p:txBody>
          <a:bodyPr vert="horz" wrap="square" lIns="0" tIns="13335" rIns="0" bIns="0" rtlCol="0">
            <a:spAutoFit/>
          </a:bodyPr>
          <a:lstStyle/>
          <a:p>
            <a:pPr marL="355600" marR="6350" indent="-342900">
              <a:lnSpc>
                <a:spcPct val="100000"/>
              </a:lnSpc>
              <a:spcBef>
                <a:spcPts val="105"/>
              </a:spcBef>
              <a:buClr>
                <a:srgbClr val="333940"/>
              </a:buClr>
              <a:buSzPct val="90000"/>
              <a:buFont typeface="Wingdings"/>
              <a:buChar char=""/>
              <a:tabLst>
                <a:tab pos="355600" algn="l"/>
              </a:tabLst>
            </a:pPr>
            <a:r>
              <a:rPr sz="2000" i="1" dirty="0">
                <a:solidFill>
                  <a:srgbClr val="00AF50"/>
                </a:solidFill>
                <a:latin typeface="Calibri"/>
                <a:cs typeface="Calibri"/>
              </a:rPr>
              <a:t>Customer</a:t>
            </a:r>
            <a:r>
              <a:rPr sz="2000" i="1" spc="340" dirty="0">
                <a:solidFill>
                  <a:srgbClr val="00AF50"/>
                </a:solidFill>
                <a:latin typeface="Calibri"/>
                <a:cs typeface="Calibri"/>
              </a:rPr>
              <a:t> </a:t>
            </a:r>
            <a:r>
              <a:rPr sz="2000" i="1" dirty="0">
                <a:solidFill>
                  <a:srgbClr val="00AF50"/>
                </a:solidFill>
                <a:latin typeface="Calibri"/>
                <a:cs typeface="Calibri"/>
              </a:rPr>
              <a:t>segmentation</a:t>
            </a:r>
            <a:r>
              <a:rPr sz="2000" i="1" dirty="0">
                <a:solidFill>
                  <a:srgbClr val="12171A"/>
                </a:solidFill>
                <a:latin typeface="Calibri"/>
                <a:cs typeface="Calibri"/>
              </a:rPr>
              <a:t>:</a:t>
            </a:r>
            <a:r>
              <a:rPr sz="2000" i="1" spc="345" dirty="0">
                <a:solidFill>
                  <a:srgbClr val="12171A"/>
                </a:solidFill>
                <a:latin typeface="Calibri"/>
                <a:cs typeface="Calibri"/>
              </a:rPr>
              <a:t> </a:t>
            </a:r>
            <a:r>
              <a:rPr sz="2000" dirty="0">
                <a:solidFill>
                  <a:srgbClr val="12171A"/>
                </a:solidFill>
                <a:latin typeface="Calibri"/>
                <a:cs typeface="Calibri"/>
              </a:rPr>
              <a:t>cluster</a:t>
            </a:r>
            <a:r>
              <a:rPr sz="2000" spc="360" dirty="0">
                <a:solidFill>
                  <a:srgbClr val="12171A"/>
                </a:solidFill>
                <a:latin typeface="Calibri"/>
                <a:cs typeface="Calibri"/>
              </a:rPr>
              <a:t> </a:t>
            </a:r>
            <a:r>
              <a:rPr sz="2000" dirty="0">
                <a:solidFill>
                  <a:srgbClr val="12171A"/>
                </a:solidFill>
                <a:latin typeface="Calibri"/>
                <a:cs typeface="Calibri"/>
              </a:rPr>
              <a:t>customers</a:t>
            </a:r>
            <a:r>
              <a:rPr sz="2000" spc="355" dirty="0">
                <a:solidFill>
                  <a:srgbClr val="12171A"/>
                </a:solidFill>
                <a:latin typeface="Calibri"/>
                <a:cs typeface="Calibri"/>
              </a:rPr>
              <a:t> </a:t>
            </a:r>
            <a:r>
              <a:rPr sz="2000" dirty="0">
                <a:solidFill>
                  <a:srgbClr val="12171A"/>
                </a:solidFill>
                <a:latin typeface="Calibri"/>
                <a:cs typeface="Calibri"/>
              </a:rPr>
              <a:t>based</a:t>
            </a:r>
            <a:r>
              <a:rPr sz="2000" spc="365" dirty="0">
                <a:solidFill>
                  <a:srgbClr val="12171A"/>
                </a:solidFill>
                <a:latin typeface="Calibri"/>
                <a:cs typeface="Calibri"/>
              </a:rPr>
              <a:t> </a:t>
            </a:r>
            <a:r>
              <a:rPr sz="2000" dirty="0">
                <a:solidFill>
                  <a:srgbClr val="12171A"/>
                </a:solidFill>
                <a:latin typeface="Calibri"/>
                <a:cs typeface="Calibri"/>
              </a:rPr>
              <a:t>on</a:t>
            </a:r>
            <a:r>
              <a:rPr sz="2000" spc="360" dirty="0">
                <a:solidFill>
                  <a:srgbClr val="12171A"/>
                </a:solidFill>
                <a:latin typeface="Calibri"/>
                <a:cs typeface="Calibri"/>
              </a:rPr>
              <a:t> </a:t>
            </a:r>
            <a:r>
              <a:rPr sz="2000" dirty="0">
                <a:solidFill>
                  <a:srgbClr val="12171A"/>
                </a:solidFill>
                <a:latin typeface="Calibri"/>
                <a:cs typeface="Calibri"/>
              </a:rPr>
              <a:t>their</a:t>
            </a:r>
            <a:r>
              <a:rPr sz="2000" spc="355" dirty="0">
                <a:solidFill>
                  <a:srgbClr val="12171A"/>
                </a:solidFill>
                <a:latin typeface="Calibri"/>
                <a:cs typeface="Calibri"/>
              </a:rPr>
              <a:t> </a:t>
            </a:r>
            <a:r>
              <a:rPr sz="2000" dirty="0">
                <a:solidFill>
                  <a:srgbClr val="12171A"/>
                </a:solidFill>
                <a:latin typeface="Calibri"/>
                <a:cs typeface="Calibri"/>
              </a:rPr>
              <a:t>activity</a:t>
            </a:r>
            <a:r>
              <a:rPr sz="2000" spc="355" dirty="0">
                <a:solidFill>
                  <a:srgbClr val="12171A"/>
                </a:solidFill>
                <a:latin typeface="Calibri"/>
                <a:cs typeface="Calibri"/>
              </a:rPr>
              <a:t> </a:t>
            </a:r>
            <a:r>
              <a:rPr sz="2000" spc="-25" dirty="0">
                <a:solidFill>
                  <a:srgbClr val="12171A"/>
                </a:solidFill>
                <a:latin typeface="Calibri"/>
                <a:cs typeface="Calibri"/>
              </a:rPr>
              <a:t>to </a:t>
            </a:r>
            <a:r>
              <a:rPr sz="2000" dirty="0">
                <a:solidFill>
                  <a:srgbClr val="12171A"/>
                </a:solidFill>
                <a:latin typeface="Calibri"/>
                <a:cs typeface="Calibri"/>
              </a:rPr>
              <a:t>adapt</a:t>
            </a:r>
            <a:r>
              <a:rPr sz="2000" spc="-40" dirty="0">
                <a:solidFill>
                  <a:srgbClr val="12171A"/>
                </a:solidFill>
                <a:latin typeface="Calibri"/>
                <a:cs typeface="Calibri"/>
              </a:rPr>
              <a:t> </a:t>
            </a:r>
            <a:r>
              <a:rPr sz="2000" dirty="0">
                <a:solidFill>
                  <a:srgbClr val="12171A"/>
                </a:solidFill>
                <a:latin typeface="Calibri"/>
                <a:cs typeface="Calibri"/>
              </a:rPr>
              <a:t>your</a:t>
            </a:r>
            <a:r>
              <a:rPr sz="2000" spc="-50" dirty="0">
                <a:solidFill>
                  <a:srgbClr val="12171A"/>
                </a:solidFill>
                <a:latin typeface="Calibri"/>
                <a:cs typeface="Calibri"/>
              </a:rPr>
              <a:t> </a:t>
            </a:r>
            <a:r>
              <a:rPr sz="2000" dirty="0">
                <a:solidFill>
                  <a:srgbClr val="12171A"/>
                </a:solidFill>
                <a:latin typeface="Calibri"/>
                <a:cs typeface="Calibri"/>
              </a:rPr>
              <a:t>products</a:t>
            </a:r>
            <a:r>
              <a:rPr sz="2000" spc="-40" dirty="0">
                <a:solidFill>
                  <a:srgbClr val="12171A"/>
                </a:solidFill>
                <a:latin typeface="Calibri"/>
                <a:cs typeface="Calibri"/>
              </a:rPr>
              <a:t> </a:t>
            </a:r>
            <a:r>
              <a:rPr sz="2000" dirty="0">
                <a:solidFill>
                  <a:srgbClr val="12171A"/>
                </a:solidFill>
                <a:latin typeface="Calibri"/>
                <a:cs typeface="Calibri"/>
              </a:rPr>
              <a:t>and</a:t>
            </a:r>
            <a:r>
              <a:rPr sz="2000" spc="-45" dirty="0">
                <a:solidFill>
                  <a:srgbClr val="12171A"/>
                </a:solidFill>
                <a:latin typeface="Calibri"/>
                <a:cs typeface="Calibri"/>
              </a:rPr>
              <a:t> </a:t>
            </a:r>
            <a:r>
              <a:rPr sz="2000" dirty="0">
                <a:solidFill>
                  <a:srgbClr val="12171A"/>
                </a:solidFill>
                <a:latin typeface="Calibri"/>
                <a:cs typeface="Calibri"/>
              </a:rPr>
              <a:t>marketing</a:t>
            </a:r>
            <a:r>
              <a:rPr sz="2000" spc="-25" dirty="0">
                <a:solidFill>
                  <a:srgbClr val="12171A"/>
                </a:solidFill>
                <a:latin typeface="Calibri"/>
                <a:cs typeface="Calibri"/>
              </a:rPr>
              <a:t> </a:t>
            </a:r>
            <a:r>
              <a:rPr sz="2000" dirty="0">
                <a:solidFill>
                  <a:srgbClr val="12171A"/>
                </a:solidFill>
                <a:latin typeface="Calibri"/>
                <a:cs typeface="Calibri"/>
              </a:rPr>
              <a:t>campaigns</a:t>
            </a:r>
            <a:r>
              <a:rPr sz="2000" spc="-30" dirty="0">
                <a:solidFill>
                  <a:srgbClr val="12171A"/>
                </a:solidFill>
                <a:latin typeface="Calibri"/>
                <a:cs typeface="Calibri"/>
              </a:rPr>
              <a:t> </a:t>
            </a:r>
            <a:r>
              <a:rPr sz="2000" dirty="0">
                <a:solidFill>
                  <a:srgbClr val="12171A"/>
                </a:solidFill>
                <a:latin typeface="Calibri"/>
                <a:cs typeface="Calibri"/>
              </a:rPr>
              <a:t>to</a:t>
            </a:r>
            <a:r>
              <a:rPr sz="2000" spc="-40" dirty="0">
                <a:solidFill>
                  <a:srgbClr val="12171A"/>
                </a:solidFill>
                <a:latin typeface="Calibri"/>
                <a:cs typeface="Calibri"/>
              </a:rPr>
              <a:t> </a:t>
            </a:r>
            <a:r>
              <a:rPr sz="2000" dirty="0">
                <a:solidFill>
                  <a:srgbClr val="12171A"/>
                </a:solidFill>
                <a:latin typeface="Calibri"/>
                <a:cs typeface="Calibri"/>
              </a:rPr>
              <a:t>each</a:t>
            </a:r>
            <a:r>
              <a:rPr sz="2000" spc="-35" dirty="0">
                <a:solidFill>
                  <a:srgbClr val="12171A"/>
                </a:solidFill>
                <a:latin typeface="Calibri"/>
                <a:cs typeface="Calibri"/>
              </a:rPr>
              <a:t> </a:t>
            </a:r>
            <a:r>
              <a:rPr sz="2000" spc="-10" dirty="0">
                <a:solidFill>
                  <a:srgbClr val="12171A"/>
                </a:solidFill>
                <a:latin typeface="Calibri"/>
                <a:cs typeface="Calibri"/>
              </a:rPr>
              <a:t>segment.</a:t>
            </a:r>
            <a:endParaRPr sz="2000">
              <a:latin typeface="Calibri"/>
              <a:cs typeface="Calibri"/>
            </a:endParaRPr>
          </a:p>
          <a:p>
            <a:pPr marL="354965" indent="-342265">
              <a:lnSpc>
                <a:spcPct val="100000"/>
              </a:lnSpc>
              <a:spcBef>
                <a:spcPts val="190"/>
              </a:spcBef>
              <a:buClr>
                <a:srgbClr val="333940"/>
              </a:buClr>
              <a:buSzPct val="90000"/>
              <a:buFont typeface="Wingdings"/>
              <a:buChar char=""/>
              <a:tabLst>
                <a:tab pos="354965" algn="l"/>
              </a:tabLst>
            </a:pPr>
            <a:r>
              <a:rPr sz="2000" i="1" dirty="0">
                <a:solidFill>
                  <a:srgbClr val="00AF50"/>
                </a:solidFill>
                <a:latin typeface="Calibri"/>
                <a:cs typeface="Calibri"/>
              </a:rPr>
              <a:t>Data</a:t>
            </a:r>
            <a:r>
              <a:rPr sz="2000" i="1" spc="50" dirty="0">
                <a:solidFill>
                  <a:srgbClr val="00AF50"/>
                </a:solidFill>
                <a:latin typeface="Calibri"/>
                <a:cs typeface="Calibri"/>
              </a:rPr>
              <a:t> </a:t>
            </a:r>
            <a:r>
              <a:rPr sz="2000" i="1" dirty="0">
                <a:solidFill>
                  <a:srgbClr val="00AF50"/>
                </a:solidFill>
                <a:latin typeface="Calibri"/>
                <a:cs typeface="Calibri"/>
              </a:rPr>
              <a:t>analysis</a:t>
            </a:r>
            <a:r>
              <a:rPr sz="2000" i="1" dirty="0">
                <a:solidFill>
                  <a:srgbClr val="12171A"/>
                </a:solidFill>
                <a:latin typeface="Calibri"/>
                <a:cs typeface="Calibri"/>
              </a:rPr>
              <a:t>:</a:t>
            </a:r>
            <a:r>
              <a:rPr sz="2000" i="1" spc="40" dirty="0">
                <a:solidFill>
                  <a:srgbClr val="12171A"/>
                </a:solidFill>
                <a:latin typeface="Calibri"/>
                <a:cs typeface="Calibri"/>
              </a:rPr>
              <a:t> </a:t>
            </a:r>
            <a:r>
              <a:rPr sz="2000" dirty="0">
                <a:solidFill>
                  <a:srgbClr val="12171A"/>
                </a:solidFill>
                <a:latin typeface="Calibri"/>
                <a:cs typeface="Calibri"/>
              </a:rPr>
              <a:t>when</a:t>
            </a:r>
            <a:r>
              <a:rPr sz="2000" spc="45" dirty="0">
                <a:solidFill>
                  <a:srgbClr val="12171A"/>
                </a:solidFill>
                <a:latin typeface="Calibri"/>
                <a:cs typeface="Calibri"/>
              </a:rPr>
              <a:t> </a:t>
            </a:r>
            <a:r>
              <a:rPr sz="2000" dirty="0">
                <a:solidFill>
                  <a:srgbClr val="12171A"/>
                </a:solidFill>
                <a:latin typeface="Calibri"/>
                <a:cs typeface="Calibri"/>
              </a:rPr>
              <a:t>you</a:t>
            </a:r>
            <a:r>
              <a:rPr sz="2000" spc="50" dirty="0">
                <a:solidFill>
                  <a:srgbClr val="12171A"/>
                </a:solidFill>
                <a:latin typeface="Calibri"/>
                <a:cs typeface="Calibri"/>
              </a:rPr>
              <a:t> </a:t>
            </a:r>
            <a:r>
              <a:rPr sz="2000" dirty="0">
                <a:solidFill>
                  <a:srgbClr val="12171A"/>
                </a:solidFill>
                <a:latin typeface="Calibri"/>
                <a:cs typeface="Calibri"/>
              </a:rPr>
              <a:t>analyze</a:t>
            </a:r>
            <a:r>
              <a:rPr sz="2000" spc="50" dirty="0">
                <a:solidFill>
                  <a:srgbClr val="12171A"/>
                </a:solidFill>
                <a:latin typeface="Calibri"/>
                <a:cs typeface="Calibri"/>
              </a:rPr>
              <a:t> </a:t>
            </a:r>
            <a:r>
              <a:rPr sz="2000" dirty="0">
                <a:solidFill>
                  <a:srgbClr val="12171A"/>
                </a:solidFill>
                <a:latin typeface="Calibri"/>
                <a:cs typeface="Calibri"/>
              </a:rPr>
              <a:t>a</a:t>
            </a:r>
            <a:r>
              <a:rPr sz="2000" spc="45" dirty="0">
                <a:solidFill>
                  <a:srgbClr val="12171A"/>
                </a:solidFill>
                <a:latin typeface="Calibri"/>
                <a:cs typeface="Calibri"/>
              </a:rPr>
              <a:t> </a:t>
            </a:r>
            <a:r>
              <a:rPr sz="2000" dirty="0">
                <a:solidFill>
                  <a:srgbClr val="12171A"/>
                </a:solidFill>
                <a:latin typeface="Calibri"/>
                <a:cs typeface="Calibri"/>
              </a:rPr>
              <a:t>new</a:t>
            </a:r>
            <a:r>
              <a:rPr sz="2000" spc="35" dirty="0">
                <a:solidFill>
                  <a:srgbClr val="12171A"/>
                </a:solidFill>
                <a:latin typeface="Calibri"/>
                <a:cs typeface="Calibri"/>
              </a:rPr>
              <a:t> </a:t>
            </a:r>
            <a:r>
              <a:rPr sz="2000" dirty="0">
                <a:solidFill>
                  <a:srgbClr val="12171A"/>
                </a:solidFill>
                <a:latin typeface="Calibri"/>
                <a:cs typeface="Calibri"/>
              </a:rPr>
              <a:t>dataset,</a:t>
            </a:r>
            <a:r>
              <a:rPr sz="2000" spc="60" dirty="0">
                <a:solidFill>
                  <a:srgbClr val="12171A"/>
                </a:solidFill>
                <a:latin typeface="Calibri"/>
                <a:cs typeface="Calibri"/>
              </a:rPr>
              <a:t> </a:t>
            </a:r>
            <a:r>
              <a:rPr sz="2000" dirty="0">
                <a:solidFill>
                  <a:srgbClr val="12171A"/>
                </a:solidFill>
                <a:latin typeface="Calibri"/>
                <a:cs typeface="Calibri"/>
              </a:rPr>
              <a:t>it</a:t>
            </a:r>
            <a:r>
              <a:rPr sz="2000" spc="55" dirty="0">
                <a:solidFill>
                  <a:srgbClr val="12171A"/>
                </a:solidFill>
                <a:latin typeface="Calibri"/>
                <a:cs typeface="Calibri"/>
              </a:rPr>
              <a:t> </a:t>
            </a:r>
            <a:r>
              <a:rPr sz="2000" dirty="0">
                <a:solidFill>
                  <a:srgbClr val="12171A"/>
                </a:solidFill>
                <a:latin typeface="Calibri"/>
                <a:cs typeface="Calibri"/>
              </a:rPr>
              <a:t>can</a:t>
            </a:r>
            <a:r>
              <a:rPr sz="2000" spc="50" dirty="0">
                <a:solidFill>
                  <a:srgbClr val="12171A"/>
                </a:solidFill>
                <a:latin typeface="Calibri"/>
                <a:cs typeface="Calibri"/>
              </a:rPr>
              <a:t> </a:t>
            </a:r>
            <a:r>
              <a:rPr sz="2000" dirty="0">
                <a:solidFill>
                  <a:srgbClr val="12171A"/>
                </a:solidFill>
                <a:latin typeface="Calibri"/>
                <a:cs typeface="Calibri"/>
              </a:rPr>
              <a:t>be</a:t>
            </a:r>
            <a:r>
              <a:rPr sz="2000" spc="50" dirty="0">
                <a:solidFill>
                  <a:srgbClr val="12171A"/>
                </a:solidFill>
                <a:latin typeface="Calibri"/>
                <a:cs typeface="Calibri"/>
              </a:rPr>
              <a:t> </a:t>
            </a:r>
            <a:r>
              <a:rPr sz="2000" dirty="0">
                <a:solidFill>
                  <a:srgbClr val="12171A"/>
                </a:solidFill>
                <a:latin typeface="Calibri"/>
                <a:cs typeface="Calibri"/>
              </a:rPr>
              <a:t>helpful</a:t>
            </a:r>
            <a:r>
              <a:rPr sz="2000" spc="40" dirty="0">
                <a:solidFill>
                  <a:srgbClr val="12171A"/>
                </a:solidFill>
                <a:latin typeface="Calibri"/>
                <a:cs typeface="Calibri"/>
              </a:rPr>
              <a:t> </a:t>
            </a:r>
            <a:r>
              <a:rPr sz="2000" dirty="0">
                <a:solidFill>
                  <a:srgbClr val="12171A"/>
                </a:solidFill>
                <a:latin typeface="Calibri"/>
                <a:cs typeface="Calibri"/>
              </a:rPr>
              <a:t>to</a:t>
            </a:r>
            <a:r>
              <a:rPr sz="2000" spc="50" dirty="0">
                <a:solidFill>
                  <a:srgbClr val="12171A"/>
                </a:solidFill>
                <a:latin typeface="Calibri"/>
                <a:cs typeface="Calibri"/>
              </a:rPr>
              <a:t> </a:t>
            </a:r>
            <a:r>
              <a:rPr sz="2000" spc="-25" dirty="0">
                <a:solidFill>
                  <a:srgbClr val="12171A"/>
                </a:solidFill>
                <a:latin typeface="Calibri"/>
                <a:cs typeface="Calibri"/>
              </a:rPr>
              <a:t>run</a:t>
            </a:r>
            <a:endParaRPr sz="2000">
              <a:latin typeface="Calibri"/>
              <a:cs typeface="Calibri"/>
            </a:endParaRPr>
          </a:p>
          <a:p>
            <a:pPr marL="355600">
              <a:lnSpc>
                <a:spcPct val="100000"/>
              </a:lnSpc>
            </a:pPr>
            <a:r>
              <a:rPr sz="2000" dirty="0">
                <a:solidFill>
                  <a:srgbClr val="12171A"/>
                </a:solidFill>
                <a:latin typeface="Calibri"/>
                <a:cs typeface="Calibri"/>
              </a:rPr>
              <a:t>a</a:t>
            </a:r>
            <a:r>
              <a:rPr sz="2000" spc="-35" dirty="0">
                <a:solidFill>
                  <a:srgbClr val="12171A"/>
                </a:solidFill>
                <a:latin typeface="Calibri"/>
                <a:cs typeface="Calibri"/>
              </a:rPr>
              <a:t> </a:t>
            </a:r>
            <a:r>
              <a:rPr sz="2000" dirty="0">
                <a:solidFill>
                  <a:srgbClr val="12171A"/>
                </a:solidFill>
                <a:latin typeface="Calibri"/>
                <a:cs typeface="Calibri"/>
              </a:rPr>
              <a:t>clustering</a:t>
            </a:r>
            <a:r>
              <a:rPr sz="2000" spc="-30" dirty="0">
                <a:solidFill>
                  <a:srgbClr val="12171A"/>
                </a:solidFill>
                <a:latin typeface="Calibri"/>
                <a:cs typeface="Calibri"/>
              </a:rPr>
              <a:t> </a:t>
            </a:r>
            <a:r>
              <a:rPr sz="2000" dirty="0">
                <a:solidFill>
                  <a:srgbClr val="12171A"/>
                </a:solidFill>
                <a:latin typeface="Calibri"/>
                <a:cs typeface="Calibri"/>
              </a:rPr>
              <a:t>algorithm,</a:t>
            </a:r>
            <a:r>
              <a:rPr sz="2000" spc="-45" dirty="0">
                <a:solidFill>
                  <a:srgbClr val="12171A"/>
                </a:solidFill>
                <a:latin typeface="Calibri"/>
                <a:cs typeface="Calibri"/>
              </a:rPr>
              <a:t> </a:t>
            </a:r>
            <a:r>
              <a:rPr sz="2000" dirty="0">
                <a:solidFill>
                  <a:srgbClr val="12171A"/>
                </a:solidFill>
                <a:latin typeface="Calibri"/>
                <a:cs typeface="Calibri"/>
              </a:rPr>
              <a:t>and</a:t>
            </a:r>
            <a:r>
              <a:rPr sz="2000" spc="-40" dirty="0">
                <a:solidFill>
                  <a:srgbClr val="12171A"/>
                </a:solidFill>
                <a:latin typeface="Calibri"/>
                <a:cs typeface="Calibri"/>
              </a:rPr>
              <a:t> </a:t>
            </a:r>
            <a:r>
              <a:rPr sz="2000" dirty="0">
                <a:solidFill>
                  <a:srgbClr val="12171A"/>
                </a:solidFill>
                <a:latin typeface="Calibri"/>
                <a:cs typeface="Calibri"/>
              </a:rPr>
              <a:t>then</a:t>
            </a:r>
            <a:r>
              <a:rPr sz="2000" spc="-30" dirty="0">
                <a:solidFill>
                  <a:srgbClr val="12171A"/>
                </a:solidFill>
                <a:latin typeface="Calibri"/>
                <a:cs typeface="Calibri"/>
              </a:rPr>
              <a:t> </a:t>
            </a:r>
            <a:r>
              <a:rPr sz="2000" dirty="0">
                <a:solidFill>
                  <a:srgbClr val="12171A"/>
                </a:solidFill>
                <a:latin typeface="Calibri"/>
                <a:cs typeface="Calibri"/>
              </a:rPr>
              <a:t>analyze</a:t>
            </a:r>
            <a:r>
              <a:rPr sz="2000" spc="-50" dirty="0">
                <a:solidFill>
                  <a:srgbClr val="12171A"/>
                </a:solidFill>
                <a:latin typeface="Calibri"/>
                <a:cs typeface="Calibri"/>
              </a:rPr>
              <a:t> </a:t>
            </a:r>
            <a:r>
              <a:rPr sz="2000" dirty="0">
                <a:solidFill>
                  <a:srgbClr val="12171A"/>
                </a:solidFill>
                <a:latin typeface="Calibri"/>
                <a:cs typeface="Calibri"/>
              </a:rPr>
              <a:t>each</a:t>
            </a:r>
            <a:r>
              <a:rPr sz="2000" spc="-35" dirty="0">
                <a:solidFill>
                  <a:srgbClr val="12171A"/>
                </a:solidFill>
                <a:latin typeface="Calibri"/>
                <a:cs typeface="Calibri"/>
              </a:rPr>
              <a:t> </a:t>
            </a:r>
            <a:r>
              <a:rPr sz="2000" dirty="0">
                <a:solidFill>
                  <a:srgbClr val="12171A"/>
                </a:solidFill>
                <a:latin typeface="Calibri"/>
                <a:cs typeface="Calibri"/>
              </a:rPr>
              <a:t>cluster</a:t>
            </a:r>
            <a:r>
              <a:rPr sz="2000" spc="-25" dirty="0">
                <a:solidFill>
                  <a:srgbClr val="12171A"/>
                </a:solidFill>
                <a:latin typeface="Calibri"/>
                <a:cs typeface="Calibri"/>
              </a:rPr>
              <a:t> </a:t>
            </a:r>
            <a:r>
              <a:rPr sz="2000" spc="-10" dirty="0">
                <a:solidFill>
                  <a:srgbClr val="12171A"/>
                </a:solidFill>
                <a:latin typeface="Calibri"/>
                <a:cs typeface="Calibri"/>
              </a:rPr>
              <a:t>separately.</a:t>
            </a:r>
            <a:endParaRPr sz="2000">
              <a:latin typeface="Calibri"/>
              <a:cs typeface="Calibri"/>
            </a:endParaRPr>
          </a:p>
          <a:p>
            <a:pPr marL="355600" marR="5080" indent="-342900">
              <a:lnSpc>
                <a:spcPts val="2390"/>
              </a:lnSpc>
              <a:spcBef>
                <a:spcPts val="305"/>
              </a:spcBef>
              <a:buClr>
                <a:srgbClr val="333940"/>
              </a:buClr>
              <a:buSzPct val="90000"/>
              <a:buFont typeface="Wingdings"/>
              <a:buChar char=""/>
              <a:tabLst>
                <a:tab pos="355600" algn="l"/>
                <a:tab pos="2033270" algn="l"/>
                <a:tab pos="3228340" algn="l"/>
                <a:tab pos="3863975" algn="l"/>
                <a:tab pos="5040630" algn="l"/>
                <a:tab pos="5947410" algn="l"/>
                <a:tab pos="6750684" algn="l"/>
                <a:tab pos="7049770" algn="l"/>
                <a:tab pos="7560309" algn="l"/>
              </a:tabLst>
            </a:pPr>
            <a:r>
              <a:rPr sz="2000" i="1" spc="-10" dirty="0">
                <a:solidFill>
                  <a:srgbClr val="00AF50"/>
                </a:solidFill>
                <a:latin typeface="Calibri"/>
                <a:cs typeface="Calibri"/>
              </a:rPr>
              <a:t>Dimensionality</a:t>
            </a:r>
            <a:r>
              <a:rPr sz="2000" i="1" dirty="0">
                <a:solidFill>
                  <a:srgbClr val="00AF50"/>
                </a:solidFill>
                <a:latin typeface="Calibri"/>
                <a:cs typeface="Calibri"/>
              </a:rPr>
              <a:t>	</a:t>
            </a:r>
            <a:r>
              <a:rPr sz="2000" i="1" spc="-10" dirty="0">
                <a:solidFill>
                  <a:srgbClr val="00AF50"/>
                </a:solidFill>
                <a:latin typeface="Calibri"/>
                <a:cs typeface="Calibri"/>
              </a:rPr>
              <a:t>reduction</a:t>
            </a:r>
            <a:r>
              <a:rPr sz="2000" i="1" spc="-10" dirty="0">
                <a:solidFill>
                  <a:srgbClr val="12171A"/>
                </a:solidFill>
                <a:latin typeface="Calibri"/>
                <a:cs typeface="Calibri"/>
              </a:rPr>
              <a:t>:</a:t>
            </a:r>
            <a:r>
              <a:rPr sz="2000" i="1" dirty="0">
                <a:solidFill>
                  <a:srgbClr val="12171A"/>
                </a:solidFill>
                <a:latin typeface="Calibri"/>
                <a:cs typeface="Calibri"/>
              </a:rPr>
              <a:t>	</a:t>
            </a:r>
            <a:r>
              <a:rPr sz="2000" spc="-20" dirty="0">
                <a:solidFill>
                  <a:srgbClr val="12171A"/>
                </a:solidFill>
                <a:latin typeface="Calibri"/>
                <a:cs typeface="Calibri"/>
              </a:rPr>
              <a:t>each</a:t>
            </a:r>
            <a:r>
              <a:rPr sz="2000" dirty="0">
                <a:solidFill>
                  <a:srgbClr val="12171A"/>
                </a:solidFill>
                <a:latin typeface="Calibri"/>
                <a:cs typeface="Calibri"/>
              </a:rPr>
              <a:t>	</a:t>
            </a:r>
            <a:r>
              <a:rPr sz="2000" spc="-10" dirty="0">
                <a:solidFill>
                  <a:srgbClr val="12171A"/>
                </a:solidFill>
                <a:latin typeface="Calibri"/>
                <a:cs typeface="Calibri"/>
              </a:rPr>
              <a:t>instance’s</a:t>
            </a:r>
            <a:r>
              <a:rPr sz="2000" dirty="0">
                <a:solidFill>
                  <a:srgbClr val="12171A"/>
                </a:solidFill>
                <a:latin typeface="Calibri"/>
                <a:cs typeface="Calibri"/>
              </a:rPr>
              <a:t>	</a:t>
            </a:r>
            <a:r>
              <a:rPr sz="2000" spc="-10" dirty="0">
                <a:solidFill>
                  <a:srgbClr val="12171A"/>
                </a:solidFill>
                <a:latin typeface="Calibri"/>
                <a:cs typeface="Calibri"/>
              </a:rPr>
              <a:t>feature</a:t>
            </a:r>
            <a:r>
              <a:rPr sz="2000" dirty="0">
                <a:solidFill>
                  <a:srgbClr val="12171A"/>
                </a:solidFill>
                <a:latin typeface="Calibri"/>
                <a:cs typeface="Calibri"/>
              </a:rPr>
              <a:t>	</a:t>
            </a:r>
            <a:r>
              <a:rPr sz="2000" spc="-10" dirty="0">
                <a:solidFill>
                  <a:srgbClr val="12171A"/>
                </a:solidFill>
                <a:latin typeface="Calibri"/>
                <a:cs typeface="Calibri"/>
              </a:rPr>
              <a:t>vector</a:t>
            </a:r>
            <a:r>
              <a:rPr sz="2000" dirty="0">
                <a:solidFill>
                  <a:srgbClr val="12171A"/>
                </a:solidFill>
                <a:latin typeface="Calibri"/>
                <a:cs typeface="Calibri"/>
              </a:rPr>
              <a:t>	</a:t>
            </a:r>
            <a:r>
              <a:rPr sz="2000" spc="-50" dirty="0">
                <a:solidFill>
                  <a:srgbClr val="12171A"/>
                </a:solidFill>
                <a:latin typeface="Cambria Math"/>
                <a:cs typeface="Cambria Math"/>
              </a:rPr>
              <a:t>𝐱</a:t>
            </a:r>
            <a:r>
              <a:rPr sz="2000" dirty="0">
                <a:solidFill>
                  <a:srgbClr val="12171A"/>
                </a:solidFill>
                <a:latin typeface="Cambria Math"/>
                <a:cs typeface="Cambria Math"/>
              </a:rPr>
              <a:t>	</a:t>
            </a:r>
            <a:r>
              <a:rPr sz="2000" spc="-25" dirty="0">
                <a:solidFill>
                  <a:srgbClr val="12171A"/>
                </a:solidFill>
                <a:latin typeface="Calibri"/>
                <a:cs typeface="Calibri"/>
              </a:rPr>
              <a:t>can</a:t>
            </a:r>
            <a:r>
              <a:rPr sz="2000" dirty="0">
                <a:solidFill>
                  <a:srgbClr val="12171A"/>
                </a:solidFill>
                <a:latin typeface="Calibri"/>
                <a:cs typeface="Calibri"/>
              </a:rPr>
              <a:t>	</a:t>
            </a:r>
            <a:r>
              <a:rPr sz="2000" spc="-25" dirty="0">
                <a:solidFill>
                  <a:srgbClr val="12171A"/>
                </a:solidFill>
                <a:latin typeface="Calibri"/>
                <a:cs typeface="Calibri"/>
              </a:rPr>
              <a:t>be </a:t>
            </a:r>
            <a:r>
              <a:rPr sz="2000" dirty="0">
                <a:solidFill>
                  <a:srgbClr val="12171A"/>
                </a:solidFill>
                <a:latin typeface="Calibri"/>
                <a:cs typeface="Calibri"/>
              </a:rPr>
              <a:t>replaced</a:t>
            </a:r>
            <a:r>
              <a:rPr sz="2000" spc="-35" dirty="0">
                <a:solidFill>
                  <a:srgbClr val="12171A"/>
                </a:solidFill>
                <a:latin typeface="Calibri"/>
                <a:cs typeface="Calibri"/>
              </a:rPr>
              <a:t> </a:t>
            </a:r>
            <a:r>
              <a:rPr sz="2000" dirty="0">
                <a:solidFill>
                  <a:srgbClr val="12171A"/>
                </a:solidFill>
                <a:latin typeface="Calibri"/>
                <a:cs typeface="Calibri"/>
              </a:rPr>
              <a:t>with</a:t>
            </a:r>
            <a:r>
              <a:rPr sz="2000" spc="-30" dirty="0">
                <a:solidFill>
                  <a:srgbClr val="12171A"/>
                </a:solidFill>
                <a:latin typeface="Calibri"/>
                <a:cs typeface="Calibri"/>
              </a:rPr>
              <a:t> </a:t>
            </a:r>
            <a:r>
              <a:rPr sz="2000" dirty="0">
                <a:solidFill>
                  <a:srgbClr val="12171A"/>
                </a:solidFill>
                <a:latin typeface="Calibri"/>
                <a:cs typeface="Calibri"/>
              </a:rPr>
              <a:t>the</a:t>
            </a:r>
            <a:r>
              <a:rPr sz="2000" spc="-50" dirty="0">
                <a:solidFill>
                  <a:srgbClr val="12171A"/>
                </a:solidFill>
                <a:latin typeface="Calibri"/>
                <a:cs typeface="Calibri"/>
              </a:rPr>
              <a:t> </a:t>
            </a:r>
            <a:r>
              <a:rPr sz="2000" dirty="0">
                <a:solidFill>
                  <a:srgbClr val="12171A"/>
                </a:solidFill>
                <a:latin typeface="Calibri"/>
                <a:cs typeface="Calibri"/>
              </a:rPr>
              <a:t>vector</a:t>
            </a:r>
            <a:r>
              <a:rPr sz="2000" spc="-40" dirty="0">
                <a:solidFill>
                  <a:srgbClr val="12171A"/>
                </a:solidFill>
                <a:latin typeface="Calibri"/>
                <a:cs typeface="Calibri"/>
              </a:rPr>
              <a:t> </a:t>
            </a:r>
            <a:r>
              <a:rPr sz="2000" dirty="0">
                <a:solidFill>
                  <a:srgbClr val="12171A"/>
                </a:solidFill>
                <a:latin typeface="Calibri"/>
                <a:cs typeface="Calibri"/>
              </a:rPr>
              <a:t>of</a:t>
            </a:r>
            <a:r>
              <a:rPr sz="2000" spc="-50" dirty="0">
                <a:solidFill>
                  <a:srgbClr val="12171A"/>
                </a:solidFill>
                <a:latin typeface="Calibri"/>
                <a:cs typeface="Calibri"/>
              </a:rPr>
              <a:t> </a:t>
            </a:r>
            <a:r>
              <a:rPr sz="2000" dirty="0">
                <a:solidFill>
                  <a:srgbClr val="12171A"/>
                </a:solidFill>
                <a:latin typeface="Calibri"/>
                <a:cs typeface="Calibri"/>
              </a:rPr>
              <a:t>its</a:t>
            </a:r>
            <a:r>
              <a:rPr sz="2000" spc="-35" dirty="0">
                <a:solidFill>
                  <a:srgbClr val="12171A"/>
                </a:solidFill>
                <a:latin typeface="Calibri"/>
                <a:cs typeface="Calibri"/>
              </a:rPr>
              <a:t> </a:t>
            </a:r>
            <a:r>
              <a:rPr sz="2000" dirty="0">
                <a:solidFill>
                  <a:srgbClr val="12171A"/>
                </a:solidFill>
                <a:latin typeface="Calibri"/>
                <a:cs typeface="Calibri"/>
              </a:rPr>
              <a:t>cluster</a:t>
            </a:r>
            <a:r>
              <a:rPr sz="2000" spc="-30" dirty="0">
                <a:solidFill>
                  <a:srgbClr val="12171A"/>
                </a:solidFill>
                <a:latin typeface="Calibri"/>
                <a:cs typeface="Calibri"/>
              </a:rPr>
              <a:t> </a:t>
            </a:r>
            <a:r>
              <a:rPr sz="2000" spc="-10" dirty="0">
                <a:solidFill>
                  <a:srgbClr val="12171A"/>
                </a:solidFill>
                <a:latin typeface="Calibri"/>
                <a:cs typeface="Calibri"/>
              </a:rPr>
              <a:t>affinities.</a:t>
            </a:r>
            <a:endParaRPr sz="2000">
              <a:latin typeface="Calibri"/>
              <a:cs typeface="Calibri"/>
            </a:endParaRPr>
          </a:p>
          <a:p>
            <a:pPr marL="812165" lvl="1" indent="-333375">
              <a:lnSpc>
                <a:spcPct val="100000"/>
              </a:lnSpc>
              <a:spcBef>
                <a:spcPts val="135"/>
              </a:spcBef>
              <a:buClr>
                <a:srgbClr val="121618"/>
              </a:buClr>
              <a:buSzPct val="94444"/>
              <a:buFont typeface="Wingdings"/>
              <a:buChar char=""/>
              <a:tabLst>
                <a:tab pos="812165" algn="l"/>
              </a:tabLst>
            </a:pPr>
            <a:r>
              <a:rPr sz="1800" dirty="0">
                <a:solidFill>
                  <a:srgbClr val="12171A"/>
                </a:solidFill>
                <a:latin typeface="Calibri"/>
                <a:cs typeface="Calibri"/>
              </a:rPr>
              <a:t>affinity</a:t>
            </a:r>
            <a:r>
              <a:rPr sz="1800" spc="-20" dirty="0">
                <a:solidFill>
                  <a:srgbClr val="12171A"/>
                </a:solidFill>
                <a:latin typeface="Calibri"/>
                <a:cs typeface="Calibri"/>
              </a:rPr>
              <a:t> </a:t>
            </a:r>
            <a:r>
              <a:rPr sz="1800" dirty="0">
                <a:solidFill>
                  <a:srgbClr val="12171A"/>
                </a:solidFill>
                <a:latin typeface="Calibri"/>
                <a:cs typeface="Calibri"/>
              </a:rPr>
              <a:t>is</a:t>
            </a:r>
            <a:r>
              <a:rPr sz="1800" spc="-15" dirty="0">
                <a:solidFill>
                  <a:srgbClr val="12171A"/>
                </a:solidFill>
                <a:latin typeface="Calibri"/>
                <a:cs typeface="Calibri"/>
              </a:rPr>
              <a:t> </a:t>
            </a:r>
            <a:r>
              <a:rPr sz="1800" dirty="0">
                <a:solidFill>
                  <a:srgbClr val="12171A"/>
                </a:solidFill>
                <a:latin typeface="Calibri"/>
                <a:cs typeface="Calibri"/>
              </a:rPr>
              <a:t>any</a:t>
            </a:r>
            <a:r>
              <a:rPr sz="1800" spc="-20" dirty="0">
                <a:solidFill>
                  <a:srgbClr val="12171A"/>
                </a:solidFill>
                <a:latin typeface="Calibri"/>
                <a:cs typeface="Calibri"/>
              </a:rPr>
              <a:t> </a:t>
            </a:r>
            <a:r>
              <a:rPr sz="1800" dirty="0">
                <a:solidFill>
                  <a:srgbClr val="12171A"/>
                </a:solidFill>
                <a:latin typeface="Calibri"/>
                <a:cs typeface="Calibri"/>
              </a:rPr>
              <a:t>measure</a:t>
            </a:r>
            <a:r>
              <a:rPr sz="1800" spc="-30" dirty="0">
                <a:solidFill>
                  <a:srgbClr val="12171A"/>
                </a:solidFill>
                <a:latin typeface="Calibri"/>
                <a:cs typeface="Calibri"/>
              </a:rPr>
              <a:t> </a:t>
            </a:r>
            <a:r>
              <a:rPr sz="1800" dirty="0">
                <a:solidFill>
                  <a:srgbClr val="12171A"/>
                </a:solidFill>
                <a:latin typeface="Calibri"/>
                <a:cs typeface="Calibri"/>
              </a:rPr>
              <a:t>of</a:t>
            </a:r>
            <a:r>
              <a:rPr sz="1800" spc="-10" dirty="0">
                <a:solidFill>
                  <a:srgbClr val="12171A"/>
                </a:solidFill>
                <a:latin typeface="Calibri"/>
                <a:cs typeface="Calibri"/>
              </a:rPr>
              <a:t> </a:t>
            </a:r>
            <a:r>
              <a:rPr sz="1800" dirty="0">
                <a:solidFill>
                  <a:srgbClr val="12171A"/>
                </a:solidFill>
                <a:latin typeface="Calibri"/>
                <a:cs typeface="Calibri"/>
              </a:rPr>
              <a:t>how</a:t>
            </a:r>
            <a:r>
              <a:rPr sz="1800" spc="-15" dirty="0">
                <a:solidFill>
                  <a:srgbClr val="12171A"/>
                </a:solidFill>
                <a:latin typeface="Calibri"/>
                <a:cs typeface="Calibri"/>
              </a:rPr>
              <a:t> </a:t>
            </a:r>
            <a:r>
              <a:rPr sz="1800" dirty="0">
                <a:solidFill>
                  <a:srgbClr val="12171A"/>
                </a:solidFill>
                <a:latin typeface="Calibri"/>
                <a:cs typeface="Calibri"/>
              </a:rPr>
              <a:t>well</a:t>
            </a:r>
            <a:r>
              <a:rPr sz="1800" spc="-25" dirty="0">
                <a:solidFill>
                  <a:srgbClr val="12171A"/>
                </a:solidFill>
                <a:latin typeface="Calibri"/>
                <a:cs typeface="Calibri"/>
              </a:rPr>
              <a:t> </a:t>
            </a:r>
            <a:r>
              <a:rPr sz="1800" dirty="0">
                <a:solidFill>
                  <a:srgbClr val="12171A"/>
                </a:solidFill>
                <a:latin typeface="Calibri"/>
                <a:cs typeface="Calibri"/>
              </a:rPr>
              <a:t>an</a:t>
            </a:r>
            <a:r>
              <a:rPr sz="1800" spc="-10" dirty="0">
                <a:solidFill>
                  <a:srgbClr val="12171A"/>
                </a:solidFill>
                <a:latin typeface="Calibri"/>
                <a:cs typeface="Calibri"/>
              </a:rPr>
              <a:t> </a:t>
            </a:r>
            <a:r>
              <a:rPr sz="1800" dirty="0">
                <a:solidFill>
                  <a:srgbClr val="12171A"/>
                </a:solidFill>
                <a:latin typeface="Calibri"/>
                <a:cs typeface="Calibri"/>
              </a:rPr>
              <a:t>instance</a:t>
            </a:r>
            <a:r>
              <a:rPr sz="1800" spc="-25" dirty="0">
                <a:solidFill>
                  <a:srgbClr val="12171A"/>
                </a:solidFill>
                <a:latin typeface="Calibri"/>
                <a:cs typeface="Calibri"/>
              </a:rPr>
              <a:t> </a:t>
            </a:r>
            <a:r>
              <a:rPr sz="1800" dirty="0">
                <a:solidFill>
                  <a:srgbClr val="12171A"/>
                </a:solidFill>
                <a:latin typeface="Calibri"/>
                <a:cs typeface="Calibri"/>
              </a:rPr>
              <a:t>fits</a:t>
            </a:r>
            <a:r>
              <a:rPr sz="1800" spc="-20" dirty="0">
                <a:solidFill>
                  <a:srgbClr val="12171A"/>
                </a:solidFill>
                <a:latin typeface="Calibri"/>
                <a:cs typeface="Calibri"/>
              </a:rPr>
              <a:t> </a:t>
            </a:r>
            <a:r>
              <a:rPr sz="1800" dirty="0">
                <a:solidFill>
                  <a:srgbClr val="12171A"/>
                </a:solidFill>
                <a:latin typeface="Calibri"/>
                <a:cs typeface="Calibri"/>
              </a:rPr>
              <a:t>into</a:t>
            </a:r>
            <a:r>
              <a:rPr sz="1800" spc="-10" dirty="0">
                <a:solidFill>
                  <a:srgbClr val="12171A"/>
                </a:solidFill>
                <a:latin typeface="Calibri"/>
                <a:cs typeface="Calibri"/>
              </a:rPr>
              <a:t> </a:t>
            </a:r>
            <a:r>
              <a:rPr sz="1800" dirty="0">
                <a:solidFill>
                  <a:srgbClr val="12171A"/>
                </a:solidFill>
                <a:latin typeface="Calibri"/>
                <a:cs typeface="Calibri"/>
              </a:rPr>
              <a:t>a</a:t>
            </a:r>
            <a:r>
              <a:rPr sz="1800" spc="-10" dirty="0">
                <a:solidFill>
                  <a:srgbClr val="12171A"/>
                </a:solidFill>
                <a:latin typeface="Calibri"/>
                <a:cs typeface="Calibri"/>
              </a:rPr>
              <a:t> cluster.</a:t>
            </a:r>
            <a:endParaRPr sz="1800">
              <a:latin typeface="Calibri"/>
              <a:cs typeface="Calibri"/>
            </a:endParaRPr>
          </a:p>
          <a:p>
            <a:pPr marL="355600" marR="8255" indent="-342900">
              <a:lnSpc>
                <a:spcPct val="100000"/>
              </a:lnSpc>
              <a:spcBef>
                <a:spcPts val="185"/>
              </a:spcBef>
              <a:buClr>
                <a:srgbClr val="333940"/>
              </a:buClr>
              <a:buSzPct val="90000"/>
              <a:buFont typeface="Wingdings"/>
              <a:buChar char=""/>
              <a:tabLst>
                <a:tab pos="355600" algn="l"/>
              </a:tabLst>
            </a:pPr>
            <a:r>
              <a:rPr sz="2000" i="1" dirty="0">
                <a:solidFill>
                  <a:srgbClr val="00AF50"/>
                </a:solidFill>
                <a:latin typeface="Calibri"/>
                <a:cs typeface="Calibri"/>
              </a:rPr>
              <a:t>Feature</a:t>
            </a:r>
            <a:r>
              <a:rPr sz="2000" i="1" spc="175" dirty="0">
                <a:solidFill>
                  <a:srgbClr val="00AF50"/>
                </a:solidFill>
                <a:latin typeface="Calibri"/>
                <a:cs typeface="Calibri"/>
              </a:rPr>
              <a:t> </a:t>
            </a:r>
            <a:r>
              <a:rPr sz="2000" i="1" dirty="0">
                <a:solidFill>
                  <a:srgbClr val="00AF50"/>
                </a:solidFill>
                <a:latin typeface="Calibri"/>
                <a:cs typeface="Calibri"/>
              </a:rPr>
              <a:t>engineering</a:t>
            </a:r>
            <a:r>
              <a:rPr sz="2000" i="1" dirty="0">
                <a:solidFill>
                  <a:srgbClr val="12171A"/>
                </a:solidFill>
                <a:latin typeface="Calibri"/>
                <a:cs typeface="Calibri"/>
              </a:rPr>
              <a:t>:</a:t>
            </a:r>
            <a:r>
              <a:rPr sz="2000" i="1" spc="190" dirty="0">
                <a:solidFill>
                  <a:srgbClr val="12171A"/>
                </a:solidFill>
                <a:latin typeface="Calibri"/>
                <a:cs typeface="Calibri"/>
              </a:rPr>
              <a:t> </a:t>
            </a:r>
            <a:r>
              <a:rPr sz="2000" dirty="0">
                <a:solidFill>
                  <a:srgbClr val="12171A"/>
                </a:solidFill>
                <a:latin typeface="Calibri"/>
                <a:cs typeface="Calibri"/>
              </a:rPr>
              <a:t>the</a:t>
            </a:r>
            <a:r>
              <a:rPr sz="2000" spc="190" dirty="0">
                <a:solidFill>
                  <a:srgbClr val="12171A"/>
                </a:solidFill>
                <a:latin typeface="Calibri"/>
                <a:cs typeface="Calibri"/>
              </a:rPr>
              <a:t> </a:t>
            </a:r>
            <a:r>
              <a:rPr sz="2000" dirty="0">
                <a:solidFill>
                  <a:srgbClr val="12171A"/>
                </a:solidFill>
                <a:latin typeface="Calibri"/>
                <a:cs typeface="Calibri"/>
              </a:rPr>
              <a:t>cluster</a:t>
            </a:r>
            <a:r>
              <a:rPr sz="2000" spc="195" dirty="0">
                <a:solidFill>
                  <a:srgbClr val="12171A"/>
                </a:solidFill>
                <a:latin typeface="Calibri"/>
                <a:cs typeface="Calibri"/>
              </a:rPr>
              <a:t> </a:t>
            </a:r>
            <a:r>
              <a:rPr sz="2000" dirty="0">
                <a:solidFill>
                  <a:srgbClr val="12171A"/>
                </a:solidFill>
                <a:latin typeface="Calibri"/>
                <a:cs typeface="Calibri"/>
              </a:rPr>
              <a:t>affinities</a:t>
            </a:r>
            <a:r>
              <a:rPr sz="2000" spc="200" dirty="0">
                <a:solidFill>
                  <a:srgbClr val="12171A"/>
                </a:solidFill>
                <a:latin typeface="Calibri"/>
                <a:cs typeface="Calibri"/>
              </a:rPr>
              <a:t> </a:t>
            </a:r>
            <a:r>
              <a:rPr sz="2000" dirty="0">
                <a:solidFill>
                  <a:srgbClr val="12171A"/>
                </a:solidFill>
                <a:latin typeface="Calibri"/>
                <a:cs typeface="Calibri"/>
              </a:rPr>
              <a:t>can</a:t>
            </a:r>
            <a:r>
              <a:rPr sz="2000" spc="195" dirty="0">
                <a:solidFill>
                  <a:srgbClr val="12171A"/>
                </a:solidFill>
                <a:latin typeface="Calibri"/>
                <a:cs typeface="Calibri"/>
              </a:rPr>
              <a:t> </a:t>
            </a:r>
            <a:r>
              <a:rPr sz="2000" dirty="0">
                <a:solidFill>
                  <a:srgbClr val="12171A"/>
                </a:solidFill>
                <a:latin typeface="Calibri"/>
                <a:cs typeface="Calibri"/>
              </a:rPr>
              <a:t>often</a:t>
            </a:r>
            <a:r>
              <a:rPr sz="2000" spc="190" dirty="0">
                <a:solidFill>
                  <a:srgbClr val="12171A"/>
                </a:solidFill>
                <a:latin typeface="Calibri"/>
                <a:cs typeface="Calibri"/>
              </a:rPr>
              <a:t> </a:t>
            </a:r>
            <a:r>
              <a:rPr sz="2000" dirty="0">
                <a:solidFill>
                  <a:srgbClr val="12171A"/>
                </a:solidFill>
                <a:latin typeface="Calibri"/>
                <a:cs typeface="Calibri"/>
              </a:rPr>
              <a:t>be</a:t>
            </a:r>
            <a:r>
              <a:rPr sz="2000" spc="175" dirty="0">
                <a:solidFill>
                  <a:srgbClr val="12171A"/>
                </a:solidFill>
                <a:latin typeface="Calibri"/>
                <a:cs typeface="Calibri"/>
              </a:rPr>
              <a:t> </a:t>
            </a:r>
            <a:r>
              <a:rPr sz="2000" dirty="0">
                <a:solidFill>
                  <a:srgbClr val="12171A"/>
                </a:solidFill>
                <a:latin typeface="Calibri"/>
                <a:cs typeface="Calibri"/>
              </a:rPr>
              <a:t>useful</a:t>
            </a:r>
            <a:r>
              <a:rPr sz="2000" spc="190" dirty="0">
                <a:solidFill>
                  <a:srgbClr val="12171A"/>
                </a:solidFill>
                <a:latin typeface="Calibri"/>
                <a:cs typeface="Calibri"/>
              </a:rPr>
              <a:t> </a:t>
            </a:r>
            <a:r>
              <a:rPr sz="2000" dirty="0">
                <a:solidFill>
                  <a:srgbClr val="12171A"/>
                </a:solidFill>
                <a:latin typeface="Calibri"/>
                <a:cs typeface="Calibri"/>
              </a:rPr>
              <a:t>as</a:t>
            </a:r>
            <a:r>
              <a:rPr sz="2000" spc="195" dirty="0">
                <a:solidFill>
                  <a:srgbClr val="12171A"/>
                </a:solidFill>
                <a:latin typeface="Calibri"/>
                <a:cs typeface="Calibri"/>
              </a:rPr>
              <a:t> </a:t>
            </a:r>
            <a:r>
              <a:rPr sz="2000" spc="-10" dirty="0">
                <a:solidFill>
                  <a:srgbClr val="12171A"/>
                </a:solidFill>
                <a:latin typeface="Calibri"/>
                <a:cs typeface="Calibri"/>
              </a:rPr>
              <a:t>extra features.</a:t>
            </a:r>
            <a:endParaRPr sz="2000">
              <a:latin typeface="Calibri"/>
              <a:cs typeface="Calibri"/>
            </a:endParaRPr>
          </a:p>
          <a:p>
            <a:pPr marL="354965" indent="-342265">
              <a:lnSpc>
                <a:spcPct val="100000"/>
              </a:lnSpc>
              <a:spcBef>
                <a:spcPts val="204"/>
              </a:spcBef>
              <a:buClr>
                <a:srgbClr val="333940"/>
              </a:buClr>
              <a:buSzPct val="90000"/>
              <a:buFont typeface="Wingdings"/>
              <a:buChar char=""/>
              <a:tabLst>
                <a:tab pos="354965" algn="l"/>
                <a:tab pos="1402080" algn="l"/>
                <a:tab pos="2573020" algn="l"/>
                <a:tab pos="3075940" algn="l"/>
                <a:tab pos="4076065" algn="l"/>
                <a:tab pos="4634865" algn="l"/>
                <a:tab pos="5124450" algn="l"/>
                <a:tab pos="5380355" algn="l"/>
                <a:tab pos="5886450" algn="l"/>
                <a:tab pos="6749415" algn="l"/>
                <a:tab pos="7101205" algn="l"/>
                <a:tab pos="7473315" algn="l"/>
              </a:tabLst>
            </a:pPr>
            <a:r>
              <a:rPr sz="2000" i="1" spc="-10" dirty="0">
                <a:solidFill>
                  <a:srgbClr val="00AF50"/>
                </a:solidFill>
                <a:latin typeface="Calibri"/>
                <a:cs typeface="Calibri"/>
              </a:rPr>
              <a:t>Anomaly</a:t>
            </a:r>
            <a:r>
              <a:rPr sz="2000" i="1" dirty="0">
                <a:solidFill>
                  <a:srgbClr val="00AF50"/>
                </a:solidFill>
                <a:latin typeface="Calibri"/>
                <a:cs typeface="Calibri"/>
              </a:rPr>
              <a:t>	</a:t>
            </a:r>
            <a:r>
              <a:rPr sz="2000" i="1" spc="-10" dirty="0">
                <a:solidFill>
                  <a:srgbClr val="00AF50"/>
                </a:solidFill>
                <a:latin typeface="Calibri"/>
                <a:cs typeface="Calibri"/>
              </a:rPr>
              <a:t>detection</a:t>
            </a:r>
            <a:r>
              <a:rPr sz="2000" i="1" spc="-10" dirty="0">
                <a:solidFill>
                  <a:srgbClr val="12171A"/>
                </a:solidFill>
                <a:latin typeface="Calibri"/>
                <a:cs typeface="Calibri"/>
              </a:rPr>
              <a:t>:</a:t>
            </a:r>
            <a:r>
              <a:rPr sz="2000" i="1" dirty="0">
                <a:solidFill>
                  <a:srgbClr val="12171A"/>
                </a:solidFill>
                <a:latin typeface="Calibri"/>
                <a:cs typeface="Calibri"/>
              </a:rPr>
              <a:t>	</a:t>
            </a:r>
            <a:r>
              <a:rPr sz="2000" spc="-25" dirty="0">
                <a:solidFill>
                  <a:srgbClr val="12171A"/>
                </a:solidFill>
                <a:latin typeface="Calibri"/>
                <a:cs typeface="Calibri"/>
              </a:rPr>
              <a:t>any</a:t>
            </a:r>
            <a:r>
              <a:rPr sz="2000" dirty="0">
                <a:solidFill>
                  <a:srgbClr val="12171A"/>
                </a:solidFill>
                <a:latin typeface="Calibri"/>
                <a:cs typeface="Calibri"/>
              </a:rPr>
              <a:t>	</a:t>
            </a:r>
            <a:r>
              <a:rPr sz="2000" spc="-10" dirty="0">
                <a:solidFill>
                  <a:srgbClr val="12171A"/>
                </a:solidFill>
                <a:latin typeface="Calibri"/>
                <a:cs typeface="Calibri"/>
              </a:rPr>
              <a:t>instance</a:t>
            </a:r>
            <a:r>
              <a:rPr sz="2000" dirty="0">
                <a:solidFill>
                  <a:srgbClr val="12171A"/>
                </a:solidFill>
                <a:latin typeface="Calibri"/>
                <a:cs typeface="Calibri"/>
              </a:rPr>
              <a:t>	</a:t>
            </a:r>
            <a:r>
              <a:rPr sz="2000" spc="-20" dirty="0">
                <a:solidFill>
                  <a:srgbClr val="12171A"/>
                </a:solidFill>
                <a:latin typeface="Calibri"/>
                <a:cs typeface="Calibri"/>
              </a:rPr>
              <a:t>that</a:t>
            </a:r>
            <a:r>
              <a:rPr sz="2000" dirty="0">
                <a:solidFill>
                  <a:srgbClr val="12171A"/>
                </a:solidFill>
                <a:latin typeface="Calibri"/>
                <a:cs typeface="Calibri"/>
              </a:rPr>
              <a:t>	</a:t>
            </a:r>
            <a:r>
              <a:rPr sz="2000" spc="-25" dirty="0">
                <a:solidFill>
                  <a:srgbClr val="12171A"/>
                </a:solidFill>
                <a:latin typeface="Calibri"/>
                <a:cs typeface="Calibri"/>
              </a:rPr>
              <a:t>has</a:t>
            </a:r>
            <a:r>
              <a:rPr sz="2000" dirty="0">
                <a:solidFill>
                  <a:srgbClr val="12171A"/>
                </a:solidFill>
                <a:latin typeface="Calibri"/>
                <a:cs typeface="Calibri"/>
              </a:rPr>
              <a:t>	</a:t>
            </a:r>
            <a:r>
              <a:rPr sz="2000" spc="-50" dirty="0">
                <a:solidFill>
                  <a:srgbClr val="12171A"/>
                </a:solidFill>
                <a:latin typeface="Calibri"/>
                <a:cs typeface="Calibri"/>
              </a:rPr>
              <a:t>a</a:t>
            </a:r>
            <a:r>
              <a:rPr sz="2000" dirty="0">
                <a:solidFill>
                  <a:srgbClr val="12171A"/>
                </a:solidFill>
                <a:latin typeface="Calibri"/>
                <a:cs typeface="Calibri"/>
              </a:rPr>
              <a:t>	</a:t>
            </a:r>
            <a:r>
              <a:rPr sz="2000" spc="-25" dirty="0">
                <a:solidFill>
                  <a:srgbClr val="12171A"/>
                </a:solidFill>
                <a:latin typeface="Calibri"/>
                <a:cs typeface="Calibri"/>
              </a:rPr>
              <a:t>low</a:t>
            </a:r>
            <a:r>
              <a:rPr sz="2000" dirty="0">
                <a:solidFill>
                  <a:srgbClr val="12171A"/>
                </a:solidFill>
                <a:latin typeface="Calibri"/>
                <a:cs typeface="Calibri"/>
              </a:rPr>
              <a:t>	</a:t>
            </a:r>
            <a:r>
              <a:rPr sz="2000" spc="-10" dirty="0">
                <a:solidFill>
                  <a:srgbClr val="12171A"/>
                </a:solidFill>
                <a:latin typeface="Calibri"/>
                <a:cs typeface="Calibri"/>
              </a:rPr>
              <a:t>affinity</a:t>
            </a:r>
            <a:r>
              <a:rPr sz="2000" dirty="0">
                <a:solidFill>
                  <a:srgbClr val="12171A"/>
                </a:solidFill>
                <a:latin typeface="Calibri"/>
                <a:cs typeface="Calibri"/>
              </a:rPr>
              <a:t>	</a:t>
            </a:r>
            <a:r>
              <a:rPr sz="2000" spc="-25" dirty="0">
                <a:solidFill>
                  <a:srgbClr val="12171A"/>
                </a:solidFill>
                <a:latin typeface="Calibri"/>
                <a:cs typeface="Calibri"/>
              </a:rPr>
              <a:t>to</a:t>
            </a:r>
            <a:r>
              <a:rPr sz="2000" dirty="0">
                <a:solidFill>
                  <a:srgbClr val="12171A"/>
                </a:solidFill>
                <a:latin typeface="Calibri"/>
                <a:cs typeface="Calibri"/>
              </a:rPr>
              <a:t>	</a:t>
            </a:r>
            <a:r>
              <a:rPr sz="2000" spc="-25" dirty="0">
                <a:solidFill>
                  <a:srgbClr val="12171A"/>
                </a:solidFill>
                <a:latin typeface="Calibri"/>
                <a:cs typeface="Calibri"/>
              </a:rPr>
              <a:t>all</a:t>
            </a:r>
            <a:r>
              <a:rPr sz="2000" dirty="0">
                <a:solidFill>
                  <a:srgbClr val="12171A"/>
                </a:solidFill>
                <a:latin typeface="Calibri"/>
                <a:cs typeface="Calibri"/>
              </a:rPr>
              <a:t>	</a:t>
            </a:r>
            <a:r>
              <a:rPr sz="2000" spc="-25" dirty="0">
                <a:solidFill>
                  <a:srgbClr val="12171A"/>
                </a:solidFill>
                <a:latin typeface="Calibri"/>
                <a:cs typeface="Calibri"/>
              </a:rPr>
              <a:t>the</a:t>
            </a:r>
            <a:endParaRPr sz="2000">
              <a:latin typeface="Calibri"/>
              <a:cs typeface="Calibri"/>
            </a:endParaRPr>
          </a:p>
          <a:p>
            <a:pPr marL="355600">
              <a:lnSpc>
                <a:spcPct val="100000"/>
              </a:lnSpc>
            </a:pPr>
            <a:r>
              <a:rPr sz="2000" dirty="0">
                <a:solidFill>
                  <a:srgbClr val="12171A"/>
                </a:solidFill>
                <a:latin typeface="Calibri"/>
                <a:cs typeface="Calibri"/>
              </a:rPr>
              <a:t>clusters</a:t>
            </a:r>
            <a:r>
              <a:rPr sz="2000" spc="-10" dirty="0">
                <a:solidFill>
                  <a:srgbClr val="12171A"/>
                </a:solidFill>
                <a:latin typeface="Calibri"/>
                <a:cs typeface="Calibri"/>
              </a:rPr>
              <a:t> </a:t>
            </a:r>
            <a:r>
              <a:rPr sz="2000" dirty="0">
                <a:solidFill>
                  <a:srgbClr val="12171A"/>
                </a:solidFill>
                <a:latin typeface="Calibri"/>
                <a:cs typeface="Calibri"/>
              </a:rPr>
              <a:t>is</a:t>
            </a:r>
            <a:r>
              <a:rPr sz="2000" spc="-30" dirty="0">
                <a:solidFill>
                  <a:srgbClr val="12171A"/>
                </a:solidFill>
                <a:latin typeface="Calibri"/>
                <a:cs typeface="Calibri"/>
              </a:rPr>
              <a:t> </a:t>
            </a:r>
            <a:r>
              <a:rPr sz="2000" dirty="0">
                <a:solidFill>
                  <a:srgbClr val="12171A"/>
                </a:solidFill>
                <a:latin typeface="Calibri"/>
                <a:cs typeface="Calibri"/>
              </a:rPr>
              <a:t>likely</a:t>
            </a:r>
            <a:r>
              <a:rPr sz="2000" spc="-10" dirty="0">
                <a:solidFill>
                  <a:srgbClr val="12171A"/>
                </a:solidFill>
                <a:latin typeface="Calibri"/>
                <a:cs typeface="Calibri"/>
              </a:rPr>
              <a:t> </a:t>
            </a:r>
            <a:r>
              <a:rPr sz="2000" dirty="0">
                <a:solidFill>
                  <a:srgbClr val="12171A"/>
                </a:solidFill>
                <a:latin typeface="Calibri"/>
                <a:cs typeface="Calibri"/>
              </a:rPr>
              <a:t>to</a:t>
            </a:r>
            <a:r>
              <a:rPr sz="2000" spc="-40" dirty="0">
                <a:solidFill>
                  <a:srgbClr val="12171A"/>
                </a:solidFill>
                <a:latin typeface="Calibri"/>
                <a:cs typeface="Calibri"/>
              </a:rPr>
              <a:t> </a:t>
            </a:r>
            <a:r>
              <a:rPr sz="2000" dirty="0">
                <a:solidFill>
                  <a:srgbClr val="12171A"/>
                </a:solidFill>
                <a:latin typeface="Calibri"/>
                <a:cs typeface="Calibri"/>
              </a:rPr>
              <a:t>be</a:t>
            </a:r>
            <a:r>
              <a:rPr sz="2000" spc="-40" dirty="0">
                <a:solidFill>
                  <a:srgbClr val="12171A"/>
                </a:solidFill>
                <a:latin typeface="Calibri"/>
                <a:cs typeface="Calibri"/>
              </a:rPr>
              <a:t> </a:t>
            </a:r>
            <a:r>
              <a:rPr sz="2000" dirty="0">
                <a:solidFill>
                  <a:srgbClr val="12171A"/>
                </a:solidFill>
                <a:latin typeface="Calibri"/>
                <a:cs typeface="Calibri"/>
              </a:rPr>
              <a:t>an</a:t>
            </a:r>
            <a:r>
              <a:rPr sz="2000" spc="-25" dirty="0">
                <a:solidFill>
                  <a:srgbClr val="12171A"/>
                </a:solidFill>
                <a:latin typeface="Calibri"/>
                <a:cs typeface="Calibri"/>
              </a:rPr>
              <a:t> </a:t>
            </a:r>
            <a:r>
              <a:rPr sz="2000" spc="-10" dirty="0">
                <a:solidFill>
                  <a:srgbClr val="12171A"/>
                </a:solidFill>
                <a:latin typeface="Calibri"/>
                <a:cs typeface="Calibri"/>
              </a:rPr>
              <a:t>anomaly.</a:t>
            </a:r>
            <a:endParaRPr sz="2000">
              <a:latin typeface="Calibri"/>
              <a:cs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50165">
              <a:lnSpc>
                <a:spcPct val="100000"/>
              </a:lnSpc>
              <a:spcBef>
                <a:spcPts val="105"/>
              </a:spcBef>
            </a:pPr>
            <a:r>
              <a:rPr dirty="0"/>
              <a:t>Applications</a:t>
            </a:r>
            <a:r>
              <a:rPr spc="-60" dirty="0"/>
              <a:t> </a:t>
            </a:r>
            <a:r>
              <a:rPr dirty="0"/>
              <a:t>of</a:t>
            </a:r>
            <a:r>
              <a:rPr spc="-25" dirty="0"/>
              <a:t> </a:t>
            </a:r>
            <a:r>
              <a:rPr spc="-10" dirty="0"/>
              <a:t>Clustering</a:t>
            </a:r>
          </a:p>
        </p:txBody>
      </p:sp>
      <p:sp>
        <p:nvSpPr>
          <p:cNvPr id="4" name="object 4"/>
          <p:cNvSpPr txBox="1">
            <a:spLocks noGrp="1"/>
          </p:cNvSpPr>
          <p:nvPr>
            <p:ph type="sldNum" sz="quarter" idx="7"/>
          </p:nvPr>
        </p:nvSpPr>
        <p:spPr>
          <a:prstGeom prst="rect">
            <a:avLst/>
          </a:prstGeom>
        </p:spPr>
        <p:txBody>
          <a:bodyPr vert="horz" wrap="square" lIns="0" tIns="10160" rIns="0" bIns="0" rtlCol="0">
            <a:spAutoFit/>
          </a:bodyPr>
          <a:lstStyle/>
          <a:p>
            <a:pPr marL="133985">
              <a:lnSpc>
                <a:spcPct val="100000"/>
              </a:lnSpc>
              <a:spcBef>
                <a:spcPts val="80"/>
              </a:spcBef>
            </a:pPr>
            <a:fld id="{81D60167-4931-47E6-BA6A-407CBD079E47}" type="slidenum">
              <a:rPr spc="-50" dirty="0"/>
              <a:t>41</a:t>
            </a:fld>
            <a:endParaRPr spc="-50" dirty="0"/>
          </a:p>
        </p:txBody>
      </p:sp>
      <p:sp>
        <p:nvSpPr>
          <p:cNvPr id="3" name="object 3"/>
          <p:cNvSpPr txBox="1"/>
          <p:nvPr/>
        </p:nvSpPr>
        <p:spPr>
          <a:xfrm>
            <a:off x="744423" y="1277238"/>
            <a:ext cx="7832090" cy="3167380"/>
          </a:xfrm>
          <a:prstGeom prst="rect">
            <a:avLst/>
          </a:prstGeom>
        </p:spPr>
        <p:txBody>
          <a:bodyPr vert="horz" wrap="square" lIns="0" tIns="13335" rIns="0" bIns="0" rtlCol="0">
            <a:spAutoFit/>
          </a:bodyPr>
          <a:lstStyle/>
          <a:p>
            <a:pPr marL="355600" marR="5080" indent="-342900" algn="just">
              <a:lnSpc>
                <a:spcPct val="100000"/>
              </a:lnSpc>
              <a:spcBef>
                <a:spcPts val="105"/>
              </a:spcBef>
              <a:buClr>
                <a:srgbClr val="333940"/>
              </a:buClr>
              <a:buSzPct val="90000"/>
              <a:buFont typeface="Wingdings"/>
              <a:buChar char=""/>
              <a:tabLst>
                <a:tab pos="355600" algn="l"/>
              </a:tabLst>
            </a:pPr>
            <a:r>
              <a:rPr sz="2000" i="1" spc="-10" dirty="0">
                <a:solidFill>
                  <a:srgbClr val="00AF50"/>
                </a:solidFill>
                <a:latin typeface="Calibri"/>
                <a:cs typeface="Calibri"/>
              </a:rPr>
              <a:t>Semi-</a:t>
            </a:r>
            <a:r>
              <a:rPr sz="2000" i="1" dirty="0">
                <a:solidFill>
                  <a:srgbClr val="00AF50"/>
                </a:solidFill>
                <a:latin typeface="Calibri"/>
                <a:cs typeface="Calibri"/>
              </a:rPr>
              <a:t>supervised</a:t>
            </a:r>
            <a:r>
              <a:rPr sz="2000" i="1" spc="55" dirty="0">
                <a:solidFill>
                  <a:srgbClr val="00AF50"/>
                </a:solidFill>
                <a:latin typeface="Calibri"/>
                <a:cs typeface="Calibri"/>
              </a:rPr>
              <a:t>  </a:t>
            </a:r>
            <a:r>
              <a:rPr sz="2000" i="1" dirty="0">
                <a:solidFill>
                  <a:srgbClr val="00AF50"/>
                </a:solidFill>
                <a:latin typeface="Calibri"/>
                <a:cs typeface="Calibri"/>
              </a:rPr>
              <a:t>learning</a:t>
            </a:r>
            <a:r>
              <a:rPr sz="2000" i="1" dirty="0">
                <a:solidFill>
                  <a:srgbClr val="12171A"/>
                </a:solidFill>
                <a:latin typeface="Calibri"/>
                <a:cs typeface="Calibri"/>
              </a:rPr>
              <a:t>:</a:t>
            </a:r>
            <a:r>
              <a:rPr sz="2000" i="1" spc="55" dirty="0">
                <a:solidFill>
                  <a:srgbClr val="12171A"/>
                </a:solidFill>
                <a:latin typeface="Calibri"/>
                <a:cs typeface="Calibri"/>
              </a:rPr>
              <a:t>  </a:t>
            </a:r>
            <a:r>
              <a:rPr sz="2000" dirty="0">
                <a:solidFill>
                  <a:srgbClr val="12171A"/>
                </a:solidFill>
                <a:latin typeface="Calibri"/>
                <a:cs typeface="Calibri"/>
              </a:rPr>
              <a:t>if</a:t>
            </a:r>
            <a:r>
              <a:rPr sz="2000" spc="45" dirty="0">
                <a:solidFill>
                  <a:srgbClr val="12171A"/>
                </a:solidFill>
                <a:latin typeface="Calibri"/>
                <a:cs typeface="Calibri"/>
              </a:rPr>
              <a:t>  </a:t>
            </a:r>
            <a:r>
              <a:rPr sz="2000" dirty="0">
                <a:solidFill>
                  <a:srgbClr val="12171A"/>
                </a:solidFill>
                <a:latin typeface="Calibri"/>
                <a:cs typeface="Calibri"/>
              </a:rPr>
              <a:t>you</a:t>
            </a:r>
            <a:r>
              <a:rPr sz="2000" spc="55" dirty="0">
                <a:solidFill>
                  <a:srgbClr val="12171A"/>
                </a:solidFill>
                <a:latin typeface="Calibri"/>
                <a:cs typeface="Calibri"/>
              </a:rPr>
              <a:t>  </a:t>
            </a:r>
            <a:r>
              <a:rPr sz="2000" dirty="0">
                <a:solidFill>
                  <a:srgbClr val="12171A"/>
                </a:solidFill>
                <a:latin typeface="Calibri"/>
                <a:cs typeface="Calibri"/>
              </a:rPr>
              <a:t>only</a:t>
            </a:r>
            <a:r>
              <a:rPr sz="2000" spc="55" dirty="0">
                <a:solidFill>
                  <a:srgbClr val="12171A"/>
                </a:solidFill>
                <a:latin typeface="Calibri"/>
                <a:cs typeface="Calibri"/>
              </a:rPr>
              <a:t>  </a:t>
            </a:r>
            <a:r>
              <a:rPr sz="2000" dirty="0">
                <a:solidFill>
                  <a:srgbClr val="12171A"/>
                </a:solidFill>
                <a:latin typeface="Calibri"/>
                <a:cs typeface="Calibri"/>
              </a:rPr>
              <a:t>have</a:t>
            </a:r>
            <a:r>
              <a:rPr sz="2000" spc="50" dirty="0">
                <a:solidFill>
                  <a:srgbClr val="12171A"/>
                </a:solidFill>
                <a:latin typeface="Calibri"/>
                <a:cs typeface="Calibri"/>
              </a:rPr>
              <a:t>  </a:t>
            </a:r>
            <a:r>
              <a:rPr sz="2000" dirty="0">
                <a:solidFill>
                  <a:srgbClr val="12171A"/>
                </a:solidFill>
                <a:latin typeface="Calibri"/>
                <a:cs typeface="Calibri"/>
              </a:rPr>
              <a:t>a</a:t>
            </a:r>
            <a:r>
              <a:rPr sz="2000" spc="60" dirty="0">
                <a:solidFill>
                  <a:srgbClr val="12171A"/>
                </a:solidFill>
                <a:latin typeface="Calibri"/>
                <a:cs typeface="Calibri"/>
              </a:rPr>
              <a:t>  </a:t>
            </a:r>
            <a:r>
              <a:rPr sz="2000" dirty="0">
                <a:solidFill>
                  <a:srgbClr val="12171A"/>
                </a:solidFill>
                <a:latin typeface="Calibri"/>
                <a:cs typeface="Calibri"/>
              </a:rPr>
              <a:t>few</a:t>
            </a:r>
            <a:r>
              <a:rPr sz="2000" spc="45" dirty="0">
                <a:solidFill>
                  <a:srgbClr val="12171A"/>
                </a:solidFill>
                <a:latin typeface="Calibri"/>
                <a:cs typeface="Calibri"/>
              </a:rPr>
              <a:t>  </a:t>
            </a:r>
            <a:r>
              <a:rPr sz="2000" dirty="0">
                <a:solidFill>
                  <a:srgbClr val="12171A"/>
                </a:solidFill>
                <a:latin typeface="Calibri"/>
                <a:cs typeface="Calibri"/>
              </a:rPr>
              <a:t>labels,</a:t>
            </a:r>
            <a:r>
              <a:rPr sz="2000" spc="60" dirty="0">
                <a:solidFill>
                  <a:srgbClr val="12171A"/>
                </a:solidFill>
                <a:latin typeface="Calibri"/>
                <a:cs typeface="Calibri"/>
              </a:rPr>
              <a:t>  </a:t>
            </a:r>
            <a:r>
              <a:rPr sz="2000" dirty="0">
                <a:solidFill>
                  <a:srgbClr val="12171A"/>
                </a:solidFill>
                <a:latin typeface="Calibri"/>
                <a:cs typeface="Calibri"/>
              </a:rPr>
              <a:t>you</a:t>
            </a:r>
            <a:r>
              <a:rPr sz="2000" spc="50" dirty="0">
                <a:solidFill>
                  <a:srgbClr val="12171A"/>
                </a:solidFill>
                <a:latin typeface="Calibri"/>
                <a:cs typeface="Calibri"/>
              </a:rPr>
              <a:t>  </a:t>
            </a:r>
            <a:r>
              <a:rPr sz="2000" spc="-10" dirty="0">
                <a:solidFill>
                  <a:srgbClr val="12171A"/>
                </a:solidFill>
                <a:latin typeface="Calibri"/>
                <a:cs typeface="Calibri"/>
              </a:rPr>
              <a:t>could </a:t>
            </a:r>
            <a:r>
              <a:rPr sz="2000" dirty="0">
                <a:solidFill>
                  <a:srgbClr val="12171A"/>
                </a:solidFill>
                <a:latin typeface="Calibri"/>
                <a:cs typeface="Calibri"/>
              </a:rPr>
              <a:t>perform</a:t>
            </a:r>
            <a:r>
              <a:rPr sz="2000" spc="135" dirty="0">
                <a:solidFill>
                  <a:srgbClr val="12171A"/>
                </a:solidFill>
                <a:latin typeface="Calibri"/>
                <a:cs typeface="Calibri"/>
              </a:rPr>
              <a:t> </a:t>
            </a:r>
            <a:r>
              <a:rPr sz="2000" dirty="0">
                <a:solidFill>
                  <a:srgbClr val="12171A"/>
                </a:solidFill>
                <a:latin typeface="Calibri"/>
                <a:cs typeface="Calibri"/>
              </a:rPr>
              <a:t>clustering</a:t>
            </a:r>
            <a:r>
              <a:rPr sz="2000" spc="155" dirty="0">
                <a:solidFill>
                  <a:srgbClr val="12171A"/>
                </a:solidFill>
                <a:latin typeface="Calibri"/>
                <a:cs typeface="Calibri"/>
              </a:rPr>
              <a:t> </a:t>
            </a:r>
            <a:r>
              <a:rPr sz="2000" dirty="0">
                <a:solidFill>
                  <a:srgbClr val="12171A"/>
                </a:solidFill>
                <a:latin typeface="Calibri"/>
                <a:cs typeface="Calibri"/>
              </a:rPr>
              <a:t>and</a:t>
            </a:r>
            <a:r>
              <a:rPr sz="2000" spc="140" dirty="0">
                <a:solidFill>
                  <a:srgbClr val="12171A"/>
                </a:solidFill>
                <a:latin typeface="Calibri"/>
                <a:cs typeface="Calibri"/>
              </a:rPr>
              <a:t> </a:t>
            </a:r>
            <a:r>
              <a:rPr sz="2000" dirty="0">
                <a:solidFill>
                  <a:srgbClr val="12171A"/>
                </a:solidFill>
                <a:latin typeface="Calibri"/>
                <a:cs typeface="Calibri"/>
              </a:rPr>
              <a:t>propagate</a:t>
            </a:r>
            <a:r>
              <a:rPr sz="2000" spc="150" dirty="0">
                <a:solidFill>
                  <a:srgbClr val="12171A"/>
                </a:solidFill>
                <a:latin typeface="Calibri"/>
                <a:cs typeface="Calibri"/>
              </a:rPr>
              <a:t> </a:t>
            </a:r>
            <a:r>
              <a:rPr sz="2000" dirty="0">
                <a:solidFill>
                  <a:srgbClr val="12171A"/>
                </a:solidFill>
                <a:latin typeface="Calibri"/>
                <a:cs typeface="Calibri"/>
              </a:rPr>
              <a:t>the</a:t>
            </a:r>
            <a:r>
              <a:rPr sz="2000" spc="145" dirty="0">
                <a:solidFill>
                  <a:srgbClr val="12171A"/>
                </a:solidFill>
                <a:latin typeface="Calibri"/>
                <a:cs typeface="Calibri"/>
              </a:rPr>
              <a:t> </a:t>
            </a:r>
            <a:r>
              <a:rPr sz="2000" dirty="0">
                <a:solidFill>
                  <a:srgbClr val="12171A"/>
                </a:solidFill>
                <a:latin typeface="Calibri"/>
                <a:cs typeface="Calibri"/>
              </a:rPr>
              <a:t>labels</a:t>
            </a:r>
            <a:r>
              <a:rPr sz="2000" spc="140" dirty="0">
                <a:solidFill>
                  <a:srgbClr val="12171A"/>
                </a:solidFill>
                <a:latin typeface="Calibri"/>
                <a:cs typeface="Calibri"/>
              </a:rPr>
              <a:t> </a:t>
            </a:r>
            <a:r>
              <a:rPr sz="2000" dirty="0">
                <a:solidFill>
                  <a:srgbClr val="12171A"/>
                </a:solidFill>
                <a:latin typeface="Calibri"/>
                <a:cs typeface="Calibri"/>
              </a:rPr>
              <a:t>to</a:t>
            </a:r>
            <a:r>
              <a:rPr sz="2000" spc="145" dirty="0">
                <a:solidFill>
                  <a:srgbClr val="12171A"/>
                </a:solidFill>
                <a:latin typeface="Calibri"/>
                <a:cs typeface="Calibri"/>
              </a:rPr>
              <a:t> </a:t>
            </a:r>
            <a:r>
              <a:rPr sz="2000" dirty="0">
                <a:solidFill>
                  <a:srgbClr val="12171A"/>
                </a:solidFill>
                <a:latin typeface="Calibri"/>
                <a:cs typeface="Calibri"/>
              </a:rPr>
              <a:t>all</a:t>
            </a:r>
            <a:r>
              <a:rPr sz="2000" spc="145" dirty="0">
                <a:solidFill>
                  <a:srgbClr val="12171A"/>
                </a:solidFill>
                <a:latin typeface="Calibri"/>
                <a:cs typeface="Calibri"/>
              </a:rPr>
              <a:t> </a:t>
            </a:r>
            <a:r>
              <a:rPr sz="2000" dirty="0">
                <a:solidFill>
                  <a:srgbClr val="12171A"/>
                </a:solidFill>
                <a:latin typeface="Calibri"/>
                <a:cs typeface="Calibri"/>
              </a:rPr>
              <a:t>the</a:t>
            </a:r>
            <a:r>
              <a:rPr sz="2000" spc="145" dirty="0">
                <a:solidFill>
                  <a:srgbClr val="12171A"/>
                </a:solidFill>
                <a:latin typeface="Calibri"/>
                <a:cs typeface="Calibri"/>
              </a:rPr>
              <a:t> </a:t>
            </a:r>
            <a:r>
              <a:rPr sz="2000" dirty="0">
                <a:solidFill>
                  <a:srgbClr val="12171A"/>
                </a:solidFill>
                <a:latin typeface="Calibri"/>
                <a:cs typeface="Calibri"/>
              </a:rPr>
              <a:t>instances</a:t>
            </a:r>
            <a:r>
              <a:rPr sz="2000" spc="165" dirty="0">
                <a:solidFill>
                  <a:srgbClr val="12171A"/>
                </a:solidFill>
                <a:latin typeface="Calibri"/>
                <a:cs typeface="Calibri"/>
              </a:rPr>
              <a:t> </a:t>
            </a:r>
            <a:r>
              <a:rPr sz="2000" dirty="0">
                <a:solidFill>
                  <a:srgbClr val="12171A"/>
                </a:solidFill>
                <a:latin typeface="Calibri"/>
                <a:cs typeface="Calibri"/>
              </a:rPr>
              <a:t>in</a:t>
            </a:r>
            <a:r>
              <a:rPr sz="2000" spc="150" dirty="0">
                <a:solidFill>
                  <a:srgbClr val="12171A"/>
                </a:solidFill>
                <a:latin typeface="Calibri"/>
                <a:cs typeface="Calibri"/>
              </a:rPr>
              <a:t> </a:t>
            </a:r>
            <a:r>
              <a:rPr sz="2000" spc="-25" dirty="0">
                <a:solidFill>
                  <a:srgbClr val="12171A"/>
                </a:solidFill>
                <a:latin typeface="Calibri"/>
                <a:cs typeface="Calibri"/>
              </a:rPr>
              <a:t>the </a:t>
            </a:r>
            <a:r>
              <a:rPr sz="2000" dirty="0">
                <a:solidFill>
                  <a:srgbClr val="12171A"/>
                </a:solidFill>
                <a:latin typeface="Calibri"/>
                <a:cs typeface="Calibri"/>
              </a:rPr>
              <a:t>same</a:t>
            </a:r>
            <a:r>
              <a:rPr sz="2000" spc="-50" dirty="0">
                <a:solidFill>
                  <a:srgbClr val="12171A"/>
                </a:solidFill>
                <a:latin typeface="Calibri"/>
                <a:cs typeface="Calibri"/>
              </a:rPr>
              <a:t> </a:t>
            </a:r>
            <a:r>
              <a:rPr sz="2000" spc="-10" dirty="0">
                <a:solidFill>
                  <a:srgbClr val="12171A"/>
                </a:solidFill>
                <a:latin typeface="Calibri"/>
                <a:cs typeface="Calibri"/>
              </a:rPr>
              <a:t>cluster.</a:t>
            </a:r>
            <a:endParaRPr sz="2000">
              <a:latin typeface="Calibri"/>
              <a:cs typeface="Calibri"/>
            </a:endParaRPr>
          </a:p>
          <a:p>
            <a:pPr marL="355600" marR="5080" indent="-342900" algn="just">
              <a:lnSpc>
                <a:spcPct val="100000"/>
              </a:lnSpc>
              <a:spcBef>
                <a:spcPts val="600"/>
              </a:spcBef>
              <a:buClr>
                <a:srgbClr val="333940"/>
              </a:buClr>
              <a:buSzPct val="90000"/>
              <a:buFont typeface="Wingdings"/>
              <a:buChar char=""/>
              <a:tabLst>
                <a:tab pos="355600" algn="l"/>
              </a:tabLst>
            </a:pPr>
            <a:r>
              <a:rPr sz="2000" i="1" dirty="0">
                <a:solidFill>
                  <a:srgbClr val="00AF50"/>
                </a:solidFill>
                <a:latin typeface="Calibri"/>
                <a:cs typeface="Calibri"/>
              </a:rPr>
              <a:t>Search</a:t>
            </a:r>
            <a:r>
              <a:rPr sz="2000" i="1" spc="355" dirty="0">
                <a:solidFill>
                  <a:srgbClr val="00AF50"/>
                </a:solidFill>
                <a:latin typeface="Calibri"/>
                <a:cs typeface="Calibri"/>
              </a:rPr>
              <a:t> </a:t>
            </a:r>
            <a:r>
              <a:rPr sz="2000" i="1" dirty="0">
                <a:solidFill>
                  <a:srgbClr val="00AF50"/>
                </a:solidFill>
                <a:latin typeface="Calibri"/>
                <a:cs typeface="Calibri"/>
              </a:rPr>
              <a:t>engines</a:t>
            </a:r>
            <a:r>
              <a:rPr sz="2000" i="1" dirty="0">
                <a:solidFill>
                  <a:srgbClr val="12171A"/>
                </a:solidFill>
                <a:latin typeface="Calibri"/>
                <a:cs typeface="Calibri"/>
              </a:rPr>
              <a:t>:</a:t>
            </a:r>
            <a:r>
              <a:rPr sz="2000" i="1" spc="365" dirty="0">
                <a:solidFill>
                  <a:srgbClr val="12171A"/>
                </a:solidFill>
                <a:latin typeface="Calibri"/>
                <a:cs typeface="Calibri"/>
              </a:rPr>
              <a:t> </a:t>
            </a:r>
            <a:r>
              <a:rPr sz="2000" dirty="0">
                <a:solidFill>
                  <a:srgbClr val="12171A"/>
                </a:solidFill>
                <a:latin typeface="Calibri"/>
                <a:cs typeface="Calibri"/>
              </a:rPr>
              <a:t>to</a:t>
            </a:r>
            <a:r>
              <a:rPr sz="2000" spc="365" dirty="0">
                <a:solidFill>
                  <a:srgbClr val="12171A"/>
                </a:solidFill>
                <a:latin typeface="Calibri"/>
                <a:cs typeface="Calibri"/>
              </a:rPr>
              <a:t> </a:t>
            </a:r>
            <a:r>
              <a:rPr sz="2000" dirty="0">
                <a:solidFill>
                  <a:srgbClr val="12171A"/>
                </a:solidFill>
                <a:latin typeface="Calibri"/>
                <a:cs typeface="Calibri"/>
              </a:rPr>
              <a:t>search</a:t>
            </a:r>
            <a:r>
              <a:rPr sz="2000" spc="370" dirty="0">
                <a:solidFill>
                  <a:srgbClr val="12171A"/>
                </a:solidFill>
                <a:latin typeface="Calibri"/>
                <a:cs typeface="Calibri"/>
              </a:rPr>
              <a:t> </a:t>
            </a:r>
            <a:r>
              <a:rPr sz="2000" dirty="0">
                <a:solidFill>
                  <a:srgbClr val="12171A"/>
                </a:solidFill>
                <a:latin typeface="Calibri"/>
                <a:cs typeface="Calibri"/>
              </a:rPr>
              <a:t>for</a:t>
            </a:r>
            <a:r>
              <a:rPr sz="2000" spc="360" dirty="0">
                <a:solidFill>
                  <a:srgbClr val="12171A"/>
                </a:solidFill>
                <a:latin typeface="Calibri"/>
                <a:cs typeface="Calibri"/>
              </a:rPr>
              <a:t> </a:t>
            </a:r>
            <a:r>
              <a:rPr sz="2000" dirty="0">
                <a:solidFill>
                  <a:srgbClr val="12171A"/>
                </a:solidFill>
                <a:latin typeface="Calibri"/>
                <a:cs typeface="Calibri"/>
              </a:rPr>
              <a:t>images</a:t>
            </a:r>
            <a:r>
              <a:rPr sz="2000" spc="365" dirty="0">
                <a:solidFill>
                  <a:srgbClr val="12171A"/>
                </a:solidFill>
                <a:latin typeface="Calibri"/>
                <a:cs typeface="Calibri"/>
              </a:rPr>
              <a:t> </a:t>
            </a:r>
            <a:r>
              <a:rPr sz="2000" dirty="0">
                <a:solidFill>
                  <a:srgbClr val="12171A"/>
                </a:solidFill>
                <a:latin typeface="Calibri"/>
                <a:cs typeface="Calibri"/>
              </a:rPr>
              <a:t>that</a:t>
            </a:r>
            <a:r>
              <a:rPr sz="2000" spc="370" dirty="0">
                <a:solidFill>
                  <a:srgbClr val="12171A"/>
                </a:solidFill>
                <a:latin typeface="Calibri"/>
                <a:cs typeface="Calibri"/>
              </a:rPr>
              <a:t> </a:t>
            </a:r>
            <a:r>
              <a:rPr sz="2000" dirty="0">
                <a:solidFill>
                  <a:srgbClr val="12171A"/>
                </a:solidFill>
                <a:latin typeface="Calibri"/>
                <a:cs typeface="Calibri"/>
              </a:rPr>
              <a:t>are</a:t>
            </a:r>
            <a:r>
              <a:rPr sz="2000" spc="360" dirty="0">
                <a:solidFill>
                  <a:srgbClr val="12171A"/>
                </a:solidFill>
                <a:latin typeface="Calibri"/>
                <a:cs typeface="Calibri"/>
              </a:rPr>
              <a:t> </a:t>
            </a:r>
            <a:r>
              <a:rPr sz="2000" dirty="0">
                <a:solidFill>
                  <a:srgbClr val="12171A"/>
                </a:solidFill>
                <a:latin typeface="Calibri"/>
                <a:cs typeface="Calibri"/>
              </a:rPr>
              <a:t>similar</a:t>
            </a:r>
            <a:r>
              <a:rPr sz="2000" spc="370" dirty="0">
                <a:solidFill>
                  <a:srgbClr val="12171A"/>
                </a:solidFill>
                <a:latin typeface="Calibri"/>
                <a:cs typeface="Calibri"/>
              </a:rPr>
              <a:t> </a:t>
            </a:r>
            <a:r>
              <a:rPr sz="2000" dirty="0">
                <a:solidFill>
                  <a:srgbClr val="12171A"/>
                </a:solidFill>
                <a:latin typeface="Calibri"/>
                <a:cs typeface="Calibri"/>
              </a:rPr>
              <a:t>to</a:t>
            </a:r>
            <a:r>
              <a:rPr sz="2000" spc="365" dirty="0">
                <a:solidFill>
                  <a:srgbClr val="12171A"/>
                </a:solidFill>
                <a:latin typeface="Calibri"/>
                <a:cs typeface="Calibri"/>
              </a:rPr>
              <a:t> </a:t>
            </a:r>
            <a:r>
              <a:rPr sz="2000" dirty="0">
                <a:solidFill>
                  <a:srgbClr val="12171A"/>
                </a:solidFill>
                <a:latin typeface="Calibri"/>
                <a:cs typeface="Calibri"/>
              </a:rPr>
              <a:t>a</a:t>
            </a:r>
            <a:r>
              <a:rPr sz="2000" spc="365" dirty="0">
                <a:solidFill>
                  <a:srgbClr val="12171A"/>
                </a:solidFill>
                <a:latin typeface="Calibri"/>
                <a:cs typeface="Calibri"/>
              </a:rPr>
              <a:t> </a:t>
            </a:r>
            <a:r>
              <a:rPr sz="2000" spc="-10" dirty="0">
                <a:solidFill>
                  <a:srgbClr val="12171A"/>
                </a:solidFill>
                <a:latin typeface="Calibri"/>
                <a:cs typeface="Calibri"/>
              </a:rPr>
              <a:t>reference </a:t>
            </a:r>
            <a:r>
              <a:rPr sz="2000" dirty="0">
                <a:solidFill>
                  <a:srgbClr val="12171A"/>
                </a:solidFill>
                <a:latin typeface="Calibri"/>
                <a:cs typeface="Calibri"/>
              </a:rPr>
              <a:t>image,</a:t>
            </a:r>
            <a:r>
              <a:rPr sz="2000" spc="145" dirty="0">
                <a:solidFill>
                  <a:srgbClr val="12171A"/>
                </a:solidFill>
                <a:latin typeface="Calibri"/>
                <a:cs typeface="Calibri"/>
              </a:rPr>
              <a:t> </a:t>
            </a:r>
            <a:r>
              <a:rPr sz="2000" dirty="0">
                <a:solidFill>
                  <a:srgbClr val="12171A"/>
                </a:solidFill>
                <a:latin typeface="Calibri"/>
                <a:cs typeface="Calibri"/>
              </a:rPr>
              <a:t>apply</a:t>
            </a:r>
            <a:r>
              <a:rPr sz="2000" spc="135" dirty="0">
                <a:solidFill>
                  <a:srgbClr val="12171A"/>
                </a:solidFill>
                <a:latin typeface="Calibri"/>
                <a:cs typeface="Calibri"/>
              </a:rPr>
              <a:t> </a:t>
            </a:r>
            <a:r>
              <a:rPr sz="2000" dirty="0">
                <a:solidFill>
                  <a:srgbClr val="12171A"/>
                </a:solidFill>
                <a:latin typeface="Calibri"/>
                <a:cs typeface="Calibri"/>
              </a:rPr>
              <a:t>a</a:t>
            </a:r>
            <a:r>
              <a:rPr sz="2000" spc="135" dirty="0">
                <a:solidFill>
                  <a:srgbClr val="12171A"/>
                </a:solidFill>
                <a:latin typeface="Calibri"/>
                <a:cs typeface="Calibri"/>
              </a:rPr>
              <a:t> </a:t>
            </a:r>
            <a:r>
              <a:rPr sz="2000" dirty="0">
                <a:solidFill>
                  <a:srgbClr val="12171A"/>
                </a:solidFill>
                <a:latin typeface="Calibri"/>
                <a:cs typeface="Calibri"/>
              </a:rPr>
              <a:t>clustering</a:t>
            </a:r>
            <a:r>
              <a:rPr sz="2000" spc="140" dirty="0">
                <a:solidFill>
                  <a:srgbClr val="12171A"/>
                </a:solidFill>
                <a:latin typeface="Calibri"/>
                <a:cs typeface="Calibri"/>
              </a:rPr>
              <a:t> </a:t>
            </a:r>
            <a:r>
              <a:rPr sz="2000" dirty="0">
                <a:solidFill>
                  <a:srgbClr val="12171A"/>
                </a:solidFill>
                <a:latin typeface="Calibri"/>
                <a:cs typeface="Calibri"/>
              </a:rPr>
              <a:t>algorithm</a:t>
            </a:r>
            <a:r>
              <a:rPr sz="2000" spc="135" dirty="0">
                <a:solidFill>
                  <a:srgbClr val="12171A"/>
                </a:solidFill>
                <a:latin typeface="Calibri"/>
                <a:cs typeface="Calibri"/>
              </a:rPr>
              <a:t> </a:t>
            </a:r>
            <a:r>
              <a:rPr sz="2000" dirty="0">
                <a:solidFill>
                  <a:srgbClr val="12171A"/>
                </a:solidFill>
                <a:latin typeface="Calibri"/>
                <a:cs typeface="Calibri"/>
              </a:rPr>
              <a:t>to</a:t>
            </a:r>
            <a:r>
              <a:rPr sz="2000" spc="130" dirty="0">
                <a:solidFill>
                  <a:srgbClr val="12171A"/>
                </a:solidFill>
                <a:latin typeface="Calibri"/>
                <a:cs typeface="Calibri"/>
              </a:rPr>
              <a:t> </a:t>
            </a:r>
            <a:r>
              <a:rPr sz="2000" dirty="0">
                <a:solidFill>
                  <a:srgbClr val="12171A"/>
                </a:solidFill>
                <a:latin typeface="Calibri"/>
                <a:cs typeface="Calibri"/>
              </a:rPr>
              <a:t>all</a:t>
            </a:r>
            <a:r>
              <a:rPr sz="2000" spc="130" dirty="0">
                <a:solidFill>
                  <a:srgbClr val="12171A"/>
                </a:solidFill>
                <a:latin typeface="Calibri"/>
                <a:cs typeface="Calibri"/>
              </a:rPr>
              <a:t> </a:t>
            </a:r>
            <a:r>
              <a:rPr sz="2000" dirty="0">
                <a:solidFill>
                  <a:srgbClr val="12171A"/>
                </a:solidFill>
                <a:latin typeface="Calibri"/>
                <a:cs typeface="Calibri"/>
              </a:rPr>
              <a:t>the</a:t>
            </a:r>
            <a:r>
              <a:rPr sz="2000" spc="145" dirty="0">
                <a:solidFill>
                  <a:srgbClr val="12171A"/>
                </a:solidFill>
                <a:latin typeface="Calibri"/>
                <a:cs typeface="Calibri"/>
              </a:rPr>
              <a:t> </a:t>
            </a:r>
            <a:r>
              <a:rPr sz="2000" dirty="0">
                <a:solidFill>
                  <a:srgbClr val="12171A"/>
                </a:solidFill>
                <a:latin typeface="Calibri"/>
                <a:cs typeface="Calibri"/>
              </a:rPr>
              <a:t>images</a:t>
            </a:r>
            <a:r>
              <a:rPr sz="2000" spc="145" dirty="0">
                <a:solidFill>
                  <a:srgbClr val="12171A"/>
                </a:solidFill>
                <a:latin typeface="Calibri"/>
                <a:cs typeface="Calibri"/>
              </a:rPr>
              <a:t> </a:t>
            </a:r>
            <a:r>
              <a:rPr sz="2000" dirty="0">
                <a:solidFill>
                  <a:srgbClr val="12171A"/>
                </a:solidFill>
                <a:latin typeface="Calibri"/>
                <a:cs typeface="Calibri"/>
              </a:rPr>
              <a:t>in</a:t>
            </a:r>
            <a:r>
              <a:rPr sz="2000" spc="120" dirty="0">
                <a:solidFill>
                  <a:srgbClr val="12171A"/>
                </a:solidFill>
                <a:latin typeface="Calibri"/>
                <a:cs typeface="Calibri"/>
              </a:rPr>
              <a:t> </a:t>
            </a:r>
            <a:r>
              <a:rPr sz="2000" dirty="0">
                <a:solidFill>
                  <a:srgbClr val="12171A"/>
                </a:solidFill>
                <a:latin typeface="Calibri"/>
                <a:cs typeface="Calibri"/>
              </a:rPr>
              <a:t>your</a:t>
            </a:r>
            <a:r>
              <a:rPr sz="2000" spc="130" dirty="0">
                <a:solidFill>
                  <a:srgbClr val="12171A"/>
                </a:solidFill>
                <a:latin typeface="Calibri"/>
                <a:cs typeface="Calibri"/>
              </a:rPr>
              <a:t> </a:t>
            </a:r>
            <a:r>
              <a:rPr sz="2000" spc="-10" dirty="0">
                <a:solidFill>
                  <a:srgbClr val="12171A"/>
                </a:solidFill>
                <a:latin typeface="Calibri"/>
                <a:cs typeface="Calibri"/>
              </a:rPr>
              <a:t>database; </a:t>
            </a:r>
            <a:r>
              <a:rPr sz="2000" dirty="0">
                <a:solidFill>
                  <a:srgbClr val="12171A"/>
                </a:solidFill>
                <a:latin typeface="Calibri"/>
                <a:cs typeface="Calibri"/>
              </a:rPr>
              <a:t>and</a:t>
            </a:r>
            <a:r>
              <a:rPr sz="2000" spc="-35" dirty="0">
                <a:solidFill>
                  <a:srgbClr val="12171A"/>
                </a:solidFill>
                <a:latin typeface="Calibri"/>
                <a:cs typeface="Calibri"/>
              </a:rPr>
              <a:t> </a:t>
            </a:r>
            <a:r>
              <a:rPr sz="2000" dirty="0">
                <a:solidFill>
                  <a:srgbClr val="12171A"/>
                </a:solidFill>
                <a:latin typeface="Calibri"/>
                <a:cs typeface="Calibri"/>
              </a:rPr>
              <a:t>return</a:t>
            </a:r>
            <a:r>
              <a:rPr sz="2000" spc="-40" dirty="0">
                <a:solidFill>
                  <a:srgbClr val="12171A"/>
                </a:solidFill>
                <a:latin typeface="Calibri"/>
                <a:cs typeface="Calibri"/>
              </a:rPr>
              <a:t> </a:t>
            </a:r>
            <a:r>
              <a:rPr sz="2000" dirty="0">
                <a:solidFill>
                  <a:srgbClr val="12171A"/>
                </a:solidFill>
                <a:latin typeface="Calibri"/>
                <a:cs typeface="Calibri"/>
              </a:rPr>
              <a:t>all</a:t>
            </a:r>
            <a:r>
              <a:rPr sz="2000" spc="-15" dirty="0">
                <a:solidFill>
                  <a:srgbClr val="12171A"/>
                </a:solidFill>
                <a:latin typeface="Calibri"/>
                <a:cs typeface="Calibri"/>
              </a:rPr>
              <a:t> </a:t>
            </a:r>
            <a:r>
              <a:rPr sz="2000" dirty="0">
                <a:solidFill>
                  <a:srgbClr val="12171A"/>
                </a:solidFill>
                <a:latin typeface="Calibri"/>
                <a:cs typeface="Calibri"/>
              </a:rPr>
              <a:t>the</a:t>
            </a:r>
            <a:r>
              <a:rPr sz="2000" spc="-30" dirty="0">
                <a:solidFill>
                  <a:srgbClr val="12171A"/>
                </a:solidFill>
                <a:latin typeface="Calibri"/>
                <a:cs typeface="Calibri"/>
              </a:rPr>
              <a:t> </a:t>
            </a:r>
            <a:r>
              <a:rPr sz="2000" dirty="0">
                <a:solidFill>
                  <a:srgbClr val="12171A"/>
                </a:solidFill>
                <a:latin typeface="Calibri"/>
                <a:cs typeface="Calibri"/>
              </a:rPr>
              <a:t>images</a:t>
            </a:r>
            <a:r>
              <a:rPr sz="2000" spc="-20" dirty="0">
                <a:solidFill>
                  <a:srgbClr val="12171A"/>
                </a:solidFill>
                <a:latin typeface="Calibri"/>
                <a:cs typeface="Calibri"/>
              </a:rPr>
              <a:t> </a:t>
            </a:r>
            <a:r>
              <a:rPr sz="2000" dirty="0">
                <a:solidFill>
                  <a:srgbClr val="12171A"/>
                </a:solidFill>
                <a:latin typeface="Calibri"/>
                <a:cs typeface="Calibri"/>
              </a:rPr>
              <a:t>from</a:t>
            </a:r>
            <a:r>
              <a:rPr sz="2000" spc="-50" dirty="0">
                <a:solidFill>
                  <a:srgbClr val="12171A"/>
                </a:solidFill>
                <a:latin typeface="Calibri"/>
                <a:cs typeface="Calibri"/>
              </a:rPr>
              <a:t> </a:t>
            </a:r>
            <a:r>
              <a:rPr sz="2000" dirty="0">
                <a:solidFill>
                  <a:srgbClr val="12171A"/>
                </a:solidFill>
                <a:latin typeface="Calibri"/>
                <a:cs typeface="Calibri"/>
              </a:rPr>
              <a:t>the</a:t>
            </a:r>
            <a:r>
              <a:rPr sz="2000" spc="-30" dirty="0">
                <a:solidFill>
                  <a:srgbClr val="12171A"/>
                </a:solidFill>
                <a:latin typeface="Calibri"/>
                <a:cs typeface="Calibri"/>
              </a:rPr>
              <a:t> </a:t>
            </a:r>
            <a:r>
              <a:rPr sz="2000" dirty="0">
                <a:solidFill>
                  <a:srgbClr val="12171A"/>
                </a:solidFill>
                <a:latin typeface="Calibri"/>
                <a:cs typeface="Calibri"/>
              </a:rPr>
              <a:t>cluster</a:t>
            </a:r>
            <a:r>
              <a:rPr sz="2000" spc="-25" dirty="0">
                <a:solidFill>
                  <a:srgbClr val="12171A"/>
                </a:solidFill>
                <a:latin typeface="Calibri"/>
                <a:cs typeface="Calibri"/>
              </a:rPr>
              <a:t> </a:t>
            </a:r>
            <a:r>
              <a:rPr sz="2000" dirty="0">
                <a:solidFill>
                  <a:srgbClr val="12171A"/>
                </a:solidFill>
                <a:latin typeface="Calibri"/>
                <a:cs typeface="Calibri"/>
              </a:rPr>
              <a:t>of</a:t>
            </a:r>
            <a:r>
              <a:rPr sz="2000" spc="-35" dirty="0">
                <a:solidFill>
                  <a:srgbClr val="12171A"/>
                </a:solidFill>
                <a:latin typeface="Calibri"/>
                <a:cs typeface="Calibri"/>
              </a:rPr>
              <a:t> </a:t>
            </a:r>
            <a:r>
              <a:rPr sz="2000" dirty="0">
                <a:solidFill>
                  <a:srgbClr val="12171A"/>
                </a:solidFill>
                <a:latin typeface="Calibri"/>
                <a:cs typeface="Calibri"/>
              </a:rPr>
              <a:t>the</a:t>
            </a:r>
            <a:r>
              <a:rPr sz="2000" spc="-45" dirty="0">
                <a:solidFill>
                  <a:srgbClr val="12171A"/>
                </a:solidFill>
                <a:latin typeface="Calibri"/>
                <a:cs typeface="Calibri"/>
              </a:rPr>
              <a:t> </a:t>
            </a:r>
            <a:r>
              <a:rPr sz="2000" dirty="0">
                <a:solidFill>
                  <a:srgbClr val="12171A"/>
                </a:solidFill>
                <a:latin typeface="Calibri"/>
                <a:cs typeface="Calibri"/>
              </a:rPr>
              <a:t>searched</a:t>
            </a:r>
            <a:r>
              <a:rPr sz="2000" spc="-10" dirty="0">
                <a:solidFill>
                  <a:srgbClr val="12171A"/>
                </a:solidFill>
                <a:latin typeface="Calibri"/>
                <a:cs typeface="Calibri"/>
              </a:rPr>
              <a:t> image.</a:t>
            </a:r>
            <a:endParaRPr sz="2000">
              <a:latin typeface="Calibri"/>
              <a:cs typeface="Calibri"/>
            </a:endParaRPr>
          </a:p>
          <a:p>
            <a:pPr marL="355600" marR="5080" indent="-342900" algn="just">
              <a:lnSpc>
                <a:spcPct val="100000"/>
              </a:lnSpc>
              <a:spcBef>
                <a:spcPts val="605"/>
              </a:spcBef>
              <a:buClr>
                <a:srgbClr val="333940"/>
              </a:buClr>
              <a:buSzPct val="90000"/>
              <a:buFont typeface="Wingdings"/>
              <a:buChar char=""/>
              <a:tabLst>
                <a:tab pos="355600" algn="l"/>
              </a:tabLst>
            </a:pPr>
            <a:r>
              <a:rPr sz="2000" i="1" dirty="0">
                <a:solidFill>
                  <a:srgbClr val="00AF50"/>
                </a:solidFill>
                <a:latin typeface="Calibri"/>
                <a:cs typeface="Calibri"/>
              </a:rPr>
              <a:t>Image</a:t>
            </a:r>
            <a:r>
              <a:rPr sz="2000" i="1" spc="140" dirty="0">
                <a:solidFill>
                  <a:srgbClr val="00AF50"/>
                </a:solidFill>
                <a:latin typeface="Calibri"/>
                <a:cs typeface="Calibri"/>
              </a:rPr>
              <a:t>  </a:t>
            </a:r>
            <a:r>
              <a:rPr sz="2000" i="1" dirty="0">
                <a:solidFill>
                  <a:srgbClr val="00AF50"/>
                </a:solidFill>
                <a:latin typeface="Calibri"/>
                <a:cs typeface="Calibri"/>
              </a:rPr>
              <a:t>segmentation</a:t>
            </a:r>
            <a:r>
              <a:rPr sz="2000" i="1" dirty="0">
                <a:solidFill>
                  <a:srgbClr val="12171A"/>
                </a:solidFill>
                <a:latin typeface="Calibri"/>
                <a:cs typeface="Calibri"/>
              </a:rPr>
              <a:t>:</a:t>
            </a:r>
            <a:r>
              <a:rPr sz="2000" i="1" spc="145" dirty="0">
                <a:solidFill>
                  <a:srgbClr val="12171A"/>
                </a:solidFill>
                <a:latin typeface="Calibri"/>
                <a:cs typeface="Calibri"/>
              </a:rPr>
              <a:t>  </a:t>
            </a:r>
            <a:r>
              <a:rPr sz="2000" dirty="0">
                <a:solidFill>
                  <a:srgbClr val="12171A"/>
                </a:solidFill>
                <a:latin typeface="Calibri"/>
                <a:cs typeface="Calibri"/>
              </a:rPr>
              <a:t>cluster</a:t>
            </a:r>
            <a:r>
              <a:rPr sz="2000" spc="145" dirty="0">
                <a:solidFill>
                  <a:srgbClr val="12171A"/>
                </a:solidFill>
                <a:latin typeface="Calibri"/>
                <a:cs typeface="Calibri"/>
              </a:rPr>
              <a:t>  </a:t>
            </a:r>
            <a:r>
              <a:rPr sz="2000" dirty="0">
                <a:solidFill>
                  <a:srgbClr val="12171A"/>
                </a:solidFill>
                <a:latin typeface="Calibri"/>
                <a:cs typeface="Calibri"/>
              </a:rPr>
              <a:t>pixels</a:t>
            </a:r>
            <a:r>
              <a:rPr sz="2000" spc="145" dirty="0">
                <a:solidFill>
                  <a:srgbClr val="12171A"/>
                </a:solidFill>
                <a:latin typeface="Calibri"/>
                <a:cs typeface="Calibri"/>
              </a:rPr>
              <a:t>  </a:t>
            </a:r>
            <a:r>
              <a:rPr sz="2000" dirty="0">
                <a:solidFill>
                  <a:srgbClr val="12171A"/>
                </a:solidFill>
                <a:latin typeface="Calibri"/>
                <a:cs typeface="Calibri"/>
              </a:rPr>
              <a:t>according</a:t>
            </a:r>
            <a:r>
              <a:rPr sz="2000" spc="145" dirty="0">
                <a:solidFill>
                  <a:srgbClr val="12171A"/>
                </a:solidFill>
                <a:latin typeface="Calibri"/>
                <a:cs typeface="Calibri"/>
              </a:rPr>
              <a:t>  </a:t>
            </a:r>
            <a:r>
              <a:rPr sz="2000" dirty="0">
                <a:solidFill>
                  <a:srgbClr val="12171A"/>
                </a:solidFill>
                <a:latin typeface="Calibri"/>
                <a:cs typeface="Calibri"/>
              </a:rPr>
              <a:t>to</a:t>
            </a:r>
            <a:r>
              <a:rPr sz="2000" spc="150" dirty="0">
                <a:solidFill>
                  <a:srgbClr val="12171A"/>
                </a:solidFill>
                <a:latin typeface="Calibri"/>
                <a:cs typeface="Calibri"/>
              </a:rPr>
              <a:t>  </a:t>
            </a:r>
            <a:r>
              <a:rPr sz="2000" dirty="0">
                <a:solidFill>
                  <a:srgbClr val="12171A"/>
                </a:solidFill>
                <a:latin typeface="Calibri"/>
                <a:cs typeface="Calibri"/>
              </a:rPr>
              <a:t>their</a:t>
            </a:r>
            <a:r>
              <a:rPr sz="2000" spc="140" dirty="0">
                <a:solidFill>
                  <a:srgbClr val="12171A"/>
                </a:solidFill>
                <a:latin typeface="Calibri"/>
                <a:cs typeface="Calibri"/>
              </a:rPr>
              <a:t>  </a:t>
            </a:r>
            <a:r>
              <a:rPr sz="2000" dirty="0">
                <a:solidFill>
                  <a:srgbClr val="12171A"/>
                </a:solidFill>
                <a:latin typeface="Calibri"/>
                <a:cs typeface="Calibri"/>
              </a:rPr>
              <a:t>color,</a:t>
            </a:r>
            <a:r>
              <a:rPr sz="2000" spc="145" dirty="0">
                <a:solidFill>
                  <a:srgbClr val="12171A"/>
                </a:solidFill>
                <a:latin typeface="Calibri"/>
                <a:cs typeface="Calibri"/>
              </a:rPr>
              <a:t>  </a:t>
            </a:r>
            <a:r>
              <a:rPr sz="2000" spc="-20" dirty="0">
                <a:solidFill>
                  <a:srgbClr val="12171A"/>
                </a:solidFill>
                <a:latin typeface="Calibri"/>
                <a:cs typeface="Calibri"/>
              </a:rPr>
              <a:t>then </a:t>
            </a:r>
            <a:r>
              <a:rPr sz="2000" dirty="0">
                <a:solidFill>
                  <a:srgbClr val="12171A"/>
                </a:solidFill>
                <a:latin typeface="Calibri"/>
                <a:cs typeface="Calibri"/>
              </a:rPr>
              <a:t>replace</a:t>
            </a:r>
            <a:r>
              <a:rPr sz="2000" spc="-20" dirty="0">
                <a:solidFill>
                  <a:srgbClr val="12171A"/>
                </a:solidFill>
                <a:latin typeface="Calibri"/>
                <a:cs typeface="Calibri"/>
              </a:rPr>
              <a:t> </a:t>
            </a:r>
            <a:r>
              <a:rPr sz="2000" dirty="0">
                <a:solidFill>
                  <a:srgbClr val="12171A"/>
                </a:solidFill>
                <a:latin typeface="Calibri"/>
                <a:cs typeface="Calibri"/>
              </a:rPr>
              <a:t>each</a:t>
            </a:r>
            <a:r>
              <a:rPr sz="2000" spc="-30" dirty="0">
                <a:solidFill>
                  <a:srgbClr val="12171A"/>
                </a:solidFill>
                <a:latin typeface="Calibri"/>
                <a:cs typeface="Calibri"/>
              </a:rPr>
              <a:t> </a:t>
            </a:r>
            <a:r>
              <a:rPr sz="2000" dirty="0">
                <a:solidFill>
                  <a:srgbClr val="12171A"/>
                </a:solidFill>
                <a:latin typeface="Calibri"/>
                <a:cs typeface="Calibri"/>
              </a:rPr>
              <a:t>pixel’s</a:t>
            </a:r>
            <a:r>
              <a:rPr sz="2000" spc="-20" dirty="0">
                <a:solidFill>
                  <a:srgbClr val="12171A"/>
                </a:solidFill>
                <a:latin typeface="Calibri"/>
                <a:cs typeface="Calibri"/>
              </a:rPr>
              <a:t> </a:t>
            </a:r>
            <a:r>
              <a:rPr sz="2000" dirty="0">
                <a:solidFill>
                  <a:srgbClr val="12171A"/>
                </a:solidFill>
                <a:latin typeface="Calibri"/>
                <a:cs typeface="Calibri"/>
              </a:rPr>
              <a:t>color</a:t>
            </a:r>
            <a:r>
              <a:rPr sz="2000" spc="-45" dirty="0">
                <a:solidFill>
                  <a:srgbClr val="12171A"/>
                </a:solidFill>
                <a:latin typeface="Calibri"/>
                <a:cs typeface="Calibri"/>
              </a:rPr>
              <a:t> </a:t>
            </a:r>
            <a:r>
              <a:rPr sz="2000" dirty="0">
                <a:solidFill>
                  <a:srgbClr val="12171A"/>
                </a:solidFill>
                <a:latin typeface="Calibri"/>
                <a:cs typeface="Calibri"/>
              </a:rPr>
              <a:t>with</a:t>
            </a:r>
            <a:r>
              <a:rPr sz="2000" spc="-35" dirty="0">
                <a:solidFill>
                  <a:srgbClr val="12171A"/>
                </a:solidFill>
                <a:latin typeface="Calibri"/>
                <a:cs typeface="Calibri"/>
              </a:rPr>
              <a:t> </a:t>
            </a:r>
            <a:r>
              <a:rPr sz="2000" dirty="0">
                <a:solidFill>
                  <a:srgbClr val="12171A"/>
                </a:solidFill>
                <a:latin typeface="Calibri"/>
                <a:cs typeface="Calibri"/>
              </a:rPr>
              <a:t>the</a:t>
            </a:r>
            <a:r>
              <a:rPr sz="2000" spc="-25" dirty="0">
                <a:solidFill>
                  <a:srgbClr val="12171A"/>
                </a:solidFill>
                <a:latin typeface="Calibri"/>
                <a:cs typeface="Calibri"/>
              </a:rPr>
              <a:t> </a:t>
            </a:r>
            <a:r>
              <a:rPr sz="2000" dirty="0">
                <a:solidFill>
                  <a:srgbClr val="12171A"/>
                </a:solidFill>
                <a:latin typeface="Calibri"/>
                <a:cs typeface="Calibri"/>
              </a:rPr>
              <a:t>mean</a:t>
            </a:r>
            <a:r>
              <a:rPr sz="2000" spc="-25" dirty="0">
                <a:solidFill>
                  <a:srgbClr val="12171A"/>
                </a:solidFill>
                <a:latin typeface="Calibri"/>
                <a:cs typeface="Calibri"/>
              </a:rPr>
              <a:t> </a:t>
            </a:r>
            <a:r>
              <a:rPr sz="2000" dirty="0">
                <a:solidFill>
                  <a:srgbClr val="12171A"/>
                </a:solidFill>
                <a:latin typeface="Calibri"/>
                <a:cs typeface="Calibri"/>
              </a:rPr>
              <a:t>color</a:t>
            </a:r>
            <a:r>
              <a:rPr sz="2000" spc="-45" dirty="0">
                <a:solidFill>
                  <a:srgbClr val="12171A"/>
                </a:solidFill>
                <a:latin typeface="Calibri"/>
                <a:cs typeface="Calibri"/>
              </a:rPr>
              <a:t> </a:t>
            </a:r>
            <a:r>
              <a:rPr sz="2000" dirty="0">
                <a:solidFill>
                  <a:srgbClr val="12171A"/>
                </a:solidFill>
                <a:latin typeface="Calibri"/>
                <a:cs typeface="Calibri"/>
              </a:rPr>
              <a:t>of</a:t>
            </a:r>
            <a:r>
              <a:rPr sz="2000" spc="-40" dirty="0">
                <a:solidFill>
                  <a:srgbClr val="12171A"/>
                </a:solidFill>
                <a:latin typeface="Calibri"/>
                <a:cs typeface="Calibri"/>
              </a:rPr>
              <a:t> </a:t>
            </a:r>
            <a:r>
              <a:rPr sz="2000" dirty="0">
                <a:solidFill>
                  <a:srgbClr val="12171A"/>
                </a:solidFill>
                <a:latin typeface="Calibri"/>
                <a:cs typeface="Calibri"/>
              </a:rPr>
              <a:t>its</a:t>
            </a:r>
            <a:r>
              <a:rPr sz="2000" spc="-20" dirty="0">
                <a:solidFill>
                  <a:srgbClr val="12171A"/>
                </a:solidFill>
                <a:latin typeface="Calibri"/>
                <a:cs typeface="Calibri"/>
              </a:rPr>
              <a:t> </a:t>
            </a:r>
            <a:r>
              <a:rPr sz="2000" spc="-10" dirty="0">
                <a:solidFill>
                  <a:srgbClr val="12171A"/>
                </a:solidFill>
                <a:latin typeface="Calibri"/>
                <a:cs typeface="Calibri"/>
              </a:rPr>
              <a:t>cluster.</a:t>
            </a:r>
            <a:endParaRPr sz="2000">
              <a:latin typeface="Calibri"/>
              <a:cs typeface="Calibri"/>
            </a:endParaRPr>
          </a:p>
          <a:p>
            <a:pPr marL="811530" lvl="1" indent="-332740" algn="just">
              <a:lnSpc>
                <a:spcPct val="100000"/>
              </a:lnSpc>
              <a:spcBef>
                <a:spcPts val="5"/>
              </a:spcBef>
              <a:buClr>
                <a:srgbClr val="121618"/>
              </a:buClr>
              <a:buSzPct val="94444"/>
              <a:buFont typeface="Wingdings"/>
              <a:buChar char=""/>
              <a:tabLst>
                <a:tab pos="811530" algn="l"/>
              </a:tabLst>
            </a:pPr>
            <a:r>
              <a:rPr sz="1800" dirty="0">
                <a:solidFill>
                  <a:srgbClr val="12171A"/>
                </a:solidFill>
                <a:latin typeface="Calibri"/>
                <a:cs typeface="Calibri"/>
              </a:rPr>
              <a:t>Image</a:t>
            </a:r>
            <a:r>
              <a:rPr sz="1800" spc="140" dirty="0">
                <a:solidFill>
                  <a:srgbClr val="12171A"/>
                </a:solidFill>
                <a:latin typeface="Calibri"/>
                <a:cs typeface="Calibri"/>
              </a:rPr>
              <a:t>  </a:t>
            </a:r>
            <a:r>
              <a:rPr sz="1800" dirty="0">
                <a:solidFill>
                  <a:srgbClr val="12171A"/>
                </a:solidFill>
                <a:latin typeface="Calibri"/>
                <a:cs typeface="Calibri"/>
              </a:rPr>
              <a:t>segmentation</a:t>
            </a:r>
            <a:r>
              <a:rPr sz="1800" spc="150" dirty="0">
                <a:solidFill>
                  <a:srgbClr val="12171A"/>
                </a:solidFill>
                <a:latin typeface="Calibri"/>
                <a:cs typeface="Calibri"/>
              </a:rPr>
              <a:t>  </a:t>
            </a:r>
            <a:r>
              <a:rPr sz="1800" dirty="0">
                <a:solidFill>
                  <a:srgbClr val="12171A"/>
                </a:solidFill>
                <a:latin typeface="Calibri"/>
                <a:cs typeface="Calibri"/>
              </a:rPr>
              <a:t>is</a:t>
            </a:r>
            <a:r>
              <a:rPr sz="1800" spc="145" dirty="0">
                <a:solidFill>
                  <a:srgbClr val="12171A"/>
                </a:solidFill>
                <a:latin typeface="Calibri"/>
                <a:cs typeface="Calibri"/>
              </a:rPr>
              <a:t>  </a:t>
            </a:r>
            <a:r>
              <a:rPr sz="1800" dirty="0">
                <a:solidFill>
                  <a:srgbClr val="12171A"/>
                </a:solidFill>
                <a:latin typeface="Calibri"/>
                <a:cs typeface="Calibri"/>
              </a:rPr>
              <a:t>used</a:t>
            </a:r>
            <a:r>
              <a:rPr sz="1800" spc="150" dirty="0">
                <a:solidFill>
                  <a:srgbClr val="12171A"/>
                </a:solidFill>
                <a:latin typeface="Calibri"/>
                <a:cs typeface="Calibri"/>
              </a:rPr>
              <a:t>  </a:t>
            </a:r>
            <a:r>
              <a:rPr sz="1800" dirty="0">
                <a:solidFill>
                  <a:srgbClr val="12171A"/>
                </a:solidFill>
                <a:latin typeface="Calibri"/>
                <a:cs typeface="Calibri"/>
              </a:rPr>
              <a:t>in</a:t>
            </a:r>
            <a:r>
              <a:rPr sz="1800" spc="145" dirty="0">
                <a:solidFill>
                  <a:srgbClr val="12171A"/>
                </a:solidFill>
                <a:latin typeface="Calibri"/>
                <a:cs typeface="Calibri"/>
              </a:rPr>
              <a:t>  </a:t>
            </a:r>
            <a:r>
              <a:rPr sz="1800" dirty="0">
                <a:solidFill>
                  <a:srgbClr val="12171A"/>
                </a:solidFill>
                <a:latin typeface="Calibri"/>
                <a:cs typeface="Calibri"/>
              </a:rPr>
              <a:t>many</a:t>
            </a:r>
            <a:r>
              <a:rPr sz="1800" spc="150" dirty="0">
                <a:solidFill>
                  <a:srgbClr val="12171A"/>
                </a:solidFill>
                <a:latin typeface="Calibri"/>
                <a:cs typeface="Calibri"/>
              </a:rPr>
              <a:t>  </a:t>
            </a:r>
            <a:r>
              <a:rPr sz="1800" dirty="0">
                <a:solidFill>
                  <a:srgbClr val="12171A"/>
                </a:solidFill>
                <a:latin typeface="Calibri"/>
                <a:cs typeface="Calibri"/>
              </a:rPr>
              <a:t>object</a:t>
            </a:r>
            <a:r>
              <a:rPr sz="1800" spc="140" dirty="0">
                <a:solidFill>
                  <a:srgbClr val="12171A"/>
                </a:solidFill>
                <a:latin typeface="Calibri"/>
                <a:cs typeface="Calibri"/>
              </a:rPr>
              <a:t>  </a:t>
            </a:r>
            <a:r>
              <a:rPr sz="1800" dirty="0">
                <a:solidFill>
                  <a:srgbClr val="12171A"/>
                </a:solidFill>
                <a:latin typeface="Calibri"/>
                <a:cs typeface="Calibri"/>
              </a:rPr>
              <a:t>detection</a:t>
            </a:r>
            <a:r>
              <a:rPr sz="1800" spc="145" dirty="0">
                <a:solidFill>
                  <a:srgbClr val="12171A"/>
                </a:solidFill>
                <a:latin typeface="Calibri"/>
                <a:cs typeface="Calibri"/>
              </a:rPr>
              <a:t>  </a:t>
            </a:r>
            <a:r>
              <a:rPr sz="1800" dirty="0">
                <a:solidFill>
                  <a:srgbClr val="12171A"/>
                </a:solidFill>
                <a:latin typeface="Calibri"/>
                <a:cs typeface="Calibri"/>
              </a:rPr>
              <a:t>and</a:t>
            </a:r>
            <a:r>
              <a:rPr sz="1800" spc="155" dirty="0">
                <a:solidFill>
                  <a:srgbClr val="12171A"/>
                </a:solidFill>
                <a:latin typeface="Calibri"/>
                <a:cs typeface="Calibri"/>
              </a:rPr>
              <a:t>  </a:t>
            </a:r>
            <a:r>
              <a:rPr sz="1800" spc="-10" dirty="0">
                <a:solidFill>
                  <a:srgbClr val="12171A"/>
                </a:solidFill>
                <a:latin typeface="Calibri"/>
                <a:cs typeface="Calibri"/>
              </a:rPr>
              <a:t>tracking</a:t>
            </a:r>
            <a:endParaRPr sz="1800">
              <a:latin typeface="Calibri"/>
              <a:cs typeface="Calibri"/>
            </a:endParaRPr>
          </a:p>
          <a:p>
            <a:pPr marL="812800" algn="just">
              <a:lnSpc>
                <a:spcPct val="100000"/>
              </a:lnSpc>
            </a:pPr>
            <a:r>
              <a:rPr sz="1800" dirty="0">
                <a:solidFill>
                  <a:srgbClr val="12171A"/>
                </a:solidFill>
                <a:latin typeface="Calibri"/>
                <a:cs typeface="Calibri"/>
              </a:rPr>
              <a:t>systems,</a:t>
            </a:r>
            <a:r>
              <a:rPr sz="1800" spc="-50" dirty="0">
                <a:solidFill>
                  <a:srgbClr val="12171A"/>
                </a:solidFill>
                <a:latin typeface="Calibri"/>
                <a:cs typeface="Calibri"/>
              </a:rPr>
              <a:t> </a:t>
            </a:r>
            <a:r>
              <a:rPr sz="1800" dirty="0">
                <a:solidFill>
                  <a:srgbClr val="12171A"/>
                </a:solidFill>
                <a:latin typeface="Calibri"/>
                <a:cs typeface="Calibri"/>
              </a:rPr>
              <a:t>as</a:t>
            </a:r>
            <a:r>
              <a:rPr sz="1800" spc="-15" dirty="0">
                <a:solidFill>
                  <a:srgbClr val="12171A"/>
                </a:solidFill>
                <a:latin typeface="Calibri"/>
                <a:cs typeface="Calibri"/>
              </a:rPr>
              <a:t> </a:t>
            </a:r>
            <a:r>
              <a:rPr sz="1800" dirty="0">
                <a:solidFill>
                  <a:srgbClr val="12171A"/>
                </a:solidFill>
                <a:latin typeface="Calibri"/>
                <a:cs typeface="Calibri"/>
              </a:rPr>
              <a:t>it</a:t>
            </a:r>
            <a:r>
              <a:rPr sz="1800" spc="-10" dirty="0">
                <a:solidFill>
                  <a:srgbClr val="12171A"/>
                </a:solidFill>
                <a:latin typeface="Calibri"/>
                <a:cs typeface="Calibri"/>
              </a:rPr>
              <a:t> </a:t>
            </a:r>
            <a:r>
              <a:rPr sz="1800" dirty="0">
                <a:solidFill>
                  <a:srgbClr val="12171A"/>
                </a:solidFill>
                <a:latin typeface="Calibri"/>
                <a:cs typeface="Calibri"/>
              </a:rPr>
              <a:t>makes</a:t>
            </a:r>
            <a:r>
              <a:rPr sz="1800" spc="-30" dirty="0">
                <a:solidFill>
                  <a:srgbClr val="12171A"/>
                </a:solidFill>
                <a:latin typeface="Calibri"/>
                <a:cs typeface="Calibri"/>
              </a:rPr>
              <a:t> </a:t>
            </a:r>
            <a:r>
              <a:rPr sz="1800" dirty="0">
                <a:solidFill>
                  <a:srgbClr val="12171A"/>
                </a:solidFill>
                <a:latin typeface="Calibri"/>
                <a:cs typeface="Calibri"/>
              </a:rPr>
              <a:t>it</a:t>
            </a:r>
            <a:r>
              <a:rPr sz="1800" spc="-10" dirty="0">
                <a:solidFill>
                  <a:srgbClr val="12171A"/>
                </a:solidFill>
                <a:latin typeface="Calibri"/>
                <a:cs typeface="Calibri"/>
              </a:rPr>
              <a:t> </a:t>
            </a:r>
            <a:r>
              <a:rPr sz="1800" dirty="0">
                <a:solidFill>
                  <a:srgbClr val="12171A"/>
                </a:solidFill>
                <a:latin typeface="Calibri"/>
                <a:cs typeface="Calibri"/>
              </a:rPr>
              <a:t>easier</a:t>
            </a:r>
            <a:r>
              <a:rPr sz="1800" spc="-20" dirty="0">
                <a:solidFill>
                  <a:srgbClr val="12171A"/>
                </a:solidFill>
                <a:latin typeface="Calibri"/>
                <a:cs typeface="Calibri"/>
              </a:rPr>
              <a:t> </a:t>
            </a:r>
            <a:r>
              <a:rPr sz="1800" dirty="0">
                <a:solidFill>
                  <a:srgbClr val="12171A"/>
                </a:solidFill>
                <a:latin typeface="Calibri"/>
                <a:cs typeface="Calibri"/>
              </a:rPr>
              <a:t>to</a:t>
            </a:r>
            <a:r>
              <a:rPr sz="1800" spc="-20" dirty="0">
                <a:solidFill>
                  <a:srgbClr val="12171A"/>
                </a:solidFill>
                <a:latin typeface="Calibri"/>
                <a:cs typeface="Calibri"/>
              </a:rPr>
              <a:t> </a:t>
            </a:r>
            <a:r>
              <a:rPr sz="1800" dirty="0">
                <a:solidFill>
                  <a:srgbClr val="12171A"/>
                </a:solidFill>
                <a:latin typeface="Calibri"/>
                <a:cs typeface="Calibri"/>
              </a:rPr>
              <a:t>detect</a:t>
            </a:r>
            <a:r>
              <a:rPr sz="1800" spc="-15" dirty="0">
                <a:solidFill>
                  <a:srgbClr val="12171A"/>
                </a:solidFill>
                <a:latin typeface="Calibri"/>
                <a:cs typeface="Calibri"/>
              </a:rPr>
              <a:t> </a:t>
            </a:r>
            <a:r>
              <a:rPr sz="1800" dirty="0">
                <a:solidFill>
                  <a:srgbClr val="12171A"/>
                </a:solidFill>
                <a:latin typeface="Calibri"/>
                <a:cs typeface="Calibri"/>
              </a:rPr>
              <a:t>the</a:t>
            </a:r>
            <a:r>
              <a:rPr sz="1800" spc="-10" dirty="0">
                <a:solidFill>
                  <a:srgbClr val="12171A"/>
                </a:solidFill>
                <a:latin typeface="Calibri"/>
                <a:cs typeface="Calibri"/>
              </a:rPr>
              <a:t> </a:t>
            </a:r>
            <a:r>
              <a:rPr sz="1800" dirty="0">
                <a:solidFill>
                  <a:srgbClr val="12171A"/>
                </a:solidFill>
                <a:latin typeface="Calibri"/>
                <a:cs typeface="Calibri"/>
              </a:rPr>
              <a:t>contour</a:t>
            </a:r>
            <a:r>
              <a:rPr sz="1800" spc="-10" dirty="0">
                <a:solidFill>
                  <a:srgbClr val="12171A"/>
                </a:solidFill>
                <a:latin typeface="Calibri"/>
                <a:cs typeface="Calibri"/>
              </a:rPr>
              <a:t> </a:t>
            </a:r>
            <a:r>
              <a:rPr sz="1800" dirty="0">
                <a:solidFill>
                  <a:srgbClr val="12171A"/>
                </a:solidFill>
                <a:latin typeface="Calibri"/>
                <a:cs typeface="Calibri"/>
              </a:rPr>
              <a:t>of</a:t>
            </a:r>
            <a:r>
              <a:rPr sz="1800" spc="-5" dirty="0">
                <a:solidFill>
                  <a:srgbClr val="12171A"/>
                </a:solidFill>
                <a:latin typeface="Calibri"/>
                <a:cs typeface="Calibri"/>
              </a:rPr>
              <a:t> </a:t>
            </a:r>
            <a:r>
              <a:rPr sz="1800" dirty="0">
                <a:solidFill>
                  <a:srgbClr val="12171A"/>
                </a:solidFill>
                <a:latin typeface="Calibri"/>
                <a:cs typeface="Calibri"/>
              </a:rPr>
              <a:t>each</a:t>
            </a:r>
            <a:r>
              <a:rPr sz="1800" spc="-10" dirty="0">
                <a:solidFill>
                  <a:srgbClr val="12171A"/>
                </a:solidFill>
                <a:latin typeface="Calibri"/>
                <a:cs typeface="Calibri"/>
              </a:rPr>
              <a:t> object.</a:t>
            </a:r>
            <a:endParaRPr sz="1800">
              <a:latin typeface="Calibri"/>
              <a:cs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9144000" cy="3992879"/>
          </a:xfrm>
          <a:custGeom>
            <a:avLst/>
            <a:gdLst/>
            <a:ahLst/>
            <a:cxnLst/>
            <a:rect l="l" t="t" r="r" b="b"/>
            <a:pathLst>
              <a:path w="9144000" h="3992879">
                <a:moveTo>
                  <a:pt x="9144000" y="0"/>
                </a:moveTo>
                <a:lnTo>
                  <a:pt x="0" y="0"/>
                </a:lnTo>
                <a:lnTo>
                  <a:pt x="0" y="3992879"/>
                </a:lnTo>
                <a:lnTo>
                  <a:pt x="9144000" y="3992879"/>
                </a:lnTo>
                <a:lnTo>
                  <a:pt x="9144000" y="0"/>
                </a:lnTo>
                <a:close/>
              </a:path>
            </a:pathLst>
          </a:custGeom>
          <a:solidFill>
            <a:srgbClr val="2085C5"/>
          </a:solidFill>
        </p:spPr>
        <p:txBody>
          <a:bodyPr wrap="square" lIns="0" tIns="0" rIns="0" bIns="0" rtlCol="0"/>
          <a:lstStyle/>
          <a:p>
            <a:endParaRPr/>
          </a:p>
        </p:txBody>
      </p:sp>
      <p:grpSp>
        <p:nvGrpSpPr>
          <p:cNvPr id="3" name="object 3"/>
          <p:cNvGrpSpPr/>
          <p:nvPr/>
        </p:nvGrpSpPr>
        <p:grpSpPr>
          <a:xfrm>
            <a:off x="0" y="3992879"/>
            <a:ext cx="9144000" cy="78105"/>
            <a:chOff x="0" y="3992879"/>
            <a:chExt cx="9144000" cy="78105"/>
          </a:xfrm>
        </p:grpSpPr>
        <p:sp>
          <p:nvSpPr>
            <p:cNvPr id="4" name="object 4"/>
            <p:cNvSpPr/>
            <p:nvPr/>
          </p:nvSpPr>
          <p:spPr>
            <a:xfrm>
              <a:off x="3048000" y="3992879"/>
              <a:ext cx="3048000" cy="78105"/>
            </a:xfrm>
            <a:custGeom>
              <a:avLst/>
              <a:gdLst/>
              <a:ahLst/>
              <a:cxnLst/>
              <a:rect l="l" t="t" r="r" b="b"/>
              <a:pathLst>
                <a:path w="3048000" h="78104">
                  <a:moveTo>
                    <a:pt x="3048000" y="0"/>
                  </a:moveTo>
                  <a:lnTo>
                    <a:pt x="0" y="0"/>
                  </a:lnTo>
                  <a:lnTo>
                    <a:pt x="0" y="77724"/>
                  </a:lnTo>
                  <a:lnTo>
                    <a:pt x="3048000" y="77724"/>
                  </a:lnTo>
                  <a:lnTo>
                    <a:pt x="3048000" y="0"/>
                  </a:lnTo>
                  <a:close/>
                </a:path>
              </a:pathLst>
            </a:custGeom>
            <a:solidFill>
              <a:srgbClr val="FF9615"/>
            </a:solidFill>
          </p:spPr>
          <p:txBody>
            <a:bodyPr wrap="square" lIns="0" tIns="0" rIns="0" bIns="0" rtlCol="0"/>
            <a:lstStyle/>
            <a:p>
              <a:endParaRPr/>
            </a:p>
          </p:txBody>
        </p:sp>
        <p:sp>
          <p:nvSpPr>
            <p:cNvPr id="5" name="object 5"/>
            <p:cNvSpPr/>
            <p:nvPr/>
          </p:nvSpPr>
          <p:spPr>
            <a:xfrm>
              <a:off x="6096000" y="3992879"/>
              <a:ext cx="3048000" cy="78105"/>
            </a:xfrm>
            <a:custGeom>
              <a:avLst/>
              <a:gdLst/>
              <a:ahLst/>
              <a:cxnLst/>
              <a:rect l="l" t="t" r="r" b="b"/>
              <a:pathLst>
                <a:path w="3048000" h="78104">
                  <a:moveTo>
                    <a:pt x="3048000" y="0"/>
                  </a:moveTo>
                  <a:lnTo>
                    <a:pt x="0" y="0"/>
                  </a:lnTo>
                  <a:lnTo>
                    <a:pt x="0" y="77724"/>
                  </a:lnTo>
                  <a:lnTo>
                    <a:pt x="3048000" y="77724"/>
                  </a:lnTo>
                  <a:lnTo>
                    <a:pt x="3048000" y="0"/>
                  </a:lnTo>
                  <a:close/>
                </a:path>
              </a:pathLst>
            </a:custGeom>
            <a:solidFill>
              <a:srgbClr val="F10152"/>
            </a:solidFill>
          </p:spPr>
          <p:txBody>
            <a:bodyPr wrap="square" lIns="0" tIns="0" rIns="0" bIns="0" rtlCol="0"/>
            <a:lstStyle/>
            <a:p>
              <a:endParaRPr/>
            </a:p>
          </p:txBody>
        </p:sp>
        <p:sp>
          <p:nvSpPr>
            <p:cNvPr id="6" name="object 6"/>
            <p:cNvSpPr/>
            <p:nvPr/>
          </p:nvSpPr>
          <p:spPr>
            <a:xfrm>
              <a:off x="0" y="3992879"/>
              <a:ext cx="3048000" cy="78105"/>
            </a:xfrm>
            <a:custGeom>
              <a:avLst/>
              <a:gdLst/>
              <a:ahLst/>
              <a:cxnLst/>
              <a:rect l="l" t="t" r="r" b="b"/>
              <a:pathLst>
                <a:path w="3048000" h="78104">
                  <a:moveTo>
                    <a:pt x="3048000" y="0"/>
                  </a:moveTo>
                  <a:lnTo>
                    <a:pt x="0" y="0"/>
                  </a:lnTo>
                  <a:lnTo>
                    <a:pt x="0" y="77724"/>
                  </a:lnTo>
                  <a:lnTo>
                    <a:pt x="3048000" y="77724"/>
                  </a:lnTo>
                  <a:lnTo>
                    <a:pt x="3048000" y="0"/>
                  </a:lnTo>
                  <a:close/>
                </a:path>
              </a:pathLst>
            </a:custGeom>
            <a:solidFill>
              <a:srgbClr val="7DCEFC"/>
            </a:solidFill>
          </p:spPr>
          <p:txBody>
            <a:bodyPr wrap="square" lIns="0" tIns="0" rIns="0" bIns="0" rtlCol="0"/>
            <a:lstStyle/>
            <a:p>
              <a:endParaRPr/>
            </a:p>
          </p:txBody>
        </p:sp>
      </p:grpSp>
      <p:sp>
        <p:nvSpPr>
          <p:cNvPr id="7" name="object 7"/>
          <p:cNvSpPr txBox="1"/>
          <p:nvPr/>
        </p:nvSpPr>
        <p:spPr>
          <a:xfrm>
            <a:off x="4360926" y="1371727"/>
            <a:ext cx="422275" cy="696595"/>
          </a:xfrm>
          <a:prstGeom prst="rect">
            <a:avLst/>
          </a:prstGeom>
        </p:spPr>
        <p:txBody>
          <a:bodyPr vert="horz" wrap="square" lIns="0" tIns="13335" rIns="0" bIns="0" rtlCol="0">
            <a:spAutoFit/>
          </a:bodyPr>
          <a:lstStyle/>
          <a:p>
            <a:pPr marL="12700">
              <a:lnSpc>
                <a:spcPct val="100000"/>
              </a:lnSpc>
              <a:spcBef>
                <a:spcPts val="105"/>
              </a:spcBef>
            </a:pPr>
            <a:r>
              <a:rPr sz="4400" spc="-434" dirty="0">
                <a:solidFill>
                  <a:srgbClr val="7DCEFC"/>
                </a:solidFill>
                <a:latin typeface="Trebuchet MS"/>
                <a:cs typeface="Trebuchet MS"/>
              </a:rPr>
              <a:t>2.</a:t>
            </a:r>
            <a:endParaRPr sz="4400">
              <a:latin typeface="Trebuchet MS"/>
              <a:cs typeface="Trebuchet MS"/>
            </a:endParaRPr>
          </a:p>
        </p:txBody>
      </p:sp>
      <p:sp>
        <p:nvSpPr>
          <p:cNvPr id="8" name="object 8"/>
          <p:cNvSpPr txBox="1">
            <a:spLocks noGrp="1"/>
          </p:cNvSpPr>
          <p:nvPr>
            <p:ph type="title"/>
          </p:nvPr>
        </p:nvSpPr>
        <p:spPr>
          <a:xfrm>
            <a:off x="3367278" y="2041982"/>
            <a:ext cx="2411730" cy="697230"/>
          </a:xfrm>
          <a:prstGeom prst="rect">
            <a:avLst/>
          </a:prstGeom>
        </p:spPr>
        <p:txBody>
          <a:bodyPr vert="horz" wrap="square" lIns="0" tIns="13335" rIns="0" bIns="0" rtlCol="0">
            <a:spAutoFit/>
          </a:bodyPr>
          <a:lstStyle/>
          <a:p>
            <a:pPr marL="12700">
              <a:lnSpc>
                <a:spcPct val="100000"/>
              </a:lnSpc>
              <a:spcBef>
                <a:spcPts val="105"/>
              </a:spcBef>
            </a:pPr>
            <a:r>
              <a:rPr b="0" spc="180" dirty="0">
                <a:solidFill>
                  <a:srgbClr val="FFFFFF"/>
                </a:solidFill>
                <a:latin typeface="Cambria Math"/>
                <a:cs typeface="Cambria Math"/>
              </a:rPr>
              <a:t>𝐾</a:t>
            </a:r>
            <a:r>
              <a:rPr b="0" spc="180" dirty="0">
                <a:solidFill>
                  <a:srgbClr val="FFFFFF"/>
                </a:solidFill>
                <a:latin typeface="Trebuchet MS"/>
                <a:cs typeface="Trebuchet MS"/>
              </a:rPr>
              <a:t>-</a:t>
            </a:r>
            <a:r>
              <a:rPr b="0" spc="220" dirty="0">
                <a:solidFill>
                  <a:srgbClr val="FFFFFF"/>
                </a:solidFill>
                <a:latin typeface="Trebuchet MS"/>
                <a:cs typeface="Trebuchet MS"/>
              </a:rPr>
              <a:t>means</a:t>
            </a:r>
          </a:p>
        </p:txBody>
      </p:sp>
      <p:sp>
        <p:nvSpPr>
          <p:cNvPr id="9" name="object 9"/>
          <p:cNvSpPr txBox="1"/>
          <p:nvPr/>
        </p:nvSpPr>
        <p:spPr>
          <a:xfrm>
            <a:off x="4511802" y="4908905"/>
            <a:ext cx="121285" cy="223520"/>
          </a:xfrm>
          <a:prstGeom prst="rect">
            <a:avLst/>
          </a:prstGeom>
        </p:spPr>
        <p:txBody>
          <a:bodyPr vert="horz" wrap="square" lIns="0" tIns="12065" rIns="0" bIns="0" rtlCol="0">
            <a:spAutoFit/>
          </a:bodyPr>
          <a:lstStyle/>
          <a:p>
            <a:pPr marL="12700">
              <a:lnSpc>
                <a:spcPct val="100000"/>
              </a:lnSpc>
              <a:spcBef>
                <a:spcPts val="95"/>
              </a:spcBef>
            </a:pPr>
            <a:r>
              <a:rPr sz="1300" spc="-50" dirty="0">
                <a:solidFill>
                  <a:srgbClr val="96ABBB"/>
                </a:solidFill>
                <a:latin typeface="Franklin Gothic Book"/>
                <a:cs typeface="Franklin Gothic Book"/>
              </a:rPr>
              <a:t>9</a:t>
            </a:r>
            <a:endParaRPr sz="1300">
              <a:latin typeface="Franklin Gothic Book"/>
              <a:cs typeface="Franklin Gothic Book"/>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50165">
              <a:lnSpc>
                <a:spcPct val="100000"/>
              </a:lnSpc>
              <a:spcBef>
                <a:spcPts val="105"/>
              </a:spcBef>
            </a:pPr>
            <a:r>
              <a:rPr spc="-30" dirty="0"/>
              <a:t>K-</a:t>
            </a:r>
            <a:r>
              <a:rPr spc="-20" dirty="0"/>
              <a:t>means</a:t>
            </a:r>
          </a:p>
        </p:txBody>
      </p:sp>
      <p:sp>
        <p:nvSpPr>
          <p:cNvPr id="3" name="object 3"/>
          <p:cNvSpPr txBox="1"/>
          <p:nvPr/>
        </p:nvSpPr>
        <p:spPr>
          <a:xfrm>
            <a:off x="583488" y="1189481"/>
            <a:ext cx="4719320" cy="1946910"/>
          </a:xfrm>
          <a:prstGeom prst="rect">
            <a:avLst/>
          </a:prstGeom>
        </p:spPr>
        <p:txBody>
          <a:bodyPr vert="horz" wrap="square" lIns="0" tIns="12065" rIns="0" bIns="0" rtlCol="0">
            <a:spAutoFit/>
          </a:bodyPr>
          <a:lstStyle/>
          <a:p>
            <a:pPr marL="355600" marR="5080" indent="-342900">
              <a:lnSpc>
                <a:spcPct val="100000"/>
              </a:lnSpc>
              <a:spcBef>
                <a:spcPts val="95"/>
              </a:spcBef>
              <a:buClr>
                <a:srgbClr val="333940"/>
              </a:buClr>
              <a:buSzPct val="81818"/>
              <a:buFont typeface="Wingdings"/>
              <a:buChar char=""/>
              <a:tabLst>
                <a:tab pos="355600" algn="l"/>
              </a:tabLst>
            </a:pPr>
            <a:r>
              <a:rPr sz="2200" dirty="0">
                <a:solidFill>
                  <a:srgbClr val="12171A"/>
                </a:solidFill>
                <a:latin typeface="Cambria Math"/>
                <a:cs typeface="Cambria Math"/>
              </a:rPr>
              <a:t>𝑘</a:t>
            </a:r>
            <a:r>
              <a:rPr sz="2200" dirty="0">
                <a:solidFill>
                  <a:srgbClr val="12171A"/>
                </a:solidFill>
                <a:latin typeface="Calibri"/>
                <a:cs typeface="Calibri"/>
              </a:rPr>
              <a:t>-means</a:t>
            </a:r>
            <a:r>
              <a:rPr sz="2200" spc="-20" dirty="0">
                <a:solidFill>
                  <a:srgbClr val="12171A"/>
                </a:solidFill>
                <a:latin typeface="Calibri"/>
                <a:cs typeface="Calibri"/>
              </a:rPr>
              <a:t> </a:t>
            </a:r>
            <a:r>
              <a:rPr sz="2200" dirty="0">
                <a:solidFill>
                  <a:srgbClr val="12171A"/>
                </a:solidFill>
                <a:latin typeface="Calibri"/>
                <a:cs typeface="Calibri"/>
              </a:rPr>
              <a:t>is</a:t>
            </a:r>
            <a:r>
              <a:rPr sz="2200" spc="-40" dirty="0">
                <a:solidFill>
                  <a:srgbClr val="12171A"/>
                </a:solidFill>
                <a:latin typeface="Calibri"/>
                <a:cs typeface="Calibri"/>
              </a:rPr>
              <a:t> </a:t>
            </a:r>
            <a:r>
              <a:rPr sz="2200" dirty="0">
                <a:solidFill>
                  <a:srgbClr val="12171A"/>
                </a:solidFill>
                <a:latin typeface="Calibri"/>
                <a:cs typeface="Calibri"/>
              </a:rPr>
              <a:t>a</a:t>
            </a:r>
            <a:r>
              <a:rPr sz="2200" spc="-40" dirty="0">
                <a:solidFill>
                  <a:srgbClr val="12171A"/>
                </a:solidFill>
                <a:latin typeface="Calibri"/>
                <a:cs typeface="Calibri"/>
              </a:rPr>
              <a:t> </a:t>
            </a:r>
            <a:r>
              <a:rPr sz="2200" dirty="0">
                <a:solidFill>
                  <a:srgbClr val="12171A"/>
                </a:solidFill>
                <a:latin typeface="Calibri"/>
                <a:cs typeface="Calibri"/>
              </a:rPr>
              <a:t>simple</a:t>
            </a:r>
            <a:r>
              <a:rPr sz="2200" spc="-40" dirty="0">
                <a:solidFill>
                  <a:srgbClr val="12171A"/>
                </a:solidFill>
                <a:latin typeface="Calibri"/>
                <a:cs typeface="Calibri"/>
              </a:rPr>
              <a:t> </a:t>
            </a:r>
            <a:r>
              <a:rPr sz="2200" dirty="0">
                <a:solidFill>
                  <a:srgbClr val="12171A"/>
                </a:solidFill>
                <a:latin typeface="Calibri"/>
                <a:cs typeface="Calibri"/>
              </a:rPr>
              <a:t>algorithm</a:t>
            </a:r>
            <a:r>
              <a:rPr sz="2200" spc="-40" dirty="0">
                <a:solidFill>
                  <a:srgbClr val="12171A"/>
                </a:solidFill>
                <a:latin typeface="Calibri"/>
                <a:cs typeface="Calibri"/>
              </a:rPr>
              <a:t> </a:t>
            </a:r>
            <a:r>
              <a:rPr sz="2200" spc="-10" dirty="0">
                <a:solidFill>
                  <a:srgbClr val="12171A"/>
                </a:solidFill>
                <a:latin typeface="Calibri"/>
                <a:cs typeface="Calibri"/>
              </a:rPr>
              <a:t>capable </a:t>
            </a:r>
            <a:r>
              <a:rPr sz="2200" dirty="0">
                <a:solidFill>
                  <a:srgbClr val="12171A"/>
                </a:solidFill>
                <a:latin typeface="Calibri"/>
                <a:cs typeface="Calibri"/>
              </a:rPr>
              <a:t>of</a:t>
            </a:r>
            <a:r>
              <a:rPr sz="2200" spc="-60" dirty="0">
                <a:solidFill>
                  <a:srgbClr val="12171A"/>
                </a:solidFill>
                <a:latin typeface="Calibri"/>
                <a:cs typeface="Calibri"/>
              </a:rPr>
              <a:t> </a:t>
            </a:r>
            <a:r>
              <a:rPr sz="2200" dirty="0">
                <a:solidFill>
                  <a:srgbClr val="12171A"/>
                </a:solidFill>
                <a:latin typeface="Calibri"/>
                <a:cs typeface="Calibri"/>
              </a:rPr>
              <a:t>clustering</a:t>
            </a:r>
            <a:r>
              <a:rPr sz="2200" spc="-60" dirty="0">
                <a:solidFill>
                  <a:srgbClr val="12171A"/>
                </a:solidFill>
                <a:latin typeface="Calibri"/>
                <a:cs typeface="Calibri"/>
              </a:rPr>
              <a:t> </a:t>
            </a:r>
            <a:r>
              <a:rPr sz="2200" dirty="0">
                <a:solidFill>
                  <a:srgbClr val="12171A"/>
                </a:solidFill>
                <a:latin typeface="Calibri"/>
                <a:cs typeface="Calibri"/>
              </a:rPr>
              <a:t>many</a:t>
            </a:r>
            <a:r>
              <a:rPr sz="2200" spc="-60" dirty="0">
                <a:solidFill>
                  <a:srgbClr val="12171A"/>
                </a:solidFill>
                <a:latin typeface="Calibri"/>
                <a:cs typeface="Calibri"/>
              </a:rPr>
              <a:t> </a:t>
            </a:r>
            <a:r>
              <a:rPr sz="2200" dirty="0">
                <a:solidFill>
                  <a:srgbClr val="12171A"/>
                </a:solidFill>
                <a:latin typeface="Calibri"/>
                <a:cs typeface="Calibri"/>
              </a:rPr>
              <a:t>datasets</a:t>
            </a:r>
            <a:r>
              <a:rPr sz="2200" spc="-55" dirty="0">
                <a:solidFill>
                  <a:srgbClr val="12171A"/>
                </a:solidFill>
                <a:latin typeface="Calibri"/>
                <a:cs typeface="Calibri"/>
              </a:rPr>
              <a:t> </a:t>
            </a:r>
            <a:r>
              <a:rPr sz="2200" spc="-10" dirty="0">
                <a:solidFill>
                  <a:srgbClr val="12171A"/>
                </a:solidFill>
                <a:latin typeface="Calibri"/>
                <a:cs typeface="Calibri"/>
              </a:rPr>
              <a:t>quickly </a:t>
            </a:r>
            <a:r>
              <a:rPr sz="2200" dirty="0">
                <a:solidFill>
                  <a:srgbClr val="12171A"/>
                </a:solidFill>
                <a:latin typeface="Calibri"/>
                <a:cs typeface="Calibri"/>
              </a:rPr>
              <a:t>and</a:t>
            </a:r>
            <a:r>
              <a:rPr sz="2200" spc="-15" dirty="0">
                <a:solidFill>
                  <a:srgbClr val="12171A"/>
                </a:solidFill>
                <a:latin typeface="Calibri"/>
                <a:cs typeface="Calibri"/>
              </a:rPr>
              <a:t> </a:t>
            </a:r>
            <a:r>
              <a:rPr sz="2200" spc="-10" dirty="0">
                <a:solidFill>
                  <a:srgbClr val="12171A"/>
                </a:solidFill>
                <a:latin typeface="Calibri"/>
                <a:cs typeface="Calibri"/>
              </a:rPr>
              <a:t>efficiently.</a:t>
            </a:r>
            <a:endParaRPr sz="2200">
              <a:latin typeface="Calibri"/>
              <a:cs typeface="Calibri"/>
            </a:endParaRPr>
          </a:p>
          <a:p>
            <a:pPr marL="810895" marR="364490" lvl="1" indent="-332740" algn="just">
              <a:lnSpc>
                <a:spcPct val="100000"/>
              </a:lnSpc>
              <a:spcBef>
                <a:spcPts val="10"/>
              </a:spcBef>
              <a:buSzPct val="85000"/>
              <a:buFont typeface="Wingdings"/>
              <a:buChar char=""/>
              <a:tabLst>
                <a:tab pos="812165" algn="l"/>
              </a:tabLst>
            </a:pPr>
            <a:r>
              <a:rPr sz="2000" dirty="0">
                <a:solidFill>
                  <a:srgbClr val="121618"/>
                </a:solidFill>
                <a:latin typeface="Calibri"/>
                <a:cs typeface="Calibri"/>
              </a:rPr>
              <a:t>We</a:t>
            </a:r>
            <a:r>
              <a:rPr sz="2000" spc="-20" dirty="0">
                <a:solidFill>
                  <a:srgbClr val="121618"/>
                </a:solidFill>
                <a:latin typeface="Calibri"/>
                <a:cs typeface="Calibri"/>
              </a:rPr>
              <a:t> </a:t>
            </a:r>
            <a:r>
              <a:rPr sz="2000" dirty="0">
                <a:solidFill>
                  <a:srgbClr val="121618"/>
                </a:solidFill>
                <a:latin typeface="Calibri"/>
                <a:cs typeface="Calibri"/>
              </a:rPr>
              <a:t>have</a:t>
            </a:r>
            <a:r>
              <a:rPr sz="2000" spc="-25" dirty="0">
                <a:solidFill>
                  <a:srgbClr val="121618"/>
                </a:solidFill>
                <a:latin typeface="Calibri"/>
                <a:cs typeface="Calibri"/>
              </a:rPr>
              <a:t> </a:t>
            </a:r>
            <a:r>
              <a:rPr sz="2000" dirty="0">
                <a:solidFill>
                  <a:srgbClr val="121618"/>
                </a:solidFill>
                <a:latin typeface="Calibri"/>
                <a:cs typeface="Calibri"/>
              </a:rPr>
              <a:t>to</a:t>
            </a:r>
            <a:r>
              <a:rPr sz="2000" spc="-10" dirty="0">
                <a:solidFill>
                  <a:srgbClr val="121618"/>
                </a:solidFill>
                <a:latin typeface="Calibri"/>
                <a:cs typeface="Calibri"/>
              </a:rPr>
              <a:t> </a:t>
            </a:r>
            <a:r>
              <a:rPr sz="2000" dirty="0">
                <a:solidFill>
                  <a:srgbClr val="121618"/>
                </a:solidFill>
                <a:latin typeface="Calibri"/>
                <a:cs typeface="Calibri"/>
              </a:rPr>
              <a:t>specify</a:t>
            </a:r>
            <a:r>
              <a:rPr sz="2000" spc="-20" dirty="0">
                <a:solidFill>
                  <a:srgbClr val="121618"/>
                </a:solidFill>
                <a:latin typeface="Calibri"/>
                <a:cs typeface="Calibri"/>
              </a:rPr>
              <a:t> </a:t>
            </a:r>
            <a:r>
              <a:rPr sz="2000" dirty="0">
                <a:solidFill>
                  <a:srgbClr val="121618"/>
                </a:solidFill>
                <a:latin typeface="Calibri"/>
                <a:cs typeface="Calibri"/>
              </a:rPr>
              <a:t>the</a:t>
            </a:r>
            <a:r>
              <a:rPr sz="2000" spc="-10" dirty="0">
                <a:solidFill>
                  <a:srgbClr val="121618"/>
                </a:solidFill>
                <a:latin typeface="Calibri"/>
                <a:cs typeface="Calibri"/>
              </a:rPr>
              <a:t> </a:t>
            </a:r>
            <a:r>
              <a:rPr sz="2000" dirty="0">
                <a:solidFill>
                  <a:srgbClr val="121618"/>
                </a:solidFill>
                <a:latin typeface="Calibri"/>
                <a:cs typeface="Calibri"/>
              </a:rPr>
              <a:t>number</a:t>
            </a:r>
            <a:r>
              <a:rPr sz="2000" spc="-25" dirty="0">
                <a:solidFill>
                  <a:srgbClr val="121618"/>
                </a:solidFill>
                <a:latin typeface="Calibri"/>
                <a:cs typeface="Calibri"/>
              </a:rPr>
              <a:t> of 	</a:t>
            </a:r>
            <a:r>
              <a:rPr sz="2000" dirty="0">
                <a:solidFill>
                  <a:srgbClr val="121618"/>
                </a:solidFill>
                <a:latin typeface="Calibri"/>
                <a:cs typeface="Calibri"/>
              </a:rPr>
              <a:t>clusters</a:t>
            </a:r>
            <a:r>
              <a:rPr sz="2000" spc="-10" dirty="0">
                <a:solidFill>
                  <a:srgbClr val="121618"/>
                </a:solidFill>
                <a:latin typeface="Calibri"/>
                <a:cs typeface="Calibri"/>
              </a:rPr>
              <a:t> </a:t>
            </a:r>
            <a:r>
              <a:rPr sz="2000" dirty="0">
                <a:solidFill>
                  <a:srgbClr val="121618"/>
                </a:solidFill>
                <a:latin typeface="Cambria Math"/>
                <a:cs typeface="Cambria Math"/>
              </a:rPr>
              <a:t>𝑘</a:t>
            </a:r>
            <a:r>
              <a:rPr sz="2000" spc="20" dirty="0">
                <a:solidFill>
                  <a:srgbClr val="121618"/>
                </a:solidFill>
                <a:latin typeface="Cambria Math"/>
                <a:cs typeface="Cambria Math"/>
              </a:rPr>
              <a:t> </a:t>
            </a:r>
            <a:r>
              <a:rPr sz="2000" dirty="0">
                <a:solidFill>
                  <a:srgbClr val="121618"/>
                </a:solidFill>
                <a:latin typeface="Calibri"/>
                <a:cs typeface="Calibri"/>
              </a:rPr>
              <a:t>that</a:t>
            </a:r>
            <a:r>
              <a:rPr sz="2000" spc="-25" dirty="0">
                <a:solidFill>
                  <a:srgbClr val="121618"/>
                </a:solidFill>
                <a:latin typeface="Calibri"/>
                <a:cs typeface="Calibri"/>
              </a:rPr>
              <a:t> </a:t>
            </a:r>
            <a:r>
              <a:rPr sz="2000" dirty="0">
                <a:solidFill>
                  <a:srgbClr val="121618"/>
                </a:solidFill>
                <a:latin typeface="Calibri"/>
                <a:cs typeface="Calibri"/>
              </a:rPr>
              <a:t>the</a:t>
            </a:r>
            <a:r>
              <a:rPr sz="2000" spc="-40" dirty="0">
                <a:solidFill>
                  <a:srgbClr val="121618"/>
                </a:solidFill>
                <a:latin typeface="Calibri"/>
                <a:cs typeface="Calibri"/>
              </a:rPr>
              <a:t> </a:t>
            </a:r>
            <a:r>
              <a:rPr sz="2000" dirty="0">
                <a:solidFill>
                  <a:srgbClr val="121618"/>
                </a:solidFill>
                <a:latin typeface="Calibri"/>
                <a:cs typeface="Calibri"/>
              </a:rPr>
              <a:t>algorithm</a:t>
            </a:r>
            <a:r>
              <a:rPr sz="2000" spc="-30" dirty="0">
                <a:solidFill>
                  <a:srgbClr val="121618"/>
                </a:solidFill>
                <a:latin typeface="Calibri"/>
                <a:cs typeface="Calibri"/>
              </a:rPr>
              <a:t> </a:t>
            </a:r>
            <a:r>
              <a:rPr sz="2000" spc="-20" dirty="0">
                <a:solidFill>
                  <a:srgbClr val="121618"/>
                </a:solidFill>
                <a:latin typeface="Calibri"/>
                <a:cs typeface="Calibri"/>
              </a:rPr>
              <a:t>must 	</a:t>
            </a:r>
            <a:r>
              <a:rPr sz="2000" spc="-10" dirty="0">
                <a:solidFill>
                  <a:srgbClr val="121618"/>
                </a:solidFill>
                <a:latin typeface="Calibri"/>
                <a:cs typeface="Calibri"/>
              </a:rPr>
              <a:t>find.</a:t>
            </a:r>
            <a:endParaRPr sz="2000">
              <a:latin typeface="Calibri"/>
              <a:cs typeface="Calibri"/>
            </a:endParaRPr>
          </a:p>
        </p:txBody>
      </p:sp>
      <p:pic>
        <p:nvPicPr>
          <p:cNvPr id="4" name="object 4"/>
          <p:cNvPicPr/>
          <p:nvPr/>
        </p:nvPicPr>
        <p:blipFill>
          <a:blip r:embed="rId2" cstate="print"/>
          <a:stretch>
            <a:fillRect/>
          </a:stretch>
        </p:blipFill>
        <p:spPr>
          <a:xfrm>
            <a:off x="5184729" y="1662832"/>
            <a:ext cx="3399888" cy="1602928"/>
          </a:xfrm>
          <a:prstGeom prst="rect">
            <a:avLst/>
          </a:prstGeom>
        </p:spPr>
      </p:pic>
      <p:pic>
        <p:nvPicPr>
          <p:cNvPr id="5" name="object 5"/>
          <p:cNvPicPr/>
          <p:nvPr/>
        </p:nvPicPr>
        <p:blipFill>
          <a:blip r:embed="rId3" cstate="print"/>
          <a:stretch>
            <a:fillRect/>
          </a:stretch>
        </p:blipFill>
        <p:spPr>
          <a:xfrm>
            <a:off x="939369" y="3401202"/>
            <a:ext cx="7234780" cy="1364345"/>
          </a:xfrm>
          <a:prstGeom prst="rect">
            <a:avLst/>
          </a:prstGeom>
        </p:spPr>
      </p:pic>
      <p:sp>
        <p:nvSpPr>
          <p:cNvPr id="6" name="object 6"/>
          <p:cNvSpPr txBox="1">
            <a:spLocks noGrp="1"/>
          </p:cNvSpPr>
          <p:nvPr>
            <p:ph type="sldNum" sz="quarter" idx="7"/>
          </p:nvPr>
        </p:nvSpPr>
        <p:spPr>
          <a:prstGeom prst="rect">
            <a:avLst/>
          </a:prstGeom>
        </p:spPr>
        <p:txBody>
          <a:bodyPr vert="horz" wrap="square" lIns="0" tIns="10160" rIns="0" bIns="0" rtlCol="0">
            <a:spAutoFit/>
          </a:bodyPr>
          <a:lstStyle/>
          <a:p>
            <a:pPr marL="38100">
              <a:lnSpc>
                <a:spcPct val="100000"/>
              </a:lnSpc>
              <a:spcBef>
                <a:spcPts val="80"/>
              </a:spcBef>
            </a:pPr>
            <a:fld id="{81D60167-4931-47E6-BA6A-407CBD079E47}" type="slidenum">
              <a:rPr spc="-25" dirty="0"/>
              <a:t>43</a:t>
            </a:fld>
            <a:endParaRPr spc="-25"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a:lnSpc>
                <a:spcPct val="100000"/>
              </a:lnSpc>
              <a:spcBef>
                <a:spcPts val="105"/>
              </a:spcBef>
            </a:pPr>
            <a:r>
              <a:rPr spc="-30" dirty="0"/>
              <a:t>K-</a:t>
            </a:r>
            <a:r>
              <a:rPr spc="-20" dirty="0"/>
              <a:t>means</a:t>
            </a:r>
          </a:p>
        </p:txBody>
      </p:sp>
      <p:sp>
        <p:nvSpPr>
          <p:cNvPr id="3" name="object 3"/>
          <p:cNvSpPr txBox="1"/>
          <p:nvPr/>
        </p:nvSpPr>
        <p:spPr>
          <a:xfrm>
            <a:off x="538378" y="1215898"/>
            <a:ext cx="7637780" cy="1406525"/>
          </a:xfrm>
          <a:prstGeom prst="rect">
            <a:avLst/>
          </a:prstGeom>
        </p:spPr>
        <p:txBody>
          <a:bodyPr vert="horz" wrap="square" lIns="0" tIns="12065" rIns="0" bIns="0" rtlCol="0">
            <a:spAutoFit/>
          </a:bodyPr>
          <a:lstStyle/>
          <a:p>
            <a:pPr marL="354965" indent="-342265">
              <a:lnSpc>
                <a:spcPct val="100000"/>
              </a:lnSpc>
              <a:spcBef>
                <a:spcPts val="95"/>
              </a:spcBef>
              <a:buClr>
                <a:srgbClr val="333940"/>
              </a:buClr>
              <a:buSzPct val="81818"/>
              <a:buFont typeface="Wingdings"/>
              <a:buChar char=""/>
              <a:tabLst>
                <a:tab pos="354965" algn="l"/>
              </a:tabLst>
            </a:pPr>
            <a:r>
              <a:rPr sz="2200" dirty="0">
                <a:solidFill>
                  <a:srgbClr val="12171A"/>
                </a:solidFill>
                <a:latin typeface="Calibri"/>
                <a:cs typeface="Calibri"/>
              </a:rPr>
              <a:t>Each</a:t>
            </a:r>
            <a:r>
              <a:rPr sz="2200" spc="-35" dirty="0">
                <a:solidFill>
                  <a:srgbClr val="12171A"/>
                </a:solidFill>
                <a:latin typeface="Calibri"/>
                <a:cs typeface="Calibri"/>
              </a:rPr>
              <a:t> </a:t>
            </a:r>
            <a:r>
              <a:rPr sz="2200" dirty="0">
                <a:solidFill>
                  <a:srgbClr val="12171A"/>
                </a:solidFill>
                <a:latin typeface="Calibri"/>
                <a:cs typeface="Calibri"/>
              </a:rPr>
              <a:t>instance</a:t>
            </a:r>
            <a:r>
              <a:rPr sz="2200" spc="-30" dirty="0">
                <a:solidFill>
                  <a:srgbClr val="12171A"/>
                </a:solidFill>
                <a:latin typeface="Calibri"/>
                <a:cs typeface="Calibri"/>
              </a:rPr>
              <a:t> </a:t>
            </a:r>
            <a:r>
              <a:rPr sz="2200" dirty="0">
                <a:solidFill>
                  <a:srgbClr val="12171A"/>
                </a:solidFill>
                <a:latin typeface="Calibri"/>
                <a:cs typeface="Calibri"/>
              </a:rPr>
              <a:t>will</a:t>
            </a:r>
            <a:r>
              <a:rPr sz="2200" spc="-40" dirty="0">
                <a:solidFill>
                  <a:srgbClr val="12171A"/>
                </a:solidFill>
                <a:latin typeface="Calibri"/>
                <a:cs typeface="Calibri"/>
              </a:rPr>
              <a:t> </a:t>
            </a:r>
            <a:r>
              <a:rPr sz="2200" dirty="0">
                <a:solidFill>
                  <a:srgbClr val="12171A"/>
                </a:solidFill>
                <a:latin typeface="Calibri"/>
                <a:cs typeface="Calibri"/>
              </a:rPr>
              <a:t>be</a:t>
            </a:r>
            <a:r>
              <a:rPr sz="2200" spc="-30" dirty="0">
                <a:solidFill>
                  <a:srgbClr val="12171A"/>
                </a:solidFill>
                <a:latin typeface="Calibri"/>
                <a:cs typeface="Calibri"/>
              </a:rPr>
              <a:t> </a:t>
            </a:r>
            <a:r>
              <a:rPr sz="2200" dirty="0">
                <a:solidFill>
                  <a:srgbClr val="12171A"/>
                </a:solidFill>
                <a:latin typeface="Calibri"/>
                <a:cs typeface="Calibri"/>
              </a:rPr>
              <a:t>assigned</a:t>
            </a:r>
            <a:r>
              <a:rPr sz="2200" spc="-35" dirty="0">
                <a:solidFill>
                  <a:srgbClr val="12171A"/>
                </a:solidFill>
                <a:latin typeface="Calibri"/>
                <a:cs typeface="Calibri"/>
              </a:rPr>
              <a:t> </a:t>
            </a:r>
            <a:r>
              <a:rPr sz="2200" dirty="0">
                <a:solidFill>
                  <a:srgbClr val="12171A"/>
                </a:solidFill>
                <a:latin typeface="Calibri"/>
                <a:cs typeface="Calibri"/>
              </a:rPr>
              <a:t>to</a:t>
            </a:r>
            <a:r>
              <a:rPr sz="2200" spc="-15" dirty="0">
                <a:solidFill>
                  <a:srgbClr val="12171A"/>
                </a:solidFill>
                <a:latin typeface="Calibri"/>
                <a:cs typeface="Calibri"/>
              </a:rPr>
              <a:t> </a:t>
            </a:r>
            <a:r>
              <a:rPr sz="2200" dirty="0">
                <a:solidFill>
                  <a:srgbClr val="12171A"/>
                </a:solidFill>
                <a:latin typeface="Calibri"/>
                <a:cs typeface="Calibri"/>
              </a:rPr>
              <a:t>one</a:t>
            </a:r>
            <a:r>
              <a:rPr sz="2200" spc="-35" dirty="0">
                <a:solidFill>
                  <a:srgbClr val="12171A"/>
                </a:solidFill>
                <a:latin typeface="Calibri"/>
                <a:cs typeface="Calibri"/>
              </a:rPr>
              <a:t> </a:t>
            </a:r>
            <a:r>
              <a:rPr sz="2200" dirty="0">
                <a:solidFill>
                  <a:srgbClr val="12171A"/>
                </a:solidFill>
                <a:latin typeface="Calibri"/>
                <a:cs typeface="Calibri"/>
              </a:rPr>
              <a:t>of</a:t>
            </a:r>
            <a:r>
              <a:rPr sz="2200" spc="-20" dirty="0">
                <a:solidFill>
                  <a:srgbClr val="12171A"/>
                </a:solidFill>
                <a:latin typeface="Calibri"/>
                <a:cs typeface="Calibri"/>
              </a:rPr>
              <a:t> </a:t>
            </a:r>
            <a:r>
              <a:rPr sz="2200" dirty="0">
                <a:solidFill>
                  <a:srgbClr val="12171A"/>
                </a:solidFill>
                <a:latin typeface="Calibri"/>
                <a:cs typeface="Calibri"/>
              </a:rPr>
              <a:t>the</a:t>
            </a:r>
            <a:r>
              <a:rPr sz="2200" spc="-35" dirty="0">
                <a:solidFill>
                  <a:srgbClr val="12171A"/>
                </a:solidFill>
                <a:latin typeface="Calibri"/>
                <a:cs typeface="Calibri"/>
              </a:rPr>
              <a:t> </a:t>
            </a:r>
            <a:r>
              <a:rPr sz="2200" dirty="0">
                <a:solidFill>
                  <a:srgbClr val="12171A"/>
                </a:solidFill>
                <a:latin typeface="Calibri"/>
                <a:cs typeface="Calibri"/>
              </a:rPr>
              <a:t>five</a:t>
            </a:r>
            <a:r>
              <a:rPr sz="2200" spc="-15" dirty="0">
                <a:solidFill>
                  <a:srgbClr val="12171A"/>
                </a:solidFill>
                <a:latin typeface="Calibri"/>
                <a:cs typeface="Calibri"/>
              </a:rPr>
              <a:t> </a:t>
            </a:r>
            <a:r>
              <a:rPr sz="2200" spc="-10" dirty="0">
                <a:solidFill>
                  <a:srgbClr val="12171A"/>
                </a:solidFill>
                <a:latin typeface="Calibri"/>
                <a:cs typeface="Calibri"/>
              </a:rPr>
              <a:t>clusters.</a:t>
            </a:r>
            <a:endParaRPr sz="2200">
              <a:latin typeface="Calibri"/>
              <a:cs typeface="Calibri"/>
            </a:endParaRPr>
          </a:p>
          <a:p>
            <a:pPr marL="812800" lvl="1" indent="-334010">
              <a:lnSpc>
                <a:spcPct val="100000"/>
              </a:lnSpc>
              <a:spcBef>
                <a:spcPts val="5"/>
              </a:spcBef>
              <a:buClr>
                <a:srgbClr val="121618"/>
              </a:buClr>
              <a:buSzPct val="85000"/>
              <a:buFont typeface="Wingdings"/>
              <a:buChar char=""/>
              <a:tabLst>
                <a:tab pos="812800" algn="l"/>
              </a:tabLst>
            </a:pPr>
            <a:r>
              <a:rPr sz="2000" dirty="0">
                <a:solidFill>
                  <a:srgbClr val="12171A"/>
                </a:solidFill>
                <a:latin typeface="Calibri"/>
                <a:cs typeface="Calibri"/>
              </a:rPr>
              <a:t>An</a:t>
            </a:r>
            <a:r>
              <a:rPr sz="2000" spc="-30" dirty="0">
                <a:solidFill>
                  <a:srgbClr val="12171A"/>
                </a:solidFill>
                <a:latin typeface="Calibri"/>
                <a:cs typeface="Calibri"/>
              </a:rPr>
              <a:t> </a:t>
            </a:r>
            <a:r>
              <a:rPr sz="2000" dirty="0">
                <a:solidFill>
                  <a:srgbClr val="12171A"/>
                </a:solidFill>
                <a:latin typeface="Calibri"/>
                <a:cs typeface="Calibri"/>
              </a:rPr>
              <a:t>instance’s</a:t>
            </a:r>
            <a:r>
              <a:rPr sz="2000" spc="-25" dirty="0">
                <a:solidFill>
                  <a:srgbClr val="12171A"/>
                </a:solidFill>
                <a:latin typeface="Calibri"/>
                <a:cs typeface="Calibri"/>
              </a:rPr>
              <a:t> </a:t>
            </a:r>
            <a:r>
              <a:rPr sz="2000" i="1" dirty="0">
                <a:solidFill>
                  <a:srgbClr val="006FC0"/>
                </a:solidFill>
                <a:latin typeface="Calibri"/>
                <a:cs typeface="Calibri"/>
              </a:rPr>
              <a:t>label</a:t>
            </a:r>
            <a:r>
              <a:rPr sz="2000" i="1" spc="-35" dirty="0">
                <a:solidFill>
                  <a:srgbClr val="006FC0"/>
                </a:solidFill>
                <a:latin typeface="Calibri"/>
                <a:cs typeface="Calibri"/>
              </a:rPr>
              <a:t> </a:t>
            </a:r>
            <a:r>
              <a:rPr sz="2000" dirty="0">
                <a:solidFill>
                  <a:srgbClr val="12171A"/>
                </a:solidFill>
                <a:latin typeface="Calibri"/>
                <a:cs typeface="Calibri"/>
              </a:rPr>
              <a:t>is</a:t>
            </a:r>
            <a:r>
              <a:rPr sz="2000" spc="-20" dirty="0">
                <a:solidFill>
                  <a:srgbClr val="12171A"/>
                </a:solidFill>
                <a:latin typeface="Calibri"/>
                <a:cs typeface="Calibri"/>
              </a:rPr>
              <a:t> </a:t>
            </a:r>
            <a:r>
              <a:rPr sz="2000" dirty="0">
                <a:solidFill>
                  <a:srgbClr val="12171A"/>
                </a:solidFill>
                <a:latin typeface="Calibri"/>
                <a:cs typeface="Calibri"/>
              </a:rPr>
              <a:t>the</a:t>
            </a:r>
            <a:r>
              <a:rPr sz="2000" spc="-30" dirty="0">
                <a:solidFill>
                  <a:srgbClr val="12171A"/>
                </a:solidFill>
                <a:latin typeface="Calibri"/>
                <a:cs typeface="Calibri"/>
              </a:rPr>
              <a:t> </a:t>
            </a:r>
            <a:r>
              <a:rPr sz="2000" dirty="0">
                <a:solidFill>
                  <a:srgbClr val="12171A"/>
                </a:solidFill>
                <a:latin typeface="Calibri"/>
                <a:cs typeface="Calibri"/>
              </a:rPr>
              <a:t>index</a:t>
            </a:r>
            <a:r>
              <a:rPr sz="2000" spc="-20" dirty="0">
                <a:solidFill>
                  <a:srgbClr val="12171A"/>
                </a:solidFill>
                <a:latin typeface="Calibri"/>
                <a:cs typeface="Calibri"/>
              </a:rPr>
              <a:t> </a:t>
            </a:r>
            <a:r>
              <a:rPr sz="2000" dirty="0">
                <a:solidFill>
                  <a:srgbClr val="12171A"/>
                </a:solidFill>
                <a:latin typeface="Calibri"/>
                <a:cs typeface="Calibri"/>
              </a:rPr>
              <a:t>of</a:t>
            </a:r>
            <a:r>
              <a:rPr sz="2000" spc="-35" dirty="0">
                <a:solidFill>
                  <a:srgbClr val="12171A"/>
                </a:solidFill>
                <a:latin typeface="Calibri"/>
                <a:cs typeface="Calibri"/>
              </a:rPr>
              <a:t> </a:t>
            </a:r>
            <a:r>
              <a:rPr sz="2000" dirty="0">
                <a:solidFill>
                  <a:srgbClr val="12171A"/>
                </a:solidFill>
                <a:latin typeface="Calibri"/>
                <a:cs typeface="Calibri"/>
              </a:rPr>
              <a:t>its</a:t>
            </a:r>
            <a:r>
              <a:rPr sz="2000" spc="-20" dirty="0">
                <a:solidFill>
                  <a:srgbClr val="12171A"/>
                </a:solidFill>
                <a:latin typeface="Calibri"/>
                <a:cs typeface="Calibri"/>
              </a:rPr>
              <a:t> </a:t>
            </a:r>
            <a:r>
              <a:rPr sz="2000" spc="-10" dirty="0">
                <a:solidFill>
                  <a:srgbClr val="12171A"/>
                </a:solidFill>
                <a:latin typeface="Calibri"/>
                <a:cs typeface="Calibri"/>
              </a:rPr>
              <a:t>cluster.</a:t>
            </a:r>
            <a:endParaRPr sz="2000">
              <a:latin typeface="Calibri"/>
              <a:cs typeface="Calibri"/>
            </a:endParaRPr>
          </a:p>
          <a:p>
            <a:pPr marL="354965" indent="-342265">
              <a:lnSpc>
                <a:spcPct val="100000"/>
              </a:lnSpc>
              <a:spcBef>
                <a:spcPts val="545"/>
              </a:spcBef>
              <a:buClr>
                <a:srgbClr val="333940"/>
              </a:buClr>
              <a:buSzPct val="90000"/>
              <a:buFont typeface="Wingdings"/>
              <a:buChar char=""/>
              <a:tabLst>
                <a:tab pos="354965" algn="l"/>
              </a:tabLst>
            </a:pPr>
            <a:r>
              <a:rPr sz="2000" spc="-10" dirty="0">
                <a:solidFill>
                  <a:srgbClr val="12171A"/>
                </a:solidFill>
                <a:latin typeface="Courier New"/>
                <a:cs typeface="Courier New"/>
              </a:rPr>
              <a:t>KMeans</a:t>
            </a:r>
            <a:r>
              <a:rPr sz="2000" spc="-700" dirty="0">
                <a:solidFill>
                  <a:srgbClr val="12171A"/>
                </a:solidFill>
                <a:latin typeface="Courier New"/>
                <a:cs typeface="Courier New"/>
              </a:rPr>
              <a:t> </a:t>
            </a:r>
            <a:r>
              <a:rPr sz="2200" dirty="0">
                <a:solidFill>
                  <a:srgbClr val="12171A"/>
                </a:solidFill>
                <a:latin typeface="Calibri"/>
                <a:cs typeface="Calibri"/>
              </a:rPr>
              <a:t>instance</a:t>
            </a:r>
            <a:r>
              <a:rPr sz="2200" spc="-80" dirty="0">
                <a:solidFill>
                  <a:srgbClr val="12171A"/>
                </a:solidFill>
                <a:latin typeface="Calibri"/>
                <a:cs typeface="Calibri"/>
              </a:rPr>
              <a:t> </a:t>
            </a:r>
            <a:r>
              <a:rPr sz="2200" dirty="0">
                <a:solidFill>
                  <a:srgbClr val="12171A"/>
                </a:solidFill>
                <a:latin typeface="Calibri"/>
                <a:cs typeface="Calibri"/>
              </a:rPr>
              <a:t>preserves</a:t>
            </a:r>
            <a:r>
              <a:rPr sz="2200" spc="-25" dirty="0">
                <a:solidFill>
                  <a:srgbClr val="12171A"/>
                </a:solidFill>
                <a:latin typeface="Calibri"/>
                <a:cs typeface="Calibri"/>
              </a:rPr>
              <a:t> </a:t>
            </a:r>
            <a:r>
              <a:rPr sz="2200" dirty="0">
                <a:solidFill>
                  <a:srgbClr val="12171A"/>
                </a:solidFill>
                <a:latin typeface="Calibri"/>
                <a:cs typeface="Calibri"/>
              </a:rPr>
              <a:t>the</a:t>
            </a:r>
            <a:r>
              <a:rPr sz="2200" spc="-25" dirty="0">
                <a:solidFill>
                  <a:srgbClr val="12171A"/>
                </a:solidFill>
                <a:latin typeface="Calibri"/>
                <a:cs typeface="Calibri"/>
              </a:rPr>
              <a:t> </a:t>
            </a:r>
            <a:r>
              <a:rPr sz="2200" dirty="0">
                <a:solidFill>
                  <a:srgbClr val="12171A"/>
                </a:solidFill>
                <a:latin typeface="Calibri"/>
                <a:cs typeface="Calibri"/>
              </a:rPr>
              <a:t>predicted</a:t>
            </a:r>
            <a:r>
              <a:rPr sz="2200" spc="-40" dirty="0">
                <a:solidFill>
                  <a:srgbClr val="12171A"/>
                </a:solidFill>
                <a:latin typeface="Calibri"/>
                <a:cs typeface="Calibri"/>
              </a:rPr>
              <a:t> </a:t>
            </a:r>
            <a:r>
              <a:rPr sz="2200" dirty="0">
                <a:solidFill>
                  <a:srgbClr val="12171A"/>
                </a:solidFill>
                <a:latin typeface="Calibri"/>
                <a:cs typeface="Calibri"/>
              </a:rPr>
              <a:t>labels</a:t>
            </a:r>
            <a:r>
              <a:rPr sz="2200" spc="-35" dirty="0">
                <a:solidFill>
                  <a:srgbClr val="12171A"/>
                </a:solidFill>
                <a:latin typeface="Calibri"/>
                <a:cs typeface="Calibri"/>
              </a:rPr>
              <a:t> </a:t>
            </a:r>
            <a:r>
              <a:rPr sz="2200" dirty="0">
                <a:solidFill>
                  <a:srgbClr val="12171A"/>
                </a:solidFill>
                <a:latin typeface="Calibri"/>
                <a:cs typeface="Calibri"/>
              </a:rPr>
              <a:t>of</a:t>
            </a:r>
            <a:r>
              <a:rPr sz="2200" spc="-40" dirty="0">
                <a:solidFill>
                  <a:srgbClr val="12171A"/>
                </a:solidFill>
                <a:latin typeface="Calibri"/>
                <a:cs typeface="Calibri"/>
              </a:rPr>
              <a:t> </a:t>
            </a:r>
            <a:r>
              <a:rPr sz="2200" dirty="0">
                <a:solidFill>
                  <a:srgbClr val="12171A"/>
                </a:solidFill>
                <a:latin typeface="Calibri"/>
                <a:cs typeface="Calibri"/>
              </a:rPr>
              <a:t>the</a:t>
            </a:r>
            <a:r>
              <a:rPr sz="2200" spc="-25" dirty="0">
                <a:solidFill>
                  <a:srgbClr val="12171A"/>
                </a:solidFill>
                <a:latin typeface="Calibri"/>
                <a:cs typeface="Calibri"/>
              </a:rPr>
              <a:t> </a:t>
            </a:r>
            <a:r>
              <a:rPr sz="2200" spc="-10" dirty="0">
                <a:solidFill>
                  <a:srgbClr val="12171A"/>
                </a:solidFill>
                <a:latin typeface="Calibri"/>
                <a:cs typeface="Calibri"/>
              </a:rPr>
              <a:t>instances</a:t>
            </a:r>
            <a:endParaRPr sz="2200">
              <a:latin typeface="Calibri"/>
              <a:cs typeface="Calibri"/>
            </a:endParaRPr>
          </a:p>
          <a:p>
            <a:pPr marL="354965">
              <a:lnSpc>
                <a:spcPct val="100000"/>
              </a:lnSpc>
              <a:spcBef>
                <a:spcPts val="5"/>
              </a:spcBef>
            </a:pPr>
            <a:r>
              <a:rPr sz="2200" dirty="0">
                <a:solidFill>
                  <a:srgbClr val="12171A"/>
                </a:solidFill>
                <a:latin typeface="Calibri"/>
                <a:cs typeface="Calibri"/>
              </a:rPr>
              <a:t>it</a:t>
            </a:r>
            <a:r>
              <a:rPr sz="2200" spc="-25" dirty="0">
                <a:solidFill>
                  <a:srgbClr val="12171A"/>
                </a:solidFill>
                <a:latin typeface="Calibri"/>
                <a:cs typeface="Calibri"/>
              </a:rPr>
              <a:t> </a:t>
            </a:r>
            <a:r>
              <a:rPr sz="2200" dirty="0">
                <a:solidFill>
                  <a:srgbClr val="12171A"/>
                </a:solidFill>
                <a:latin typeface="Calibri"/>
                <a:cs typeface="Calibri"/>
              </a:rPr>
              <a:t>was</a:t>
            </a:r>
            <a:r>
              <a:rPr sz="2200" spc="-10" dirty="0">
                <a:solidFill>
                  <a:srgbClr val="12171A"/>
                </a:solidFill>
                <a:latin typeface="Calibri"/>
                <a:cs typeface="Calibri"/>
              </a:rPr>
              <a:t> </a:t>
            </a:r>
            <a:r>
              <a:rPr sz="2200" dirty="0">
                <a:solidFill>
                  <a:srgbClr val="12171A"/>
                </a:solidFill>
                <a:latin typeface="Calibri"/>
                <a:cs typeface="Calibri"/>
              </a:rPr>
              <a:t>trained</a:t>
            </a:r>
            <a:r>
              <a:rPr sz="2200" spc="-15" dirty="0">
                <a:solidFill>
                  <a:srgbClr val="12171A"/>
                </a:solidFill>
                <a:latin typeface="Calibri"/>
                <a:cs typeface="Calibri"/>
              </a:rPr>
              <a:t> </a:t>
            </a:r>
            <a:r>
              <a:rPr sz="2200" dirty="0">
                <a:solidFill>
                  <a:srgbClr val="12171A"/>
                </a:solidFill>
                <a:latin typeface="Calibri"/>
                <a:cs typeface="Calibri"/>
              </a:rPr>
              <a:t>on,</a:t>
            </a:r>
            <a:r>
              <a:rPr sz="2200" spc="-10" dirty="0">
                <a:solidFill>
                  <a:srgbClr val="12171A"/>
                </a:solidFill>
                <a:latin typeface="Calibri"/>
                <a:cs typeface="Calibri"/>
              </a:rPr>
              <a:t> </a:t>
            </a:r>
            <a:r>
              <a:rPr sz="2200" dirty="0">
                <a:solidFill>
                  <a:srgbClr val="12171A"/>
                </a:solidFill>
                <a:latin typeface="Calibri"/>
                <a:cs typeface="Calibri"/>
              </a:rPr>
              <a:t>available</a:t>
            </a:r>
            <a:r>
              <a:rPr sz="2200" spc="-40" dirty="0">
                <a:solidFill>
                  <a:srgbClr val="12171A"/>
                </a:solidFill>
                <a:latin typeface="Calibri"/>
                <a:cs typeface="Calibri"/>
              </a:rPr>
              <a:t> </a:t>
            </a:r>
            <a:r>
              <a:rPr sz="2200" dirty="0">
                <a:solidFill>
                  <a:srgbClr val="12171A"/>
                </a:solidFill>
                <a:latin typeface="Calibri"/>
                <a:cs typeface="Calibri"/>
              </a:rPr>
              <a:t>via</a:t>
            </a:r>
            <a:r>
              <a:rPr sz="2200" spc="-15" dirty="0">
                <a:solidFill>
                  <a:srgbClr val="12171A"/>
                </a:solidFill>
                <a:latin typeface="Calibri"/>
                <a:cs typeface="Calibri"/>
              </a:rPr>
              <a:t> </a:t>
            </a:r>
            <a:r>
              <a:rPr sz="2200" dirty="0">
                <a:solidFill>
                  <a:srgbClr val="12171A"/>
                </a:solidFill>
                <a:latin typeface="Calibri"/>
                <a:cs typeface="Calibri"/>
              </a:rPr>
              <a:t>the</a:t>
            </a:r>
            <a:r>
              <a:rPr sz="2200" spc="5" dirty="0">
                <a:solidFill>
                  <a:srgbClr val="12171A"/>
                </a:solidFill>
                <a:latin typeface="Calibri"/>
                <a:cs typeface="Calibri"/>
              </a:rPr>
              <a:t> </a:t>
            </a:r>
            <a:r>
              <a:rPr sz="2000" spc="-10" dirty="0">
                <a:solidFill>
                  <a:srgbClr val="12171A"/>
                </a:solidFill>
                <a:latin typeface="Courier New"/>
                <a:cs typeface="Courier New"/>
              </a:rPr>
              <a:t>labels_</a:t>
            </a:r>
            <a:r>
              <a:rPr sz="2000" spc="-700" dirty="0">
                <a:solidFill>
                  <a:srgbClr val="12171A"/>
                </a:solidFill>
                <a:latin typeface="Courier New"/>
                <a:cs typeface="Courier New"/>
              </a:rPr>
              <a:t> </a:t>
            </a:r>
            <a:r>
              <a:rPr sz="2200" dirty="0">
                <a:solidFill>
                  <a:srgbClr val="12171A"/>
                </a:solidFill>
                <a:latin typeface="Calibri"/>
                <a:cs typeface="Calibri"/>
              </a:rPr>
              <a:t>instance</a:t>
            </a:r>
            <a:r>
              <a:rPr sz="2200" spc="-15" dirty="0">
                <a:solidFill>
                  <a:srgbClr val="12171A"/>
                </a:solidFill>
                <a:latin typeface="Calibri"/>
                <a:cs typeface="Calibri"/>
              </a:rPr>
              <a:t> </a:t>
            </a:r>
            <a:r>
              <a:rPr sz="2200" spc="-10" dirty="0">
                <a:solidFill>
                  <a:srgbClr val="12171A"/>
                </a:solidFill>
                <a:latin typeface="Calibri"/>
                <a:cs typeface="Calibri"/>
              </a:rPr>
              <a:t>variable:</a:t>
            </a:r>
            <a:endParaRPr sz="2200">
              <a:latin typeface="Calibri"/>
              <a:cs typeface="Calibri"/>
            </a:endParaRPr>
          </a:p>
        </p:txBody>
      </p:sp>
      <p:sp>
        <p:nvSpPr>
          <p:cNvPr id="4" name="object 4"/>
          <p:cNvSpPr txBox="1"/>
          <p:nvPr/>
        </p:nvSpPr>
        <p:spPr>
          <a:xfrm>
            <a:off x="538378" y="3914038"/>
            <a:ext cx="4860290" cy="360680"/>
          </a:xfrm>
          <a:prstGeom prst="rect">
            <a:avLst/>
          </a:prstGeom>
        </p:spPr>
        <p:txBody>
          <a:bodyPr vert="horz" wrap="square" lIns="0" tIns="12065" rIns="0" bIns="0" rtlCol="0">
            <a:spAutoFit/>
          </a:bodyPr>
          <a:lstStyle/>
          <a:p>
            <a:pPr marL="354965" indent="-342265">
              <a:lnSpc>
                <a:spcPct val="100000"/>
              </a:lnSpc>
              <a:spcBef>
                <a:spcPts val="95"/>
              </a:spcBef>
              <a:buClr>
                <a:srgbClr val="333940"/>
              </a:buClr>
              <a:buSzPct val="81818"/>
              <a:buFont typeface="Wingdings"/>
              <a:buChar char=""/>
              <a:tabLst>
                <a:tab pos="354965" algn="l"/>
              </a:tabLst>
            </a:pPr>
            <a:r>
              <a:rPr sz="2200" dirty="0">
                <a:solidFill>
                  <a:srgbClr val="12171A"/>
                </a:solidFill>
                <a:latin typeface="Calibri"/>
                <a:cs typeface="Calibri"/>
              </a:rPr>
              <a:t>The</a:t>
            </a:r>
            <a:r>
              <a:rPr sz="2200" spc="-30" dirty="0">
                <a:solidFill>
                  <a:srgbClr val="12171A"/>
                </a:solidFill>
                <a:latin typeface="Calibri"/>
                <a:cs typeface="Calibri"/>
              </a:rPr>
              <a:t> </a:t>
            </a:r>
            <a:r>
              <a:rPr sz="2200" dirty="0">
                <a:solidFill>
                  <a:srgbClr val="12171A"/>
                </a:solidFill>
                <a:latin typeface="Calibri"/>
                <a:cs typeface="Calibri"/>
              </a:rPr>
              <a:t>centroids</a:t>
            </a:r>
            <a:r>
              <a:rPr sz="2200" spc="-30" dirty="0">
                <a:solidFill>
                  <a:srgbClr val="12171A"/>
                </a:solidFill>
                <a:latin typeface="Calibri"/>
                <a:cs typeface="Calibri"/>
              </a:rPr>
              <a:t> </a:t>
            </a:r>
            <a:r>
              <a:rPr sz="2200" dirty="0">
                <a:solidFill>
                  <a:srgbClr val="12171A"/>
                </a:solidFill>
                <a:latin typeface="Calibri"/>
                <a:cs typeface="Calibri"/>
              </a:rPr>
              <a:t>that</a:t>
            </a:r>
            <a:r>
              <a:rPr sz="2200" spc="-35" dirty="0">
                <a:solidFill>
                  <a:srgbClr val="12171A"/>
                </a:solidFill>
                <a:latin typeface="Calibri"/>
                <a:cs typeface="Calibri"/>
              </a:rPr>
              <a:t> </a:t>
            </a:r>
            <a:r>
              <a:rPr sz="2200" dirty="0">
                <a:solidFill>
                  <a:srgbClr val="12171A"/>
                </a:solidFill>
                <a:latin typeface="Calibri"/>
                <a:cs typeface="Calibri"/>
              </a:rPr>
              <a:t>the</a:t>
            </a:r>
            <a:r>
              <a:rPr sz="2200" spc="-25" dirty="0">
                <a:solidFill>
                  <a:srgbClr val="12171A"/>
                </a:solidFill>
                <a:latin typeface="Calibri"/>
                <a:cs typeface="Calibri"/>
              </a:rPr>
              <a:t> </a:t>
            </a:r>
            <a:r>
              <a:rPr sz="2200" dirty="0">
                <a:solidFill>
                  <a:srgbClr val="12171A"/>
                </a:solidFill>
                <a:latin typeface="Calibri"/>
                <a:cs typeface="Calibri"/>
              </a:rPr>
              <a:t>algorithm</a:t>
            </a:r>
            <a:r>
              <a:rPr sz="2200" spc="-45" dirty="0">
                <a:solidFill>
                  <a:srgbClr val="12171A"/>
                </a:solidFill>
                <a:latin typeface="Calibri"/>
                <a:cs typeface="Calibri"/>
              </a:rPr>
              <a:t> </a:t>
            </a:r>
            <a:r>
              <a:rPr sz="2200" spc="-10" dirty="0">
                <a:solidFill>
                  <a:srgbClr val="12171A"/>
                </a:solidFill>
                <a:latin typeface="Calibri"/>
                <a:cs typeface="Calibri"/>
              </a:rPr>
              <a:t>found:</a:t>
            </a:r>
            <a:endParaRPr sz="2200">
              <a:latin typeface="Calibri"/>
              <a:cs typeface="Calibri"/>
            </a:endParaRPr>
          </a:p>
        </p:txBody>
      </p:sp>
      <p:grpSp>
        <p:nvGrpSpPr>
          <p:cNvPr id="5" name="object 5"/>
          <p:cNvGrpSpPr/>
          <p:nvPr/>
        </p:nvGrpSpPr>
        <p:grpSpPr>
          <a:xfrm>
            <a:off x="2156424" y="2740105"/>
            <a:ext cx="6669405" cy="2139950"/>
            <a:chOff x="2156424" y="2740105"/>
            <a:chExt cx="6669405" cy="2139950"/>
          </a:xfrm>
        </p:grpSpPr>
        <p:pic>
          <p:nvPicPr>
            <p:cNvPr id="6" name="object 6"/>
            <p:cNvPicPr/>
            <p:nvPr/>
          </p:nvPicPr>
          <p:blipFill>
            <a:blip r:embed="rId2" cstate="print"/>
            <a:stretch>
              <a:fillRect/>
            </a:stretch>
          </p:blipFill>
          <p:spPr>
            <a:xfrm>
              <a:off x="2156424" y="2740105"/>
              <a:ext cx="3829883" cy="1108049"/>
            </a:xfrm>
            <a:prstGeom prst="rect">
              <a:avLst/>
            </a:prstGeom>
          </p:spPr>
        </p:pic>
        <p:pic>
          <p:nvPicPr>
            <p:cNvPr id="7" name="object 7"/>
            <p:cNvPicPr/>
            <p:nvPr/>
          </p:nvPicPr>
          <p:blipFill>
            <a:blip r:embed="rId3" cstate="print"/>
            <a:stretch>
              <a:fillRect/>
            </a:stretch>
          </p:blipFill>
          <p:spPr>
            <a:xfrm>
              <a:off x="5471159" y="3813047"/>
              <a:ext cx="3354324" cy="1066800"/>
            </a:xfrm>
            <a:prstGeom prst="rect">
              <a:avLst/>
            </a:prstGeom>
          </p:spPr>
        </p:pic>
      </p:grpSp>
      <p:sp>
        <p:nvSpPr>
          <p:cNvPr id="8" name="object 8"/>
          <p:cNvSpPr txBox="1">
            <a:spLocks noGrp="1"/>
          </p:cNvSpPr>
          <p:nvPr>
            <p:ph type="sldNum" sz="quarter" idx="7"/>
          </p:nvPr>
        </p:nvSpPr>
        <p:spPr>
          <a:prstGeom prst="rect">
            <a:avLst/>
          </a:prstGeom>
        </p:spPr>
        <p:txBody>
          <a:bodyPr vert="horz" wrap="square" lIns="0" tIns="10160" rIns="0" bIns="0" rtlCol="0">
            <a:spAutoFit/>
          </a:bodyPr>
          <a:lstStyle/>
          <a:p>
            <a:pPr marL="38100">
              <a:lnSpc>
                <a:spcPct val="100000"/>
              </a:lnSpc>
              <a:spcBef>
                <a:spcPts val="80"/>
              </a:spcBef>
            </a:pPr>
            <a:fld id="{81D60167-4931-47E6-BA6A-407CBD079E47}" type="slidenum">
              <a:rPr spc="-25" dirty="0"/>
              <a:t>44</a:t>
            </a:fld>
            <a:endParaRPr spc="-25"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42340" y="198501"/>
            <a:ext cx="2038985" cy="696595"/>
          </a:xfrm>
          <a:prstGeom prst="rect">
            <a:avLst/>
          </a:prstGeom>
        </p:spPr>
        <p:txBody>
          <a:bodyPr vert="horz" wrap="square" lIns="0" tIns="13335" rIns="0" bIns="0" rtlCol="0">
            <a:spAutoFit/>
          </a:bodyPr>
          <a:lstStyle/>
          <a:p>
            <a:pPr marL="12700">
              <a:lnSpc>
                <a:spcPct val="100000"/>
              </a:lnSpc>
              <a:spcBef>
                <a:spcPts val="105"/>
              </a:spcBef>
            </a:pPr>
            <a:r>
              <a:rPr spc="-30" dirty="0"/>
              <a:t>K-</a:t>
            </a:r>
            <a:r>
              <a:rPr spc="-20" dirty="0"/>
              <a:t>means</a:t>
            </a:r>
          </a:p>
        </p:txBody>
      </p:sp>
      <p:sp>
        <p:nvSpPr>
          <p:cNvPr id="3" name="object 3"/>
          <p:cNvSpPr txBox="1"/>
          <p:nvPr/>
        </p:nvSpPr>
        <p:spPr>
          <a:xfrm>
            <a:off x="656640" y="1140713"/>
            <a:ext cx="7113905" cy="695960"/>
          </a:xfrm>
          <a:prstGeom prst="rect">
            <a:avLst/>
          </a:prstGeom>
        </p:spPr>
        <p:txBody>
          <a:bodyPr vert="horz" wrap="square" lIns="0" tIns="12065" rIns="0" bIns="0" rtlCol="0">
            <a:spAutoFit/>
          </a:bodyPr>
          <a:lstStyle/>
          <a:p>
            <a:pPr marL="354965" indent="-342265">
              <a:lnSpc>
                <a:spcPct val="100000"/>
              </a:lnSpc>
              <a:spcBef>
                <a:spcPts val="95"/>
              </a:spcBef>
              <a:buClr>
                <a:srgbClr val="333940"/>
              </a:buClr>
              <a:buSzPct val="81818"/>
              <a:buFont typeface="Wingdings"/>
              <a:buChar char=""/>
              <a:tabLst>
                <a:tab pos="354965" algn="l"/>
              </a:tabLst>
            </a:pPr>
            <a:r>
              <a:rPr sz="2200" dirty="0">
                <a:solidFill>
                  <a:srgbClr val="12171A"/>
                </a:solidFill>
                <a:latin typeface="Calibri"/>
                <a:cs typeface="Calibri"/>
              </a:rPr>
              <a:t>New</a:t>
            </a:r>
            <a:r>
              <a:rPr sz="2200" spc="-40" dirty="0">
                <a:solidFill>
                  <a:srgbClr val="12171A"/>
                </a:solidFill>
                <a:latin typeface="Calibri"/>
                <a:cs typeface="Calibri"/>
              </a:rPr>
              <a:t> </a:t>
            </a:r>
            <a:r>
              <a:rPr sz="2200" dirty="0">
                <a:solidFill>
                  <a:srgbClr val="12171A"/>
                </a:solidFill>
                <a:latin typeface="Calibri"/>
                <a:cs typeface="Calibri"/>
              </a:rPr>
              <a:t>instances</a:t>
            </a:r>
            <a:r>
              <a:rPr sz="2200" spc="-45" dirty="0">
                <a:solidFill>
                  <a:srgbClr val="12171A"/>
                </a:solidFill>
                <a:latin typeface="Calibri"/>
                <a:cs typeface="Calibri"/>
              </a:rPr>
              <a:t> </a:t>
            </a:r>
            <a:r>
              <a:rPr sz="2200" dirty="0">
                <a:solidFill>
                  <a:srgbClr val="12171A"/>
                </a:solidFill>
                <a:latin typeface="Calibri"/>
                <a:cs typeface="Calibri"/>
              </a:rPr>
              <a:t>get</a:t>
            </a:r>
            <a:r>
              <a:rPr sz="2200" spc="-40" dirty="0">
                <a:solidFill>
                  <a:srgbClr val="12171A"/>
                </a:solidFill>
                <a:latin typeface="Calibri"/>
                <a:cs typeface="Calibri"/>
              </a:rPr>
              <a:t> </a:t>
            </a:r>
            <a:r>
              <a:rPr sz="2200" dirty="0">
                <a:solidFill>
                  <a:srgbClr val="12171A"/>
                </a:solidFill>
                <a:latin typeface="Calibri"/>
                <a:cs typeface="Calibri"/>
              </a:rPr>
              <a:t>assigned</a:t>
            </a:r>
            <a:r>
              <a:rPr sz="2200" spc="-50" dirty="0">
                <a:solidFill>
                  <a:srgbClr val="12171A"/>
                </a:solidFill>
                <a:latin typeface="Calibri"/>
                <a:cs typeface="Calibri"/>
              </a:rPr>
              <a:t> </a:t>
            </a:r>
            <a:r>
              <a:rPr sz="2200" dirty="0">
                <a:solidFill>
                  <a:srgbClr val="12171A"/>
                </a:solidFill>
                <a:latin typeface="Calibri"/>
                <a:cs typeface="Calibri"/>
              </a:rPr>
              <a:t>to</a:t>
            </a:r>
            <a:r>
              <a:rPr sz="2200" spc="-45" dirty="0">
                <a:solidFill>
                  <a:srgbClr val="12171A"/>
                </a:solidFill>
                <a:latin typeface="Calibri"/>
                <a:cs typeface="Calibri"/>
              </a:rPr>
              <a:t> </a:t>
            </a:r>
            <a:r>
              <a:rPr sz="2200" dirty="0">
                <a:solidFill>
                  <a:srgbClr val="12171A"/>
                </a:solidFill>
                <a:latin typeface="Calibri"/>
                <a:cs typeface="Calibri"/>
              </a:rPr>
              <a:t>the</a:t>
            </a:r>
            <a:r>
              <a:rPr sz="2200" spc="-35" dirty="0">
                <a:solidFill>
                  <a:srgbClr val="12171A"/>
                </a:solidFill>
                <a:latin typeface="Calibri"/>
                <a:cs typeface="Calibri"/>
              </a:rPr>
              <a:t> </a:t>
            </a:r>
            <a:r>
              <a:rPr sz="2200" dirty="0">
                <a:solidFill>
                  <a:srgbClr val="12171A"/>
                </a:solidFill>
                <a:latin typeface="Calibri"/>
                <a:cs typeface="Calibri"/>
              </a:rPr>
              <a:t>cluster</a:t>
            </a:r>
            <a:r>
              <a:rPr sz="2200" spc="-45" dirty="0">
                <a:solidFill>
                  <a:srgbClr val="12171A"/>
                </a:solidFill>
                <a:latin typeface="Calibri"/>
                <a:cs typeface="Calibri"/>
              </a:rPr>
              <a:t> </a:t>
            </a:r>
            <a:r>
              <a:rPr sz="2200" dirty="0">
                <a:solidFill>
                  <a:srgbClr val="12171A"/>
                </a:solidFill>
                <a:latin typeface="Calibri"/>
                <a:cs typeface="Calibri"/>
              </a:rPr>
              <a:t>whose</a:t>
            </a:r>
            <a:r>
              <a:rPr sz="2200" spc="-45" dirty="0">
                <a:solidFill>
                  <a:srgbClr val="12171A"/>
                </a:solidFill>
                <a:latin typeface="Calibri"/>
                <a:cs typeface="Calibri"/>
              </a:rPr>
              <a:t> </a:t>
            </a:r>
            <a:r>
              <a:rPr sz="2200" dirty="0">
                <a:solidFill>
                  <a:srgbClr val="12171A"/>
                </a:solidFill>
                <a:latin typeface="Calibri"/>
                <a:cs typeface="Calibri"/>
              </a:rPr>
              <a:t>centroid</a:t>
            </a:r>
            <a:r>
              <a:rPr sz="2200" spc="-40" dirty="0">
                <a:solidFill>
                  <a:srgbClr val="12171A"/>
                </a:solidFill>
                <a:latin typeface="Calibri"/>
                <a:cs typeface="Calibri"/>
              </a:rPr>
              <a:t> </a:t>
            </a:r>
            <a:r>
              <a:rPr sz="2200" spc="-25" dirty="0">
                <a:solidFill>
                  <a:srgbClr val="12171A"/>
                </a:solidFill>
                <a:latin typeface="Calibri"/>
                <a:cs typeface="Calibri"/>
              </a:rPr>
              <a:t>is</a:t>
            </a:r>
            <a:endParaRPr sz="2200">
              <a:latin typeface="Calibri"/>
              <a:cs typeface="Calibri"/>
            </a:endParaRPr>
          </a:p>
          <a:p>
            <a:pPr marL="354965">
              <a:lnSpc>
                <a:spcPct val="100000"/>
              </a:lnSpc>
            </a:pPr>
            <a:r>
              <a:rPr sz="2200" spc="-10" dirty="0">
                <a:solidFill>
                  <a:srgbClr val="12171A"/>
                </a:solidFill>
                <a:latin typeface="Calibri"/>
                <a:cs typeface="Calibri"/>
              </a:rPr>
              <a:t>closest:</a:t>
            </a:r>
            <a:endParaRPr sz="2200">
              <a:latin typeface="Calibri"/>
              <a:cs typeface="Calibri"/>
            </a:endParaRPr>
          </a:p>
        </p:txBody>
      </p:sp>
      <p:pic>
        <p:nvPicPr>
          <p:cNvPr id="4" name="object 4"/>
          <p:cNvPicPr/>
          <p:nvPr/>
        </p:nvPicPr>
        <p:blipFill>
          <a:blip r:embed="rId2" cstate="print"/>
          <a:stretch>
            <a:fillRect/>
          </a:stretch>
        </p:blipFill>
        <p:spPr>
          <a:xfrm>
            <a:off x="2077861" y="1667897"/>
            <a:ext cx="5144814" cy="1034822"/>
          </a:xfrm>
          <a:prstGeom prst="rect">
            <a:avLst/>
          </a:prstGeom>
        </p:spPr>
      </p:pic>
      <p:pic>
        <p:nvPicPr>
          <p:cNvPr id="5" name="object 5"/>
          <p:cNvPicPr/>
          <p:nvPr/>
        </p:nvPicPr>
        <p:blipFill>
          <a:blip r:embed="rId3" cstate="print"/>
          <a:stretch>
            <a:fillRect/>
          </a:stretch>
        </p:blipFill>
        <p:spPr>
          <a:xfrm>
            <a:off x="2263181" y="2883484"/>
            <a:ext cx="4349416" cy="2049618"/>
          </a:xfrm>
          <a:prstGeom prst="rect">
            <a:avLst/>
          </a:prstGeom>
        </p:spPr>
      </p:pic>
      <p:sp>
        <p:nvSpPr>
          <p:cNvPr id="6" name="object 6"/>
          <p:cNvSpPr txBox="1">
            <a:spLocks noGrp="1"/>
          </p:cNvSpPr>
          <p:nvPr>
            <p:ph type="sldNum" sz="quarter" idx="7"/>
          </p:nvPr>
        </p:nvSpPr>
        <p:spPr>
          <a:prstGeom prst="rect">
            <a:avLst/>
          </a:prstGeom>
        </p:spPr>
        <p:txBody>
          <a:bodyPr vert="horz" wrap="square" lIns="0" tIns="10160" rIns="0" bIns="0" rtlCol="0">
            <a:spAutoFit/>
          </a:bodyPr>
          <a:lstStyle/>
          <a:p>
            <a:pPr marL="38100">
              <a:lnSpc>
                <a:spcPct val="100000"/>
              </a:lnSpc>
              <a:spcBef>
                <a:spcPts val="80"/>
              </a:spcBef>
            </a:pPr>
            <a:fld id="{81D60167-4931-47E6-BA6A-407CBD079E47}" type="slidenum">
              <a:rPr spc="-25" dirty="0"/>
              <a:t>45</a:t>
            </a:fld>
            <a:endParaRPr spc="-25"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a:lnSpc>
                <a:spcPct val="100000"/>
              </a:lnSpc>
              <a:spcBef>
                <a:spcPts val="105"/>
              </a:spcBef>
            </a:pPr>
            <a:r>
              <a:rPr dirty="0"/>
              <a:t>The</a:t>
            </a:r>
            <a:r>
              <a:rPr spc="-10" dirty="0"/>
              <a:t> k-</a:t>
            </a:r>
            <a:r>
              <a:rPr dirty="0"/>
              <a:t>means</a:t>
            </a:r>
            <a:r>
              <a:rPr spc="-5" dirty="0"/>
              <a:t> </a:t>
            </a:r>
            <a:r>
              <a:rPr spc="-10" dirty="0"/>
              <a:t>algorithm</a:t>
            </a:r>
          </a:p>
        </p:txBody>
      </p:sp>
      <p:sp>
        <p:nvSpPr>
          <p:cNvPr id="4" name="object 4"/>
          <p:cNvSpPr txBox="1">
            <a:spLocks noGrp="1"/>
          </p:cNvSpPr>
          <p:nvPr>
            <p:ph type="sldNum" sz="quarter" idx="7"/>
          </p:nvPr>
        </p:nvSpPr>
        <p:spPr>
          <a:prstGeom prst="rect">
            <a:avLst/>
          </a:prstGeom>
        </p:spPr>
        <p:txBody>
          <a:bodyPr vert="horz" wrap="square" lIns="0" tIns="10160" rIns="0" bIns="0" rtlCol="0">
            <a:spAutoFit/>
          </a:bodyPr>
          <a:lstStyle/>
          <a:p>
            <a:pPr marL="38100">
              <a:lnSpc>
                <a:spcPct val="100000"/>
              </a:lnSpc>
              <a:spcBef>
                <a:spcPts val="80"/>
              </a:spcBef>
            </a:pPr>
            <a:fld id="{81D60167-4931-47E6-BA6A-407CBD079E47}" type="slidenum">
              <a:rPr spc="-25" dirty="0"/>
              <a:t>46</a:t>
            </a:fld>
            <a:endParaRPr spc="-25" dirty="0"/>
          </a:p>
        </p:txBody>
      </p:sp>
      <p:sp>
        <p:nvSpPr>
          <p:cNvPr id="3" name="object 3"/>
          <p:cNvSpPr txBox="1"/>
          <p:nvPr/>
        </p:nvSpPr>
        <p:spPr>
          <a:xfrm>
            <a:off x="694131" y="1160526"/>
            <a:ext cx="7708900" cy="3517265"/>
          </a:xfrm>
          <a:prstGeom prst="rect">
            <a:avLst/>
          </a:prstGeom>
        </p:spPr>
        <p:txBody>
          <a:bodyPr vert="horz" wrap="square" lIns="0" tIns="13335" rIns="0" bIns="0" rtlCol="0">
            <a:spAutoFit/>
          </a:bodyPr>
          <a:lstStyle/>
          <a:p>
            <a:pPr marL="354965" indent="-342265">
              <a:lnSpc>
                <a:spcPct val="100000"/>
              </a:lnSpc>
              <a:spcBef>
                <a:spcPts val="105"/>
              </a:spcBef>
              <a:buClr>
                <a:srgbClr val="333940"/>
              </a:buClr>
              <a:buSzPct val="90000"/>
              <a:buFont typeface="Wingdings"/>
              <a:buChar char=""/>
              <a:tabLst>
                <a:tab pos="354965" algn="l"/>
              </a:tabLst>
            </a:pPr>
            <a:r>
              <a:rPr sz="2000" dirty="0">
                <a:solidFill>
                  <a:srgbClr val="12171A"/>
                </a:solidFill>
                <a:latin typeface="Calibri"/>
                <a:cs typeface="Calibri"/>
              </a:rPr>
              <a:t>If</a:t>
            </a:r>
            <a:r>
              <a:rPr sz="2000" spc="70" dirty="0">
                <a:solidFill>
                  <a:srgbClr val="12171A"/>
                </a:solidFill>
                <a:latin typeface="Calibri"/>
                <a:cs typeface="Calibri"/>
              </a:rPr>
              <a:t> </a:t>
            </a:r>
            <a:r>
              <a:rPr sz="2000" dirty="0">
                <a:solidFill>
                  <a:srgbClr val="12171A"/>
                </a:solidFill>
                <a:latin typeface="Calibri"/>
                <a:cs typeface="Calibri"/>
              </a:rPr>
              <a:t>you</a:t>
            </a:r>
            <a:r>
              <a:rPr sz="2000" spc="75" dirty="0">
                <a:solidFill>
                  <a:srgbClr val="12171A"/>
                </a:solidFill>
                <a:latin typeface="Calibri"/>
                <a:cs typeface="Calibri"/>
              </a:rPr>
              <a:t> </a:t>
            </a:r>
            <a:r>
              <a:rPr sz="2000" dirty="0">
                <a:solidFill>
                  <a:srgbClr val="12171A"/>
                </a:solidFill>
                <a:latin typeface="Calibri"/>
                <a:cs typeface="Calibri"/>
              </a:rPr>
              <a:t>have</a:t>
            </a:r>
            <a:r>
              <a:rPr sz="2000" spc="80" dirty="0">
                <a:solidFill>
                  <a:srgbClr val="12171A"/>
                </a:solidFill>
                <a:latin typeface="Calibri"/>
                <a:cs typeface="Calibri"/>
              </a:rPr>
              <a:t> </a:t>
            </a:r>
            <a:r>
              <a:rPr sz="2000" dirty="0">
                <a:solidFill>
                  <a:srgbClr val="12171A"/>
                </a:solidFill>
                <a:latin typeface="Calibri"/>
                <a:cs typeface="Calibri"/>
              </a:rPr>
              <a:t>the</a:t>
            </a:r>
            <a:r>
              <a:rPr sz="2000" spc="85" dirty="0">
                <a:solidFill>
                  <a:srgbClr val="12171A"/>
                </a:solidFill>
                <a:latin typeface="Calibri"/>
                <a:cs typeface="Calibri"/>
              </a:rPr>
              <a:t> </a:t>
            </a:r>
            <a:r>
              <a:rPr sz="2000" dirty="0">
                <a:solidFill>
                  <a:srgbClr val="12171A"/>
                </a:solidFill>
                <a:latin typeface="Calibri"/>
                <a:cs typeface="Calibri"/>
              </a:rPr>
              <a:t>centroids,</a:t>
            </a:r>
            <a:r>
              <a:rPr sz="2000" spc="75" dirty="0">
                <a:solidFill>
                  <a:srgbClr val="12171A"/>
                </a:solidFill>
                <a:latin typeface="Calibri"/>
                <a:cs typeface="Calibri"/>
              </a:rPr>
              <a:t> </a:t>
            </a:r>
            <a:r>
              <a:rPr sz="2000" dirty="0">
                <a:solidFill>
                  <a:srgbClr val="12171A"/>
                </a:solidFill>
                <a:latin typeface="Calibri"/>
                <a:cs typeface="Calibri"/>
              </a:rPr>
              <a:t>you</a:t>
            </a:r>
            <a:r>
              <a:rPr sz="2000" spc="90" dirty="0">
                <a:solidFill>
                  <a:srgbClr val="12171A"/>
                </a:solidFill>
                <a:latin typeface="Calibri"/>
                <a:cs typeface="Calibri"/>
              </a:rPr>
              <a:t> </a:t>
            </a:r>
            <a:r>
              <a:rPr sz="2000" dirty="0">
                <a:solidFill>
                  <a:srgbClr val="12171A"/>
                </a:solidFill>
                <a:latin typeface="Calibri"/>
                <a:cs typeface="Calibri"/>
              </a:rPr>
              <a:t>could</a:t>
            </a:r>
            <a:r>
              <a:rPr sz="2000" spc="80" dirty="0">
                <a:solidFill>
                  <a:srgbClr val="12171A"/>
                </a:solidFill>
                <a:latin typeface="Calibri"/>
                <a:cs typeface="Calibri"/>
              </a:rPr>
              <a:t> </a:t>
            </a:r>
            <a:r>
              <a:rPr sz="2000" dirty="0">
                <a:solidFill>
                  <a:srgbClr val="12171A"/>
                </a:solidFill>
                <a:latin typeface="Calibri"/>
                <a:cs typeface="Calibri"/>
              </a:rPr>
              <a:t>label</a:t>
            </a:r>
            <a:r>
              <a:rPr sz="2000" spc="75" dirty="0">
                <a:solidFill>
                  <a:srgbClr val="12171A"/>
                </a:solidFill>
                <a:latin typeface="Calibri"/>
                <a:cs typeface="Calibri"/>
              </a:rPr>
              <a:t> </a:t>
            </a:r>
            <a:r>
              <a:rPr sz="2000" dirty="0">
                <a:solidFill>
                  <a:srgbClr val="12171A"/>
                </a:solidFill>
                <a:latin typeface="Calibri"/>
                <a:cs typeface="Calibri"/>
              </a:rPr>
              <a:t>the</a:t>
            </a:r>
            <a:r>
              <a:rPr sz="2000" spc="85" dirty="0">
                <a:solidFill>
                  <a:srgbClr val="12171A"/>
                </a:solidFill>
                <a:latin typeface="Calibri"/>
                <a:cs typeface="Calibri"/>
              </a:rPr>
              <a:t> </a:t>
            </a:r>
            <a:r>
              <a:rPr sz="2000" dirty="0">
                <a:solidFill>
                  <a:srgbClr val="12171A"/>
                </a:solidFill>
                <a:latin typeface="Calibri"/>
                <a:cs typeface="Calibri"/>
              </a:rPr>
              <a:t>instances</a:t>
            </a:r>
            <a:r>
              <a:rPr sz="2000" spc="85" dirty="0">
                <a:solidFill>
                  <a:srgbClr val="12171A"/>
                </a:solidFill>
                <a:latin typeface="Calibri"/>
                <a:cs typeface="Calibri"/>
              </a:rPr>
              <a:t> </a:t>
            </a:r>
            <a:r>
              <a:rPr sz="2000" dirty="0">
                <a:solidFill>
                  <a:srgbClr val="12171A"/>
                </a:solidFill>
                <a:latin typeface="Calibri"/>
                <a:cs typeface="Calibri"/>
              </a:rPr>
              <a:t>in</a:t>
            </a:r>
            <a:r>
              <a:rPr sz="2000" spc="85" dirty="0">
                <a:solidFill>
                  <a:srgbClr val="12171A"/>
                </a:solidFill>
                <a:latin typeface="Calibri"/>
                <a:cs typeface="Calibri"/>
              </a:rPr>
              <a:t> </a:t>
            </a:r>
            <a:r>
              <a:rPr sz="2000" dirty="0">
                <a:solidFill>
                  <a:srgbClr val="12171A"/>
                </a:solidFill>
                <a:latin typeface="Calibri"/>
                <a:cs typeface="Calibri"/>
              </a:rPr>
              <a:t>the</a:t>
            </a:r>
            <a:r>
              <a:rPr sz="2000" spc="75" dirty="0">
                <a:solidFill>
                  <a:srgbClr val="12171A"/>
                </a:solidFill>
                <a:latin typeface="Calibri"/>
                <a:cs typeface="Calibri"/>
              </a:rPr>
              <a:t> </a:t>
            </a:r>
            <a:r>
              <a:rPr sz="2000" spc="-10" dirty="0">
                <a:solidFill>
                  <a:srgbClr val="12171A"/>
                </a:solidFill>
                <a:latin typeface="Calibri"/>
                <a:cs typeface="Calibri"/>
              </a:rPr>
              <a:t>dataset</a:t>
            </a:r>
            <a:endParaRPr sz="2000">
              <a:latin typeface="Calibri"/>
              <a:cs typeface="Calibri"/>
            </a:endParaRPr>
          </a:p>
          <a:p>
            <a:pPr marL="355600">
              <a:lnSpc>
                <a:spcPct val="100000"/>
              </a:lnSpc>
            </a:pPr>
            <a:r>
              <a:rPr sz="2000" dirty="0">
                <a:solidFill>
                  <a:srgbClr val="12171A"/>
                </a:solidFill>
                <a:latin typeface="Calibri"/>
                <a:cs typeface="Calibri"/>
              </a:rPr>
              <a:t>by</a:t>
            </a:r>
            <a:r>
              <a:rPr sz="2000" spc="-40" dirty="0">
                <a:solidFill>
                  <a:srgbClr val="12171A"/>
                </a:solidFill>
                <a:latin typeface="Calibri"/>
                <a:cs typeface="Calibri"/>
              </a:rPr>
              <a:t> </a:t>
            </a:r>
            <a:r>
              <a:rPr sz="2000" dirty="0">
                <a:solidFill>
                  <a:srgbClr val="12171A"/>
                </a:solidFill>
                <a:latin typeface="Calibri"/>
                <a:cs typeface="Calibri"/>
              </a:rPr>
              <a:t>assigning</a:t>
            </a:r>
            <a:r>
              <a:rPr sz="2000" spc="-30" dirty="0">
                <a:solidFill>
                  <a:srgbClr val="12171A"/>
                </a:solidFill>
                <a:latin typeface="Calibri"/>
                <a:cs typeface="Calibri"/>
              </a:rPr>
              <a:t> </a:t>
            </a:r>
            <a:r>
              <a:rPr sz="2000" dirty="0">
                <a:solidFill>
                  <a:srgbClr val="12171A"/>
                </a:solidFill>
                <a:latin typeface="Calibri"/>
                <a:cs typeface="Calibri"/>
              </a:rPr>
              <a:t>them</a:t>
            </a:r>
            <a:r>
              <a:rPr sz="2000" spc="-25" dirty="0">
                <a:solidFill>
                  <a:srgbClr val="12171A"/>
                </a:solidFill>
                <a:latin typeface="Calibri"/>
                <a:cs typeface="Calibri"/>
              </a:rPr>
              <a:t> </a:t>
            </a:r>
            <a:r>
              <a:rPr sz="2000" dirty="0">
                <a:solidFill>
                  <a:srgbClr val="12171A"/>
                </a:solidFill>
                <a:latin typeface="Calibri"/>
                <a:cs typeface="Calibri"/>
              </a:rPr>
              <a:t>to</a:t>
            </a:r>
            <a:r>
              <a:rPr sz="2000" spc="-30" dirty="0">
                <a:solidFill>
                  <a:srgbClr val="12171A"/>
                </a:solidFill>
                <a:latin typeface="Calibri"/>
                <a:cs typeface="Calibri"/>
              </a:rPr>
              <a:t> </a:t>
            </a:r>
            <a:r>
              <a:rPr sz="2000" dirty="0">
                <a:solidFill>
                  <a:srgbClr val="12171A"/>
                </a:solidFill>
                <a:latin typeface="Calibri"/>
                <a:cs typeface="Calibri"/>
              </a:rPr>
              <a:t>the</a:t>
            </a:r>
            <a:r>
              <a:rPr sz="2000" spc="-20" dirty="0">
                <a:solidFill>
                  <a:srgbClr val="12171A"/>
                </a:solidFill>
                <a:latin typeface="Calibri"/>
                <a:cs typeface="Calibri"/>
              </a:rPr>
              <a:t> </a:t>
            </a:r>
            <a:r>
              <a:rPr sz="2000" dirty="0">
                <a:solidFill>
                  <a:srgbClr val="12171A"/>
                </a:solidFill>
                <a:latin typeface="Calibri"/>
                <a:cs typeface="Calibri"/>
              </a:rPr>
              <a:t>cluster</a:t>
            </a:r>
            <a:r>
              <a:rPr sz="2000" spc="-15" dirty="0">
                <a:solidFill>
                  <a:srgbClr val="12171A"/>
                </a:solidFill>
                <a:latin typeface="Calibri"/>
                <a:cs typeface="Calibri"/>
              </a:rPr>
              <a:t> </a:t>
            </a:r>
            <a:r>
              <a:rPr sz="2000" dirty="0">
                <a:solidFill>
                  <a:srgbClr val="12171A"/>
                </a:solidFill>
                <a:latin typeface="Calibri"/>
                <a:cs typeface="Calibri"/>
              </a:rPr>
              <a:t>whose</a:t>
            </a:r>
            <a:r>
              <a:rPr sz="2000" spc="-35" dirty="0">
                <a:solidFill>
                  <a:srgbClr val="12171A"/>
                </a:solidFill>
                <a:latin typeface="Calibri"/>
                <a:cs typeface="Calibri"/>
              </a:rPr>
              <a:t> </a:t>
            </a:r>
            <a:r>
              <a:rPr sz="2000" dirty="0">
                <a:solidFill>
                  <a:srgbClr val="12171A"/>
                </a:solidFill>
                <a:latin typeface="Calibri"/>
                <a:cs typeface="Calibri"/>
              </a:rPr>
              <a:t>centroid</a:t>
            </a:r>
            <a:r>
              <a:rPr sz="2000" spc="-30" dirty="0">
                <a:solidFill>
                  <a:srgbClr val="12171A"/>
                </a:solidFill>
                <a:latin typeface="Calibri"/>
                <a:cs typeface="Calibri"/>
              </a:rPr>
              <a:t> </a:t>
            </a:r>
            <a:r>
              <a:rPr sz="2000" dirty="0">
                <a:solidFill>
                  <a:srgbClr val="12171A"/>
                </a:solidFill>
                <a:latin typeface="Calibri"/>
                <a:cs typeface="Calibri"/>
              </a:rPr>
              <a:t>is</a:t>
            </a:r>
            <a:r>
              <a:rPr sz="2000" spc="-10" dirty="0">
                <a:solidFill>
                  <a:srgbClr val="12171A"/>
                </a:solidFill>
                <a:latin typeface="Calibri"/>
                <a:cs typeface="Calibri"/>
              </a:rPr>
              <a:t> closest.</a:t>
            </a:r>
            <a:endParaRPr sz="2000">
              <a:latin typeface="Calibri"/>
              <a:cs typeface="Calibri"/>
            </a:endParaRPr>
          </a:p>
          <a:p>
            <a:pPr marL="355600" marR="5080" indent="-342900">
              <a:lnSpc>
                <a:spcPct val="100000"/>
              </a:lnSpc>
              <a:spcBef>
                <a:spcPts val="600"/>
              </a:spcBef>
              <a:buClr>
                <a:srgbClr val="333940"/>
              </a:buClr>
              <a:buSzPct val="90000"/>
              <a:buFont typeface="Wingdings"/>
              <a:buChar char=""/>
              <a:tabLst>
                <a:tab pos="355600" algn="l"/>
              </a:tabLst>
            </a:pPr>
            <a:r>
              <a:rPr sz="2000" dirty="0">
                <a:solidFill>
                  <a:srgbClr val="12171A"/>
                </a:solidFill>
                <a:latin typeface="Calibri"/>
                <a:cs typeface="Calibri"/>
              </a:rPr>
              <a:t>If</a:t>
            </a:r>
            <a:r>
              <a:rPr sz="2000" spc="409" dirty="0">
                <a:solidFill>
                  <a:srgbClr val="12171A"/>
                </a:solidFill>
                <a:latin typeface="Calibri"/>
                <a:cs typeface="Calibri"/>
              </a:rPr>
              <a:t> </a:t>
            </a:r>
            <a:r>
              <a:rPr sz="2000" dirty="0">
                <a:solidFill>
                  <a:srgbClr val="12171A"/>
                </a:solidFill>
                <a:latin typeface="Calibri"/>
                <a:cs typeface="Calibri"/>
              </a:rPr>
              <a:t>you</a:t>
            </a:r>
            <a:r>
              <a:rPr sz="2000" spc="409" dirty="0">
                <a:solidFill>
                  <a:srgbClr val="12171A"/>
                </a:solidFill>
                <a:latin typeface="Calibri"/>
                <a:cs typeface="Calibri"/>
              </a:rPr>
              <a:t> </a:t>
            </a:r>
            <a:r>
              <a:rPr sz="2000" dirty="0">
                <a:solidFill>
                  <a:srgbClr val="12171A"/>
                </a:solidFill>
                <a:latin typeface="Calibri"/>
                <a:cs typeface="Calibri"/>
              </a:rPr>
              <a:t>have</a:t>
            </a:r>
            <a:r>
              <a:rPr sz="2000" spc="415" dirty="0">
                <a:solidFill>
                  <a:srgbClr val="12171A"/>
                </a:solidFill>
                <a:latin typeface="Calibri"/>
                <a:cs typeface="Calibri"/>
              </a:rPr>
              <a:t> </a:t>
            </a:r>
            <a:r>
              <a:rPr sz="2000" dirty="0">
                <a:solidFill>
                  <a:srgbClr val="12171A"/>
                </a:solidFill>
                <a:latin typeface="Calibri"/>
                <a:cs typeface="Calibri"/>
              </a:rPr>
              <a:t>all</a:t>
            </a:r>
            <a:r>
              <a:rPr sz="2000" spc="415" dirty="0">
                <a:solidFill>
                  <a:srgbClr val="12171A"/>
                </a:solidFill>
                <a:latin typeface="Calibri"/>
                <a:cs typeface="Calibri"/>
              </a:rPr>
              <a:t> </a:t>
            </a:r>
            <a:r>
              <a:rPr sz="2000" dirty="0">
                <a:solidFill>
                  <a:srgbClr val="12171A"/>
                </a:solidFill>
                <a:latin typeface="Calibri"/>
                <a:cs typeface="Calibri"/>
              </a:rPr>
              <a:t>the</a:t>
            </a:r>
            <a:r>
              <a:rPr sz="2000" spc="420" dirty="0">
                <a:solidFill>
                  <a:srgbClr val="12171A"/>
                </a:solidFill>
                <a:latin typeface="Calibri"/>
                <a:cs typeface="Calibri"/>
              </a:rPr>
              <a:t> </a:t>
            </a:r>
            <a:r>
              <a:rPr sz="2000" dirty="0">
                <a:solidFill>
                  <a:srgbClr val="12171A"/>
                </a:solidFill>
                <a:latin typeface="Calibri"/>
                <a:cs typeface="Calibri"/>
              </a:rPr>
              <a:t>instance</a:t>
            </a:r>
            <a:r>
              <a:rPr sz="2000" spc="415" dirty="0">
                <a:solidFill>
                  <a:srgbClr val="12171A"/>
                </a:solidFill>
                <a:latin typeface="Calibri"/>
                <a:cs typeface="Calibri"/>
              </a:rPr>
              <a:t> </a:t>
            </a:r>
            <a:r>
              <a:rPr sz="2000" dirty="0">
                <a:solidFill>
                  <a:srgbClr val="12171A"/>
                </a:solidFill>
                <a:latin typeface="Calibri"/>
                <a:cs typeface="Calibri"/>
              </a:rPr>
              <a:t>labels,</a:t>
            </a:r>
            <a:r>
              <a:rPr sz="2000" spc="420" dirty="0">
                <a:solidFill>
                  <a:srgbClr val="12171A"/>
                </a:solidFill>
                <a:latin typeface="Calibri"/>
                <a:cs typeface="Calibri"/>
              </a:rPr>
              <a:t> </a:t>
            </a:r>
            <a:r>
              <a:rPr sz="2000" dirty="0">
                <a:solidFill>
                  <a:srgbClr val="12171A"/>
                </a:solidFill>
                <a:latin typeface="Calibri"/>
                <a:cs typeface="Calibri"/>
              </a:rPr>
              <a:t>you</a:t>
            </a:r>
            <a:r>
              <a:rPr sz="2000" spc="415" dirty="0">
                <a:solidFill>
                  <a:srgbClr val="12171A"/>
                </a:solidFill>
                <a:latin typeface="Calibri"/>
                <a:cs typeface="Calibri"/>
              </a:rPr>
              <a:t> </a:t>
            </a:r>
            <a:r>
              <a:rPr sz="2000" dirty="0">
                <a:solidFill>
                  <a:srgbClr val="12171A"/>
                </a:solidFill>
                <a:latin typeface="Calibri"/>
                <a:cs typeface="Calibri"/>
              </a:rPr>
              <a:t>could</a:t>
            </a:r>
            <a:r>
              <a:rPr sz="2000" spc="409" dirty="0">
                <a:solidFill>
                  <a:srgbClr val="12171A"/>
                </a:solidFill>
                <a:latin typeface="Calibri"/>
                <a:cs typeface="Calibri"/>
              </a:rPr>
              <a:t> </a:t>
            </a:r>
            <a:r>
              <a:rPr sz="2000" dirty="0">
                <a:solidFill>
                  <a:srgbClr val="12171A"/>
                </a:solidFill>
                <a:latin typeface="Calibri"/>
                <a:cs typeface="Calibri"/>
              </a:rPr>
              <a:t>locate</a:t>
            </a:r>
            <a:r>
              <a:rPr sz="2000" spc="420" dirty="0">
                <a:solidFill>
                  <a:srgbClr val="12171A"/>
                </a:solidFill>
                <a:latin typeface="Calibri"/>
                <a:cs typeface="Calibri"/>
              </a:rPr>
              <a:t> </a:t>
            </a:r>
            <a:r>
              <a:rPr sz="2000" dirty="0">
                <a:solidFill>
                  <a:srgbClr val="12171A"/>
                </a:solidFill>
                <a:latin typeface="Calibri"/>
                <a:cs typeface="Calibri"/>
              </a:rPr>
              <a:t>each</a:t>
            </a:r>
            <a:r>
              <a:rPr sz="2000" spc="430" dirty="0">
                <a:solidFill>
                  <a:srgbClr val="12171A"/>
                </a:solidFill>
                <a:latin typeface="Calibri"/>
                <a:cs typeface="Calibri"/>
              </a:rPr>
              <a:t> </a:t>
            </a:r>
            <a:r>
              <a:rPr sz="2000" spc="-10" dirty="0">
                <a:solidFill>
                  <a:srgbClr val="12171A"/>
                </a:solidFill>
                <a:latin typeface="Calibri"/>
                <a:cs typeface="Calibri"/>
              </a:rPr>
              <a:t>cluster’s </a:t>
            </a:r>
            <a:r>
              <a:rPr sz="2000" dirty="0">
                <a:solidFill>
                  <a:srgbClr val="12171A"/>
                </a:solidFill>
                <a:latin typeface="Calibri"/>
                <a:cs typeface="Calibri"/>
              </a:rPr>
              <a:t>centroid</a:t>
            </a:r>
            <a:r>
              <a:rPr sz="2000" spc="-40" dirty="0">
                <a:solidFill>
                  <a:srgbClr val="12171A"/>
                </a:solidFill>
                <a:latin typeface="Calibri"/>
                <a:cs typeface="Calibri"/>
              </a:rPr>
              <a:t> </a:t>
            </a:r>
            <a:r>
              <a:rPr sz="2000" dirty="0">
                <a:solidFill>
                  <a:srgbClr val="12171A"/>
                </a:solidFill>
                <a:latin typeface="Calibri"/>
                <a:cs typeface="Calibri"/>
              </a:rPr>
              <a:t>by</a:t>
            </a:r>
            <a:r>
              <a:rPr sz="2000" spc="-55" dirty="0">
                <a:solidFill>
                  <a:srgbClr val="12171A"/>
                </a:solidFill>
                <a:latin typeface="Calibri"/>
                <a:cs typeface="Calibri"/>
              </a:rPr>
              <a:t> </a:t>
            </a:r>
            <a:r>
              <a:rPr sz="2000" dirty="0">
                <a:solidFill>
                  <a:srgbClr val="12171A"/>
                </a:solidFill>
                <a:latin typeface="Calibri"/>
                <a:cs typeface="Calibri"/>
              </a:rPr>
              <a:t>computing</a:t>
            </a:r>
            <a:r>
              <a:rPr sz="2000" spc="-50" dirty="0">
                <a:solidFill>
                  <a:srgbClr val="12171A"/>
                </a:solidFill>
                <a:latin typeface="Calibri"/>
                <a:cs typeface="Calibri"/>
              </a:rPr>
              <a:t> </a:t>
            </a:r>
            <a:r>
              <a:rPr sz="2000" dirty="0">
                <a:solidFill>
                  <a:srgbClr val="12171A"/>
                </a:solidFill>
                <a:latin typeface="Calibri"/>
                <a:cs typeface="Calibri"/>
              </a:rPr>
              <a:t>the</a:t>
            </a:r>
            <a:r>
              <a:rPr sz="2000" spc="-40" dirty="0">
                <a:solidFill>
                  <a:srgbClr val="12171A"/>
                </a:solidFill>
                <a:latin typeface="Calibri"/>
                <a:cs typeface="Calibri"/>
              </a:rPr>
              <a:t> </a:t>
            </a:r>
            <a:r>
              <a:rPr sz="2000" dirty="0">
                <a:solidFill>
                  <a:srgbClr val="12171A"/>
                </a:solidFill>
                <a:latin typeface="Calibri"/>
                <a:cs typeface="Calibri"/>
              </a:rPr>
              <a:t>mean</a:t>
            </a:r>
            <a:r>
              <a:rPr sz="2000" spc="-35" dirty="0">
                <a:solidFill>
                  <a:srgbClr val="12171A"/>
                </a:solidFill>
                <a:latin typeface="Calibri"/>
                <a:cs typeface="Calibri"/>
              </a:rPr>
              <a:t> </a:t>
            </a:r>
            <a:r>
              <a:rPr sz="2000" dirty="0">
                <a:solidFill>
                  <a:srgbClr val="12171A"/>
                </a:solidFill>
                <a:latin typeface="Calibri"/>
                <a:cs typeface="Calibri"/>
              </a:rPr>
              <a:t>of</a:t>
            </a:r>
            <a:r>
              <a:rPr sz="2000" spc="-40" dirty="0">
                <a:solidFill>
                  <a:srgbClr val="12171A"/>
                </a:solidFill>
                <a:latin typeface="Calibri"/>
                <a:cs typeface="Calibri"/>
              </a:rPr>
              <a:t> </a:t>
            </a:r>
            <a:r>
              <a:rPr sz="2000" dirty="0">
                <a:solidFill>
                  <a:srgbClr val="12171A"/>
                </a:solidFill>
                <a:latin typeface="Calibri"/>
                <a:cs typeface="Calibri"/>
              </a:rPr>
              <a:t>the</a:t>
            </a:r>
            <a:r>
              <a:rPr sz="2000" spc="-35" dirty="0">
                <a:solidFill>
                  <a:srgbClr val="12171A"/>
                </a:solidFill>
                <a:latin typeface="Calibri"/>
                <a:cs typeface="Calibri"/>
              </a:rPr>
              <a:t> </a:t>
            </a:r>
            <a:r>
              <a:rPr sz="2000" dirty="0">
                <a:solidFill>
                  <a:srgbClr val="12171A"/>
                </a:solidFill>
                <a:latin typeface="Calibri"/>
                <a:cs typeface="Calibri"/>
              </a:rPr>
              <a:t>instances</a:t>
            </a:r>
            <a:r>
              <a:rPr sz="2000" spc="-30" dirty="0">
                <a:solidFill>
                  <a:srgbClr val="12171A"/>
                </a:solidFill>
                <a:latin typeface="Calibri"/>
                <a:cs typeface="Calibri"/>
              </a:rPr>
              <a:t> </a:t>
            </a:r>
            <a:r>
              <a:rPr sz="2000" dirty="0">
                <a:solidFill>
                  <a:srgbClr val="12171A"/>
                </a:solidFill>
                <a:latin typeface="Calibri"/>
                <a:cs typeface="Calibri"/>
              </a:rPr>
              <a:t>in</a:t>
            </a:r>
            <a:r>
              <a:rPr sz="2000" spc="-40" dirty="0">
                <a:solidFill>
                  <a:srgbClr val="12171A"/>
                </a:solidFill>
                <a:latin typeface="Calibri"/>
                <a:cs typeface="Calibri"/>
              </a:rPr>
              <a:t> </a:t>
            </a:r>
            <a:r>
              <a:rPr sz="2000" dirty="0">
                <a:solidFill>
                  <a:srgbClr val="12171A"/>
                </a:solidFill>
                <a:latin typeface="Calibri"/>
                <a:cs typeface="Calibri"/>
              </a:rPr>
              <a:t>that</a:t>
            </a:r>
            <a:r>
              <a:rPr sz="2000" spc="-30" dirty="0">
                <a:solidFill>
                  <a:srgbClr val="12171A"/>
                </a:solidFill>
                <a:latin typeface="Calibri"/>
                <a:cs typeface="Calibri"/>
              </a:rPr>
              <a:t> </a:t>
            </a:r>
            <a:r>
              <a:rPr sz="2000" spc="-10" dirty="0">
                <a:solidFill>
                  <a:srgbClr val="12171A"/>
                </a:solidFill>
                <a:latin typeface="Calibri"/>
                <a:cs typeface="Calibri"/>
              </a:rPr>
              <a:t>cluster.</a:t>
            </a:r>
            <a:endParaRPr sz="2000">
              <a:latin typeface="Calibri"/>
              <a:cs typeface="Calibri"/>
            </a:endParaRPr>
          </a:p>
          <a:p>
            <a:pPr marL="354965" indent="-342265">
              <a:lnSpc>
                <a:spcPct val="100000"/>
              </a:lnSpc>
              <a:spcBef>
                <a:spcPts val="600"/>
              </a:spcBef>
              <a:buClr>
                <a:srgbClr val="333940"/>
              </a:buClr>
              <a:buSzPct val="90000"/>
              <a:buFont typeface="Wingdings"/>
              <a:buChar char=""/>
              <a:tabLst>
                <a:tab pos="354965" algn="l"/>
              </a:tabLst>
            </a:pPr>
            <a:r>
              <a:rPr sz="2000" dirty="0">
                <a:solidFill>
                  <a:srgbClr val="12171A"/>
                </a:solidFill>
                <a:latin typeface="Calibri"/>
                <a:cs typeface="Calibri"/>
              </a:rPr>
              <a:t>Start</a:t>
            </a:r>
            <a:r>
              <a:rPr sz="2000" spc="-15" dirty="0">
                <a:solidFill>
                  <a:srgbClr val="12171A"/>
                </a:solidFill>
                <a:latin typeface="Calibri"/>
                <a:cs typeface="Calibri"/>
              </a:rPr>
              <a:t> </a:t>
            </a:r>
            <a:r>
              <a:rPr sz="2000" dirty="0">
                <a:solidFill>
                  <a:srgbClr val="12171A"/>
                </a:solidFill>
                <a:latin typeface="Calibri"/>
                <a:cs typeface="Calibri"/>
              </a:rPr>
              <a:t>by</a:t>
            </a:r>
            <a:r>
              <a:rPr sz="2000" spc="-45" dirty="0">
                <a:solidFill>
                  <a:srgbClr val="12171A"/>
                </a:solidFill>
                <a:latin typeface="Calibri"/>
                <a:cs typeface="Calibri"/>
              </a:rPr>
              <a:t> </a:t>
            </a:r>
            <a:r>
              <a:rPr sz="2000" dirty="0">
                <a:solidFill>
                  <a:srgbClr val="12171A"/>
                </a:solidFill>
                <a:latin typeface="Calibri"/>
                <a:cs typeface="Calibri"/>
              </a:rPr>
              <a:t>placing</a:t>
            </a:r>
            <a:r>
              <a:rPr sz="2000" spc="-40" dirty="0">
                <a:solidFill>
                  <a:srgbClr val="12171A"/>
                </a:solidFill>
                <a:latin typeface="Calibri"/>
                <a:cs typeface="Calibri"/>
              </a:rPr>
              <a:t> </a:t>
            </a:r>
            <a:r>
              <a:rPr sz="2000" dirty="0">
                <a:solidFill>
                  <a:srgbClr val="12171A"/>
                </a:solidFill>
                <a:latin typeface="Calibri"/>
                <a:cs typeface="Calibri"/>
              </a:rPr>
              <a:t>the</a:t>
            </a:r>
            <a:r>
              <a:rPr sz="2000" spc="-25" dirty="0">
                <a:solidFill>
                  <a:srgbClr val="12171A"/>
                </a:solidFill>
                <a:latin typeface="Calibri"/>
                <a:cs typeface="Calibri"/>
              </a:rPr>
              <a:t> </a:t>
            </a:r>
            <a:r>
              <a:rPr sz="2000" dirty="0">
                <a:solidFill>
                  <a:srgbClr val="12171A"/>
                </a:solidFill>
                <a:latin typeface="Calibri"/>
                <a:cs typeface="Calibri"/>
              </a:rPr>
              <a:t>centroids</a:t>
            </a:r>
            <a:r>
              <a:rPr sz="2000" spc="-30" dirty="0">
                <a:solidFill>
                  <a:srgbClr val="12171A"/>
                </a:solidFill>
                <a:latin typeface="Calibri"/>
                <a:cs typeface="Calibri"/>
              </a:rPr>
              <a:t> </a:t>
            </a:r>
            <a:r>
              <a:rPr sz="2000" spc="-10" dirty="0">
                <a:solidFill>
                  <a:srgbClr val="12171A"/>
                </a:solidFill>
                <a:latin typeface="Calibri"/>
                <a:cs typeface="Calibri"/>
              </a:rPr>
              <a:t>randomly:</a:t>
            </a:r>
            <a:endParaRPr sz="2000">
              <a:latin typeface="Calibri"/>
              <a:cs typeface="Calibri"/>
            </a:endParaRPr>
          </a:p>
          <a:p>
            <a:pPr marL="716915" lvl="1" indent="-238125">
              <a:lnSpc>
                <a:spcPct val="100000"/>
              </a:lnSpc>
              <a:spcBef>
                <a:spcPts val="10"/>
              </a:spcBef>
              <a:buAutoNum type="arabicParenR"/>
              <a:tabLst>
                <a:tab pos="716915" algn="l"/>
              </a:tabLst>
            </a:pPr>
            <a:r>
              <a:rPr sz="1800" dirty="0">
                <a:solidFill>
                  <a:srgbClr val="12171A"/>
                </a:solidFill>
                <a:latin typeface="Calibri"/>
                <a:cs typeface="Calibri"/>
              </a:rPr>
              <a:t>label</a:t>
            </a:r>
            <a:r>
              <a:rPr sz="1800" spc="-25" dirty="0">
                <a:solidFill>
                  <a:srgbClr val="12171A"/>
                </a:solidFill>
                <a:latin typeface="Calibri"/>
                <a:cs typeface="Calibri"/>
              </a:rPr>
              <a:t> </a:t>
            </a:r>
            <a:r>
              <a:rPr sz="1800" dirty="0">
                <a:solidFill>
                  <a:srgbClr val="12171A"/>
                </a:solidFill>
                <a:latin typeface="Calibri"/>
                <a:cs typeface="Calibri"/>
              </a:rPr>
              <a:t>the</a:t>
            </a:r>
            <a:r>
              <a:rPr sz="1800" spc="-10" dirty="0">
                <a:solidFill>
                  <a:srgbClr val="12171A"/>
                </a:solidFill>
                <a:latin typeface="Calibri"/>
                <a:cs typeface="Calibri"/>
              </a:rPr>
              <a:t> instances</a:t>
            </a:r>
            <a:endParaRPr sz="1800">
              <a:latin typeface="Calibri"/>
              <a:cs typeface="Calibri"/>
            </a:endParaRPr>
          </a:p>
          <a:p>
            <a:pPr marL="716915" lvl="1" indent="-238125">
              <a:lnSpc>
                <a:spcPct val="100000"/>
              </a:lnSpc>
              <a:buAutoNum type="arabicParenR"/>
              <a:tabLst>
                <a:tab pos="716915" algn="l"/>
              </a:tabLst>
            </a:pPr>
            <a:r>
              <a:rPr sz="1800" dirty="0">
                <a:solidFill>
                  <a:srgbClr val="12171A"/>
                </a:solidFill>
                <a:latin typeface="Calibri"/>
                <a:cs typeface="Calibri"/>
              </a:rPr>
              <a:t>update</a:t>
            </a:r>
            <a:r>
              <a:rPr sz="1800" spc="-30" dirty="0">
                <a:solidFill>
                  <a:srgbClr val="12171A"/>
                </a:solidFill>
                <a:latin typeface="Calibri"/>
                <a:cs typeface="Calibri"/>
              </a:rPr>
              <a:t> </a:t>
            </a:r>
            <a:r>
              <a:rPr sz="1800" dirty="0">
                <a:solidFill>
                  <a:srgbClr val="12171A"/>
                </a:solidFill>
                <a:latin typeface="Calibri"/>
                <a:cs typeface="Calibri"/>
              </a:rPr>
              <a:t>the</a:t>
            </a:r>
            <a:r>
              <a:rPr sz="1800" spc="-25" dirty="0">
                <a:solidFill>
                  <a:srgbClr val="12171A"/>
                </a:solidFill>
                <a:latin typeface="Calibri"/>
                <a:cs typeface="Calibri"/>
              </a:rPr>
              <a:t> </a:t>
            </a:r>
            <a:r>
              <a:rPr sz="1800" spc="-10" dirty="0">
                <a:solidFill>
                  <a:srgbClr val="12171A"/>
                </a:solidFill>
                <a:latin typeface="Calibri"/>
                <a:cs typeface="Calibri"/>
              </a:rPr>
              <a:t>centroids</a:t>
            </a:r>
            <a:endParaRPr sz="1800">
              <a:latin typeface="Calibri"/>
              <a:cs typeface="Calibri"/>
            </a:endParaRPr>
          </a:p>
          <a:p>
            <a:pPr marL="716915" lvl="1" indent="-238125">
              <a:lnSpc>
                <a:spcPct val="100000"/>
              </a:lnSpc>
              <a:buAutoNum type="arabicParenR"/>
              <a:tabLst>
                <a:tab pos="716915" algn="l"/>
              </a:tabLst>
            </a:pPr>
            <a:r>
              <a:rPr sz="1800" dirty="0">
                <a:solidFill>
                  <a:srgbClr val="12171A"/>
                </a:solidFill>
                <a:latin typeface="Calibri"/>
                <a:cs typeface="Calibri"/>
              </a:rPr>
              <a:t>repeat</a:t>
            </a:r>
            <a:r>
              <a:rPr sz="1800" spc="-30" dirty="0">
                <a:solidFill>
                  <a:srgbClr val="12171A"/>
                </a:solidFill>
                <a:latin typeface="Calibri"/>
                <a:cs typeface="Calibri"/>
              </a:rPr>
              <a:t> </a:t>
            </a:r>
            <a:r>
              <a:rPr sz="1800" dirty="0">
                <a:solidFill>
                  <a:srgbClr val="12171A"/>
                </a:solidFill>
                <a:latin typeface="Calibri"/>
                <a:cs typeface="Calibri"/>
              </a:rPr>
              <a:t>(1)</a:t>
            </a:r>
            <a:r>
              <a:rPr sz="1800" spc="-25" dirty="0">
                <a:solidFill>
                  <a:srgbClr val="12171A"/>
                </a:solidFill>
                <a:latin typeface="Calibri"/>
                <a:cs typeface="Calibri"/>
              </a:rPr>
              <a:t> </a:t>
            </a:r>
            <a:r>
              <a:rPr sz="1800" dirty="0">
                <a:solidFill>
                  <a:srgbClr val="12171A"/>
                </a:solidFill>
                <a:latin typeface="Calibri"/>
                <a:cs typeface="Calibri"/>
              </a:rPr>
              <a:t>and</a:t>
            </a:r>
            <a:r>
              <a:rPr sz="1800" spc="-35" dirty="0">
                <a:solidFill>
                  <a:srgbClr val="12171A"/>
                </a:solidFill>
                <a:latin typeface="Calibri"/>
                <a:cs typeface="Calibri"/>
              </a:rPr>
              <a:t> </a:t>
            </a:r>
            <a:r>
              <a:rPr sz="1800" dirty="0">
                <a:solidFill>
                  <a:srgbClr val="12171A"/>
                </a:solidFill>
                <a:latin typeface="Calibri"/>
                <a:cs typeface="Calibri"/>
              </a:rPr>
              <a:t>(2)</a:t>
            </a:r>
            <a:r>
              <a:rPr sz="1800" spc="-10" dirty="0">
                <a:solidFill>
                  <a:srgbClr val="12171A"/>
                </a:solidFill>
                <a:latin typeface="Calibri"/>
                <a:cs typeface="Calibri"/>
              </a:rPr>
              <a:t> </a:t>
            </a:r>
            <a:r>
              <a:rPr sz="1800" dirty="0">
                <a:solidFill>
                  <a:srgbClr val="12171A"/>
                </a:solidFill>
                <a:latin typeface="Calibri"/>
                <a:cs typeface="Calibri"/>
              </a:rPr>
              <a:t>until</a:t>
            </a:r>
            <a:r>
              <a:rPr sz="1800" spc="-25" dirty="0">
                <a:solidFill>
                  <a:srgbClr val="12171A"/>
                </a:solidFill>
                <a:latin typeface="Calibri"/>
                <a:cs typeface="Calibri"/>
              </a:rPr>
              <a:t> </a:t>
            </a:r>
            <a:r>
              <a:rPr sz="1800" dirty="0">
                <a:solidFill>
                  <a:srgbClr val="12171A"/>
                </a:solidFill>
                <a:latin typeface="Calibri"/>
                <a:cs typeface="Calibri"/>
              </a:rPr>
              <a:t>the</a:t>
            </a:r>
            <a:r>
              <a:rPr sz="1800" spc="-25" dirty="0">
                <a:solidFill>
                  <a:srgbClr val="12171A"/>
                </a:solidFill>
                <a:latin typeface="Calibri"/>
                <a:cs typeface="Calibri"/>
              </a:rPr>
              <a:t> </a:t>
            </a:r>
            <a:r>
              <a:rPr sz="1800" dirty="0">
                <a:solidFill>
                  <a:srgbClr val="12171A"/>
                </a:solidFill>
                <a:latin typeface="Calibri"/>
                <a:cs typeface="Calibri"/>
              </a:rPr>
              <a:t>centroids</a:t>
            </a:r>
            <a:r>
              <a:rPr sz="1800" spc="-20" dirty="0">
                <a:solidFill>
                  <a:srgbClr val="12171A"/>
                </a:solidFill>
                <a:latin typeface="Calibri"/>
                <a:cs typeface="Calibri"/>
              </a:rPr>
              <a:t> </a:t>
            </a:r>
            <a:r>
              <a:rPr sz="1800" dirty="0">
                <a:solidFill>
                  <a:srgbClr val="12171A"/>
                </a:solidFill>
                <a:latin typeface="Calibri"/>
                <a:cs typeface="Calibri"/>
              </a:rPr>
              <a:t>stop</a:t>
            </a:r>
            <a:r>
              <a:rPr sz="1800" spc="-35" dirty="0">
                <a:solidFill>
                  <a:srgbClr val="12171A"/>
                </a:solidFill>
                <a:latin typeface="Calibri"/>
                <a:cs typeface="Calibri"/>
              </a:rPr>
              <a:t> </a:t>
            </a:r>
            <a:r>
              <a:rPr sz="1800" spc="-10" dirty="0">
                <a:solidFill>
                  <a:srgbClr val="12171A"/>
                </a:solidFill>
                <a:latin typeface="Calibri"/>
                <a:cs typeface="Calibri"/>
              </a:rPr>
              <a:t>moving.</a:t>
            </a:r>
            <a:endParaRPr sz="1800">
              <a:latin typeface="Calibri"/>
              <a:cs typeface="Calibri"/>
            </a:endParaRPr>
          </a:p>
          <a:p>
            <a:pPr marL="364490" marR="5080" indent="-342900" algn="just">
              <a:lnSpc>
                <a:spcPct val="100000"/>
              </a:lnSpc>
              <a:spcBef>
                <a:spcPts val="595"/>
              </a:spcBef>
              <a:buClr>
                <a:srgbClr val="333940"/>
              </a:buClr>
              <a:buSzPct val="90000"/>
              <a:buFont typeface="Wingdings"/>
              <a:buChar char=""/>
              <a:tabLst>
                <a:tab pos="364490" algn="l"/>
              </a:tabLst>
            </a:pPr>
            <a:r>
              <a:rPr sz="2000" dirty="0">
                <a:solidFill>
                  <a:srgbClr val="12171A"/>
                </a:solidFill>
                <a:latin typeface="Calibri"/>
                <a:cs typeface="Calibri"/>
              </a:rPr>
              <a:t>The</a:t>
            </a:r>
            <a:r>
              <a:rPr sz="2000" spc="220" dirty="0">
                <a:solidFill>
                  <a:srgbClr val="12171A"/>
                </a:solidFill>
                <a:latin typeface="Calibri"/>
                <a:cs typeface="Calibri"/>
              </a:rPr>
              <a:t> </a:t>
            </a:r>
            <a:r>
              <a:rPr sz="2000" dirty="0">
                <a:solidFill>
                  <a:srgbClr val="12171A"/>
                </a:solidFill>
                <a:latin typeface="Calibri"/>
                <a:cs typeface="Calibri"/>
              </a:rPr>
              <a:t>algorithm</a:t>
            </a:r>
            <a:r>
              <a:rPr sz="2000" spc="220" dirty="0">
                <a:solidFill>
                  <a:srgbClr val="12171A"/>
                </a:solidFill>
                <a:latin typeface="Calibri"/>
                <a:cs typeface="Calibri"/>
              </a:rPr>
              <a:t> </a:t>
            </a:r>
            <a:r>
              <a:rPr sz="2000" dirty="0">
                <a:solidFill>
                  <a:srgbClr val="12171A"/>
                </a:solidFill>
                <a:latin typeface="Calibri"/>
                <a:cs typeface="Calibri"/>
              </a:rPr>
              <a:t>is</a:t>
            </a:r>
            <a:r>
              <a:rPr sz="2000" spc="225" dirty="0">
                <a:solidFill>
                  <a:srgbClr val="12171A"/>
                </a:solidFill>
                <a:latin typeface="Calibri"/>
                <a:cs typeface="Calibri"/>
              </a:rPr>
              <a:t> </a:t>
            </a:r>
            <a:r>
              <a:rPr sz="2000" dirty="0">
                <a:solidFill>
                  <a:srgbClr val="12171A"/>
                </a:solidFill>
                <a:latin typeface="Calibri"/>
                <a:cs typeface="Calibri"/>
              </a:rPr>
              <a:t>guaranteed</a:t>
            </a:r>
            <a:r>
              <a:rPr sz="2000" spc="235" dirty="0">
                <a:solidFill>
                  <a:srgbClr val="12171A"/>
                </a:solidFill>
                <a:latin typeface="Calibri"/>
                <a:cs typeface="Calibri"/>
              </a:rPr>
              <a:t> </a:t>
            </a:r>
            <a:r>
              <a:rPr sz="2000" dirty="0">
                <a:solidFill>
                  <a:srgbClr val="12171A"/>
                </a:solidFill>
                <a:latin typeface="Calibri"/>
                <a:cs typeface="Calibri"/>
              </a:rPr>
              <a:t>to</a:t>
            </a:r>
            <a:r>
              <a:rPr sz="2000" spc="225" dirty="0">
                <a:solidFill>
                  <a:srgbClr val="12171A"/>
                </a:solidFill>
                <a:latin typeface="Calibri"/>
                <a:cs typeface="Calibri"/>
              </a:rPr>
              <a:t> </a:t>
            </a:r>
            <a:r>
              <a:rPr sz="2000" dirty="0">
                <a:solidFill>
                  <a:srgbClr val="12171A"/>
                </a:solidFill>
                <a:latin typeface="Calibri"/>
                <a:cs typeface="Calibri"/>
              </a:rPr>
              <a:t>converge</a:t>
            </a:r>
            <a:r>
              <a:rPr sz="2000" spc="229" dirty="0">
                <a:solidFill>
                  <a:srgbClr val="12171A"/>
                </a:solidFill>
                <a:latin typeface="Calibri"/>
                <a:cs typeface="Calibri"/>
              </a:rPr>
              <a:t> </a:t>
            </a:r>
            <a:r>
              <a:rPr sz="2000" dirty="0">
                <a:solidFill>
                  <a:srgbClr val="12171A"/>
                </a:solidFill>
                <a:latin typeface="Calibri"/>
                <a:cs typeface="Calibri"/>
              </a:rPr>
              <a:t>in</a:t>
            </a:r>
            <a:r>
              <a:rPr sz="2000" spc="229" dirty="0">
                <a:solidFill>
                  <a:srgbClr val="12171A"/>
                </a:solidFill>
                <a:latin typeface="Calibri"/>
                <a:cs typeface="Calibri"/>
              </a:rPr>
              <a:t> </a:t>
            </a:r>
            <a:r>
              <a:rPr sz="2000" dirty="0">
                <a:solidFill>
                  <a:srgbClr val="12171A"/>
                </a:solidFill>
                <a:latin typeface="Calibri"/>
                <a:cs typeface="Calibri"/>
              </a:rPr>
              <a:t>a</a:t>
            </a:r>
            <a:r>
              <a:rPr sz="2000" spc="225" dirty="0">
                <a:solidFill>
                  <a:srgbClr val="12171A"/>
                </a:solidFill>
                <a:latin typeface="Calibri"/>
                <a:cs typeface="Calibri"/>
              </a:rPr>
              <a:t> </a:t>
            </a:r>
            <a:r>
              <a:rPr sz="2000" dirty="0">
                <a:solidFill>
                  <a:srgbClr val="12171A"/>
                </a:solidFill>
                <a:latin typeface="Calibri"/>
                <a:cs typeface="Calibri"/>
              </a:rPr>
              <a:t>finite</a:t>
            </a:r>
            <a:r>
              <a:rPr sz="2000" spc="210" dirty="0">
                <a:solidFill>
                  <a:srgbClr val="12171A"/>
                </a:solidFill>
                <a:latin typeface="Calibri"/>
                <a:cs typeface="Calibri"/>
              </a:rPr>
              <a:t> </a:t>
            </a:r>
            <a:r>
              <a:rPr sz="2000" dirty="0">
                <a:solidFill>
                  <a:srgbClr val="12171A"/>
                </a:solidFill>
                <a:latin typeface="Calibri"/>
                <a:cs typeface="Calibri"/>
              </a:rPr>
              <a:t>number</a:t>
            </a:r>
            <a:r>
              <a:rPr sz="2000" spc="220" dirty="0">
                <a:solidFill>
                  <a:srgbClr val="12171A"/>
                </a:solidFill>
                <a:latin typeface="Calibri"/>
                <a:cs typeface="Calibri"/>
              </a:rPr>
              <a:t> </a:t>
            </a:r>
            <a:r>
              <a:rPr sz="2000" dirty="0">
                <a:solidFill>
                  <a:srgbClr val="12171A"/>
                </a:solidFill>
                <a:latin typeface="Calibri"/>
                <a:cs typeface="Calibri"/>
              </a:rPr>
              <a:t>of</a:t>
            </a:r>
            <a:r>
              <a:rPr sz="2000" spc="225" dirty="0">
                <a:solidFill>
                  <a:srgbClr val="12171A"/>
                </a:solidFill>
                <a:latin typeface="Calibri"/>
                <a:cs typeface="Calibri"/>
              </a:rPr>
              <a:t> </a:t>
            </a:r>
            <a:r>
              <a:rPr sz="2000" spc="-10" dirty="0">
                <a:solidFill>
                  <a:srgbClr val="12171A"/>
                </a:solidFill>
                <a:latin typeface="Calibri"/>
                <a:cs typeface="Calibri"/>
              </a:rPr>
              <a:t>steps </a:t>
            </a:r>
            <a:r>
              <a:rPr sz="2000" dirty="0">
                <a:solidFill>
                  <a:srgbClr val="12171A"/>
                </a:solidFill>
                <a:latin typeface="Calibri"/>
                <a:cs typeface="Calibri"/>
              </a:rPr>
              <a:t>because</a:t>
            </a:r>
            <a:r>
              <a:rPr sz="2000" spc="135" dirty="0">
                <a:solidFill>
                  <a:srgbClr val="12171A"/>
                </a:solidFill>
                <a:latin typeface="Calibri"/>
                <a:cs typeface="Calibri"/>
              </a:rPr>
              <a:t> </a:t>
            </a:r>
            <a:r>
              <a:rPr sz="2000" dirty="0">
                <a:solidFill>
                  <a:srgbClr val="12171A"/>
                </a:solidFill>
                <a:latin typeface="Calibri"/>
                <a:cs typeface="Calibri"/>
              </a:rPr>
              <a:t>the</a:t>
            </a:r>
            <a:r>
              <a:rPr sz="2000" spc="125" dirty="0">
                <a:solidFill>
                  <a:srgbClr val="12171A"/>
                </a:solidFill>
                <a:latin typeface="Calibri"/>
                <a:cs typeface="Calibri"/>
              </a:rPr>
              <a:t> </a:t>
            </a:r>
            <a:r>
              <a:rPr sz="2000" dirty="0">
                <a:solidFill>
                  <a:srgbClr val="12171A"/>
                </a:solidFill>
                <a:latin typeface="Calibri"/>
                <a:cs typeface="Calibri"/>
              </a:rPr>
              <a:t>mean</a:t>
            </a:r>
            <a:r>
              <a:rPr sz="2000" spc="145" dirty="0">
                <a:solidFill>
                  <a:srgbClr val="12171A"/>
                </a:solidFill>
                <a:latin typeface="Calibri"/>
                <a:cs typeface="Calibri"/>
              </a:rPr>
              <a:t> </a:t>
            </a:r>
            <a:r>
              <a:rPr sz="2000" dirty="0">
                <a:solidFill>
                  <a:srgbClr val="12171A"/>
                </a:solidFill>
                <a:latin typeface="Calibri"/>
                <a:cs typeface="Calibri"/>
              </a:rPr>
              <a:t>squared</a:t>
            </a:r>
            <a:r>
              <a:rPr sz="2000" spc="130" dirty="0">
                <a:solidFill>
                  <a:srgbClr val="12171A"/>
                </a:solidFill>
                <a:latin typeface="Calibri"/>
                <a:cs typeface="Calibri"/>
              </a:rPr>
              <a:t> </a:t>
            </a:r>
            <a:r>
              <a:rPr sz="2000" dirty="0">
                <a:solidFill>
                  <a:srgbClr val="12171A"/>
                </a:solidFill>
                <a:latin typeface="Calibri"/>
                <a:cs typeface="Calibri"/>
              </a:rPr>
              <a:t>distance</a:t>
            </a:r>
            <a:r>
              <a:rPr sz="2000" spc="135" dirty="0">
                <a:solidFill>
                  <a:srgbClr val="12171A"/>
                </a:solidFill>
                <a:latin typeface="Calibri"/>
                <a:cs typeface="Calibri"/>
              </a:rPr>
              <a:t> </a:t>
            </a:r>
            <a:r>
              <a:rPr sz="2000" dirty="0">
                <a:solidFill>
                  <a:srgbClr val="12171A"/>
                </a:solidFill>
                <a:latin typeface="Calibri"/>
                <a:cs typeface="Calibri"/>
              </a:rPr>
              <a:t>between</a:t>
            </a:r>
            <a:r>
              <a:rPr sz="2000" spc="145" dirty="0">
                <a:solidFill>
                  <a:srgbClr val="12171A"/>
                </a:solidFill>
                <a:latin typeface="Calibri"/>
                <a:cs typeface="Calibri"/>
              </a:rPr>
              <a:t> </a:t>
            </a:r>
            <a:r>
              <a:rPr sz="2000" dirty="0">
                <a:solidFill>
                  <a:srgbClr val="12171A"/>
                </a:solidFill>
                <a:latin typeface="Calibri"/>
                <a:cs typeface="Calibri"/>
              </a:rPr>
              <a:t>the</a:t>
            </a:r>
            <a:r>
              <a:rPr sz="2000" spc="120" dirty="0">
                <a:solidFill>
                  <a:srgbClr val="12171A"/>
                </a:solidFill>
                <a:latin typeface="Calibri"/>
                <a:cs typeface="Calibri"/>
              </a:rPr>
              <a:t> </a:t>
            </a:r>
            <a:r>
              <a:rPr sz="2000" dirty="0">
                <a:solidFill>
                  <a:srgbClr val="12171A"/>
                </a:solidFill>
                <a:latin typeface="Calibri"/>
                <a:cs typeface="Calibri"/>
              </a:rPr>
              <a:t>instances</a:t>
            </a:r>
            <a:r>
              <a:rPr sz="2000" spc="140" dirty="0">
                <a:solidFill>
                  <a:srgbClr val="12171A"/>
                </a:solidFill>
                <a:latin typeface="Calibri"/>
                <a:cs typeface="Calibri"/>
              </a:rPr>
              <a:t> </a:t>
            </a:r>
            <a:r>
              <a:rPr sz="2000" dirty="0">
                <a:solidFill>
                  <a:srgbClr val="12171A"/>
                </a:solidFill>
                <a:latin typeface="Calibri"/>
                <a:cs typeface="Calibri"/>
              </a:rPr>
              <a:t>and</a:t>
            </a:r>
            <a:r>
              <a:rPr sz="2000" spc="135" dirty="0">
                <a:solidFill>
                  <a:srgbClr val="12171A"/>
                </a:solidFill>
                <a:latin typeface="Calibri"/>
                <a:cs typeface="Calibri"/>
              </a:rPr>
              <a:t> </a:t>
            </a:r>
            <a:r>
              <a:rPr sz="2000" spc="-10" dirty="0">
                <a:solidFill>
                  <a:srgbClr val="12171A"/>
                </a:solidFill>
                <a:latin typeface="Calibri"/>
                <a:cs typeface="Calibri"/>
              </a:rPr>
              <a:t>their </a:t>
            </a:r>
            <a:r>
              <a:rPr sz="2000" dirty="0">
                <a:solidFill>
                  <a:srgbClr val="12171A"/>
                </a:solidFill>
                <a:latin typeface="Calibri"/>
                <a:cs typeface="Calibri"/>
              </a:rPr>
              <a:t>closest</a:t>
            </a:r>
            <a:r>
              <a:rPr sz="2000" spc="-30" dirty="0">
                <a:solidFill>
                  <a:srgbClr val="12171A"/>
                </a:solidFill>
                <a:latin typeface="Calibri"/>
                <a:cs typeface="Calibri"/>
              </a:rPr>
              <a:t> </a:t>
            </a:r>
            <a:r>
              <a:rPr sz="2000" dirty="0">
                <a:solidFill>
                  <a:srgbClr val="12171A"/>
                </a:solidFill>
                <a:latin typeface="Calibri"/>
                <a:cs typeface="Calibri"/>
              </a:rPr>
              <a:t>centroids</a:t>
            </a:r>
            <a:r>
              <a:rPr sz="2000" spc="-30" dirty="0">
                <a:solidFill>
                  <a:srgbClr val="12171A"/>
                </a:solidFill>
                <a:latin typeface="Calibri"/>
                <a:cs typeface="Calibri"/>
              </a:rPr>
              <a:t> </a:t>
            </a:r>
            <a:r>
              <a:rPr sz="2000" dirty="0">
                <a:solidFill>
                  <a:srgbClr val="12171A"/>
                </a:solidFill>
                <a:latin typeface="Calibri"/>
                <a:cs typeface="Calibri"/>
              </a:rPr>
              <a:t>can</a:t>
            </a:r>
            <a:r>
              <a:rPr sz="2000" spc="-40" dirty="0">
                <a:solidFill>
                  <a:srgbClr val="12171A"/>
                </a:solidFill>
                <a:latin typeface="Calibri"/>
                <a:cs typeface="Calibri"/>
              </a:rPr>
              <a:t> </a:t>
            </a:r>
            <a:r>
              <a:rPr sz="2000" dirty="0">
                <a:solidFill>
                  <a:srgbClr val="12171A"/>
                </a:solidFill>
                <a:latin typeface="Calibri"/>
                <a:cs typeface="Calibri"/>
              </a:rPr>
              <a:t>only</a:t>
            </a:r>
            <a:r>
              <a:rPr sz="2000" spc="-55" dirty="0">
                <a:solidFill>
                  <a:srgbClr val="12171A"/>
                </a:solidFill>
                <a:latin typeface="Calibri"/>
                <a:cs typeface="Calibri"/>
              </a:rPr>
              <a:t> </a:t>
            </a:r>
            <a:r>
              <a:rPr sz="2000" dirty="0">
                <a:solidFill>
                  <a:srgbClr val="12171A"/>
                </a:solidFill>
                <a:latin typeface="Calibri"/>
                <a:cs typeface="Calibri"/>
              </a:rPr>
              <a:t>go</a:t>
            </a:r>
            <a:r>
              <a:rPr sz="2000" spc="-55" dirty="0">
                <a:solidFill>
                  <a:srgbClr val="12171A"/>
                </a:solidFill>
                <a:latin typeface="Calibri"/>
                <a:cs typeface="Calibri"/>
              </a:rPr>
              <a:t> </a:t>
            </a:r>
            <a:r>
              <a:rPr sz="2000" dirty="0">
                <a:solidFill>
                  <a:srgbClr val="12171A"/>
                </a:solidFill>
                <a:latin typeface="Calibri"/>
                <a:cs typeface="Calibri"/>
              </a:rPr>
              <a:t>down</a:t>
            </a:r>
            <a:r>
              <a:rPr sz="2000" spc="-55" dirty="0">
                <a:solidFill>
                  <a:srgbClr val="12171A"/>
                </a:solidFill>
                <a:latin typeface="Calibri"/>
                <a:cs typeface="Calibri"/>
              </a:rPr>
              <a:t> </a:t>
            </a:r>
            <a:r>
              <a:rPr sz="2000" dirty="0">
                <a:solidFill>
                  <a:srgbClr val="12171A"/>
                </a:solidFill>
                <a:latin typeface="Calibri"/>
                <a:cs typeface="Calibri"/>
              </a:rPr>
              <a:t>at</a:t>
            </a:r>
            <a:r>
              <a:rPr sz="2000" spc="-35" dirty="0">
                <a:solidFill>
                  <a:srgbClr val="12171A"/>
                </a:solidFill>
                <a:latin typeface="Calibri"/>
                <a:cs typeface="Calibri"/>
              </a:rPr>
              <a:t> </a:t>
            </a:r>
            <a:r>
              <a:rPr sz="2000" dirty="0">
                <a:solidFill>
                  <a:srgbClr val="12171A"/>
                </a:solidFill>
                <a:latin typeface="Calibri"/>
                <a:cs typeface="Calibri"/>
              </a:rPr>
              <a:t>each</a:t>
            </a:r>
            <a:r>
              <a:rPr sz="2000" spc="-40" dirty="0">
                <a:solidFill>
                  <a:srgbClr val="12171A"/>
                </a:solidFill>
                <a:latin typeface="Calibri"/>
                <a:cs typeface="Calibri"/>
              </a:rPr>
              <a:t> </a:t>
            </a:r>
            <a:r>
              <a:rPr sz="2000" spc="-10" dirty="0">
                <a:solidFill>
                  <a:srgbClr val="12171A"/>
                </a:solidFill>
                <a:latin typeface="Calibri"/>
                <a:cs typeface="Calibri"/>
              </a:rPr>
              <a:t>step.</a:t>
            </a:r>
            <a:endParaRPr sz="2000">
              <a:latin typeface="Calibri"/>
              <a:cs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396240">
              <a:lnSpc>
                <a:spcPct val="100000"/>
              </a:lnSpc>
              <a:spcBef>
                <a:spcPts val="105"/>
              </a:spcBef>
            </a:pPr>
            <a:r>
              <a:rPr spc="-10" dirty="0"/>
              <a:t>Visualization</a:t>
            </a:r>
          </a:p>
        </p:txBody>
      </p:sp>
      <p:sp>
        <p:nvSpPr>
          <p:cNvPr id="4" name="object 4"/>
          <p:cNvSpPr txBox="1">
            <a:spLocks noGrp="1"/>
          </p:cNvSpPr>
          <p:nvPr>
            <p:ph type="sldNum" sz="quarter" idx="7"/>
          </p:nvPr>
        </p:nvSpPr>
        <p:spPr>
          <a:prstGeom prst="rect">
            <a:avLst/>
          </a:prstGeom>
        </p:spPr>
        <p:txBody>
          <a:bodyPr vert="horz" wrap="square" lIns="0" tIns="10160" rIns="0" bIns="0" rtlCol="0">
            <a:spAutoFit/>
          </a:bodyPr>
          <a:lstStyle/>
          <a:p>
            <a:pPr marL="38100">
              <a:lnSpc>
                <a:spcPct val="100000"/>
              </a:lnSpc>
              <a:spcBef>
                <a:spcPts val="80"/>
              </a:spcBef>
            </a:pPr>
            <a:fld id="{81D60167-4931-47E6-BA6A-407CBD079E47}" type="slidenum">
              <a:rPr spc="-25" dirty="0"/>
              <a:t>47</a:t>
            </a:fld>
            <a:endParaRPr spc="-25" dirty="0"/>
          </a:p>
        </p:txBody>
      </p:sp>
      <p:sp>
        <p:nvSpPr>
          <p:cNvPr id="3" name="object 3"/>
          <p:cNvSpPr txBox="1"/>
          <p:nvPr/>
        </p:nvSpPr>
        <p:spPr>
          <a:xfrm>
            <a:off x="1087018" y="1509140"/>
            <a:ext cx="4144010" cy="391160"/>
          </a:xfrm>
          <a:prstGeom prst="rect">
            <a:avLst/>
          </a:prstGeom>
        </p:spPr>
        <p:txBody>
          <a:bodyPr vert="horz" wrap="square" lIns="0" tIns="12700" rIns="0" bIns="0" rtlCol="0">
            <a:spAutoFit/>
          </a:bodyPr>
          <a:lstStyle/>
          <a:p>
            <a:pPr marL="354965" indent="-342265">
              <a:lnSpc>
                <a:spcPct val="100000"/>
              </a:lnSpc>
              <a:spcBef>
                <a:spcPts val="100"/>
              </a:spcBef>
              <a:buClr>
                <a:srgbClr val="333940"/>
              </a:buClr>
              <a:buSzPct val="75000"/>
              <a:buFont typeface="Wingdings"/>
              <a:buChar char=""/>
              <a:tabLst>
                <a:tab pos="354965" algn="l"/>
              </a:tabLst>
            </a:pPr>
            <a:r>
              <a:rPr sz="2400" u="sng" dirty="0">
                <a:solidFill>
                  <a:srgbClr val="2085C5"/>
                </a:solidFill>
                <a:uFill>
                  <a:solidFill>
                    <a:srgbClr val="2085C5"/>
                  </a:solidFill>
                </a:uFill>
                <a:latin typeface="Calibri"/>
                <a:cs typeface="Calibri"/>
                <a:hlinkClick r:id="rId2"/>
              </a:rPr>
              <a:t>Visualizing</a:t>
            </a:r>
            <a:r>
              <a:rPr sz="2400" u="sng" spc="-70" dirty="0">
                <a:solidFill>
                  <a:srgbClr val="2085C5"/>
                </a:solidFill>
                <a:uFill>
                  <a:solidFill>
                    <a:srgbClr val="2085C5"/>
                  </a:solidFill>
                </a:uFill>
                <a:latin typeface="Calibri"/>
                <a:cs typeface="Calibri"/>
                <a:hlinkClick r:id="rId2"/>
              </a:rPr>
              <a:t> </a:t>
            </a:r>
            <a:r>
              <a:rPr sz="2400" u="sng" spc="-20" dirty="0">
                <a:solidFill>
                  <a:srgbClr val="2085C5"/>
                </a:solidFill>
                <a:uFill>
                  <a:solidFill>
                    <a:srgbClr val="2085C5"/>
                  </a:solidFill>
                </a:uFill>
                <a:latin typeface="Calibri"/>
                <a:cs typeface="Calibri"/>
                <a:hlinkClick r:id="rId2"/>
              </a:rPr>
              <a:t>K-</a:t>
            </a:r>
            <a:r>
              <a:rPr sz="2400" u="sng" dirty="0">
                <a:solidFill>
                  <a:srgbClr val="2085C5"/>
                </a:solidFill>
                <a:uFill>
                  <a:solidFill>
                    <a:srgbClr val="2085C5"/>
                  </a:solidFill>
                </a:uFill>
                <a:latin typeface="Calibri"/>
                <a:cs typeface="Calibri"/>
                <a:hlinkClick r:id="rId2"/>
              </a:rPr>
              <a:t>Means</a:t>
            </a:r>
            <a:r>
              <a:rPr sz="2400" u="sng" spc="-70" dirty="0">
                <a:solidFill>
                  <a:srgbClr val="2085C5"/>
                </a:solidFill>
                <a:uFill>
                  <a:solidFill>
                    <a:srgbClr val="2085C5"/>
                  </a:solidFill>
                </a:uFill>
                <a:latin typeface="Calibri"/>
                <a:cs typeface="Calibri"/>
                <a:hlinkClick r:id="rId2"/>
              </a:rPr>
              <a:t> </a:t>
            </a:r>
            <a:r>
              <a:rPr sz="2400" u="sng" spc="-10" dirty="0">
                <a:solidFill>
                  <a:srgbClr val="2085C5"/>
                </a:solidFill>
                <a:uFill>
                  <a:solidFill>
                    <a:srgbClr val="2085C5"/>
                  </a:solidFill>
                </a:uFill>
                <a:latin typeface="Calibri"/>
                <a:cs typeface="Calibri"/>
                <a:hlinkClick r:id="rId2"/>
              </a:rPr>
              <a:t>Clustering</a:t>
            </a:r>
            <a:endParaRPr sz="2400">
              <a:latin typeface="Calibri"/>
              <a:cs typeface="Calibri"/>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770107" y="39623"/>
            <a:ext cx="5530242" cy="4941856"/>
          </a:xfrm>
          <a:prstGeom prst="rect">
            <a:avLst/>
          </a:prstGeom>
        </p:spPr>
      </p:pic>
      <p:sp>
        <p:nvSpPr>
          <p:cNvPr id="3" name="object 3"/>
          <p:cNvSpPr txBox="1">
            <a:spLocks noGrp="1"/>
          </p:cNvSpPr>
          <p:nvPr>
            <p:ph type="sldNum" sz="quarter" idx="7"/>
          </p:nvPr>
        </p:nvSpPr>
        <p:spPr>
          <a:prstGeom prst="rect">
            <a:avLst/>
          </a:prstGeom>
        </p:spPr>
        <p:txBody>
          <a:bodyPr vert="horz" wrap="square" lIns="0" tIns="10160" rIns="0" bIns="0" rtlCol="0">
            <a:spAutoFit/>
          </a:bodyPr>
          <a:lstStyle/>
          <a:p>
            <a:pPr marL="38100">
              <a:lnSpc>
                <a:spcPct val="100000"/>
              </a:lnSpc>
              <a:spcBef>
                <a:spcPts val="80"/>
              </a:spcBef>
            </a:pPr>
            <a:fld id="{81D60167-4931-47E6-BA6A-407CBD079E47}" type="slidenum">
              <a:rPr spc="-25" dirty="0"/>
              <a:t>48</a:t>
            </a:fld>
            <a:endParaRPr spc="-25"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324100" y="515112"/>
            <a:ext cx="4257675" cy="4181475"/>
          </a:xfrm>
          <a:prstGeom prst="rect">
            <a:avLst/>
          </a:prstGeom>
        </p:spPr>
      </p:pic>
      <p:sp>
        <p:nvSpPr>
          <p:cNvPr id="3" name="object 3"/>
          <p:cNvSpPr txBox="1">
            <a:spLocks noGrp="1"/>
          </p:cNvSpPr>
          <p:nvPr>
            <p:ph type="sldNum" sz="quarter" idx="7"/>
          </p:nvPr>
        </p:nvSpPr>
        <p:spPr>
          <a:prstGeom prst="rect">
            <a:avLst/>
          </a:prstGeom>
        </p:spPr>
        <p:txBody>
          <a:bodyPr vert="horz" wrap="square" lIns="0" tIns="10160" rIns="0" bIns="0" rtlCol="0">
            <a:spAutoFit/>
          </a:bodyPr>
          <a:lstStyle/>
          <a:p>
            <a:pPr marL="38100">
              <a:lnSpc>
                <a:spcPct val="100000"/>
              </a:lnSpc>
              <a:spcBef>
                <a:spcPts val="80"/>
              </a:spcBef>
            </a:pPr>
            <a:fld id="{81D60167-4931-47E6-BA6A-407CBD079E47}" type="slidenum">
              <a:rPr spc="-25" dirty="0"/>
              <a:t>49</a:t>
            </a:fld>
            <a:endParaRPr spc="-25"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a:lnSpc>
                <a:spcPct val="100000"/>
              </a:lnSpc>
              <a:spcBef>
                <a:spcPts val="105"/>
              </a:spcBef>
            </a:pPr>
            <a:r>
              <a:rPr spc="-30" dirty="0">
                <a:solidFill>
                  <a:srgbClr val="12171A"/>
                </a:solidFill>
              </a:rPr>
              <a:t>K-</a:t>
            </a:r>
            <a:r>
              <a:rPr dirty="0">
                <a:solidFill>
                  <a:srgbClr val="12171A"/>
                </a:solidFill>
              </a:rPr>
              <a:t>means </a:t>
            </a:r>
            <a:r>
              <a:rPr spc="-10" dirty="0">
                <a:solidFill>
                  <a:srgbClr val="12171A"/>
                </a:solidFill>
              </a:rPr>
              <a:t>disadvantage</a:t>
            </a:r>
          </a:p>
        </p:txBody>
      </p:sp>
      <p:sp>
        <p:nvSpPr>
          <p:cNvPr id="3" name="object 3"/>
          <p:cNvSpPr txBox="1"/>
          <p:nvPr/>
        </p:nvSpPr>
        <p:spPr>
          <a:xfrm>
            <a:off x="694131" y="1223263"/>
            <a:ext cx="7317105" cy="1306830"/>
          </a:xfrm>
          <a:prstGeom prst="rect">
            <a:avLst/>
          </a:prstGeom>
        </p:spPr>
        <p:txBody>
          <a:bodyPr vert="horz" wrap="square" lIns="0" tIns="12065" rIns="0" bIns="0" rtlCol="0">
            <a:spAutoFit/>
          </a:bodyPr>
          <a:lstStyle/>
          <a:p>
            <a:pPr marL="355600" marR="5080" indent="-342900">
              <a:lnSpc>
                <a:spcPct val="100000"/>
              </a:lnSpc>
              <a:spcBef>
                <a:spcPts val="95"/>
              </a:spcBef>
              <a:buClr>
                <a:srgbClr val="333940"/>
              </a:buClr>
              <a:buSzPct val="81818"/>
              <a:buFont typeface="Wingdings"/>
              <a:buChar char=""/>
              <a:tabLst>
                <a:tab pos="355600" algn="l"/>
              </a:tabLst>
            </a:pPr>
            <a:r>
              <a:rPr sz="2200" dirty="0">
                <a:solidFill>
                  <a:srgbClr val="12171A"/>
                </a:solidFill>
                <a:latin typeface="Calibri"/>
                <a:cs typeface="Calibri"/>
              </a:rPr>
              <a:t>Although</a:t>
            </a:r>
            <a:r>
              <a:rPr sz="2200" spc="-45" dirty="0">
                <a:solidFill>
                  <a:srgbClr val="12171A"/>
                </a:solidFill>
                <a:latin typeface="Calibri"/>
                <a:cs typeface="Calibri"/>
              </a:rPr>
              <a:t> </a:t>
            </a:r>
            <a:r>
              <a:rPr sz="2200" dirty="0">
                <a:solidFill>
                  <a:srgbClr val="12171A"/>
                </a:solidFill>
                <a:latin typeface="Calibri"/>
                <a:cs typeface="Calibri"/>
              </a:rPr>
              <a:t>the</a:t>
            </a:r>
            <a:r>
              <a:rPr sz="2200" spc="-35" dirty="0">
                <a:solidFill>
                  <a:srgbClr val="12171A"/>
                </a:solidFill>
                <a:latin typeface="Calibri"/>
                <a:cs typeface="Calibri"/>
              </a:rPr>
              <a:t> </a:t>
            </a:r>
            <a:r>
              <a:rPr sz="2200" dirty="0">
                <a:solidFill>
                  <a:srgbClr val="12171A"/>
                </a:solidFill>
                <a:latin typeface="Calibri"/>
                <a:cs typeface="Calibri"/>
              </a:rPr>
              <a:t>algorithm</a:t>
            </a:r>
            <a:r>
              <a:rPr sz="2200" spc="-40" dirty="0">
                <a:solidFill>
                  <a:srgbClr val="12171A"/>
                </a:solidFill>
                <a:latin typeface="Calibri"/>
                <a:cs typeface="Calibri"/>
              </a:rPr>
              <a:t> </a:t>
            </a:r>
            <a:r>
              <a:rPr sz="2200" dirty="0">
                <a:solidFill>
                  <a:srgbClr val="12171A"/>
                </a:solidFill>
                <a:latin typeface="Calibri"/>
                <a:cs typeface="Calibri"/>
              </a:rPr>
              <a:t>is</a:t>
            </a:r>
            <a:r>
              <a:rPr sz="2200" spc="-40" dirty="0">
                <a:solidFill>
                  <a:srgbClr val="12171A"/>
                </a:solidFill>
                <a:latin typeface="Calibri"/>
                <a:cs typeface="Calibri"/>
              </a:rPr>
              <a:t> </a:t>
            </a:r>
            <a:r>
              <a:rPr sz="2200" dirty="0">
                <a:solidFill>
                  <a:srgbClr val="12171A"/>
                </a:solidFill>
                <a:latin typeface="Calibri"/>
                <a:cs typeface="Calibri"/>
              </a:rPr>
              <a:t>guaranteed</a:t>
            </a:r>
            <a:r>
              <a:rPr sz="2200" spc="-35" dirty="0">
                <a:solidFill>
                  <a:srgbClr val="12171A"/>
                </a:solidFill>
                <a:latin typeface="Calibri"/>
                <a:cs typeface="Calibri"/>
              </a:rPr>
              <a:t> </a:t>
            </a:r>
            <a:r>
              <a:rPr sz="2200" dirty="0">
                <a:solidFill>
                  <a:srgbClr val="12171A"/>
                </a:solidFill>
                <a:latin typeface="Calibri"/>
                <a:cs typeface="Calibri"/>
              </a:rPr>
              <a:t>to</a:t>
            </a:r>
            <a:r>
              <a:rPr sz="2200" spc="-30" dirty="0">
                <a:solidFill>
                  <a:srgbClr val="12171A"/>
                </a:solidFill>
                <a:latin typeface="Calibri"/>
                <a:cs typeface="Calibri"/>
              </a:rPr>
              <a:t> </a:t>
            </a:r>
            <a:r>
              <a:rPr sz="2200" dirty="0">
                <a:solidFill>
                  <a:srgbClr val="12171A"/>
                </a:solidFill>
                <a:latin typeface="Calibri"/>
                <a:cs typeface="Calibri"/>
              </a:rPr>
              <a:t>converge,</a:t>
            </a:r>
            <a:r>
              <a:rPr sz="2200" spc="-35" dirty="0">
                <a:solidFill>
                  <a:srgbClr val="12171A"/>
                </a:solidFill>
                <a:latin typeface="Calibri"/>
                <a:cs typeface="Calibri"/>
              </a:rPr>
              <a:t> </a:t>
            </a:r>
            <a:r>
              <a:rPr sz="2200" dirty="0">
                <a:solidFill>
                  <a:srgbClr val="12171A"/>
                </a:solidFill>
                <a:latin typeface="Calibri"/>
                <a:cs typeface="Calibri"/>
              </a:rPr>
              <a:t>it</a:t>
            </a:r>
            <a:r>
              <a:rPr sz="2200" spc="-40" dirty="0">
                <a:solidFill>
                  <a:srgbClr val="12171A"/>
                </a:solidFill>
                <a:latin typeface="Calibri"/>
                <a:cs typeface="Calibri"/>
              </a:rPr>
              <a:t> </a:t>
            </a:r>
            <a:r>
              <a:rPr sz="2200" dirty="0">
                <a:solidFill>
                  <a:srgbClr val="12171A"/>
                </a:solidFill>
                <a:latin typeface="Calibri"/>
                <a:cs typeface="Calibri"/>
              </a:rPr>
              <a:t>may</a:t>
            </a:r>
            <a:r>
              <a:rPr sz="2200" spc="-25" dirty="0">
                <a:solidFill>
                  <a:srgbClr val="12171A"/>
                </a:solidFill>
                <a:latin typeface="Calibri"/>
                <a:cs typeface="Calibri"/>
              </a:rPr>
              <a:t> not </a:t>
            </a:r>
            <a:r>
              <a:rPr sz="2200" dirty="0">
                <a:solidFill>
                  <a:srgbClr val="12171A"/>
                </a:solidFill>
                <a:latin typeface="Calibri"/>
                <a:cs typeface="Calibri"/>
              </a:rPr>
              <a:t>converge</a:t>
            </a:r>
            <a:r>
              <a:rPr sz="2200" spc="-30" dirty="0">
                <a:solidFill>
                  <a:srgbClr val="12171A"/>
                </a:solidFill>
                <a:latin typeface="Calibri"/>
                <a:cs typeface="Calibri"/>
              </a:rPr>
              <a:t> </a:t>
            </a:r>
            <a:r>
              <a:rPr sz="2200" dirty="0">
                <a:solidFill>
                  <a:srgbClr val="12171A"/>
                </a:solidFill>
                <a:latin typeface="Calibri"/>
                <a:cs typeface="Calibri"/>
              </a:rPr>
              <a:t>to</a:t>
            </a:r>
            <a:r>
              <a:rPr sz="2200" spc="-30" dirty="0">
                <a:solidFill>
                  <a:srgbClr val="12171A"/>
                </a:solidFill>
                <a:latin typeface="Calibri"/>
                <a:cs typeface="Calibri"/>
              </a:rPr>
              <a:t> </a:t>
            </a:r>
            <a:r>
              <a:rPr sz="2200" dirty="0">
                <a:solidFill>
                  <a:srgbClr val="12171A"/>
                </a:solidFill>
                <a:latin typeface="Calibri"/>
                <a:cs typeface="Calibri"/>
              </a:rPr>
              <a:t>the</a:t>
            </a:r>
            <a:r>
              <a:rPr sz="2200" spc="-25" dirty="0">
                <a:solidFill>
                  <a:srgbClr val="12171A"/>
                </a:solidFill>
                <a:latin typeface="Calibri"/>
                <a:cs typeface="Calibri"/>
              </a:rPr>
              <a:t> </a:t>
            </a:r>
            <a:r>
              <a:rPr sz="2200" dirty="0">
                <a:solidFill>
                  <a:srgbClr val="12171A"/>
                </a:solidFill>
                <a:latin typeface="Calibri"/>
                <a:cs typeface="Calibri"/>
              </a:rPr>
              <a:t>right</a:t>
            </a:r>
            <a:r>
              <a:rPr sz="2200" spc="-50" dirty="0">
                <a:solidFill>
                  <a:srgbClr val="12171A"/>
                </a:solidFill>
                <a:latin typeface="Calibri"/>
                <a:cs typeface="Calibri"/>
              </a:rPr>
              <a:t> </a:t>
            </a:r>
            <a:r>
              <a:rPr sz="2200" spc="-10" dirty="0">
                <a:solidFill>
                  <a:srgbClr val="12171A"/>
                </a:solidFill>
                <a:latin typeface="Calibri"/>
                <a:cs typeface="Calibri"/>
              </a:rPr>
              <a:t>solution</a:t>
            </a:r>
            <a:endParaRPr sz="2200">
              <a:latin typeface="Calibri"/>
              <a:cs typeface="Calibri"/>
            </a:endParaRPr>
          </a:p>
          <a:p>
            <a:pPr marL="812800" lvl="1" indent="-334010">
              <a:lnSpc>
                <a:spcPct val="100000"/>
              </a:lnSpc>
              <a:spcBef>
                <a:spcPts val="10"/>
              </a:spcBef>
              <a:buSzPct val="85000"/>
              <a:buFont typeface="Wingdings"/>
              <a:buChar char=""/>
              <a:tabLst>
                <a:tab pos="812800" algn="l"/>
              </a:tabLst>
            </a:pPr>
            <a:r>
              <a:rPr sz="2000" dirty="0">
                <a:solidFill>
                  <a:srgbClr val="121618"/>
                </a:solidFill>
                <a:latin typeface="Calibri"/>
                <a:cs typeface="Calibri"/>
              </a:rPr>
              <a:t>it</a:t>
            </a:r>
            <a:r>
              <a:rPr sz="2000" spc="-10" dirty="0">
                <a:solidFill>
                  <a:srgbClr val="121618"/>
                </a:solidFill>
                <a:latin typeface="Calibri"/>
                <a:cs typeface="Calibri"/>
              </a:rPr>
              <a:t> </a:t>
            </a:r>
            <a:r>
              <a:rPr sz="2000" dirty="0">
                <a:solidFill>
                  <a:srgbClr val="121618"/>
                </a:solidFill>
                <a:latin typeface="Calibri"/>
                <a:cs typeface="Calibri"/>
              </a:rPr>
              <a:t>may</a:t>
            </a:r>
            <a:r>
              <a:rPr sz="2000" spc="-20" dirty="0">
                <a:solidFill>
                  <a:srgbClr val="121618"/>
                </a:solidFill>
                <a:latin typeface="Calibri"/>
                <a:cs typeface="Calibri"/>
              </a:rPr>
              <a:t> </a:t>
            </a:r>
            <a:r>
              <a:rPr sz="2000" dirty="0">
                <a:solidFill>
                  <a:srgbClr val="121618"/>
                </a:solidFill>
                <a:latin typeface="Calibri"/>
                <a:cs typeface="Calibri"/>
              </a:rPr>
              <a:t>converge</a:t>
            </a:r>
            <a:r>
              <a:rPr sz="2000" spc="-15" dirty="0">
                <a:solidFill>
                  <a:srgbClr val="121618"/>
                </a:solidFill>
                <a:latin typeface="Calibri"/>
                <a:cs typeface="Calibri"/>
              </a:rPr>
              <a:t> </a:t>
            </a:r>
            <a:r>
              <a:rPr sz="2000" dirty="0">
                <a:solidFill>
                  <a:srgbClr val="121618"/>
                </a:solidFill>
                <a:latin typeface="Calibri"/>
                <a:cs typeface="Calibri"/>
              </a:rPr>
              <a:t>to</a:t>
            </a:r>
            <a:r>
              <a:rPr sz="2000" spc="-20" dirty="0">
                <a:solidFill>
                  <a:srgbClr val="121618"/>
                </a:solidFill>
                <a:latin typeface="Calibri"/>
                <a:cs typeface="Calibri"/>
              </a:rPr>
              <a:t> </a:t>
            </a:r>
            <a:r>
              <a:rPr sz="2000" dirty="0">
                <a:solidFill>
                  <a:srgbClr val="121618"/>
                </a:solidFill>
                <a:latin typeface="Calibri"/>
                <a:cs typeface="Calibri"/>
              </a:rPr>
              <a:t>a</a:t>
            </a:r>
            <a:r>
              <a:rPr sz="2000" spc="-5" dirty="0">
                <a:solidFill>
                  <a:srgbClr val="121618"/>
                </a:solidFill>
                <a:latin typeface="Calibri"/>
                <a:cs typeface="Calibri"/>
              </a:rPr>
              <a:t> </a:t>
            </a:r>
            <a:r>
              <a:rPr sz="2000" dirty="0">
                <a:solidFill>
                  <a:srgbClr val="121618"/>
                </a:solidFill>
                <a:latin typeface="Calibri"/>
                <a:cs typeface="Calibri"/>
              </a:rPr>
              <a:t>local</a:t>
            </a:r>
            <a:r>
              <a:rPr sz="2000" spc="-20" dirty="0">
                <a:solidFill>
                  <a:srgbClr val="121618"/>
                </a:solidFill>
                <a:latin typeface="Calibri"/>
                <a:cs typeface="Calibri"/>
              </a:rPr>
              <a:t> </a:t>
            </a:r>
            <a:r>
              <a:rPr sz="2000" spc="-10" dirty="0">
                <a:solidFill>
                  <a:srgbClr val="121618"/>
                </a:solidFill>
                <a:latin typeface="Calibri"/>
                <a:cs typeface="Calibri"/>
              </a:rPr>
              <a:t>optimum</a:t>
            </a:r>
            <a:endParaRPr sz="2000">
              <a:latin typeface="Calibri"/>
              <a:cs typeface="Calibri"/>
            </a:endParaRPr>
          </a:p>
          <a:p>
            <a:pPr marL="812800" lvl="1" indent="-334010">
              <a:lnSpc>
                <a:spcPct val="100000"/>
              </a:lnSpc>
              <a:buSzPct val="85000"/>
              <a:buFont typeface="Wingdings"/>
              <a:buChar char=""/>
              <a:tabLst>
                <a:tab pos="812800" algn="l"/>
              </a:tabLst>
            </a:pPr>
            <a:r>
              <a:rPr sz="2000" dirty="0">
                <a:solidFill>
                  <a:srgbClr val="121618"/>
                </a:solidFill>
                <a:latin typeface="Calibri"/>
                <a:cs typeface="Calibri"/>
              </a:rPr>
              <a:t>whether</a:t>
            </a:r>
            <a:r>
              <a:rPr sz="2000" spc="-35" dirty="0">
                <a:solidFill>
                  <a:srgbClr val="121618"/>
                </a:solidFill>
                <a:latin typeface="Calibri"/>
                <a:cs typeface="Calibri"/>
              </a:rPr>
              <a:t> </a:t>
            </a:r>
            <a:r>
              <a:rPr sz="2000" dirty="0">
                <a:solidFill>
                  <a:srgbClr val="121618"/>
                </a:solidFill>
                <a:latin typeface="Calibri"/>
                <a:cs typeface="Calibri"/>
              </a:rPr>
              <a:t>it</a:t>
            </a:r>
            <a:r>
              <a:rPr sz="2000" spc="-15" dirty="0">
                <a:solidFill>
                  <a:srgbClr val="121618"/>
                </a:solidFill>
                <a:latin typeface="Calibri"/>
                <a:cs typeface="Calibri"/>
              </a:rPr>
              <a:t> </a:t>
            </a:r>
            <a:r>
              <a:rPr sz="2000" dirty="0">
                <a:solidFill>
                  <a:srgbClr val="121618"/>
                </a:solidFill>
                <a:latin typeface="Calibri"/>
                <a:cs typeface="Calibri"/>
              </a:rPr>
              <a:t>does</a:t>
            </a:r>
            <a:r>
              <a:rPr sz="2000" spc="-30" dirty="0">
                <a:solidFill>
                  <a:srgbClr val="121618"/>
                </a:solidFill>
                <a:latin typeface="Calibri"/>
                <a:cs typeface="Calibri"/>
              </a:rPr>
              <a:t> </a:t>
            </a:r>
            <a:r>
              <a:rPr sz="2000" dirty="0">
                <a:solidFill>
                  <a:srgbClr val="121618"/>
                </a:solidFill>
                <a:latin typeface="Calibri"/>
                <a:cs typeface="Calibri"/>
              </a:rPr>
              <a:t>or</a:t>
            </a:r>
            <a:r>
              <a:rPr sz="2000" spc="-20" dirty="0">
                <a:solidFill>
                  <a:srgbClr val="121618"/>
                </a:solidFill>
                <a:latin typeface="Calibri"/>
                <a:cs typeface="Calibri"/>
              </a:rPr>
              <a:t> </a:t>
            </a:r>
            <a:r>
              <a:rPr sz="2000" dirty="0">
                <a:solidFill>
                  <a:srgbClr val="121618"/>
                </a:solidFill>
                <a:latin typeface="Calibri"/>
                <a:cs typeface="Calibri"/>
              </a:rPr>
              <a:t>not</a:t>
            </a:r>
            <a:r>
              <a:rPr sz="2000" spc="-40" dirty="0">
                <a:solidFill>
                  <a:srgbClr val="121618"/>
                </a:solidFill>
                <a:latin typeface="Calibri"/>
                <a:cs typeface="Calibri"/>
              </a:rPr>
              <a:t> </a:t>
            </a:r>
            <a:r>
              <a:rPr sz="2000" dirty="0">
                <a:solidFill>
                  <a:srgbClr val="121618"/>
                </a:solidFill>
                <a:latin typeface="Calibri"/>
                <a:cs typeface="Calibri"/>
              </a:rPr>
              <a:t>depends</a:t>
            </a:r>
            <a:r>
              <a:rPr sz="2000" spc="-30" dirty="0">
                <a:solidFill>
                  <a:srgbClr val="121618"/>
                </a:solidFill>
                <a:latin typeface="Calibri"/>
                <a:cs typeface="Calibri"/>
              </a:rPr>
              <a:t> </a:t>
            </a:r>
            <a:r>
              <a:rPr sz="2000" dirty="0">
                <a:solidFill>
                  <a:srgbClr val="121618"/>
                </a:solidFill>
                <a:latin typeface="Calibri"/>
                <a:cs typeface="Calibri"/>
              </a:rPr>
              <a:t>on</a:t>
            </a:r>
            <a:r>
              <a:rPr sz="2000" spc="-20" dirty="0">
                <a:solidFill>
                  <a:srgbClr val="121618"/>
                </a:solidFill>
                <a:latin typeface="Calibri"/>
                <a:cs typeface="Calibri"/>
              </a:rPr>
              <a:t> </a:t>
            </a:r>
            <a:r>
              <a:rPr sz="2000" dirty="0">
                <a:solidFill>
                  <a:srgbClr val="121618"/>
                </a:solidFill>
                <a:latin typeface="Calibri"/>
                <a:cs typeface="Calibri"/>
              </a:rPr>
              <a:t>the</a:t>
            </a:r>
            <a:r>
              <a:rPr sz="2000" spc="-35" dirty="0">
                <a:solidFill>
                  <a:srgbClr val="121618"/>
                </a:solidFill>
                <a:latin typeface="Calibri"/>
                <a:cs typeface="Calibri"/>
              </a:rPr>
              <a:t> </a:t>
            </a:r>
            <a:r>
              <a:rPr sz="2000" dirty="0">
                <a:solidFill>
                  <a:srgbClr val="121618"/>
                </a:solidFill>
                <a:latin typeface="Calibri"/>
                <a:cs typeface="Calibri"/>
              </a:rPr>
              <a:t>centroid</a:t>
            </a:r>
            <a:r>
              <a:rPr sz="2000" spc="-15" dirty="0">
                <a:solidFill>
                  <a:srgbClr val="121618"/>
                </a:solidFill>
                <a:latin typeface="Calibri"/>
                <a:cs typeface="Calibri"/>
              </a:rPr>
              <a:t> </a:t>
            </a:r>
            <a:r>
              <a:rPr sz="2000" spc="-10" dirty="0">
                <a:solidFill>
                  <a:srgbClr val="121618"/>
                </a:solidFill>
                <a:latin typeface="Calibri"/>
                <a:cs typeface="Calibri"/>
              </a:rPr>
              <a:t>initialization.</a:t>
            </a:r>
            <a:endParaRPr sz="2000">
              <a:latin typeface="Calibri"/>
              <a:cs typeface="Calibri"/>
            </a:endParaRPr>
          </a:p>
        </p:txBody>
      </p:sp>
      <p:pic>
        <p:nvPicPr>
          <p:cNvPr id="4" name="object 4"/>
          <p:cNvPicPr/>
          <p:nvPr/>
        </p:nvPicPr>
        <p:blipFill>
          <a:blip r:embed="rId2" cstate="print"/>
          <a:stretch>
            <a:fillRect/>
          </a:stretch>
        </p:blipFill>
        <p:spPr>
          <a:xfrm>
            <a:off x="917480" y="2741773"/>
            <a:ext cx="7266369" cy="2099867"/>
          </a:xfrm>
          <a:prstGeom prst="rect">
            <a:avLst/>
          </a:prstGeom>
        </p:spPr>
      </p:pic>
      <p:sp>
        <p:nvSpPr>
          <p:cNvPr id="5" name="object 5"/>
          <p:cNvSpPr txBox="1">
            <a:spLocks noGrp="1"/>
          </p:cNvSpPr>
          <p:nvPr>
            <p:ph type="sldNum" sz="quarter" idx="7"/>
          </p:nvPr>
        </p:nvSpPr>
        <p:spPr>
          <a:prstGeom prst="rect">
            <a:avLst/>
          </a:prstGeom>
        </p:spPr>
        <p:txBody>
          <a:bodyPr vert="horz" wrap="square" lIns="0" tIns="10160" rIns="0" bIns="0" rtlCol="0">
            <a:spAutoFit/>
          </a:bodyPr>
          <a:lstStyle/>
          <a:p>
            <a:pPr marL="38100">
              <a:lnSpc>
                <a:spcPct val="100000"/>
              </a:lnSpc>
              <a:spcBef>
                <a:spcPts val="80"/>
              </a:spcBef>
            </a:pPr>
            <a:fld id="{81D60167-4931-47E6-BA6A-407CBD079E47}" type="slidenum">
              <a:rPr spc="-25" dirty="0"/>
              <a:t>50</a:t>
            </a:fld>
            <a:endParaRPr spc="-25"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a:lnSpc>
                <a:spcPct val="100000"/>
              </a:lnSpc>
              <a:spcBef>
                <a:spcPts val="105"/>
              </a:spcBef>
            </a:pPr>
            <a:r>
              <a:rPr dirty="0"/>
              <a:t>Centroid</a:t>
            </a:r>
            <a:r>
              <a:rPr spc="-55" dirty="0"/>
              <a:t> </a:t>
            </a:r>
            <a:r>
              <a:rPr dirty="0"/>
              <a:t>initialization</a:t>
            </a:r>
            <a:r>
              <a:rPr spc="-60" dirty="0"/>
              <a:t> </a:t>
            </a:r>
            <a:r>
              <a:rPr spc="-10" dirty="0"/>
              <a:t>methods</a:t>
            </a:r>
          </a:p>
        </p:txBody>
      </p:sp>
      <p:sp>
        <p:nvSpPr>
          <p:cNvPr id="3" name="object 3"/>
          <p:cNvSpPr txBox="1"/>
          <p:nvPr/>
        </p:nvSpPr>
        <p:spPr>
          <a:xfrm>
            <a:off x="694131" y="1223263"/>
            <a:ext cx="7531734" cy="940435"/>
          </a:xfrm>
          <a:prstGeom prst="rect">
            <a:avLst/>
          </a:prstGeom>
        </p:spPr>
        <p:txBody>
          <a:bodyPr vert="horz" wrap="square" lIns="0" tIns="13335" rIns="0" bIns="0" rtlCol="0">
            <a:spAutoFit/>
          </a:bodyPr>
          <a:lstStyle/>
          <a:p>
            <a:pPr marL="355600" marR="5080" indent="-342900">
              <a:lnSpc>
                <a:spcPct val="100000"/>
              </a:lnSpc>
              <a:spcBef>
                <a:spcPts val="105"/>
              </a:spcBef>
              <a:buClr>
                <a:srgbClr val="333940"/>
              </a:buClr>
              <a:buSzPct val="90000"/>
              <a:buFont typeface="Wingdings"/>
              <a:buChar char=""/>
              <a:tabLst>
                <a:tab pos="355600" algn="l"/>
              </a:tabLst>
            </a:pPr>
            <a:r>
              <a:rPr sz="2000" dirty="0">
                <a:solidFill>
                  <a:srgbClr val="12171A"/>
                </a:solidFill>
                <a:latin typeface="Calibri"/>
                <a:cs typeface="Calibri"/>
              </a:rPr>
              <a:t>If</a:t>
            </a:r>
            <a:r>
              <a:rPr sz="2000" spc="-40" dirty="0">
                <a:solidFill>
                  <a:srgbClr val="12171A"/>
                </a:solidFill>
                <a:latin typeface="Calibri"/>
                <a:cs typeface="Calibri"/>
              </a:rPr>
              <a:t> </a:t>
            </a:r>
            <a:r>
              <a:rPr sz="2000" dirty="0">
                <a:solidFill>
                  <a:srgbClr val="12171A"/>
                </a:solidFill>
                <a:latin typeface="Calibri"/>
                <a:cs typeface="Calibri"/>
              </a:rPr>
              <a:t>you</a:t>
            </a:r>
            <a:r>
              <a:rPr sz="2000" spc="-40" dirty="0">
                <a:solidFill>
                  <a:srgbClr val="12171A"/>
                </a:solidFill>
                <a:latin typeface="Calibri"/>
                <a:cs typeface="Calibri"/>
              </a:rPr>
              <a:t> </a:t>
            </a:r>
            <a:r>
              <a:rPr sz="2000" dirty="0">
                <a:solidFill>
                  <a:srgbClr val="12171A"/>
                </a:solidFill>
                <a:latin typeface="Calibri"/>
                <a:cs typeface="Calibri"/>
              </a:rPr>
              <a:t>know</a:t>
            </a:r>
            <a:r>
              <a:rPr sz="2000" spc="-55" dirty="0">
                <a:solidFill>
                  <a:srgbClr val="12171A"/>
                </a:solidFill>
                <a:latin typeface="Calibri"/>
                <a:cs typeface="Calibri"/>
              </a:rPr>
              <a:t> </a:t>
            </a:r>
            <a:r>
              <a:rPr sz="2000" dirty="0">
                <a:solidFill>
                  <a:srgbClr val="12171A"/>
                </a:solidFill>
                <a:latin typeface="Calibri"/>
                <a:cs typeface="Calibri"/>
              </a:rPr>
              <a:t>approximately</a:t>
            </a:r>
            <a:r>
              <a:rPr sz="2000" spc="-20" dirty="0">
                <a:solidFill>
                  <a:srgbClr val="12171A"/>
                </a:solidFill>
                <a:latin typeface="Calibri"/>
                <a:cs typeface="Calibri"/>
              </a:rPr>
              <a:t> </a:t>
            </a:r>
            <a:r>
              <a:rPr sz="2000" dirty="0">
                <a:solidFill>
                  <a:srgbClr val="12171A"/>
                </a:solidFill>
                <a:latin typeface="Calibri"/>
                <a:cs typeface="Calibri"/>
              </a:rPr>
              <a:t>where</a:t>
            </a:r>
            <a:r>
              <a:rPr sz="2000" spc="-40" dirty="0">
                <a:solidFill>
                  <a:srgbClr val="12171A"/>
                </a:solidFill>
                <a:latin typeface="Calibri"/>
                <a:cs typeface="Calibri"/>
              </a:rPr>
              <a:t> </a:t>
            </a:r>
            <a:r>
              <a:rPr sz="2000" dirty="0">
                <a:solidFill>
                  <a:srgbClr val="12171A"/>
                </a:solidFill>
                <a:latin typeface="Calibri"/>
                <a:cs typeface="Calibri"/>
              </a:rPr>
              <a:t>the</a:t>
            </a:r>
            <a:r>
              <a:rPr sz="2000" spc="-25" dirty="0">
                <a:solidFill>
                  <a:srgbClr val="12171A"/>
                </a:solidFill>
                <a:latin typeface="Calibri"/>
                <a:cs typeface="Calibri"/>
              </a:rPr>
              <a:t> </a:t>
            </a:r>
            <a:r>
              <a:rPr sz="2000" dirty="0">
                <a:solidFill>
                  <a:srgbClr val="12171A"/>
                </a:solidFill>
                <a:latin typeface="Calibri"/>
                <a:cs typeface="Calibri"/>
              </a:rPr>
              <a:t>centroids</a:t>
            </a:r>
            <a:r>
              <a:rPr sz="2000" spc="-30" dirty="0">
                <a:solidFill>
                  <a:srgbClr val="12171A"/>
                </a:solidFill>
                <a:latin typeface="Calibri"/>
                <a:cs typeface="Calibri"/>
              </a:rPr>
              <a:t> </a:t>
            </a:r>
            <a:r>
              <a:rPr sz="2000" dirty="0">
                <a:solidFill>
                  <a:srgbClr val="12171A"/>
                </a:solidFill>
                <a:latin typeface="Calibri"/>
                <a:cs typeface="Calibri"/>
              </a:rPr>
              <a:t>should</a:t>
            </a:r>
            <a:r>
              <a:rPr sz="2000" spc="-35" dirty="0">
                <a:solidFill>
                  <a:srgbClr val="12171A"/>
                </a:solidFill>
                <a:latin typeface="Calibri"/>
                <a:cs typeface="Calibri"/>
              </a:rPr>
              <a:t> </a:t>
            </a:r>
            <a:r>
              <a:rPr sz="2000" dirty="0">
                <a:solidFill>
                  <a:srgbClr val="12171A"/>
                </a:solidFill>
                <a:latin typeface="Calibri"/>
                <a:cs typeface="Calibri"/>
              </a:rPr>
              <a:t>be</a:t>
            </a:r>
            <a:r>
              <a:rPr sz="2000" spc="-35" dirty="0">
                <a:solidFill>
                  <a:srgbClr val="12171A"/>
                </a:solidFill>
                <a:latin typeface="Calibri"/>
                <a:cs typeface="Calibri"/>
              </a:rPr>
              <a:t> </a:t>
            </a:r>
            <a:r>
              <a:rPr sz="2000" dirty="0">
                <a:solidFill>
                  <a:srgbClr val="12171A"/>
                </a:solidFill>
                <a:latin typeface="Calibri"/>
                <a:cs typeface="Calibri"/>
              </a:rPr>
              <a:t>(e.g.,</a:t>
            </a:r>
            <a:r>
              <a:rPr sz="2000" spc="-40" dirty="0">
                <a:solidFill>
                  <a:srgbClr val="12171A"/>
                </a:solidFill>
                <a:latin typeface="Calibri"/>
                <a:cs typeface="Calibri"/>
              </a:rPr>
              <a:t> </a:t>
            </a:r>
            <a:r>
              <a:rPr sz="2000" dirty="0">
                <a:solidFill>
                  <a:srgbClr val="12171A"/>
                </a:solidFill>
                <a:latin typeface="Calibri"/>
                <a:cs typeface="Calibri"/>
              </a:rPr>
              <a:t>if</a:t>
            </a:r>
            <a:r>
              <a:rPr sz="2000" spc="-30" dirty="0">
                <a:solidFill>
                  <a:srgbClr val="12171A"/>
                </a:solidFill>
                <a:latin typeface="Calibri"/>
                <a:cs typeface="Calibri"/>
              </a:rPr>
              <a:t> </a:t>
            </a:r>
            <a:r>
              <a:rPr sz="2000" spc="-25" dirty="0">
                <a:solidFill>
                  <a:srgbClr val="12171A"/>
                </a:solidFill>
                <a:latin typeface="Calibri"/>
                <a:cs typeface="Calibri"/>
              </a:rPr>
              <a:t>you </a:t>
            </a:r>
            <a:r>
              <a:rPr sz="2000" dirty="0">
                <a:solidFill>
                  <a:srgbClr val="12171A"/>
                </a:solidFill>
                <a:latin typeface="Calibri"/>
                <a:cs typeface="Calibri"/>
              </a:rPr>
              <a:t>ran</a:t>
            </a:r>
            <a:r>
              <a:rPr sz="2000" spc="-35" dirty="0">
                <a:solidFill>
                  <a:srgbClr val="12171A"/>
                </a:solidFill>
                <a:latin typeface="Calibri"/>
                <a:cs typeface="Calibri"/>
              </a:rPr>
              <a:t> </a:t>
            </a:r>
            <a:r>
              <a:rPr sz="2000" dirty="0">
                <a:solidFill>
                  <a:srgbClr val="12171A"/>
                </a:solidFill>
                <a:latin typeface="Calibri"/>
                <a:cs typeface="Calibri"/>
              </a:rPr>
              <a:t>another</a:t>
            </a:r>
            <a:r>
              <a:rPr sz="2000" spc="-45" dirty="0">
                <a:solidFill>
                  <a:srgbClr val="12171A"/>
                </a:solidFill>
                <a:latin typeface="Calibri"/>
                <a:cs typeface="Calibri"/>
              </a:rPr>
              <a:t> </a:t>
            </a:r>
            <a:r>
              <a:rPr sz="2000" dirty="0">
                <a:solidFill>
                  <a:srgbClr val="12171A"/>
                </a:solidFill>
                <a:latin typeface="Calibri"/>
                <a:cs typeface="Calibri"/>
              </a:rPr>
              <a:t>clustering</a:t>
            </a:r>
            <a:r>
              <a:rPr sz="2000" spc="-30" dirty="0">
                <a:solidFill>
                  <a:srgbClr val="12171A"/>
                </a:solidFill>
                <a:latin typeface="Calibri"/>
                <a:cs typeface="Calibri"/>
              </a:rPr>
              <a:t> </a:t>
            </a:r>
            <a:r>
              <a:rPr sz="2000" dirty="0">
                <a:solidFill>
                  <a:srgbClr val="12171A"/>
                </a:solidFill>
                <a:latin typeface="Calibri"/>
                <a:cs typeface="Calibri"/>
              </a:rPr>
              <a:t>algorithm</a:t>
            </a:r>
            <a:r>
              <a:rPr sz="2000" spc="-35" dirty="0">
                <a:solidFill>
                  <a:srgbClr val="12171A"/>
                </a:solidFill>
                <a:latin typeface="Calibri"/>
                <a:cs typeface="Calibri"/>
              </a:rPr>
              <a:t> </a:t>
            </a:r>
            <a:r>
              <a:rPr sz="2000" dirty="0">
                <a:solidFill>
                  <a:srgbClr val="12171A"/>
                </a:solidFill>
                <a:latin typeface="Calibri"/>
                <a:cs typeface="Calibri"/>
              </a:rPr>
              <a:t>earlier),</a:t>
            </a:r>
            <a:r>
              <a:rPr sz="2000" spc="-20" dirty="0">
                <a:solidFill>
                  <a:srgbClr val="12171A"/>
                </a:solidFill>
                <a:latin typeface="Calibri"/>
                <a:cs typeface="Calibri"/>
              </a:rPr>
              <a:t> </a:t>
            </a:r>
            <a:r>
              <a:rPr sz="2000" dirty="0">
                <a:solidFill>
                  <a:srgbClr val="12171A"/>
                </a:solidFill>
                <a:latin typeface="Calibri"/>
                <a:cs typeface="Calibri"/>
              </a:rPr>
              <a:t>then</a:t>
            </a:r>
            <a:r>
              <a:rPr sz="2000" spc="-35" dirty="0">
                <a:solidFill>
                  <a:srgbClr val="12171A"/>
                </a:solidFill>
                <a:latin typeface="Calibri"/>
                <a:cs typeface="Calibri"/>
              </a:rPr>
              <a:t> </a:t>
            </a:r>
            <a:r>
              <a:rPr sz="2000" dirty="0">
                <a:solidFill>
                  <a:srgbClr val="12171A"/>
                </a:solidFill>
                <a:latin typeface="Calibri"/>
                <a:cs typeface="Calibri"/>
              </a:rPr>
              <a:t>you</a:t>
            </a:r>
            <a:r>
              <a:rPr sz="2000" spc="-65" dirty="0">
                <a:solidFill>
                  <a:srgbClr val="12171A"/>
                </a:solidFill>
                <a:latin typeface="Calibri"/>
                <a:cs typeface="Calibri"/>
              </a:rPr>
              <a:t> </a:t>
            </a:r>
            <a:r>
              <a:rPr sz="2000" dirty="0">
                <a:solidFill>
                  <a:srgbClr val="12171A"/>
                </a:solidFill>
                <a:latin typeface="Calibri"/>
                <a:cs typeface="Calibri"/>
              </a:rPr>
              <a:t>can</a:t>
            </a:r>
            <a:r>
              <a:rPr sz="2000" spc="-40" dirty="0">
                <a:solidFill>
                  <a:srgbClr val="12171A"/>
                </a:solidFill>
                <a:latin typeface="Calibri"/>
                <a:cs typeface="Calibri"/>
              </a:rPr>
              <a:t> </a:t>
            </a:r>
            <a:r>
              <a:rPr sz="2000" dirty="0">
                <a:solidFill>
                  <a:srgbClr val="12171A"/>
                </a:solidFill>
                <a:latin typeface="Calibri"/>
                <a:cs typeface="Calibri"/>
              </a:rPr>
              <a:t>set</a:t>
            </a:r>
            <a:r>
              <a:rPr sz="2000" spc="-25" dirty="0">
                <a:solidFill>
                  <a:srgbClr val="12171A"/>
                </a:solidFill>
                <a:latin typeface="Calibri"/>
                <a:cs typeface="Calibri"/>
              </a:rPr>
              <a:t> </a:t>
            </a:r>
            <a:r>
              <a:rPr sz="2000" dirty="0">
                <a:solidFill>
                  <a:srgbClr val="12171A"/>
                </a:solidFill>
                <a:latin typeface="Calibri"/>
                <a:cs typeface="Calibri"/>
              </a:rPr>
              <a:t>the</a:t>
            </a:r>
            <a:r>
              <a:rPr sz="2000" spc="-30" dirty="0">
                <a:solidFill>
                  <a:srgbClr val="12171A"/>
                </a:solidFill>
                <a:latin typeface="Calibri"/>
                <a:cs typeface="Calibri"/>
              </a:rPr>
              <a:t> </a:t>
            </a:r>
            <a:r>
              <a:rPr sz="1800" spc="-20" dirty="0">
                <a:solidFill>
                  <a:srgbClr val="12171A"/>
                </a:solidFill>
                <a:latin typeface="Courier New"/>
                <a:cs typeface="Courier New"/>
              </a:rPr>
              <a:t>init </a:t>
            </a:r>
            <a:r>
              <a:rPr sz="2000" spc="-10" dirty="0">
                <a:solidFill>
                  <a:srgbClr val="12171A"/>
                </a:solidFill>
                <a:latin typeface="Calibri"/>
                <a:cs typeface="Calibri"/>
              </a:rPr>
              <a:t>hyperparameter</a:t>
            </a:r>
            <a:r>
              <a:rPr sz="2000" spc="-20" dirty="0">
                <a:solidFill>
                  <a:srgbClr val="12171A"/>
                </a:solidFill>
                <a:latin typeface="Calibri"/>
                <a:cs typeface="Calibri"/>
              </a:rPr>
              <a:t> </a:t>
            </a:r>
            <a:r>
              <a:rPr sz="2000" dirty="0">
                <a:solidFill>
                  <a:srgbClr val="12171A"/>
                </a:solidFill>
                <a:latin typeface="Calibri"/>
                <a:cs typeface="Calibri"/>
              </a:rPr>
              <a:t>to</a:t>
            </a:r>
            <a:r>
              <a:rPr sz="2000" spc="-20" dirty="0">
                <a:solidFill>
                  <a:srgbClr val="12171A"/>
                </a:solidFill>
                <a:latin typeface="Calibri"/>
                <a:cs typeface="Calibri"/>
              </a:rPr>
              <a:t> </a:t>
            </a:r>
            <a:r>
              <a:rPr sz="2000" dirty="0">
                <a:solidFill>
                  <a:srgbClr val="12171A"/>
                </a:solidFill>
                <a:latin typeface="Calibri"/>
                <a:cs typeface="Calibri"/>
              </a:rPr>
              <a:t>a</a:t>
            </a:r>
            <a:r>
              <a:rPr sz="2000" spc="-10" dirty="0">
                <a:solidFill>
                  <a:srgbClr val="12171A"/>
                </a:solidFill>
                <a:latin typeface="Calibri"/>
                <a:cs typeface="Calibri"/>
              </a:rPr>
              <a:t> </a:t>
            </a:r>
            <a:r>
              <a:rPr sz="2000" dirty="0">
                <a:solidFill>
                  <a:srgbClr val="12171A"/>
                </a:solidFill>
                <a:latin typeface="Calibri"/>
                <a:cs typeface="Calibri"/>
              </a:rPr>
              <a:t>NumPy</a:t>
            </a:r>
            <a:r>
              <a:rPr sz="2000" spc="-35" dirty="0">
                <a:solidFill>
                  <a:srgbClr val="12171A"/>
                </a:solidFill>
                <a:latin typeface="Calibri"/>
                <a:cs typeface="Calibri"/>
              </a:rPr>
              <a:t> </a:t>
            </a:r>
            <a:r>
              <a:rPr sz="2000" dirty="0">
                <a:solidFill>
                  <a:srgbClr val="12171A"/>
                </a:solidFill>
                <a:latin typeface="Calibri"/>
                <a:cs typeface="Calibri"/>
              </a:rPr>
              <a:t>array</a:t>
            </a:r>
            <a:r>
              <a:rPr sz="2000" spc="-5" dirty="0">
                <a:solidFill>
                  <a:srgbClr val="12171A"/>
                </a:solidFill>
                <a:latin typeface="Calibri"/>
                <a:cs typeface="Calibri"/>
              </a:rPr>
              <a:t> </a:t>
            </a:r>
            <a:r>
              <a:rPr sz="2000" dirty="0">
                <a:solidFill>
                  <a:srgbClr val="12171A"/>
                </a:solidFill>
                <a:latin typeface="Calibri"/>
                <a:cs typeface="Calibri"/>
              </a:rPr>
              <a:t>containing</a:t>
            </a:r>
            <a:r>
              <a:rPr sz="2000" spc="-35" dirty="0">
                <a:solidFill>
                  <a:srgbClr val="12171A"/>
                </a:solidFill>
                <a:latin typeface="Calibri"/>
                <a:cs typeface="Calibri"/>
              </a:rPr>
              <a:t> </a:t>
            </a:r>
            <a:r>
              <a:rPr sz="2000" dirty="0">
                <a:solidFill>
                  <a:srgbClr val="12171A"/>
                </a:solidFill>
                <a:latin typeface="Calibri"/>
                <a:cs typeface="Calibri"/>
              </a:rPr>
              <a:t>the</a:t>
            </a:r>
            <a:r>
              <a:rPr sz="2000" spc="-15" dirty="0">
                <a:solidFill>
                  <a:srgbClr val="12171A"/>
                </a:solidFill>
                <a:latin typeface="Calibri"/>
                <a:cs typeface="Calibri"/>
              </a:rPr>
              <a:t> </a:t>
            </a:r>
            <a:r>
              <a:rPr sz="2000" dirty="0">
                <a:solidFill>
                  <a:srgbClr val="12171A"/>
                </a:solidFill>
                <a:latin typeface="Calibri"/>
                <a:cs typeface="Calibri"/>
              </a:rPr>
              <a:t>list</a:t>
            </a:r>
            <a:r>
              <a:rPr sz="2000" spc="10" dirty="0">
                <a:solidFill>
                  <a:srgbClr val="12171A"/>
                </a:solidFill>
                <a:latin typeface="Calibri"/>
                <a:cs typeface="Calibri"/>
              </a:rPr>
              <a:t> </a:t>
            </a:r>
            <a:r>
              <a:rPr sz="2000" dirty="0">
                <a:solidFill>
                  <a:srgbClr val="12171A"/>
                </a:solidFill>
                <a:latin typeface="Calibri"/>
                <a:cs typeface="Calibri"/>
              </a:rPr>
              <a:t>of</a:t>
            </a:r>
            <a:r>
              <a:rPr sz="2000" spc="-20" dirty="0">
                <a:solidFill>
                  <a:srgbClr val="12171A"/>
                </a:solidFill>
                <a:latin typeface="Calibri"/>
                <a:cs typeface="Calibri"/>
              </a:rPr>
              <a:t> </a:t>
            </a:r>
            <a:r>
              <a:rPr sz="2000" spc="-10" dirty="0">
                <a:solidFill>
                  <a:srgbClr val="12171A"/>
                </a:solidFill>
                <a:latin typeface="Calibri"/>
                <a:cs typeface="Calibri"/>
              </a:rPr>
              <a:t>centroids:</a:t>
            </a:r>
            <a:endParaRPr sz="2000">
              <a:latin typeface="Calibri"/>
              <a:cs typeface="Calibri"/>
            </a:endParaRPr>
          </a:p>
        </p:txBody>
      </p:sp>
      <p:sp>
        <p:nvSpPr>
          <p:cNvPr id="4" name="object 4"/>
          <p:cNvSpPr txBox="1"/>
          <p:nvPr/>
        </p:nvSpPr>
        <p:spPr>
          <a:xfrm>
            <a:off x="694131" y="3357498"/>
            <a:ext cx="7510780" cy="1185545"/>
          </a:xfrm>
          <a:prstGeom prst="rect">
            <a:avLst/>
          </a:prstGeom>
        </p:spPr>
        <p:txBody>
          <a:bodyPr vert="horz" wrap="square" lIns="0" tIns="12700" rIns="0" bIns="0" rtlCol="0">
            <a:spAutoFit/>
          </a:bodyPr>
          <a:lstStyle/>
          <a:p>
            <a:pPr marL="355600" marR="5080" indent="-342900">
              <a:lnSpc>
                <a:spcPct val="100000"/>
              </a:lnSpc>
              <a:spcBef>
                <a:spcPts val="100"/>
              </a:spcBef>
              <a:buClr>
                <a:srgbClr val="333940"/>
              </a:buClr>
              <a:buSzPct val="90000"/>
              <a:buFont typeface="Wingdings"/>
              <a:buChar char=""/>
              <a:tabLst>
                <a:tab pos="355600" algn="l"/>
              </a:tabLst>
            </a:pPr>
            <a:r>
              <a:rPr sz="2000" dirty="0">
                <a:solidFill>
                  <a:srgbClr val="12171A"/>
                </a:solidFill>
                <a:latin typeface="Calibri"/>
                <a:cs typeface="Calibri"/>
              </a:rPr>
              <a:t>Another</a:t>
            </a:r>
            <a:r>
              <a:rPr sz="2000" spc="-35" dirty="0">
                <a:solidFill>
                  <a:srgbClr val="12171A"/>
                </a:solidFill>
                <a:latin typeface="Calibri"/>
                <a:cs typeface="Calibri"/>
              </a:rPr>
              <a:t> </a:t>
            </a:r>
            <a:r>
              <a:rPr sz="2000" dirty="0">
                <a:solidFill>
                  <a:srgbClr val="12171A"/>
                </a:solidFill>
                <a:latin typeface="Calibri"/>
                <a:cs typeface="Calibri"/>
              </a:rPr>
              <a:t>solution</a:t>
            </a:r>
            <a:r>
              <a:rPr sz="2000" spc="-25" dirty="0">
                <a:solidFill>
                  <a:srgbClr val="12171A"/>
                </a:solidFill>
                <a:latin typeface="Calibri"/>
                <a:cs typeface="Calibri"/>
              </a:rPr>
              <a:t> </a:t>
            </a:r>
            <a:r>
              <a:rPr sz="2000" dirty="0">
                <a:solidFill>
                  <a:srgbClr val="12171A"/>
                </a:solidFill>
                <a:latin typeface="Calibri"/>
                <a:cs typeface="Calibri"/>
              </a:rPr>
              <a:t>is</a:t>
            </a:r>
            <a:r>
              <a:rPr sz="2000" spc="-15" dirty="0">
                <a:solidFill>
                  <a:srgbClr val="12171A"/>
                </a:solidFill>
                <a:latin typeface="Calibri"/>
                <a:cs typeface="Calibri"/>
              </a:rPr>
              <a:t> </a:t>
            </a:r>
            <a:r>
              <a:rPr sz="2000" dirty="0">
                <a:solidFill>
                  <a:srgbClr val="12171A"/>
                </a:solidFill>
                <a:latin typeface="Calibri"/>
                <a:cs typeface="Calibri"/>
              </a:rPr>
              <a:t>to</a:t>
            </a:r>
            <a:r>
              <a:rPr sz="2000" spc="-30" dirty="0">
                <a:solidFill>
                  <a:srgbClr val="12171A"/>
                </a:solidFill>
                <a:latin typeface="Calibri"/>
                <a:cs typeface="Calibri"/>
              </a:rPr>
              <a:t> </a:t>
            </a:r>
            <a:r>
              <a:rPr sz="2000" dirty="0">
                <a:solidFill>
                  <a:srgbClr val="12171A"/>
                </a:solidFill>
                <a:latin typeface="Calibri"/>
                <a:cs typeface="Calibri"/>
              </a:rPr>
              <a:t>run</a:t>
            </a:r>
            <a:r>
              <a:rPr sz="2000" spc="-25" dirty="0">
                <a:solidFill>
                  <a:srgbClr val="12171A"/>
                </a:solidFill>
                <a:latin typeface="Calibri"/>
                <a:cs typeface="Calibri"/>
              </a:rPr>
              <a:t> </a:t>
            </a:r>
            <a:r>
              <a:rPr sz="2000" dirty="0">
                <a:solidFill>
                  <a:srgbClr val="12171A"/>
                </a:solidFill>
                <a:latin typeface="Calibri"/>
                <a:cs typeface="Calibri"/>
              </a:rPr>
              <a:t>the</a:t>
            </a:r>
            <a:r>
              <a:rPr sz="2000" spc="-25" dirty="0">
                <a:solidFill>
                  <a:srgbClr val="12171A"/>
                </a:solidFill>
                <a:latin typeface="Calibri"/>
                <a:cs typeface="Calibri"/>
              </a:rPr>
              <a:t> </a:t>
            </a:r>
            <a:r>
              <a:rPr sz="2000" dirty="0">
                <a:solidFill>
                  <a:srgbClr val="12171A"/>
                </a:solidFill>
                <a:latin typeface="Calibri"/>
                <a:cs typeface="Calibri"/>
              </a:rPr>
              <a:t>algorithm</a:t>
            </a:r>
            <a:r>
              <a:rPr sz="2000" spc="-35" dirty="0">
                <a:solidFill>
                  <a:srgbClr val="12171A"/>
                </a:solidFill>
                <a:latin typeface="Calibri"/>
                <a:cs typeface="Calibri"/>
              </a:rPr>
              <a:t> </a:t>
            </a:r>
            <a:r>
              <a:rPr sz="2000" dirty="0">
                <a:solidFill>
                  <a:srgbClr val="12171A"/>
                </a:solidFill>
                <a:latin typeface="Calibri"/>
                <a:cs typeface="Calibri"/>
              </a:rPr>
              <a:t>multiple</a:t>
            </a:r>
            <a:r>
              <a:rPr sz="2000" spc="-15" dirty="0">
                <a:solidFill>
                  <a:srgbClr val="12171A"/>
                </a:solidFill>
                <a:latin typeface="Calibri"/>
                <a:cs typeface="Calibri"/>
              </a:rPr>
              <a:t> </a:t>
            </a:r>
            <a:r>
              <a:rPr sz="2000" dirty="0">
                <a:solidFill>
                  <a:srgbClr val="12171A"/>
                </a:solidFill>
                <a:latin typeface="Calibri"/>
                <a:cs typeface="Calibri"/>
              </a:rPr>
              <a:t>times</a:t>
            </a:r>
            <a:r>
              <a:rPr sz="2000" spc="-5" dirty="0">
                <a:solidFill>
                  <a:srgbClr val="12171A"/>
                </a:solidFill>
                <a:latin typeface="Calibri"/>
                <a:cs typeface="Calibri"/>
              </a:rPr>
              <a:t> </a:t>
            </a:r>
            <a:r>
              <a:rPr sz="2000" dirty="0">
                <a:solidFill>
                  <a:srgbClr val="12171A"/>
                </a:solidFill>
                <a:latin typeface="Calibri"/>
                <a:cs typeface="Calibri"/>
              </a:rPr>
              <a:t>with</a:t>
            </a:r>
            <a:r>
              <a:rPr sz="2000" spc="-20" dirty="0">
                <a:solidFill>
                  <a:srgbClr val="12171A"/>
                </a:solidFill>
                <a:latin typeface="Calibri"/>
                <a:cs typeface="Calibri"/>
              </a:rPr>
              <a:t> </a:t>
            </a:r>
            <a:r>
              <a:rPr sz="2000" spc="-10" dirty="0">
                <a:solidFill>
                  <a:srgbClr val="12171A"/>
                </a:solidFill>
                <a:latin typeface="Calibri"/>
                <a:cs typeface="Calibri"/>
              </a:rPr>
              <a:t>different </a:t>
            </a:r>
            <a:r>
              <a:rPr sz="2000" dirty="0">
                <a:solidFill>
                  <a:srgbClr val="12171A"/>
                </a:solidFill>
                <a:latin typeface="Calibri"/>
                <a:cs typeface="Calibri"/>
              </a:rPr>
              <a:t>random</a:t>
            </a:r>
            <a:r>
              <a:rPr sz="2000" spc="-50" dirty="0">
                <a:solidFill>
                  <a:srgbClr val="12171A"/>
                </a:solidFill>
                <a:latin typeface="Calibri"/>
                <a:cs typeface="Calibri"/>
              </a:rPr>
              <a:t> </a:t>
            </a:r>
            <a:r>
              <a:rPr sz="2000" dirty="0">
                <a:solidFill>
                  <a:srgbClr val="12171A"/>
                </a:solidFill>
                <a:latin typeface="Calibri"/>
                <a:cs typeface="Calibri"/>
              </a:rPr>
              <a:t>initializations</a:t>
            </a:r>
            <a:r>
              <a:rPr sz="2000" spc="-20" dirty="0">
                <a:solidFill>
                  <a:srgbClr val="12171A"/>
                </a:solidFill>
                <a:latin typeface="Calibri"/>
                <a:cs typeface="Calibri"/>
              </a:rPr>
              <a:t> </a:t>
            </a:r>
            <a:r>
              <a:rPr sz="2000" dirty="0">
                <a:solidFill>
                  <a:srgbClr val="12171A"/>
                </a:solidFill>
                <a:latin typeface="Calibri"/>
                <a:cs typeface="Calibri"/>
              </a:rPr>
              <a:t>and</a:t>
            </a:r>
            <a:r>
              <a:rPr sz="2000" spc="-40" dirty="0">
                <a:solidFill>
                  <a:srgbClr val="12171A"/>
                </a:solidFill>
                <a:latin typeface="Calibri"/>
                <a:cs typeface="Calibri"/>
              </a:rPr>
              <a:t> </a:t>
            </a:r>
            <a:r>
              <a:rPr sz="2000" dirty="0">
                <a:solidFill>
                  <a:srgbClr val="12171A"/>
                </a:solidFill>
                <a:latin typeface="Calibri"/>
                <a:cs typeface="Calibri"/>
              </a:rPr>
              <a:t>keep</a:t>
            </a:r>
            <a:r>
              <a:rPr sz="2000" spc="-40" dirty="0">
                <a:solidFill>
                  <a:srgbClr val="12171A"/>
                </a:solidFill>
                <a:latin typeface="Calibri"/>
                <a:cs typeface="Calibri"/>
              </a:rPr>
              <a:t> </a:t>
            </a:r>
            <a:r>
              <a:rPr sz="2000" dirty="0">
                <a:solidFill>
                  <a:srgbClr val="12171A"/>
                </a:solidFill>
                <a:latin typeface="Calibri"/>
                <a:cs typeface="Calibri"/>
              </a:rPr>
              <a:t>the</a:t>
            </a:r>
            <a:r>
              <a:rPr sz="2000" spc="-45" dirty="0">
                <a:solidFill>
                  <a:srgbClr val="12171A"/>
                </a:solidFill>
                <a:latin typeface="Calibri"/>
                <a:cs typeface="Calibri"/>
              </a:rPr>
              <a:t> </a:t>
            </a:r>
            <a:r>
              <a:rPr sz="2000" dirty="0">
                <a:solidFill>
                  <a:srgbClr val="12171A"/>
                </a:solidFill>
                <a:latin typeface="Calibri"/>
                <a:cs typeface="Calibri"/>
              </a:rPr>
              <a:t>best</a:t>
            </a:r>
            <a:r>
              <a:rPr sz="2000" spc="-30" dirty="0">
                <a:solidFill>
                  <a:srgbClr val="12171A"/>
                </a:solidFill>
                <a:latin typeface="Calibri"/>
                <a:cs typeface="Calibri"/>
              </a:rPr>
              <a:t> </a:t>
            </a:r>
            <a:r>
              <a:rPr sz="2000" spc="-10" dirty="0">
                <a:solidFill>
                  <a:srgbClr val="12171A"/>
                </a:solidFill>
                <a:latin typeface="Calibri"/>
                <a:cs typeface="Calibri"/>
              </a:rPr>
              <a:t>solution.</a:t>
            </a:r>
            <a:endParaRPr sz="2000">
              <a:latin typeface="Calibri"/>
              <a:cs typeface="Calibri"/>
            </a:endParaRPr>
          </a:p>
          <a:p>
            <a:pPr marL="812800" lvl="1" indent="-334010">
              <a:lnSpc>
                <a:spcPts val="2145"/>
              </a:lnSpc>
              <a:buClr>
                <a:srgbClr val="121618"/>
              </a:buClr>
              <a:buSzPct val="94444"/>
              <a:buFont typeface="Wingdings"/>
              <a:buChar char=""/>
              <a:tabLst>
                <a:tab pos="812800" algn="l"/>
              </a:tabLst>
            </a:pPr>
            <a:r>
              <a:rPr sz="1800" dirty="0">
                <a:solidFill>
                  <a:srgbClr val="12171A"/>
                </a:solidFill>
                <a:latin typeface="Calibri"/>
                <a:cs typeface="Calibri"/>
              </a:rPr>
              <a:t>The</a:t>
            </a:r>
            <a:r>
              <a:rPr sz="1800" spc="-50" dirty="0">
                <a:solidFill>
                  <a:srgbClr val="12171A"/>
                </a:solidFill>
                <a:latin typeface="Calibri"/>
                <a:cs typeface="Calibri"/>
              </a:rPr>
              <a:t> </a:t>
            </a:r>
            <a:r>
              <a:rPr sz="1800" dirty="0">
                <a:solidFill>
                  <a:srgbClr val="12171A"/>
                </a:solidFill>
                <a:latin typeface="Calibri"/>
                <a:cs typeface="Calibri"/>
              </a:rPr>
              <a:t>number</a:t>
            </a:r>
            <a:r>
              <a:rPr sz="1800" spc="-40" dirty="0">
                <a:solidFill>
                  <a:srgbClr val="12171A"/>
                </a:solidFill>
                <a:latin typeface="Calibri"/>
                <a:cs typeface="Calibri"/>
              </a:rPr>
              <a:t> </a:t>
            </a:r>
            <a:r>
              <a:rPr sz="1800" dirty="0">
                <a:solidFill>
                  <a:srgbClr val="12171A"/>
                </a:solidFill>
                <a:latin typeface="Calibri"/>
                <a:cs typeface="Calibri"/>
              </a:rPr>
              <a:t>of</a:t>
            </a:r>
            <a:r>
              <a:rPr sz="1800" spc="-35" dirty="0">
                <a:solidFill>
                  <a:srgbClr val="12171A"/>
                </a:solidFill>
                <a:latin typeface="Calibri"/>
                <a:cs typeface="Calibri"/>
              </a:rPr>
              <a:t> </a:t>
            </a:r>
            <a:r>
              <a:rPr sz="1800" dirty="0">
                <a:solidFill>
                  <a:srgbClr val="12171A"/>
                </a:solidFill>
                <a:latin typeface="Calibri"/>
                <a:cs typeface="Calibri"/>
              </a:rPr>
              <a:t>random</a:t>
            </a:r>
            <a:r>
              <a:rPr sz="1800" spc="-45" dirty="0">
                <a:solidFill>
                  <a:srgbClr val="12171A"/>
                </a:solidFill>
                <a:latin typeface="Calibri"/>
                <a:cs typeface="Calibri"/>
              </a:rPr>
              <a:t> </a:t>
            </a:r>
            <a:r>
              <a:rPr sz="1800" dirty="0">
                <a:solidFill>
                  <a:srgbClr val="12171A"/>
                </a:solidFill>
                <a:latin typeface="Calibri"/>
                <a:cs typeface="Calibri"/>
              </a:rPr>
              <a:t>initializations</a:t>
            </a:r>
            <a:r>
              <a:rPr sz="1800" spc="-10" dirty="0">
                <a:solidFill>
                  <a:srgbClr val="12171A"/>
                </a:solidFill>
                <a:latin typeface="Calibri"/>
                <a:cs typeface="Calibri"/>
              </a:rPr>
              <a:t> </a:t>
            </a:r>
            <a:r>
              <a:rPr sz="1800" dirty="0">
                <a:solidFill>
                  <a:srgbClr val="12171A"/>
                </a:solidFill>
                <a:latin typeface="Calibri"/>
                <a:cs typeface="Calibri"/>
              </a:rPr>
              <a:t>is</a:t>
            </a:r>
            <a:r>
              <a:rPr sz="1800" spc="-45" dirty="0">
                <a:solidFill>
                  <a:srgbClr val="12171A"/>
                </a:solidFill>
                <a:latin typeface="Calibri"/>
                <a:cs typeface="Calibri"/>
              </a:rPr>
              <a:t> </a:t>
            </a:r>
            <a:r>
              <a:rPr sz="1800" dirty="0">
                <a:solidFill>
                  <a:srgbClr val="12171A"/>
                </a:solidFill>
                <a:latin typeface="Calibri"/>
                <a:cs typeface="Calibri"/>
              </a:rPr>
              <a:t>controlled</a:t>
            </a:r>
            <a:r>
              <a:rPr sz="1800" spc="-25" dirty="0">
                <a:solidFill>
                  <a:srgbClr val="12171A"/>
                </a:solidFill>
                <a:latin typeface="Calibri"/>
                <a:cs typeface="Calibri"/>
              </a:rPr>
              <a:t> </a:t>
            </a:r>
            <a:r>
              <a:rPr sz="1800" dirty="0">
                <a:solidFill>
                  <a:srgbClr val="12171A"/>
                </a:solidFill>
                <a:latin typeface="Calibri"/>
                <a:cs typeface="Calibri"/>
              </a:rPr>
              <a:t>by</a:t>
            </a:r>
            <a:r>
              <a:rPr sz="1800" spc="-35" dirty="0">
                <a:solidFill>
                  <a:srgbClr val="12171A"/>
                </a:solidFill>
                <a:latin typeface="Calibri"/>
                <a:cs typeface="Calibri"/>
              </a:rPr>
              <a:t> </a:t>
            </a:r>
            <a:r>
              <a:rPr sz="1800" dirty="0">
                <a:solidFill>
                  <a:srgbClr val="12171A"/>
                </a:solidFill>
                <a:latin typeface="Calibri"/>
                <a:cs typeface="Calibri"/>
              </a:rPr>
              <a:t>the</a:t>
            </a:r>
            <a:r>
              <a:rPr sz="1800" spc="-35" dirty="0">
                <a:solidFill>
                  <a:srgbClr val="12171A"/>
                </a:solidFill>
                <a:latin typeface="Calibri"/>
                <a:cs typeface="Calibri"/>
              </a:rPr>
              <a:t> </a:t>
            </a:r>
            <a:r>
              <a:rPr sz="1600" spc="-10" dirty="0">
                <a:solidFill>
                  <a:srgbClr val="12171A"/>
                </a:solidFill>
                <a:latin typeface="Courier New"/>
                <a:cs typeface="Courier New"/>
              </a:rPr>
              <a:t>n_init</a:t>
            </a:r>
            <a:r>
              <a:rPr sz="1800" spc="-10" dirty="0">
                <a:solidFill>
                  <a:srgbClr val="12171A"/>
                </a:solidFill>
                <a:latin typeface="Calibri"/>
                <a:cs typeface="Calibri"/>
              </a:rPr>
              <a:t>.</a:t>
            </a:r>
            <a:endParaRPr sz="1800">
              <a:latin typeface="Calibri"/>
              <a:cs typeface="Calibri"/>
            </a:endParaRPr>
          </a:p>
          <a:p>
            <a:pPr marL="812800" lvl="1" indent="-334010">
              <a:lnSpc>
                <a:spcPct val="100000"/>
              </a:lnSpc>
              <a:spcBef>
                <a:spcPts val="25"/>
              </a:spcBef>
              <a:buClr>
                <a:srgbClr val="121618"/>
              </a:buClr>
              <a:buSzPct val="94444"/>
              <a:buFont typeface="Wingdings"/>
              <a:buChar char=""/>
              <a:tabLst>
                <a:tab pos="812800" algn="l"/>
              </a:tabLst>
            </a:pPr>
            <a:r>
              <a:rPr sz="1800" dirty="0">
                <a:solidFill>
                  <a:srgbClr val="12171A"/>
                </a:solidFill>
                <a:latin typeface="Calibri"/>
                <a:cs typeface="Calibri"/>
              </a:rPr>
              <a:t>The</a:t>
            </a:r>
            <a:r>
              <a:rPr sz="1800" spc="-20" dirty="0">
                <a:solidFill>
                  <a:srgbClr val="12171A"/>
                </a:solidFill>
                <a:latin typeface="Calibri"/>
                <a:cs typeface="Calibri"/>
              </a:rPr>
              <a:t> </a:t>
            </a:r>
            <a:r>
              <a:rPr sz="1800" dirty="0">
                <a:solidFill>
                  <a:srgbClr val="12171A"/>
                </a:solidFill>
                <a:latin typeface="Calibri"/>
                <a:cs typeface="Calibri"/>
              </a:rPr>
              <a:t>default</a:t>
            </a:r>
            <a:r>
              <a:rPr sz="1800" spc="-10" dirty="0">
                <a:solidFill>
                  <a:srgbClr val="12171A"/>
                </a:solidFill>
                <a:latin typeface="Calibri"/>
                <a:cs typeface="Calibri"/>
              </a:rPr>
              <a:t> </a:t>
            </a:r>
            <a:r>
              <a:rPr sz="1800" dirty="0">
                <a:solidFill>
                  <a:srgbClr val="12171A"/>
                </a:solidFill>
                <a:latin typeface="Calibri"/>
                <a:cs typeface="Calibri"/>
              </a:rPr>
              <a:t>it</a:t>
            </a:r>
            <a:r>
              <a:rPr sz="1800" spc="-15" dirty="0">
                <a:solidFill>
                  <a:srgbClr val="12171A"/>
                </a:solidFill>
                <a:latin typeface="Calibri"/>
                <a:cs typeface="Calibri"/>
              </a:rPr>
              <a:t> </a:t>
            </a:r>
            <a:r>
              <a:rPr sz="1800" dirty="0">
                <a:solidFill>
                  <a:srgbClr val="12171A"/>
                </a:solidFill>
                <a:latin typeface="Calibri"/>
                <a:cs typeface="Calibri"/>
              </a:rPr>
              <a:t>is</a:t>
            </a:r>
            <a:r>
              <a:rPr sz="1800" spc="-15" dirty="0">
                <a:solidFill>
                  <a:srgbClr val="12171A"/>
                </a:solidFill>
                <a:latin typeface="Calibri"/>
                <a:cs typeface="Calibri"/>
              </a:rPr>
              <a:t> </a:t>
            </a:r>
            <a:r>
              <a:rPr sz="1800" dirty="0">
                <a:solidFill>
                  <a:srgbClr val="12171A"/>
                </a:solidFill>
                <a:latin typeface="Calibri"/>
                <a:cs typeface="Calibri"/>
              </a:rPr>
              <a:t>equal</a:t>
            </a:r>
            <a:r>
              <a:rPr sz="1800" spc="-5" dirty="0">
                <a:solidFill>
                  <a:srgbClr val="12171A"/>
                </a:solidFill>
                <a:latin typeface="Calibri"/>
                <a:cs typeface="Calibri"/>
              </a:rPr>
              <a:t> </a:t>
            </a:r>
            <a:r>
              <a:rPr sz="1800" dirty="0">
                <a:solidFill>
                  <a:srgbClr val="12171A"/>
                </a:solidFill>
                <a:latin typeface="Calibri"/>
                <a:cs typeface="Calibri"/>
              </a:rPr>
              <a:t>to</a:t>
            </a:r>
            <a:r>
              <a:rPr sz="1800" spc="-15" dirty="0">
                <a:solidFill>
                  <a:srgbClr val="12171A"/>
                </a:solidFill>
                <a:latin typeface="Calibri"/>
                <a:cs typeface="Calibri"/>
              </a:rPr>
              <a:t> </a:t>
            </a:r>
            <a:r>
              <a:rPr sz="1800" spc="-25" dirty="0">
                <a:solidFill>
                  <a:srgbClr val="12171A"/>
                </a:solidFill>
                <a:latin typeface="Calibri"/>
                <a:cs typeface="Calibri"/>
              </a:rPr>
              <a:t>10.</a:t>
            </a:r>
            <a:endParaRPr sz="1800">
              <a:latin typeface="Calibri"/>
              <a:cs typeface="Calibri"/>
            </a:endParaRPr>
          </a:p>
        </p:txBody>
      </p:sp>
      <p:pic>
        <p:nvPicPr>
          <p:cNvPr id="5" name="object 5"/>
          <p:cNvPicPr/>
          <p:nvPr/>
        </p:nvPicPr>
        <p:blipFill>
          <a:blip r:embed="rId2" cstate="print"/>
          <a:stretch>
            <a:fillRect/>
          </a:stretch>
        </p:blipFill>
        <p:spPr>
          <a:xfrm>
            <a:off x="1121447" y="2425370"/>
            <a:ext cx="6863802" cy="709991"/>
          </a:xfrm>
          <a:prstGeom prst="rect">
            <a:avLst/>
          </a:prstGeom>
        </p:spPr>
      </p:pic>
      <p:sp>
        <p:nvSpPr>
          <p:cNvPr id="6" name="object 6"/>
          <p:cNvSpPr txBox="1">
            <a:spLocks noGrp="1"/>
          </p:cNvSpPr>
          <p:nvPr>
            <p:ph type="sldNum" sz="quarter" idx="7"/>
          </p:nvPr>
        </p:nvSpPr>
        <p:spPr>
          <a:prstGeom prst="rect">
            <a:avLst/>
          </a:prstGeom>
        </p:spPr>
        <p:txBody>
          <a:bodyPr vert="horz" wrap="square" lIns="0" tIns="10160" rIns="0" bIns="0" rtlCol="0">
            <a:spAutoFit/>
          </a:bodyPr>
          <a:lstStyle/>
          <a:p>
            <a:pPr marL="38100">
              <a:lnSpc>
                <a:spcPct val="100000"/>
              </a:lnSpc>
              <a:spcBef>
                <a:spcPts val="80"/>
              </a:spcBef>
            </a:pPr>
            <a:fld id="{81D60167-4931-47E6-BA6A-407CBD079E47}" type="slidenum">
              <a:rPr spc="-25" dirty="0"/>
              <a:t>51</a:t>
            </a:fld>
            <a:endParaRPr spc="-25"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a:lnSpc>
                <a:spcPct val="100000"/>
              </a:lnSpc>
              <a:spcBef>
                <a:spcPts val="105"/>
              </a:spcBef>
            </a:pPr>
            <a:r>
              <a:rPr dirty="0">
                <a:solidFill>
                  <a:srgbClr val="12171A"/>
                </a:solidFill>
              </a:rPr>
              <a:t>Performance</a:t>
            </a:r>
            <a:r>
              <a:rPr spc="-105" dirty="0">
                <a:solidFill>
                  <a:srgbClr val="12171A"/>
                </a:solidFill>
              </a:rPr>
              <a:t> </a:t>
            </a:r>
            <a:r>
              <a:rPr spc="-10" dirty="0">
                <a:solidFill>
                  <a:srgbClr val="12171A"/>
                </a:solidFill>
              </a:rPr>
              <a:t>Metric</a:t>
            </a:r>
          </a:p>
        </p:txBody>
      </p:sp>
      <p:sp>
        <p:nvSpPr>
          <p:cNvPr id="3" name="object 3"/>
          <p:cNvSpPr txBox="1"/>
          <p:nvPr/>
        </p:nvSpPr>
        <p:spPr>
          <a:xfrm>
            <a:off x="759358" y="1149476"/>
            <a:ext cx="7709534" cy="3213100"/>
          </a:xfrm>
          <a:prstGeom prst="rect">
            <a:avLst/>
          </a:prstGeom>
        </p:spPr>
        <p:txBody>
          <a:bodyPr vert="horz" wrap="square" lIns="0" tIns="13335" rIns="0" bIns="0" rtlCol="0">
            <a:spAutoFit/>
          </a:bodyPr>
          <a:lstStyle/>
          <a:p>
            <a:pPr marL="355600" marR="5080" indent="-343535">
              <a:lnSpc>
                <a:spcPct val="100000"/>
              </a:lnSpc>
              <a:spcBef>
                <a:spcPts val="105"/>
              </a:spcBef>
              <a:buClr>
                <a:srgbClr val="333940"/>
              </a:buClr>
              <a:buSzPct val="90000"/>
              <a:buFont typeface="Wingdings"/>
              <a:buChar char=""/>
              <a:tabLst>
                <a:tab pos="355600" algn="l"/>
                <a:tab pos="1341755" algn="l"/>
                <a:tab pos="2232025" algn="l"/>
                <a:tab pos="2728595" algn="l"/>
                <a:tab pos="3315335" algn="l"/>
                <a:tab pos="3679825" algn="l"/>
                <a:tab pos="4177029" algn="l"/>
                <a:tab pos="5164455" algn="l"/>
                <a:tab pos="6283325" algn="l"/>
                <a:tab pos="7350125" algn="l"/>
              </a:tabLst>
            </a:pPr>
            <a:r>
              <a:rPr sz="2000" spc="-10" dirty="0">
                <a:solidFill>
                  <a:srgbClr val="12171A"/>
                </a:solidFill>
                <a:latin typeface="Calibri"/>
                <a:cs typeface="Calibri"/>
              </a:rPr>
              <a:t>Model’s</a:t>
            </a:r>
            <a:r>
              <a:rPr sz="2000" dirty="0">
                <a:solidFill>
                  <a:srgbClr val="12171A"/>
                </a:solidFill>
                <a:latin typeface="Calibri"/>
                <a:cs typeface="Calibri"/>
              </a:rPr>
              <a:t>	</a:t>
            </a:r>
            <a:r>
              <a:rPr sz="2000" i="1" spc="-10" dirty="0">
                <a:solidFill>
                  <a:srgbClr val="006FC0"/>
                </a:solidFill>
                <a:latin typeface="Calibri"/>
                <a:cs typeface="Calibri"/>
              </a:rPr>
              <a:t>inertia</a:t>
            </a:r>
            <a:r>
              <a:rPr sz="2000" spc="-10" dirty="0">
                <a:solidFill>
                  <a:srgbClr val="12171A"/>
                </a:solidFill>
                <a:latin typeface="Calibri"/>
                <a:cs typeface="Calibri"/>
              </a:rPr>
              <a:t>:</a:t>
            </a:r>
            <a:r>
              <a:rPr sz="2000" dirty="0">
                <a:solidFill>
                  <a:srgbClr val="12171A"/>
                </a:solidFill>
                <a:latin typeface="Calibri"/>
                <a:cs typeface="Calibri"/>
              </a:rPr>
              <a:t>	</a:t>
            </a:r>
            <a:r>
              <a:rPr sz="2000" spc="-25" dirty="0">
                <a:solidFill>
                  <a:srgbClr val="12171A"/>
                </a:solidFill>
                <a:latin typeface="Calibri"/>
                <a:cs typeface="Calibri"/>
              </a:rPr>
              <a:t>the</a:t>
            </a:r>
            <a:r>
              <a:rPr sz="2000" dirty="0">
                <a:solidFill>
                  <a:srgbClr val="12171A"/>
                </a:solidFill>
                <a:latin typeface="Calibri"/>
                <a:cs typeface="Calibri"/>
              </a:rPr>
              <a:t>	</a:t>
            </a:r>
            <a:r>
              <a:rPr sz="2000" spc="-25" dirty="0">
                <a:solidFill>
                  <a:srgbClr val="12171A"/>
                </a:solidFill>
                <a:latin typeface="Calibri"/>
                <a:cs typeface="Calibri"/>
              </a:rPr>
              <a:t>sum</a:t>
            </a:r>
            <a:r>
              <a:rPr sz="2000" dirty="0">
                <a:solidFill>
                  <a:srgbClr val="12171A"/>
                </a:solidFill>
                <a:latin typeface="Calibri"/>
                <a:cs typeface="Calibri"/>
              </a:rPr>
              <a:t>	</a:t>
            </a:r>
            <a:r>
              <a:rPr sz="2000" spc="-25" dirty="0">
                <a:solidFill>
                  <a:srgbClr val="12171A"/>
                </a:solidFill>
                <a:latin typeface="Calibri"/>
                <a:cs typeface="Calibri"/>
              </a:rPr>
              <a:t>of</a:t>
            </a:r>
            <a:r>
              <a:rPr sz="2000" dirty="0">
                <a:solidFill>
                  <a:srgbClr val="12171A"/>
                </a:solidFill>
                <a:latin typeface="Calibri"/>
                <a:cs typeface="Calibri"/>
              </a:rPr>
              <a:t>	</a:t>
            </a:r>
            <a:r>
              <a:rPr sz="2000" spc="-25" dirty="0">
                <a:solidFill>
                  <a:srgbClr val="12171A"/>
                </a:solidFill>
                <a:latin typeface="Calibri"/>
                <a:cs typeface="Calibri"/>
              </a:rPr>
              <a:t>the</a:t>
            </a:r>
            <a:r>
              <a:rPr sz="2000" dirty="0">
                <a:solidFill>
                  <a:srgbClr val="12171A"/>
                </a:solidFill>
                <a:latin typeface="Calibri"/>
                <a:cs typeface="Calibri"/>
              </a:rPr>
              <a:t>	</a:t>
            </a:r>
            <a:r>
              <a:rPr sz="2000" spc="-10" dirty="0">
                <a:solidFill>
                  <a:srgbClr val="12171A"/>
                </a:solidFill>
                <a:latin typeface="Calibri"/>
                <a:cs typeface="Calibri"/>
              </a:rPr>
              <a:t>squared</a:t>
            </a:r>
            <a:r>
              <a:rPr sz="2000" dirty="0">
                <a:solidFill>
                  <a:srgbClr val="12171A"/>
                </a:solidFill>
                <a:latin typeface="Calibri"/>
                <a:cs typeface="Calibri"/>
              </a:rPr>
              <a:t>	</a:t>
            </a:r>
            <a:r>
              <a:rPr sz="2000" spc="-10" dirty="0">
                <a:solidFill>
                  <a:srgbClr val="12171A"/>
                </a:solidFill>
                <a:latin typeface="Calibri"/>
                <a:cs typeface="Calibri"/>
              </a:rPr>
              <a:t>distances</a:t>
            </a:r>
            <a:r>
              <a:rPr sz="2000" dirty="0">
                <a:solidFill>
                  <a:srgbClr val="12171A"/>
                </a:solidFill>
                <a:latin typeface="Calibri"/>
                <a:cs typeface="Calibri"/>
              </a:rPr>
              <a:t>	</a:t>
            </a:r>
            <a:r>
              <a:rPr sz="2000" spc="-10" dirty="0">
                <a:solidFill>
                  <a:srgbClr val="12171A"/>
                </a:solidFill>
                <a:latin typeface="Calibri"/>
                <a:cs typeface="Calibri"/>
              </a:rPr>
              <a:t>between</a:t>
            </a:r>
            <a:r>
              <a:rPr sz="2000" dirty="0">
                <a:solidFill>
                  <a:srgbClr val="12171A"/>
                </a:solidFill>
                <a:latin typeface="Calibri"/>
                <a:cs typeface="Calibri"/>
              </a:rPr>
              <a:t>	</a:t>
            </a:r>
            <a:r>
              <a:rPr sz="2000" spc="-25" dirty="0">
                <a:solidFill>
                  <a:srgbClr val="12171A"/>
                </a:solidFill>
                <a:latin typeface="Calibri"/>
                <a:cs typeface="Calibri"/>
              </a:rPr>
              <a:t>the </a:t>
            </a:r>
            <a:r>
              <a:rPr sz="2000" dirty="0">
                <a:solidFill>
                  <a:srgbClr val="12171A"/>
                </a:solidFill>
                <a:latin typeface="Calibri"/>
                <a:cs typeface="Calibri"/>
              </a:rPr>
              <a:t>instances</a:t>
            </a:r>
            <a:r>
              <a:rPr sz="2000" spc="-45" dirty="0">
                <a:solidFill>
                  <a:srgbClr val="12171A"/>
                </a:solidFill>
                <a:latin typeface="Calibri"/>
                <a:cs typeface="Calibri"/>
              </a:rPr>
              <a:t> </a:t>
            </a:r>
            <a:r>
              <a:rPr sz="2000" dirty="0">
                <a:solidFill>
                  <a:srgbClr val="12171A"/>
                </a:solidFill>
                <a:latin typeface="Calibri"/>
                <a:cs typeface="Calibri"/>
              </a:rPr>
              <a:t>and</a:t>
            </a:r>
            <a:r>
              <a:rPr sz="2000" spc="-65" dirty="0">
                <a:solidFill>
                  <a:srgbClr val="12171A"/>
                </a:solidFill>
                <a:latin typeface="Calibri"/>
                <a:cs typeface="Calibri"/>
              </a:rPr>
              <a:t> </a:t>
            </a:r>
            <a:r>
              <a:rPr sz="2000" dirty="0">
                <a:solidFill>
                  <a:srgbClr val="12171A"/>
                </a:solidFill>
                <a:latin typeface="Calibri"/>
                <a:cs typeface="Calibri"/>
              </a:rPr>
              <a:t>their</a:t>
            </a:r>
            <a:r>
              <a:rPr sz="2000" spc="-60" dirty="0">
                <a:solidFill>
                  <a:srgbClr val="12171A"/>
                </a:solidFill>
                <a:latin typeface="Calibri"/>
                <a:cs typeface="Calibri"/>
              </a:rPr>
              <a:t> </a:t>
            </a:r>
            <a:r>
              <a:rPr sz="2000" dirty="0">
                <a:solidFill>
                  <a:srgbClr val="12171A"/>
                </a:solidFill>
                <a:latin typeface="Calibri"/>
                <a:cs typeface="Calibri"/>
              </a:rPr>
              <a:t>closest</a:t>
            </a:r>
            <a:r>
              <a:rPr sz="2000" spc="-55" dirty="0">
                <a:solidFill>
                  <a:srgbClr val="12171A"/>
                </a:solidFill>
                <a:latin typeface="Calibri"/>
                <a:cs typeface="Calibri"/>
              </a:rPr>
              <a:t> </a:t>
            </a:r>
            <a:r>
              <a:rPr sz="2000" spc="-10" dirty="0">
                <a:solidFill>
                  <a:srgbClr val="12171A"/>
                </a:solidFill>
                <a:latin typeface="Calibri"/>
                <a:cs typeface="Calibri"/>
              </a:rPr>
              <a:t>centroids.</a:t>
            </a:r>
            <a:endParaRPr sz="2000">
              <a:latin typeface="Calibri"/>
              <a:cs typeface="Calibri"/>
            </a:endParaRPr>
          </a:p>
          <a:p>
            <a:pPr marL="355600" indent="-342900">
              <a:lnSpc>
                <a:spcPct val="100000"/>
              </a:lnSpc>
              <a:spcBef>
                <a:spcPts val="560"/>
              </a:spcBef>
              <a:buClr>
                <a:srgbClr val="333940"/>
              </a:buClr>
              <a:buSzPct val="90000"/>
              <a:buFont typeface="Wingdings"/>
              <a:buChar char=""/>
              <a:tabLst>
                <a:tab pos="355600" algn="l"/>
              </a:tabLst>
            </a:pPr>
            <a:r>
              <a:rPr sz="2000" dirty="0">
                <a:solidFill>
                  <a:srgbClr val="12171A"/>
                </a:solidFill>
                <a:latin typeface="Calibri"/>
                <a:cs typeface="Calibri"/>
              </a:rPr>
              <a:t>The</a:t>
            </a:r>
            <a:r>
              <a:rPr sz="2000" spc="375" dirty="0">
                <a:solidFill>
                  <a:srgbClr val="12171A"/>
                </a:solidFill>
                <a:latin typeface="Calibri"/>
                <a:cs typeface="Calibri"/>
              </a:rPr>
              <a:t> </a:t>
            </a:r>
            <a:r>
              <a:rPr sz="1800" dirty="0">
                <a:solidFill>
                  <a:srgbClr val="12171A"/>
                </a:solidFill>
                <a:latin typeface="Courier New"/>
                <a:cs typeface="Courier New"/>
              </a:rPr>
              <a:t>KMeans</a:t>
            </a:r>
            <a:r>
              <a:rPr sz="1800" spc="-245" dirty="0">
                <a:solidFill>
                  <a:srgbClr val="12171A"/>
                </a:solidFill>
                <a:latin typeface="Courier New"/>
                <a:cs typeface="Courier New"/>
              </a:rPr>
              <a:t> </a:t>
            </a:r>
            <a:r>
              <a:rPr sz="2000" dirty="0">
                <a:solidFill>
                  <a:srgbClr val="12171A"/>
                </a:solidFill>
                <a:latin typeface="Calibri"/>
                <a:cs typeface="Calibri"/>
              </a:rPr>
              <a:t>class</a:t>
            </a:r>
            <a:r>
              <a:rPr sz="2000" spc="385" dirty="0">
                <a:solidFill>
                  <a:srgbClr val="12171A"/>
                </a:solidFill>
                <a:latin typeface="Calibri"/>
                <a:cs typeface="Calibri"/>
              </a:rPr>
              <a:t> </a:t>
            </a:r>
            <a:r>
              <a:rPr sz="2000" dirty="0">
                <a:solidFill>
                  <a:srgbClr val="12171A"/>
                </a:solidFill>
                <a:latin typeface="Calibri"/>
                <a:cs typeface="Calibri"/>
              </a:rPr>
              <a:t>runs</a:t>
            </a:r>
            <a:r>
              <a:rPr sz="2000" spc="385" dirty="0">
                <a:solidFill>
                  <a:srgbClr val="12171A"/>
                </a:solidFill>
                <a:latin typeface="Calibri"/>
                <a:cs typeface="Calibri"/>
              </a:rPr>
              <a:t> </a:t>
            </a:r>
            <a:r>
              <a:rPr sz="2000" dirty="0">
                <a:solidFill>
                  <a:srgbClr val="12171A"/>
                </a:solidFill>
                <a:latin typeface="Calibri"/>
                <a:cs typeface="Calibri"/>
              </a:rPr>
              <a:t>the</a:t>
            </a:r>
            <a:r>
              <a:rPr sz="2000" spc="380" dirty="0">
                <a:solidFill>
                  <a:srgbClr val="12171A"/>
                </a:solidFill>
                <a:latin typeface="Calibri"/>
                <a:cs typeface="Calibri"/>
              </a:rPr>
              <a:t> </a:t>
            </a:r>
            <a:r>
              <a:rPr sz="2000" dirty="0">
                <a:solidFill>
                  <a:srgbClr val="12171A"/>
                </a:solidFill>
                <a:latin typeface="Calibri"/>
                <a:cs typeface="Calibri"/>
              </a:rPr>
              <a:t>algorithm</a:t>
            </a:r>
            <a:r>
              <a:rPr sz="2000" spc="375" dirty="0">
                <a:solidFill>
                  <a:srgbClr val="12171A"/>
                </a:solidFill>
                <a:latin typeface="Calibri"/>
                <a:cs typeface="Calibri"/>
              </a:rPr>
              <a:t> </a:t>
            </a:r>
            <a:r>
              <a:rPr sz="1800" dirty="0">
                <a:solidFill>
                  <a:srgbClr val="12171A"/>
                </a:solidFill>
                <a:latin typeface="Courier New"/>
                <a:cs typeface="Courier New"/>
              </a:rPr>
              <a:t>n_init</a:t>
            </a:r>
            <a:r>
              <a:rPr sz="1800" spc="-240" dirty="0">
                <a:solidFill>
                  <a:srgbClr val="12171A"/>
                </a:solidFill>
                <a:latin typeface="Courier New"/>
                <a:cs typeface="Courier New"/>
              </a:rPr>
              <a:t> </a:t>
            </a:r>
            <a:r>
              <a:rPr sz="2000" dirty="0">
                <a:solidFill>
                  <a:srgbClr val="12171A"/>
                </a:solidFill>
                <a:latin typeface="Calibri"/>
                <a:cs typeface="Calibri"/>
              </a:rPr>
              <a:t>times</a:t>
            </a:r>
            <a:r>
              <a:rPr sz="2000" spc="380" dirty="0">
                <a:solidFill>
                  <a:srgbClr val="12171A"/>
                </a:solidFill>
                <a:latin typeface="Calibri"/>
                <a:cs typeface="Calibri"/>
              </a:rPr>
              <a:t> </a:t>
            </a:r>
            <a:r>
              <a:rPr sz="2000" dirty="0">
                <a:solidFill>
                  <a:srgbClr val="12171A"/>
                </a:solidFill>
                <a:latin typeface="Calibri"/>
                <a:cs typeface="Calibri"/>
              </a:rPr>
              <a:t>and</a:t>
            </a:r>
            <a:r>
              <a:rPr sz="2000" spc="390" dirty="0">
                <a:solidFill>
                  <a:srgbClr val="12171A"/>
                </a:solidFill>
                <a:latin typeface="Calibri"/>
                <a:cs typeface="Calibri"/>
              </a:rPr>
              <a:t> </a:t>
            </a:r>
            <a:r>
              <a:rPr sz="2000" dirty="0">
                <a:solidFill>
                  <a:srgbClr val="12171A"/>
                </a:solidFill>
                <a:latin typeface="Calibri"/>
                <a:cs typeface="Calibri"/>
              </a:rPr>
              <a:t>keeps</a:t>
            </a:r>
            <a:r>
              <a:rPr sz="2000" spc="385" dirty="0">
                <a:solidFill>
                  <a:srgbClr val="12171A"/>
                </a:solidFill>
                <a:latin typeface="Calibri"/>
                <a:cs typeface="Calibri"/>
              </a:rPr>
              <a:t> </a:t>
            </a:r>
            <a:r>
              <a:rPr sz="2000" spc="-25" dirty="0">
                <a:solidFill>
                  <a:srgbClr val="12171A"/>
                </a:solidFill>
                <a:latin typeface="Calibri"/>
                <a:cs typeface="Calibri"/>
              </a:rPr>
              <a:t>the</a:t>
            </a:r>
            <a:endParaRPr sz="2000">
              <a:latin typeface="Calibri"/>
              <a:cs typeface="Calibri"/>
            </a:endParaRPr>
          </a:p>
          <a:p>
            <a:pPr marL="355600">
              <a:lnSpc>
                <a:spcPct val="100000"/>
              </a:lnSpc>
              <a:spcBef>
                <a:spcPts val="40"/>
              </a:spcBef>
            </a:pPr>
            <a:r>
              <a:rPr sz="2000" dirty="0">
                <a:solidFill>
                  <a:srgbClr val="12171A"/>
                </a:solidFill>
                <a:latin typeface="Calibri"/>
                <a:cs typeface="Calibri"/>
              </a:rPr>
              <a:t>model</a:t>
            </a:r>
            <a:r>
              <a:rPr sz="2000" spc="-35" dirty="0">
                <a:solidFill>
                  <a:srgbClr val="12171A"/>
                </a:solidFill>
                <a:latin typeface="Calibri"/>
                <a:cs typeface="Calibri"/>
              </a:rPr>
              <a:t> </a:t>
            </a:r>
            <a:r>
              <a:rPr sz="2000" dirty="0">
                <a:solidFill>
                  <a:srgbClr val="12171A"/>
                </a:solidFill>
                <a:latin typeface="Calibri"/>
                <a:cs typeface="Calibri"/>
              </a:rPr>
              <a:t>with</a:t>
            </a:r>
            <a:r>
              <a:rPr sz="2000" spc="-30" dirty="0">
                <a:solidFill>
                  <a:srgbClr val="12171A"/>
                </a:solidFill>
                <a:latin typeface="Calibri"/>
                <a:cs typeface="Calibri"/>
              </a:rPr>
              <a:t> </a:t>
            </a:r>
            <a:r>
              <a:rPr sz="2000" dirty="0">
                <a:solidFill>
                  <a:srgbClr val="12171A"/>
                </a:solidFill>
                <a:latin typeface="Calibri"/>
                <a:cs typeface="Calibri"/>
              </a:rPr>
              <a:t>the</a:t>
            </a:r>
            <a:r>
              <a:rPr sz="2000" spc="-20" dirty="0">
                <a:solidFill>
                  <a:srgbClr val="12171A"/>
                </a:solidFill>
                <a:latin typeface="Calibri"/>
                <a:cs typeface="Calibri"/>
              </a:rPr>
              <a:t> </a:t>
            </a:r>
            <a:r>
              <a:rPr sz="2000" dirty="0">
                <a:solidFill>
                  <a:srgbClr val="12171A"/>
                </a:solidFill>
                <a:latin typeface="Calibri"/>
                <a:cs typeface="Calibri"/>
              </a:rPr>
              <a:t>lowest</a:t>
            </a:r>
            <a:r>
              <a:rPr sz="2000" spc="-25" dirty="0">
                <a:solidFill>
                  <a:srgbClr val="12171A"/>
                </a:solidFill>
                <a:latin typeface="Calibri"/>
                <a:cs typeface="Calibri"/>
              </a:rPr>
              <a:t> </a:t>
            </a:r>
            <a:r>
              <a:rPr sz="2000" spc="-10" dirty="0">
                <a:solidFill>
                  <a:srgbClr val="12171A"/>
                </a:solidFill>
                <a:latin typeface="Calibri"/>
                <a:cs typeface="Calibri"/>
              </a:rPr>
              <a:t>inertia.</a:t>
            </a:r>
            <a:endParaRPr sz="2000">
              <a:latin typeface="Calibri"/>
              <a:cs typeface="Calibri"/>
            </a:endParaRPr>
          </a:p>
          <a:p>
            <a:pPr marL="355600" indent="-342900">
              <a:lnSpc>
                <a:spcPct val="100000"/>
              </a:lnSpc>
              <a:spcBef>
                <a:spcPts val="565"/>
              </a:spcBef>
              <a:buClr>
                <a:srgbClr val="333940"/>
              </a:buClr>
              <a:buSzPct val="90000"/>
              <a:buFont typeface="Wingdings"/>
              <a:buChar char=""/>
              <a:tabLst>
                <a:tab pos="355600" algn="l"/>
              </a:tabLst>
            </a:pPr>
            <a:r>
              <a:rPr sz="2000" dirty="0">
                <a:solidFill>
                  <a:srgbClr val="12171A"/>
                </a:solidFill>
                <a:latin typeface="Calibri"/>
                <a:cs typeface="Calibri"/>
              </a:rPr>
              <a:t>A</a:t>
            </a:r>
            <a:r>
              <a:rPr sz="2000" spc="-70" dirty="0">
                <a:solidFill>
                  <a:srgbClr val="12171A"/>
                </a:solidFill>
                <a:latin typeface="Calibri"/>
                <a:cs typeface="Calibri"/>
              </a:rPr>
              <a:t> </a:t>
            </a:r>
            <a:r>
              <a:rPr sz="2000" dirty="0">
                <a:solidFill>
                  <a:srgbClr val="12171A"/>
                </a:solidFill>
                <a:latin typeface="Calibri"/>
                <a:cs typeface="Calibri"/>
              </a:rPr>
              <a:t>model’s</a:t>
            </a:r>
            <a:r>
              <a:rPr sz="2000" spc="-30" dirty="0">
                <a:solidFill>
                  <a:srgbClr val="12171A"/>
                </a:solidFill>
                <a:latin typeface="Calibri"/>
                <a:cs typeface="Calibri"/>
              </a:rPr>
              <a:t> </a:t>
            </a:r>
            <a:r>
              <a:rPr sz="2000" dirty="0">
                <a:solidFill>
                  <a:srgbClr val="12171A"/>
                </a:solidFill>
                <a:latin typeface="Calibri"/>
                <a:cs typeface="Calibri"/>
              </a:rPr>
              <a:t>inertia</a:t>
            </a:r>
            <a:r>
              <a:rPr sz="2000" spc="-10" dirty="0">
                <a:solidFill>
                  <a:srgbClr val="12171A"/>
                </a:solidFill>
                <a:latin typeface="Calibri"/>
                <a:cs typeface="Calibri"/>
              </a:rPr>
              <a:t> </a:t>
            </a:r>
            <a:r>
              <a:rPr sz="2000" dirty="0">
                <a:solidFill>
                  <a:srgbClr val="12171A"/>
                </a:solidFill>
                <a:latin typeface="Calibri"/>
                <a:cs typeface="Calibri"/>
              </a:rPr>
              <a:t>is</a:t>
            </a:r>
            <a:r>
              <a:rPr sz="2000" spc="-35" dirty="0">
                <a:solidFill>
                  <a:srgbClr val="12171A"/>
                </a:solidFill>
                <a:latin typeface="Calibri"/>
                <a:cs typeface="Calibri"/>
              </a:rPr>
              <a:t> </a:t>
            </a:r>
            <a:r>
              <a:rPr sz="2000" dirty="0">
                <a:solidFill>
                  <a:srgbClr val="12171A"/>
                </a:solidFill>
                <a:latin typeface="Calibri"/>
                <a:cs typeface="Calibri"/>
              </a:rPr>
              <a:t>accessible</a:t>
            </a:r>
            <a:r>
              <a:rPr sz="2000" spc="-10" dirty="0">
                <a:solidFill>
                  <a:srgbClr val="12171A"/>
                </a:solidFill>
                <a:latin typeface="Calibri"/>
                <a:cs typeface="Calibri"/>
              </a:rPr>
              <a:t> </a:t>
            </a:r>
            <a:r>
              <a:rPr sz="2000" dirty="0">
                <a:solidFill>
                  <a:srgbClr val="12171A"/>
                </a:solidFill>
                <a:latin typeface="Calibri"/>
                <a:cs typeface="Calibri"/>
              </a:rPr>
              <a:t>via</a:t>
            </a:r>
            <a:r>
              <a:rPr sz="2000" spc="-30" dirty="0">
                <a:solidFill>
                  <a:srgbClr val="12171A"/>
                </a:solidFill>
                <a:latin typeface="Calibri"/>
                <a:cs typeface="Calibri"/>
              </a:rPr>
              <a:t> </a:t>
            </a:r>
            <a:r>
              <a:rPr sz="2000" dirty="0">
                <a:solidFill>
                  <a:srgbClr val="12171A"/>
                </a:solidFill>
                <a:latin typeface="Calibri"/>
                <a:cs typeface="Calibri"/>
              </a:rPr>
              <a:t>the</a:t>
            </a:r>
            <a:r>
              <a:rPr sz="2000" spc="-35" dirty="0">
                <a:solidFill>
                  <a:srgbClr val="12171A"/>
                </a:solidFill>
                <a:latin typeface="Calibri"/>
                <a:cs typeface="Calibri"/>
              </a:rPr>
              <a:t> </a:t>
            </a:r>
            <a:r>
              <a:rPr sz="1800" spc="-10" dirty="0">
                <a:solidFill>
                  <a:srgbClr val="12171A"/>
                </a:solidFill>
                <a:latin typeface="Courier New"/>
                <a:cs typeface="Courier New"/>
              </a:rPr>
              <a:t>inertia_</a:t>
            </a:r>
            <a:r>
              <a:rPr sz="1800" spc="-675" dirty="0">
                <a:solidFill>
                  <a:srgbClr val="12171A"/>
                </a:solidFill>
                <a:latin typeface="Courier New"/>
                <a:cs typeface="Courier New"/>
              </a:rPr>
              <a:t> </a:t>
            </a:r>
            <a:r>
              <a:rPr sz="2000" dirty="0">
                <a:solidFill>
                  <a:srgbClr val="12171A"/>
                </a:solidFill>
                <a:latin typeface="Calibri"/>
                <a:cs typeface="Calibri"/>
              </a:rPr>
              <a:t>instance</a:t>
            </a:r>
            <a:r>
              <a:rPr sz="2000" spc="-30" dirty="0">
                <a:solidFill>
                  <a:srgbClr val="12171A"/>
                </a:solidFill>
                <a:latin typeface="Calibri"/>
                <a:cs typeface="Calibri"/>
              </a:rPr>
              <a:t> </a:t>
            </a:r>
            <a:r>
              <a:rPr sz="2000" spc="-10" dirty="0">
                <a:solidFill>
                  <a:srgbClr val="12171A"/>
                </a:solidFill>
                <a:latin typeface="Calibri"/>
                <a:cs typeface="Calibri"/>
              </a:rPr>
              <a:t>variable:</a:t>
            </a:r>
            <a:endParaRPr sz="2000">
              <a:latin typeface="Calibri"/>
              <a:cs typeface="Calibri"/>
            </a:endParaRPr>
          </a:p>
          <a:p>
            <a:pPr>
              <a:lnSpc>
                <a:spcPct val="100000"/>
              </a:lnSpc>
              <a:buClr>
                <a:srgbClr val="333940"/>
              </a:buClr>
              <a:buFont typeface="Wingdings"/>
              <a:buChar char=""/>
            </a:pPr>
            <a:endParaRPr sz="2000">
              <a:latin typeface="Calibri"/>
              <a:cs typeface="Calibri"/>
            </a:endParaRPr>
          </a:p>
          <a:p>
            <a:pPr>
              <a:lnSpc>
                <a:spcPct val="100000"/>
              </a:lnSpc>
              <a:spcBef>
                <a:spcPts val="280"/>
              </a:spcBef>
              <a:buClr>
                <a:srgbClr val="333940"/>
              </a:buClr>
              <a:buFont typeface="Wingdings"/>
              <a:buChar char=""/>
            </a:pPr>
            <a:endParaRPr sz="2000">
              <a:latin typeface="Calibri"/>
              <a:cs typeface="Calibri"/>
            </a:endParaRPr>
          </a:p>
          <a:p>
            <a:pPr marL="355600" indent="-342900">
              <a:lnSpc>
                <a:spcPct val="100000"/>
              </a:lnSpc>
              <a:buClr>
                <a:srgbClr val="333940"/>
              </a:buClr>
              <a:buSzPct val="90000"/>
              <a:buFont typeface="Wingdings"/>
              <a:buChar char=""/>
              <a:tabLst>
                <a:tab pos="355600" algn="l"/>
              </a:tabLst>
            </a:pPr>
            <a:r>
              <a:rPr sz="2000" dirty="0">
                <a:solidFill>
                  <a:srgbClr val="12171A"/>
                </a:solidFill>
                <a:latin typeface="Calibri"/>
                <a:cs typeface="Calibri"/>
              </a:rPr>
              <a:t>The</a:t>
            </a:r>
            <a:r>
              <a:rPr sz="2000" spc="-50" dirty="0">
                <a:solidFill>
                  <a:srgbClr val="12171A"/>
                </a:solidFill>
                <a:latin typeface="Calibri"/>
                <a:cs typeface="Calibri"/>
              </a:rPr>
              <a:t> </a:t>
            </a:r>
            <a:r>
              <a:rPr sz="1800" spc="-10" dirty="0">
                <a:solidFill>
                  <a:srgbClr val="12171A"/>
                </a:solidFill>
                <a:latin typeface="Courier New"/>
                <a:cs typeface="Courier New"/>
              </a:rPr>
              <a:t>score()</a:t>
            </a:r>
            <a:r>
              <a:rPr sz="1800" spc="-710" dirty="0">
                <a:solidFill>
                  <a:srgbClr val="12171A"/>
                </a:solidFill>
                <a:latin typeface="Courier New"/>
                <a:cs typeface="Courier New"/>
              </a:rPr>
              <a:t> </a:t>
            </a:r>
            <a:r>
              <a:rPr sz="2000" dirty="0">
                <a:solidFill>
                  <a:srgbClr val="12171A"/>
                </a:solidFill>
                <a:latin typeface="Calibri"/>
                <a:cs typeface="Calibri"/>
              </a:rPr>
              <a:t>method</a:t>
            </a:r>
            <a:r>
              <a:rPr sz="2000" spc="-30" dirty="0">
                <a:solidFill>
                  <a:srgbClr val="12171A"/>
                </a:solidFill>
                <a:latin typeface="Calibri"/>
                <a:cs typeface="Calibri"/>
              </a:rPr>
              <a:t> </a:t>
            </a:r>
            <a:r>
              <a:rPr sz="2000" dirty="0">
                <a:solidFill>
                  <a:srgbClr val="12171A"/>
                </a:solidFill>
                <a:latin typeface="Calibri"/>
                <a:cs typeface="Calibri"/>
              </a:rPr>
              <a:t>returns</a:t>
            </a:r>
            <a:r>
              <a:rPr sz="2000" spc="-25" dirty="0">
                <a:solidFill>
                  <a:srgbClr val="12171A"/>
                </a:solidFill>
                <a:latin typeface="Calibri"/>
                <a:cs typeface="Calibri"/>
              </a:rPr>
              <a:t> </a:t>
            </a:r>
            <a:r>
              <a:rPr sz="2000" dirty="0">
                <a:solidFill>
                  <a:srgbClr val="12171A"/>
                </a:solidFill>
                <a:latin typeface="Calibri"/>
                <a:cs typeface="Calibri"/>
              </a:rPr>
              <a:t>the</a:t>
            </a:r>
            <a:r>
              <a:rPr sz="2000" spc="-25" dirty="0">
                <a:solidFill>
                  <a:srgbClr val="12171A"/>
                </a:solidFill>
                <a:latin typeface="Calibri"/>
                <a:cs typeface="Calibri"/>
              </a:rPr>
              <a:t> </a:t>
            </a:r>
            <a:r>
              <a:rPr sz="2000" dirty="0">
                <a:solidFill>
                  <a:srgbClr val="12171A"/>
                </a:solidFill>
                <a:latin typeface="Calibri"/>
                <a:cs typeface="Calibri"/>
              </a:rPr>
              <a:t>negative</a:t>
            </a:r>
            <a:r>
              <a:rPr sz="2000" spc="-35" dirty="0">
                <a:solidFill>
                  <a:srgbClr val="12171A"/>
                </a:solidFill>
                <a:latin typeface="Calibri"/>
                <a:cs typeface="Calibri"/>
              </a:rPr>
              <a:t> </a:t>
            </a:r>
            <a:r>
              <a:rPr sz="2000" spc="-10" dirty="0">
                <a:solidFill>
                  <a:srgbClr val="12171A"/>
                </a:solidFill>
                <a:latin typeface="Calibri"/>
                <a:cs typeface="Calibri"/>
              </a:rPr>
              <a:t>inertia.</a:t>
            </a:r>
            <a:endParaRPr sz="2000">
              <a:latin typeface="Calibri"/>
              <a:cs typeface="Calibri"/>
            </a:endParaRPr>
          </a:p>
          <a:p>
            <a:pPr marL="812800" lvl="1" indent="-334010">
              <a:lnSpc>
                <a:spcPct val="100000"/>
              </a:lnSpc>
              <a:spcBef>
                <a:spcPts val="20"/>
              </a:spcBef>
              <a:buClr>
                <a:srgbClr val="121618"/>
              </a:buClr>
              <a:buSzPct val="94444"/>
              <a:buFont typeface="Wingdings"/>
              <a:buChar char=""/>
              <a:tabLst>
                <a:tab pos="812800" algn="l"/>
              </a:tabLst>
            </a:pPr>
            <a:r>
              <a:rPr sz="1800" dirty="0">
                <a:solidFill>
                  <a:srgbClr val="12171A"/>
                </a:solidFill>
                <a:latin typeface="Calibri"/>
                <a:cs typeface="Calibri"/>
              </a:rPr>
              <a:t>It</a:t>
            </a:r>
            <a:r>
              <a:rPr sz="1800" spc="-55" dirty="0">
                <a:solidFill>
                  <a:srgbClr val="12171A"/>
                </a:solidFill>
                <a:latin typeface="Calibri"/>
                <a:cs typeface="Calibri"/>
              </a:rPr>
              <a:t> </a:t>
            </a:r>
            <a:r>
              <a:rPr sz="1800" dirty="0">
                <a:solidFill>
                  <a:srgbClr val="12171A"/>
                </a:solidFill>
                <a:latin typeface="Calibri"/>
                <a:cs typeface="Calibri"/>
              </a:rPr>
              <a:t>is</a:t>
            </a:r>
            <a:r>
              <a:rPr sz="1800" spc="-10" dirty="0">
                <a:solidFill>
                  <a:srgbClr val="12171A"/>
                </a:solidFill>
                <a:latin typeface="Calibri"/>
                <a:cs typeface="Calibri"/>
              </a:rPr>
              <a:t> </a:t>
            </a:r>
            <a:r>
              <a:rPr sz="1800" dirty="0">
                <a:solidFill>
                  <a:srgbClr val="12171A"/>
                </a:solidFill>
                <a:latin typeface="Calibri"/>
                <a:cs typeface="Calibri"/>
              </a:rPr>
              <a:t>negative because</a:t>
            </a:r>
            <a:r>
              <a:rPr sz="1800" spc="-10" dirty="0">
                <a:solidFill>
                  <a:srgbClr val="12171A"/>
                </a:solidFill>
                <a:latin typeface="Calibri"/>
                <a:cs typeface="Calibri"/>
              </a:rPr>
              <a:t> </a:t>
            </a:r>
            <a:r>
              <a:rPr sz="1800" dirty="0">
                <a:solidFill>
                  <a:srgbClr val="12171A"/>
                </a:solidFill>
                <a:latin typeface="Calibri"/>
                <a:cs typeface="Calibri"/>
              </a:rPr>
              <a:t>a</a:t>
            </a:r>
            <a:r>
              <a:rPr sz="1800" spc="-10" dirty="0">
                <a:solidFill>
                  <a:srgbClr val="12171A"/>
                </a:solidFill>
                <a:latin typeface="Calibri"/>
                <a:cs typeface="Calibri"/>
              </a:rPr>
              <a:t> </a:t>
            </a:r>
            <a:r>
              <a:rPr sz="1800" dirty="0">
                <a:solidFill>
                  <a:srgbClr val="12171A"/>
                </a:solidFill>
                <a:latin typeface="Calibri"/>
                <a:cs typeface="Calibri"/>
              </a:rPr>
              <a:t>predictor’s</a:t>
            </a:r>
            <a:r>
              <a:rPr sz="1800" spc="-15" dirty="0">
                <a:solidFill>
                  <a:srgbClr val="12171A"/>
                </a:solidFill>
                <a:latin typeface="Calibri"/>
                <a:cs typeface="Calibri"/>
              </a:rPr>
              <a:t> </a:t>
            </a:r>
            <a:r>
              <a:rPr sz="1600" spc="-10" dirty="0">
                <a:solidFill>
                  <a:srgbClr val="12171A"/>
                </a:solidFill>
                <a:latin typeface="Courier New"/>
                <a:cs typeface="Courier New"/>
              </a:rPr>
              <a:t>score()</a:t>
            </a:r>
            <a:r>
              <a:rPr sz="1600" spc="-525" dirty="0">
                <a:solidFill>
                  <a:srgbClr val="12171A"/>
                </a:solidFill>
                <a:latin typeface="Courier New"/>
                <a:cs typeface="Courier New"/>
              </a:rPr>
              <a:t> </a:t>
            </a:r>
            <a:r>
              <a:rPr sz="1800" dirty="0">
                <a:solidFill>
                  <a:srgbClr val="12171A"/>
                </a:solidFill>
                <a:latin typeface="Calibri"/>
                <a:cs typeface="Calibri"/>
              </a:rPr>
              <a:t>method must</a:t>
            </a:r>
            <a:r>
              <a:rPr sz="1800" spc="-15" dirty="0">
                <a:solidFill>
                  <a:srgbClr val="12171A"/>
                </a:solidFill>
                <a:latin typeface="Calibri"/>
                <a:cs typeface="Calibri"/>
              </a:rPr>
              <a:t> </a:t>
            </a:r>
            <a:r>
              <a:rPr sz="1800" dirty="0">
                <a:solidFill>
                  <a:srgbClr val="12171A"/>
                </a:solidFill>
                <a:latin typeface="Calibri"/>
                <a:cs typeface="Calibri"/>
              </a:rPr>
              <a:t>always</a:t>
            </a:r>
            <a:r>
              <a:rPr sz="1800" spc="-10" dirty="0">
                <a:solidFill>
                  <a:srgbClr val="12171A"/>
                </a:solidFill>
                <a:latin typeface="Calibri"/>
                <a:cs typeface="Calibri"/>
              </a:rPr>
              <a:t> respect</a:t>
            </a:r>
            <a:endParaRPr sz="1800">
              <a:latin typeface="Calibri"/>
              <a:cs typeface="Calibri"/>
            </a:endParaRPr>
          </a:p>
          <a:p>
            <a:pPr marL="812800">
              <a:lnSpc>
                <a:spcPct val="100000"/>
              </a:lnSpc>
              <a:spcBef>
                <a:spcPts val="25"/>
              </a:spcBef>
            </a:pPr>
            <a:r>
              <a:rPr sz="1800" spc="-10" dirty="0">
                <a:solidFill>
                  <a:srgbClr val="12171A"/>
                </a:solidFill>
                <a:latin typeface="Calibri"/>
                <a:cs typeface="Calibri"/>
              </a:rPr>
              <a:t>Scikit-</a:t>
            </a:r>
            <a:r>
              <a:rPr sz="1800" dirty="0">
                <a:solidFill>
                  <a:srgbClr val="12171A"/>
                </a:solidFill>
                <a:latin typeface="Calibri"/>
                <a:cs typeface="Calibri"/>
              </a:rPr>
              <a:t>Learn’s</a:t>
            </a:r>
            <a:r>
              <a:rPr sz="1800" spc="-5" dirty="0">
                <a:solidFill>
                  <a:srgbClr val="12171A"/>
                </a:solidFill>
                <a:latin typeface="Calibri"/>
                <a:cs typeface="Calibri"/>
              </a:rPr>
              <a:t> </a:t>
            </a:r>
            <a:r>
              <a:rPr sz="1800" dirty="0">
                <a:solidFill>
                  <a:srgbClr val="12171A"/>
                </a:solidFill>
                <a:latin typeface="Calibri"/>
                <a:cs typeface="Calibri"/>
              </a:rPr>
              <a:t>“greater</a:t>
            </a:r>
            <a:r>
              <a:rPr sz="1800" spc="-20" dirty="0">
                <a:solidFill>
                  <a:srgbClr val="12171A"/>
                </a:solidFill>
                <a:latin typeface="Calibri"/>
                <a:cs typeface="Calibri"/>
              </a:rPr>
              <a:t> </a:t>
            </a:r>
            <a:r>
              <a:rPr sz="1800" dirty="0">
                <a:solidFill>
                  <a:srgbClr val="12171A"/>
                </a:solidFill>
                <a:latin typeface="Calibri"/>
                <a:cs typeface="Calibri"/>
              </a:rPr>
              <a:t>is</a:t>
            </a:r>
            <a:r>
              <a:rPr sz="1800" spc="-10" dirty="0">
                <a:solidFill>
                  <a:srgbClr val="12171A"/>
                </a:solidFill>
                <a:latin typeface="Calibri"/>
                <a:cs typeface="Calibri"/>
              </a:rPr>
              <a:t> </a:t>
            </a:r>
            <a:r>
              <a:rPr sz="1800" dirty="0">
                <a:solidFill>
                  <a:srgbClr val="12171A"/>
                </a:solidFill>
                <a:latin typeface="Calibri"/>
                <a:cs typeface="Calibri"/>
              </a:rPr>
              <a:t>better”</a:t>
            </a:r>
            <a:r>
              <a:rPr sz="1800" spc="-15" dirty="0">
                <a:solidFill>
                  <a:srgbClr val="12171A"/>
                </a:solidFill>
                <a:latin typeface="Calibri"/>
                <a:cs typeface="Calibri"/>
              </a:rPr>
              <a:t> </a:t>
            </a:r>
            <a:r>
              <a:rPr sz="1800" spc="-10" dirty="0">
                <a:solidFill>
                  <a:srgbClr val="12171A"/>
                </a:solidFill>
                <a:latin typeface="Calibri"/>
                <a:cs typeface="Calibri"/>
              </a:rPr>
              <a:t>rule.</a:t>
            </a:r>
            <a:endParaRPr sz="1800">
              <a:latin typeface="Calibri"/>
              <a:cs typeface="Calibri"/>
            </a:endParaRPr>
          </a:p>
        </p:txBody>
      </p:sp>
      <p:pic>
        <p:nvPicPr>
          <p:cNvPr id="4" name="object 4"/>
          <p:cNvPicPr/>
          <p:nvPr/>
        </p:nvPicPr>
        <p:blipFill>
          <a:blip r:embed="rId2" cstate="print"/>
          <a:stretch>
            <a:fillRect/>
          </a:stretch>
        </p:blipFill>
        <p:spPr>
          <a:xfrm>
            <a:off x="2665476" y="2843783"/>
            <a:ext cx="3781044" cy="557783"/>
          </a:xfrm>
          <a:prstGeom prst="rect">
            <a:avLst/>
          </a:prstGeom>
        </p:spPr>
      </p:pic>
      <p:pic>
        <p:nvPicPr>
          <p:cNvPr id="5" name="object 5"/>
          <p:cNvPicPr/>
          <p:nvPr/>
        </p:nvPicPr>
        <p:blipFill>
          <a:blip r:embed="rId3" cstate="print"/>
          <a:stretch>
            <a:fillRect/>
          </a:stretch>
        </p:blipFill>
        <p:spPr>
          <a:xfrm>
            <a:off x="2637961" y="4438935"/>
            <a:ext cx="3758513" cy="480060"/>
          </a:xfrm>
          <a:prstGeom prst="rect">
            <a:avLst/>
          </a:prstGeom>
        </p:spPr>
      </p:pic>
      <p:sp>
        <p:nvSpPr>
          <p:cNvPr id="6" name="object 6"/>
          <p:cNvSpPr txBox="1">
            <a:spLocks noGrp="1"/>
          </p:cNvSpPr>
          <p:nvPr>
            <p:ph type="sldNum" sz="quarter" idx="7"/>
          </p:nvPr>
        </p:nvSpPr>
        <p:spPr>
          <a:prstGeom prst="rect">
            <a:avLst/>
          </a:prstGeom>
        </p:spPr>
        <p:txBody>
          <a:bodyPr vert="horz" wrap="square" lIns="0" tIns="10160" rIns="0" bIns="0" rtlCol="0">
            <a:spAutoFit/>
          </a:bodyPr>
          <a:lstStyle/>
          <a:p>
            <a:pPr marL="38100">
              <a:lnSpc>
                <a:spcPct val="100000"/>
              </a:lnSpc>
              <a:spcBef>
                <a:spcPts val="80"/>
              </a:spcBef>
            </a:pPr>
            <a:fld id="{81D60167-4931-47E6-BA6A-407CBD079E47}" type="slidenum">
              <a:rPr spc="-25" dirty="0"/>
              <a:t>52</a:t>
            </a:fld>
            <a:endParaRPr spc="-25"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a:lnSpc>
                <a:spcPct val="100000"/>
              </a:lnSpc>
              <a:spcBef>
                <a:spcPts val="105"/>
              </a:spcBef>
            </a:pPr>
            <a:r>
              <a:rPr spc="-30" dirty="0"/>
              <a:t>K-</a:t>
            </a:r>
            <a:r>
              <a:rPr spc="-10" dirty="0"/>
              <a:t>means++</a:t>
            </a:r>
          </a:p>
        </p:txBody>
      </p:sp>
      <p:grpSp>
        <p:nvGrpSpPr>
          <p:cNvPr id="3" name="object 3"/>
          <p:cNvGrpSpPr/>
          <p:nvPr/>
        </p:nvGrpSpPr>
        <p:grpSpPr>
          <a:xfrm>
            <a:off x="1049667" y="3360546"/>
            <a:ext cx="1169035" cy="275590"/>
            <a:chOff x="1049667" y="3360546"/>
            <a:chExt cx="1169035" cy="275590"/>
          </a:xfrm>
        </p:grpSpPr>
        <p:sp>
          <p:nvSpPr>
            <p:cNvPr id="4" name="object 4"/>
            <p:cNvSpPr/>
            <p:nvPr/>
          </p:nvSpPr>
          <p:spPr>
            <a:xfrm>
              <a:off x="1049667" y="3377310"/>
              <a:ext cx="1169035" cy="258445"/>
            </a:xfrm>
            <a:custGeom>
              <a:avLst/>
              <a:gdLst/>
              <a:ahLst/>
              <a:cxnLst/>
              <a:rect l="l" t="t" r="r" b="b"/>
              <a:pathLst>
                <a:path w="1169035" h="258445">
                  <a:moveTo>
                    <a:pt x="450964" y="7493"/>
                  </a:moveTo>
                  <a:lnTo>
                    <a:pt x="448678" y="0"/>
                  </a:lnTo>
                  <a:lnTo>
                    <a:pt x="435368" y="5219"/>
                  </a:lnTo>
                  <a:lnTo>
                    <a:pt x="423646" y="13398"/>
                  </a:lnTo>
                  <a:lnTo>
                    <a:pt x="398373" y="54927"/>
                  </a:lnTo>
                  <a:lnTo>
                    <a:pt x="389750" y="112395"/>
                  </a:lnTo>
                  <a:lnTo>
                    <a:pt x="390664" y="132118"/>
                  </a:lnTo>
                  <a:lnTo>
                    <a:pt x="390702" y="132943"/>
                  </a:lnTo>
                  <a:lnTo>
                    <a:pt x="405117" y="186055"/>
                  </a:lnTo>
                  <a:lnTo>
                    <a:pt x="435368" y="219481"/>
                  </a:lnTo>
                  <a:lnTo>
                    <a:pt x="448678" y="224663"/>
                  </a:lnTo>
                  <a:lnTo>
                    <a:pt x="450964" y="217170"/>
                  </a:lnTo>
                  <a:lnTo>
                    <a:pt x="440664" y="211848"/>
                  </a:lnTo>
                  <a:lnTo>
                    <a:pt x="431698" y="204063"/>
                  </a:lnTo>
                  <a:lnTo>
                    <a:pt x="412762" y="166509"/>
                  </a:lnTo>
                  <a:lnTo>
                    <a:pt x="406387" y="112395"/>
                  </a:lnTo>
                  <a:lnTo>
                    <a:pt x="407098" y="92684"/>
                  </a:lnTo>
                  <a:lnTo>
                    <a:pt x="417690" y="43561"/>
                  </a:lnTo>
                  <a:lnTo>
                    <a:pt x="440664" y="12827"/>
                  </a:lnTo>
                  <a:lnTo>
                    <a:pt x="450964" y="7493"/>
                  </a:lnTo>
                  <a:close/>
                </a:path>
                <a:path w="1169035" h="258445">
                  <a:moveTo>
                    <a:pt x="820026" y="112395"/>
                  </a:moveTo>
                  <a:lnTo>
                    <a:pt x="816190" y="72644"/>
                  </a:lnTo>
                  <a:lnTo>
                    <a:pt x="796201" y="24549"/>
                  </a:lnTo>
                  <a:lnTo>
                    <a:pt x="760971" y="0"/>
                  </a:lnTo>
                  <a:lnTo>
                    <a:pt x="758812" y="7493"/>
                  </a:lnTo>
                  <a:lnTo>
                    <a:pt x="769099" y="12827"/>
                  </a:lnTo>
                  <a:lnTo>
                    <a:pt x="778065" y="20624"/>
                  </a:lnTo>
                  <a:lnTo>
                    <a:pt x="797001" y="58293"/>
                  </a:lnTo>
                  <a:lnTo>
                    <a:pt x="803389" y="112395"/>
                  </a:lnTo>
                  <a:lnTo>
                    <a:pt x="802665" y="132118"/>
                  </a:lnTo>
                  <a:lnTo>
                    <a:pt x="792086" y="181229"/>
                  </a:lnTo>
                  <a:lnTo>
                    <a:pt x="769099" y="211848"/>
                  </a:lnTo>
                  <a:lnTo>
                    <a:pt x="758812" y="217170"/>
                  </a:lnTo>
                  <a:lnTo>
                    <a:pt x="760971" y="224663"/>
                  </a:lnTo>
                  <a:lnTo>
                    <a:pt x="796201" y="200190"/>
                  </a:lnTo>
                  <a:lnTo>
                    <a:pt x="816190" y="152095"/>
                  </a:lnTo>
                  <a:lnTo>
                    <a:pt x="819061" y="132943"/>
                  </a:lnTo>
                  <a:lnTo>
                    <a:pt x="820026" y="112395"/>
                  </a:lnTo>
                  <a:close/>
                </a:path>
                <a:path w="1169035" h="258445">
                  <a:moveTo>
                    <a:pt x="1168908" y="241693"/>
                  </a:moveTo>
                  <a:lnTo>
                    <a:pt x="0" y="241693"/>
                  </a:lnTo>
                  <a:lnTo>
                    <a:pt x="0" y="258445"/>
                  </a:lnTo>
                  <a:lnTo>
                    <a:pt x="1168908" y="258445"/>
                  </a:lnTo>
                  <a:lnTo>
                    <a:pt x="1168908" y="241693"/>
                  </a:lnTo>
                  <a:close/>
                </a:path>
              </a:pathLst>
            </a:custGeom>
            <a:solidFill>
              <a:srgbClr val="12171A"/>
            </a:solidFill>
          </p:spPr>
          <p:txBody>
            <a:bodyPr wrap="square" lIns="0" tIns="0" rIns="0" bIns="0" rtlCol="0"/>
            <a:lstStyle/>
            <a:p>
              <a:endParaRPr/>
            </a:p>
          </p:txBody>
        </p:sp>
        <p:pic>
          <p:nvPicPr>
            <p:cNvPr id="5" name="object 5"/>
            <p:cNvPicPr/>
            <p:nvPr/>
          </p:nvPicPr>
          <p:blipFill>
            <a:blip r:embed="rId2" cstate="print"/>
            <a:stretch>
              <a:fillRect/>
            </a:stretch>
          </p:blipFill>
          <p:spPr>
            <a:xfrm>
              <a:off x="1625473" y="3360546"/>
              <a:ext cx="156845" cy="141223"/>
            </a:xfrm>
            <a:prstGeom prst="rect">
              <a:avLst/>
            </a:prstGeom>
          </p:spPr>
        </p:pic>
      </p:grpSp>
      <p:sp>
        <p:nvSpPr>
          <p:cNvPr id="6" name="object 6"/>
          <p:cNvSpPr txBox="1"/>
          <p:nvPr/>
        </p:nvSpPr>
        <p:spPr>
          <a:xfrm>
            <a:off x="1246377" y="3345307"/>
            <a:ext cx="524510" cy="248920"/>
          </a:xfrm>
          <a:prstGeom prst="rect">
            <a:avLst/>
          </a:prstGeom>
        </p:spPr>
        <p:txBody>
          <a:bodyPr vert="horz" wrap="square" lIns="0" tIns="13970" rIns="0" bIns="0" rtlCol="0">
            <a:spAutoFit/>
          </a:bodyPr>
          <a:lstStyle/>
          <a:p>
            <a:pPr marL="38100">
              <a:lnSpc>
                <a:spcPct val="100000"/>
              </a:lnSpc>
              <a:spcBef>
                <a:spcPts val="110"/>
              </a:spcBef>
            </a:pPr>
            <a:r>
              <a:rPr sz="1450" dirty="0">
                <a:solidFill>
                  <a:srgbClr val="12171A"/>
                </a:solidFill>
                <a:latin typeface="Cambria Math"/>
                <a:cs typeface="Cambria Math"/>
              </a:rPr>
              <a:t>𝐷</a:t>
            </a:r>
            <a:r>
              <a:rPr sz="1450" spc="400" dirty="0">
                <a:solidFill>
                  <a:srgbClr val="12171A"/>
                </a:solidFill>
                <a:latin typeface="Cambria Math"/>
                <a:cs typeface="Cambria Math"/>
              </a:rPr>
              <a:t> </a:t>
            </a:r>
            <a:r>
              <a:rPr sz="1450" dirty="0">
                <a:solidFill>
                  <a:srgbClr val="12171A"/>
                </a:solidFill>
                <a:latin typeface="Cambria Math"/>
                <a:cs typeface="Cambria Math"/>
              </a:rPr>
              <a:t>𝐱</a:t>
            </a:r>
            <a:r>
              <a:rPr sz="1450" spc="254" dirty="0">
                <a:solidFill>
                  <a:srgbClr val="12171A"/>
                </a:solidFill>
                <a:latin typeface="Cambria Math"/>
                <a:cs typeface="Cambria Math"/>
              </a:rPr>
              <a:t> </a:t>
            </a:r>
            <a:r>
              <a:rPr sz="1800" spc="37" baseline="25462" dirty="0">
                <a:solidFill>
                  <a:srgbClr val="12171A"/>
                </a:solidFill>
                <a:latin typeface="Cambria Math"/>
                <a:cs typeface="Cambria Math"/>
              </a:rPr>
              <a:t>𝑖</a:t>
            </a:r>
            <a:endParaRPr sz="1800" baseline="25462">
              <a:latin typeface="Cambria Math"/>
              <a:cs typeface="Cambria Math"/>
            </a:endParaRPr>
          </a:p>
        </p:txBody>
      </p:sp>
      <p:sp>
        <p:nvSpPr>
          <p:cNvPr id="7" name="object 7"/>
          <p:cNvSpPr txBox="1"/>
          <p:nvPr/>
        </p:nvSpPr>
        <p:spPr>
          <a:xfrm>
            <a:off x="656031" y="1223263"/>
            <a:ext cx="7591425" cy="2221865"/>
          </a:xfrm>
          <a:prstGeom prst="rect">
            <a:avLst/>
          </a:prstGeom>
        </p:spPr>
        <p:txBody>
          <a:bodyPr vert="horz" wrap="square" lIns="0" tIns="13335" rIns="0" bIns="0" rtlCol="0">
            <a:spAutoFit/>
          </a:bodyPr>
          <a:lstStyle/>
          <a:p>
            <a:pPr marL="393700" marR="377190" indent="-342900">
              <a:lnSpc>
                <a:spcPct val="100000"/>
              </a:lnSpc>
              <a:spcBef>
                <a:spcPts val="105"/>
              </a:spcBef>
              <a:buClr>
                <a:srgbClr val="333940"/>
              </a:buClr>
              <a:buSzPct val="90000"/>
              <a:buFont typeface="Wingdings"/>
              <a:buChar char=""/>
              <a:tabLst>
                <a:tab pos="393700" algn="l"/>
              </a:tabLst>
            </a:pPr>
            <a:r>
              <a:rPr sz="2000" dirty="0">
                <a:solidFill>
                  <a:srgbClr val="12171A"/>
                </a:solidFill>
                <a:latin typeface="Calibri"/>
                <a:cs typeface="Calibri"/>
              </a:rPr>
              <a:t>A</a:t>
            </a:r>
            <a:r>
              <a:rPr sz="2000" spc="-55" dirty="0">
                <a:solidFill>
                  <a:srgbClr val="12171A"/>
                </a:solidFill>
                <a:latin typeface="Calibri"/>
                <a:cs typeface="Calibri"/>
              </a:rPr>
              <a:t> </a:t>
            </a:r>
            <a:r>
              <a:rPr sz="2000" dirty="0">
                <a:solidFill>
                  <a:srgbClr val="12171A"/>
                </a:solidFill>
                <a:latin typeface="Calibri"/>
                <a:cs typeface="Calibri"/>
              </a:rPr>
              <a:t>smarter</a:t>
            </a:r>
            <a:r>
              <a:rPr sz="2000" spc="-35" dirty="0">
                <a:solidFill>
                  <a:srgbClr val="12171A"/>
                </a:solidFill>
                <a:latin typeface="Calibri"/>
                <a:cs typeface="Calibri"/>
              </a:rPr>
              <a:t> </a:t>
            </a:r>
            <a:r>
              <a:rPr sz="2000" dirty="0">
                <a:solidFill>
                  <a:srgbClr val="12171A"/>
                </a:solidFill>
                <a:latin typeface="Calibri"/>
                <a:cs typeface="Calibri"/>
              </a:rPr>
              <a:t>initialization</a:t>
            </a:r>
            <a:r>
              <a:rPr sz="2000" spc="-35" dirty="0">
                <a:solidFill>
                  <a:srgbClr val="12171A"/>
                </a:solidFill>
                <a:latin typeface="Calibri"/>
                <a:cs typeface="Calibri"/>
              </a:rPr>
              <a:t> </a:t>
            </a:r>
            <a:r>
              <a:rPr sz="2000" dirty="0">
                <a:solidFill>
                  <a:srgbClr val="12171A"/>
                </a:solidFill>
                <a:latin typeface="Calibri"/>
                <a:cs typeface="Calibri"/>
              </a:rPr>
              <a:t>step</a:t>
            </a:r>
            <a:r>
              <a:rPr sz="2000" spc="-50" dirty="0">
                <a:solidFill>
                  <a:srgbClr val="12171A"/>
                </a:solidFill>
                <a:latin typeface="Calibri"/>
                <a:cs typeface="Calibri"/>
              </a:rPr>
              <a:t> </a:t>
            </a:r>
            <a:r>
              <a:rPr sz="2000" dirty="0">
                <a:solidFill>
                  <a:srgbClr val="12171A"/>
                </a:solidFill>
                <a:latin typeface="Calibri"/>
                <a:cs typeface="Calibri"/>
              </a:rPr>
              <a:t>that</a:t>
            </a:r>
            <a:r>
              <a:rPr sz="2000" spc="-55" dirty="0">
                <a:solidFill>
                  <a:srgbClr val="12171A"/>
                </a:solidFill>
                <a:latin typeface="Calibri"/>
                <a:cs typeface="Calibri"/>
              </a:rPr>
              <a:t> </a:t>
            </a:r>
            <a:r>
              <a:rPr sz="2000" dirty="0">
                <a:solidFill>
                  <a:srgbClr val="12171A"/>
                </a:solidFill>
                <a:latin typeface="Calibri"/>
                <a:cs typeface="Calibri"/>
              </a:rPr>
              <a:t>tends</a:t>
            </a:r>
            <a:r>
              <a:rPr sz="2000" spc="-55" dirty="0">
                <a:solidFill>
                  <a:srgbClr val="12171A"/>
                </a:solidFill>
                <a:latin typeface="Calibri"/>
                <a:cs typeface="Calibri"/>
              </a:rPr>
              <a:t> </a:t>
            </a:r>
            <a:r>
              <a:rPr sz="2000" dirty="0">
                <a:solidFill>
                  <a:srgbClr val="12171A"/>
                </a:solidFill>
                <a:latin typeface="Calibri"/>
                <a:cs typeface="Calibri"/>
              </a:rPr>
              <a:t>to</a:t>
            </a:r>
            <a:r>
              <a:rPr sz="2000" spc="-55" dirty="0">
                <a:solidFill>
                  <a:srgbClr val="12171A"/>
                </a:solidFill>
                <a:latin typeface="Calibri"/>
                <a:cs typeface="Calibri"/>
              </a:rPr>
              <a:t> </a:t>
            </a:r>
            <a:r>
              <a:rPr sz="2000" dirty="0">
                <a:solidFill>
                  <a:srgbClr val="12171A"/>
                </a:solidFill>
                <a:latin typeface="Calibri"/>
                <a:cs typeface="Calibri"/>
              </a:rPr>
              <a:t>select</a:t>
            </a:r>
            <a:r>
              <a:rPr sz="2000" spc="-40" dirty="0">
                <a:solidFill>
                  <a:srgbClr val="12171A"/>
                </a:solidFill>
                <a:latin typeface="Calibri"/>
                <a:cs typeface="Calibri"/>
              </a:rPr>
              <a:t> </a:t>
            </a:r>
            <a:r>
              <a:rPr sz="2000" dirty="0">
                <a:solidFill>
                  <a:srgbClr val="12171A"/>
                </a:solidFill>
                <a:latin typeface="Calibri"/>
                <a:cs typeface="Calibri"/>
              </a:rPr>
              <a:t>centroids</a:t>
            </a:r>
            <a:r>
              <a:rPr sz="2000" spc="-50" dirty="0">
                <a:solidFill>
                  <a:srgbClr val="12171A"/>
                </a:solidFill>
                <a:latin typeface="Calibri"/>
                <a:cs typeface="Calibri"/>
              </a:rPr>
              <a:t> </a:t>
            </a:r>
            <a:r>
              <a:rPr sz="2000" dirty="0">
                <a:solidFill>
                  <a:srgbClr val="12171A"/>
                </a:solidFill>
                <a:latin typeface="Calibri"/>
                <a:cs typeface="Calibri"/>
              </a:rPr>
              <a:t>that</a:t>
            </a:r>
            <a:r>
              <a:rPr sz="2000" spc="-55" dirty="0">
                <a:solidFill>
                  <a:srgbClr val="12171A"/>
                </a:solidFill>
                <a:latin typeface="Calibri"/>
                <a:cs typeface="Calibri"/>
              </a:rPr>
              <a:t> </a:t>
            </a:r>
            <a:r>
              <a:rPr sz="2000" spc="-25" dirty="0">
                <a:solidFill>
                  <a:srgbClr val="12171A"/>
                </a:solidFill>
                <a:latin typeface="Calibri"/>
                <a:cs typeface="Calibri"/>
              </a:rPr>
              <a:t>are </a:t>
            </a:r>
            <a:r>
              <a:rPr sz="2000" dirty="0">
                <a:solidFill>
                  <a:srgbClr val="12171A"/>
                </a:solidFill>
                <a:latin typeface="Calibri"/>
                <a:cs typeface="Calibri"/>
              </a:rPr>
              <a:t>distant</a:t>
            </a:r>
            <a:r>
              <a:rPr sz="2000" spc="-20" dirty="0">
                <a:solidFill>
                  <a:srgbClr val="12171A"/>
                </a:solidFill>
                <a:latin typeface="Calibri"/>
                <a:cs typeface="Calibri"/>
              </a:rPr>
              <a:t> </a:t>
            </a:r>
            <a:r>
              <a:rPr sz="2000" dirty="0">
                <a:solidFill>
                  <a:srgbClr val="12171A"/>
                </a:solidFill>
                <a:latin typeface="Calibri"/>
                <a:cs typeface="Calibri"/>
              </a:rPr>
              <a:t>from</a:t>
            </a:r>
            <a:r>
              <a:rPr sz="2000" spc="-20" dirty="0">
                <a:solidFill>
                  <a:srgbClr val="12171A"/>
                </a:solidFill>
                <a:latin typeface="Calibri"/>
                <a:cs typeface="Calibri"/>
              </a:rPr>
              <a:t> </a:t>
            </a:r>
            <a:r>
              <a:rPr sz="2000" dirty="0">
                <a:solidFill>
                  <a:srgbClr val="12171A"/>
                </a:solidFill>
                <a:latin typeface="Calibri"/>
                <a:cs typeface="Calibri"/>
              </a:rPr>
              <a:t>one</a:t>
            </a:r>
            <a:r>
              <a:rPr sz="2000" spc="-30" dirty="0">
                <a:solidFill>
                  <a:srgbClr val="12171A"/>
                </a:solidFill>
                <a:latin typeface="Calibri"/>
                <a:cs typeface="Calibri"/>
              </a:rPr>
              <a:t> </a:t>
            </a:r>
            <a:r>
              <a:rPr sz="2000" spc="-10" dirty="0">
                <a:solidFill>
                  <a:srgbClr val="12171A"/>
                </a:solidFill>
                <a:latin typeface="Calibri"/>
                <a:cs typeface="Calibri"/>
              </a:rPr>
              <a:t>another.</a:t>
            </a:r>
            <a:endParaRPr sz="2000">
              <a:latin typeface="Calibri"/>
              <a:cs typeface="Calibri"/>
            </a:endParaRPr>
          </a:p>
          <a:p>
            <a:pPr marL="850900" lvl="1" indent="-334010">
              <a:lnSpc>
                <a:spcPts val="2155"/>
              </a:lnSpc>
              <a:spcBef>
                <a:spcPts val="20"/>
              </a:spcBef>
              <a:buClr>
                <a:srgbClr val="121618"/>
              </a:buClr>
              <a:buSzPct val="94444"/>
              <a:buFont typeface="Wingdings"/>
              <a:buChar char=""/>
              <a:tabLst>
                <a:tab pos="850900" algn="l"/>
              </a:tabLst>
            </a:pPr>
            <a:r>
              <a:rPr sz="1800" dirty="0">
                <a:solidFill>
                  <a:srgbClr val="12171A"/>
                </a:solidFill>
                <a:latin typeface="Calibri"/>
                <a:cs typeface="Calibri"/>
              </a:rPr>
              <a:t>It</a:t>
            </a:r>
            <a:r>
              <a:rPr sz="1800" spc="-30" dirty="0">
                <a:solidFill>
                  <a:srgbClr val="12171A"/>
                </a:solidFill>
                <a:latin typeface="Calibri"/>
                <a:cs typeface="Calibri"/>
              </a:rPr>
              <a:t> </a:t>
            </a:r>
            <a:r>
              <a:rPr sz="1800" dirty="0">
                <a:solidFill>
                  <a:srgbClr val="12171A"/>
                </a:solidFill>
                <a:latin typeface="Calibri"/>
                <a:cs typeface="Calibri"/>
              </a:rPr>
              <a:t>makes</a:t>
            </a:r>
            <a:r>
              <a:rPr sz="1800" spc="-30" dirty="0">
                <a:solidFill>
                  <a:srgbClr val="12171A"/>
                </a:solidFill>
                <a:latin typeface="Calibri"/>
                <a:cs typeface="Calibri"/>
              </a:rPr>
              <a:t> </a:t>
            </a:r>
            <a:r>
              <a:rPr sz="1800" dirty="0">
                <a:solidFill>
                  <a:srgbClr val="12171A"/>
                </a:solidFill>
                <a:latin typeface="Calibri"/>
                <a:cs typeface="Calibri"/>
              </a:rPr>
              <a:t>the</a:t>
            </a:r>
            <a:r>
              <a:rPr sz="1800" spc="-20" dirty="0">
                <a:solidFill>
                  <a:srgbClr val="12171A"/>
                </a:solidFill>
                <a:latin typeface="Calibri"/>
                <a:cs typeface="Calibri"/>
              </a:rPr>
              <a:t> </a:t>
            </a:r>
            <a:r>
              <a:rPr sz="1800" dirty="0">
                <a:solidFill>
                  <a:srgbClr val="12171A"/>
                </a:solidFill>
                <a:latin typeface="Cambria Math"/>
                <a:cs typeface="Cambria Math"/>
              </a:rPr>
              <a:t>𝑘</a:t>
            </a:r>
            <a:r>
              <a:rPr sz="1800" dirty="0">
                <a:solidFill>
                  <a:srgbClr val="12171A"/>
                </a:solidFill>
                <a:latin typeface="Calibri"/>
                <a:cs typeface="Calibri"/>
              </a:rPr>
              <a:t>-means</a:t>
            </a:r>
            <a:r>
              <a:rPr sz="1800" spc="-20" dirty="0">
                <a:solidFill>
                  <a:srgbClr val="12171A"/>
                </a:solidFill>
                <a:latin typeface="Calibri"/>
                <a:cs typeface="Calibri"/>
              </a:rPr>
              <a:t> </a:t>
            </a:r>
            <a:r>
              <a:rPr sz="1800" dirty="0">
                <a:solidFill>
                  <a:srgbClr val="12171A"/>
                </a:solidFill>
                <a:latin typeface="Calibri"/>
                <a:cs typeface="Calibri"/>
              </a:rPr>
              <a:t>algorithm</a:t>
            </a:r>
            <a:r>
              <a:rPr sz="1800" spc="-20" dirty="0">
                <a:solidFill>
                  <a:srgbClr val="12171A"/>
                </a:solidFill>
                <a:latin typeface="Calibri"/>
                <a:cs typeface="Calibri"/>
              </a:rPr>
              <a:t> </a:t>
            </a:r>
            <a:r>
              <a:rPr sz="1800" dirty="0">
                <a:solidFill>
                  <a:srgbClr val="12171A"/>
                </a:solidFill>
                <a:latin typeface="Calibri"/>
                <a:cs typeface="Calibri"/>
              </a:rPr>
              <a:t>much</a:t>
            </a:r>
            <a:r>
              <a:rPr sz="1800" spc="-15" dirty="0">
                <a:solidFill>
                  <a:srgbClr val="12171A"/>
                </a:solidFill>
                <a:latin typeface="Calibri"/>
                <a:cs typeface="Calibri"/>
              </a:rPr>
              <a:t> </a:t>
            </a:r>
            <a:r>
              <a:rPr sz="1800" dirty="0">
                <a:solidFill>
                  <a:srgbClr val="12171A"/>
                </a:solidFill>
                <a:latin typeface="Calibri"/>
                <a:cs typeface="Calibri"/>
              </a:rPr>
              <a:t>less</a:t>
            </a:r>
            <a:r>
              <a:rPr sz="1800" spc="-35" dirty="0">
                <a:solidFill>
                  <a:srgbClr val="12171A"/>
                </a:solidFill>
                <a:latin typeface="Calibri"/>
                <a:cs typeface="Calibri"/>
              </a:rPr>
              <a:t> </a:t>
            </a:r>
            <a:r>
              <a:rPr sz="1800" dirty="0">
                <a:solidFill>
                  <a:srgbClr val="12171A"/>
                </a:solidFill>
                <a:latin typeface="Calibri"/>
                <a:cs typeface="Calibri"/>
              </a:rPr>
              <a:t>likely</a:t>
            </a:r>
            <a:r>
              <a:rPr sz="1800" spc="-15" dirty="0">
                <a:solidFill>
                  <a:srgbClr val="12171A"/>
                </a:solidFill>
                <a:latin typeface="Calibri"/>
                <a:cs typeface="Calibri"/>
              </a:rPr>
              <a:t> </a:t>
            </a:r>
            <a:r>
              <a:rPr sz="1800" dirty="0">
                <a:solidFill>
                  <a:srgbClr val="12171A"/>
                </a:solidFill>
                <a:latin typeface="Calibri"/>
                <a:cs typeface="Calibri"/>
              </a:rPr>
              <a:t>to</a:t>
            </a:r>
            <a:r>
              <a:rPr sz="1800" spc="-20" dirty="0">
                <a:solidFill>
                  <a:srgbClr val="12171A"/>
                </a:solidFill>
                <a:latin typeface="Calibri"/>
                <a:cs typeface="Calibri"/>
              </a:rPr>
              <a:t> </a:t>
            </a:r>
            <a:r>
              <a:rPr sz="1800" dirty="0">
                <a:solidFill>
                  <a:srgbClr val="12171A"/>
                </a:solidFill>
                <a:latin typeface="Calibri"/>
                <a:cs typeface="Calibri"/>
              </a:rPr>
              <a:t>converge</a:t>
            </a:r>
            <a:r>
              <a:rPr sz="1800" spc="-10" dirty="0">
                <a:solidFill>
                  <a:srgbClr val="12171A"/>
                </a:solidFill>
                <a:latin typeface="Calibri"/>
                <a:cs typeface="Calibri"/>
              </a:rPr>
              <a:t> </a:t>
            </a:r>
            <a:r>
              <a:rPr sz="1800" spc="-25" dirty="0">
                <a:solidFill>
                  <a:srgbClr val="12171A"/>
                </a:solidFill>
                <a:latin typeface="Calibri"/>
                <a:cs typeface="Calibri"/>
              </a:rPr>
              <a:t>to</a:t>
            </a:r>
            <a:endParaRPr sz="1800">
              <a:latin typeface="Calibri"/>
              <a:cs typeface="Calibri"/>
            </a:endParaRPr>
          </a:p>
          <a:p>
            <a:pPr marL="850900">
              <a:lnSpc>
                <a:spcPts val="2155"/>
              </a:lnSpc>
            </a:pPr>
            <a:r>
              <a:rPr sz="1800" dirty="0">
                <a:solidFill>
                  <a:srgbClr val="12171A"/>
                </a:solidFill>
                <a:latin typeface="Calibri"/>
                <a:cs typeface="Calibri"/>
              </a:rPr>
              <a:t>a</a:t>
            </a:r>
            <a:r>
              <a:rPr sz="1800" spc="-30" dirty="0">
                <a:solidFill>
                  <a:srgbClr val="12171A"/>
                </a:solidFill>
                <a:latin typeface="Calibri"/>
                <a:cs typeface="Calibri"/>
              </a:rPr>
              <a:t> </a:t>
            </a:r>
            <a:r>
              <a:rPr sz="1800" dirty="0">
                <a:solidFill>
                  <a:srgbClr val="12171A"/>
                </a:solidFill>
                <a:latin typeface="Calibri"/>
                <a:cs typeface="Calibri"/>
              </a:rPr>
              <a:t>suboptimal</a:t>
            </a:r>
            <a:r>
              <a:rPr sz="1800" spc="-20" dirty="0">
                <a:solidFill>
                  <a:srgbClr val="12171A"/>
                </a:solidFill>
                <a:latin typeface="Calibri"/>
                <a:cs typeface="Calibri"/>
              </a:rPr>
              <a:t> </a:t>
            </a:r>
            <a:r>
              <a:rPr sz="1800" spc="-10" dirty="0">
                <a:solidFill>
                  <a:srgbClr val="12171A"/>
                </a:solidFill>
                <a:latin typeface="Calibri"/>
                <a:cs typeface="Calibri"/>
              </a:rPr>
              <a:t>solution.</a:t>
            </a:r>
            <a:endParaRPr sz="1800">
              <a:latin typeface="Calibri"/>
              <a:cs typeface="Calibri"/>
            </a:endParaRPr>
          </a:p>
          <a:p>
            <a:pPr marL="299085" indent="-248285">
              <a:lnSpc>
                <a:spcPct val="100000"/>
              </a:lnSpc>
              <a:spcBef>
                <a:spcPts val="710"/>
              </a:spcBef>
              <a:buAutoNum type="arabicPeriod"/>
              <a:tabLst>
                <a:tab pos="299085" algn="l"/>
              </a:tabLst>
            </a:pPr>
            <a:r>
              <a:rPr sz="2000" dirty="0">
                <a:solidFill>
                  <a:srgbClr val="12171A"/>
                </a:solidFill>
                <a:latin typeface="Calibri"/>
                <a:cs typeface="Calibri"/>
              </a:rPr>
              <a:t>Take</a:t>
            </a:r>
            <a:r>
              <a:rPr sz="2000" spc="-15" dirty="0">
                <a:solidFill>
                  <a:srgbClr val="12171A"/>
                </a:solidFill>
                <a:latin typeface="Calibri"/>
                <a:cs typeface="Calibri"/>
              </a:rPr>
              <a:t> </a:t>
            </a:r>
            <a:r>
              <a:rPr sz="2000" dirty="0">
                <a:solidFill>
                  <a:srgbClr val="12171A"/>
                </a:solidFill>
                <a:latin typeface="Calibri"/>
                <a:cs typeface="Calibri"/>
              </a:rPr>
              <a:t>one</a:t>
            </a:r>
            <a:r>
              <a:rPr sz="2000" spc="-20" dirty="0">
                <a:solidFill>
                  <a:srgbClr val="12171A"/>
                </a:solidFill>
                <a:latin typeface="Calibri"/>
                <a:cs typeface="Calibri"/>
              </a:rPr>
              <a:t> </a:t>
            </a:r>
            <a:r>
              <a:rPr sz="2000" dirty="0">
                <a:solidFill>
                  <a:srgbClr val="12171A"/>
                </a:solidFill>
                <a:latin typeface="Calibri"/>
                <a:cs typeface="Calibri"/>
              </a:rPr>
              <a:t>centroid</a:t>
            </a:r>
            <a:r>
              <a:rPr sz="2000" spc="-25" dirty="0">
                <a:solidFill>
                  <a:srgbClr val="12171A"/>
                </a:solidFill>
                <a:latin typeface="Calibri"/>
                <a:cs typeface="Calibri"/>
              </a:rPr>
              <a:t> </a:t>
            </a:r>
            <a:r>
              <a:rPr sz="2000" dirty="0">
                <a:solidFill>
                  <a:srgbClr val="12171A"/>
                </a:solidFill>
                <a:latin typeface="Cambria Math"/>
                <a:cs typeface="Cambria Math"/>
              </a:rPr>
              <a:t>𝒄</a:t>
            </a:r>
            <a:r>
              <a:rPr sz="2175" baseline="28735" dirty="0">
                <a:solidFill>
                  <a:srgbClr val="12171A"/>
                </a:solidFill>
                <a:latin typeface="Cambria Math"/>
                <a:cs typeface="Cambria Math"/>
              </a:rPr>
              <a:t>(1)</a:t>
            </a:r>
            <a:r>
              <a:rPr sz="2000" dirty="0">
                <a:solidFill>
                  <a:srgbClr val="12171A"/>
                </a:solidFill>
                <a:latin typeface="Calibri"/>
                <a:cs typeface="Calibri"/>
              </a:rPr>
              <a:t>,</a:t>
            </a:r>
            <a:r>
              <a:rPr sz="2000" spc="-10" dirty="0">
                <a:solidFill>
                  <a:srgbClr val="12171A"/>
                </a:solidFill>
                <a:latin typeface="Calibri"/>
                <a:cs typeface="Calibri"/>
              </a:rPr>
              <a:t> </a:t>
            </a:r>
            <a:r>
              <a:rPr sz="2000" dirty="0">
                <a:solidFill>
                  <a:srgbClr val="12171A"/>
                </a:solidFill>
                <a:latin typeface="Calibri"/>
                <a:cs typeface="Calibri"/>
              </a:rPr>
              <a:t>chosen</a:t>
            </a:r>
            <a:r>
              <a:rPr sz="2000" spc="-20" dirty="0">
                <a:solidFill>
                  <a:srgbClr val="12171A"/>
                </a:solidFill>
                <a:latin typeface="Calibri"/>
                <a:cs typeface="Calibri"/>
              </a:rPr>
              <a:t> </a:t>
            </a:r>
            <a:r>
              <a:rPr sz="2000" dirty="0">
                <a:solidFill>
                  <a:srgbClr val="12171A"/>
                </a:solidFill>
                <a:latin typeface="Calibri"/>
                <a:cs typeface="Calibri"/>
              </a:rPr>
              <a:t>uniformly</a:t>
            </a:r>
            <a:r>
              <a:rPr sz="2000" spc="-15" dirty="0">
                <a:solidFill>
                  <a:srgbClr val="12171A"/>
                </a:solidFill>
                <a:latin typeface="Calibri"/>
                <a:cs typeface="Calibri"/>
              </a:rPr>
              <a:t> </a:t>
            </a:r>
            <a:r>
              <a:rPr sz="2000" dirty="0">
                <a:solidFill>
                  <a:srgbClr val="12171A"/>
                </a:solidFill>
                <a:latin typeface="Calibri"/>
                <a:cs typeface="Calibri"/>
              </a:rPr>
              <a:t>at</a:t>
            </a:r>
            <a:r>
              <a:rPr sz="2000" spc="-5" dirty="0">
                <a:solidFill>
                  <a:srgbClr val="12171A"/>
                </a:solidFill>
                <a:latin typeface="Calibri"/>
                <a:cs typeface="Calibri"/>
              </a:rPr>
              <a:t> </a:t>
            </a:r>
            <a:r>
              <a:rPr sz="2000" dirty="0">
                <a:solidFill>
                  <a:srgbClr val="12171A"/>
                </a:solidFill>
                <a:latin typeface="Calibri"/>
                <a:cs typeface="Calibri"/>
              </a:rPr>
              <a:t>random</a:t>
            </a:r>
            <a:r>
              <a:rPr sz="2000" spc="-25" dirty="0">
                <a:solidFill>
                  <a:srgbClr val="12171A"/>
                </a:solidFill>
                <a:latin typeface="Calibri"/>
                <a:cs typeface="Calibri"/>
              </a:rPr>
              <a:t> </a:t>
            </a:r>
            <a:r>
              <a:rPr sz="2000" dirty="0">
                <a:solidFill>
                  <a:srgbClr val="12171A"/>
                </a:solidFill>
                <a:latin typeface="Calibri"/>
                <a:cs typeface="Calibri"/>
              </a:rPr>
              <a:t>from</a:t>
            </a:r>
            <a:r>
              <a:rPr sz="2000" spc="-20" dirty="0">
                <a:solidFill>
                  <a:srgbClr val="12171A"/>
                </a:solidFill>
                <a:latin typeface="Calibri"/>
                <a:cs typeface="Calibri"/>
              </a:rPr>
              <a:t> </a:t>
            </a:r>
            <a:r>
              <a:rPr sz="2000" dirty="0">
                <a:solidFill>
                  <a:srgbClr val="12171A"/>
                </a:solidFill>
                <a:latin typeface="Calibri"/>
                <a:cs typeface="Calibri"/>
              </a:rPr>
              <a:t>the</a:t>
            </a:r>
            <a:r>
              <a:rPr sz="2000" spc="-15" dirty="0">
                <a:solidFill>
                  <a:srgbClr val="12171A"/>
                </a:solidFill>
                <a:latin typeface="Calibri"/>
                <a:cs typeface="Calibri"/>
              </a:rPr>
              <a:t> </a:t>
            </a:r>
            <a:r>
              <a:rPr sz="2000" spc="-10" dirty="0">
                <a:solidFill>
                  <a:srgbClr val="12171A"/>
                </a:solidFill>
                <a:latin typeface="Calibri"/>
                <a:cs typeface="Calibri"/>
              </a:rPr>
              <a:t>dataset.</a:t>
            </a:r>
            <a:endParaRPr sz="2000">
              <a:latin typeface="Calibri"/>
              <a:cs typeface="Calibri"/>
            </a:endParaRPr>
          </a:p>
          <a:p>
            <a:pPr marL="299085" indent="-248285">
              <a:lnSpc>
                <a:spcPct val="100000"/>
              </a:lnSpc>
              <a:spcBef>
                <a:spcPts val="700"/>
              </a:spcBef>
              <a:buAutoNum type="arabicPeriod"/>
              <a:tabLst>
                <a:tab pos="299085" algn="l"/>
              </a:tabLst>
            </a:pPr>
            <a:r>
              <a:rPr sz="2000" dirty="0">
                <a:solidFill>
                  <a:srgbClr val="12171A"/>
                </a:solidFill>
                <a:latin typeface="Calibri"/>
                <a:cs typeface="Calibri"/>
              </a:rPr>
              <a:t>Take</a:t>
            </a:r>
            <a:r>
              <a:rPr sz="2000" spc="5" dirty="0">
                <a:solidFill>
                  <a:srgbClr val="12171A"/>
                </a:solidFill>
                <a:latin typeface="Calibri"/>
                <a:cs typeface="Calibri"/>
              </a:rPr>
              <a:t> </a:t>
            </a:r>
            <a:r>
              <a:rPr sz="2000" dirty="0">
                <a:solidFill>
                  <a:srgbClr val="12171A"/>
                </a:solidFill>
                <a:latin typeface="Calibri"/>
                <a:cs typeface="Calibri"/>
              </a:rPr>
              <a:t>a</a:t>
            </a:r>
            <a:r>
              <a:rPr sz="2000" spc="10" dirty="0">
                <a:solidFill>
                  <a:srgbClr val="12171A"/>
                </a:solidFill>
                <a:latin typeface="Calibri"/>
                <a:cs typeface="Calibri"/>
              </a:rPr>
              <a:t> </a:t>
            </a:r>
            <a:r>
              <a:rPr sz="2000" dirty="0">
                <a:solidFill>
                  <a:srgbClr val="12171A"/>
                </a:solidFill>
                <a:latin typeface="Calibri"/>
                <a:cs typeface="Calibri"/>
              </a:rPr>
              <a:t>new</a:t>
            </a:r>
            <a:r>
              <a:rPr sz="2000" spc="-10" dirty="0">
                <a:solidFill>
                  <a:srgbClr val="12171A"/>
                </a:solidFill>
                <a:latin typeface="Calibri"/>
                <a:cs typeface="Calibri"/>
              </a:rPr>
              <a:t> </a:t>
            </a:r>
            <a:r>
              <a:rPr sz="2000" dirty="0">
                <a:solidFill>
                  <a:srgbClr val="12171A"/>
                </a:solidFill>
                <a:latin typeface="Calibri"/>
                <a:cs typeface="Calibri"/>
              </a:rPr>
              <a:t>centroid</a:t>
            </a:r>
            <a:r>
              <a:rPr sz="2000" spc="5" dirty="0">
                <a:solidFill>
                  <a:srgbClr val="12171A"/>
                </a:solidFill>
                <a:latin typeface="Calibri"/>
                <a:cs typeface="Calibri"/>
              </a:rPr>
              <a:t> </a:t>
            </a:r>
            <a:r>
              <a:rPr sz="2000" dirty="0">
                <a:solidFill>
                  <a:srgbClr val="12171A"/>
                </a:solidFill>
                <a:latin typeface="Cambria Math"/>
                <a:cs typeface="Cambria Math"/>
              </a:rPr>
              <a:t>𝒄</a:t>
            </a:r>
            <a:r>
              <a:rPr sz="2175" baseline="28735" dirty="0">
                <a:solidFill>
                  <a:srgbClr val="12171A"/>
                </a:solidFill>
                <a:latin typeface="Cambria Math"/>
                <a:cs typeface="Cambria Math"/>
              </a:rPr>
              <a:t>(𝑖)</a:t>
            </a:r>
            <a:r>
              <a:rPr sz="2000" dirty="0">
                <a:solidFill>
                  <a:srgbClr val="12171A"/>
                </a:solidFill>
                <a:latin typeface="Calibri"/>
                <a:cs typeface="Calibri"/>
              </a:rPr>
              <a:t>,</a:t>
            </a:r>
            <a:r>
              <a:rPr sz="2000" spc="10" dirty="0">
                <a:solidFill>
                  <a:srgbClr val="12171A"/>
                </a:solidFill>
                <a:latin typeface="Calibri"/>
                <a:cs typeface="Calibri"/>
              </a:rPr>
              <a:t> </a:t>
            </a:r>
            <a:r>
              <a:rPr sz="2000" dirty="0">
                <a:solidFill>
                  <a:srgbClr val="12171A"/>
                </a:solidFill>
                <a:latin typeface="Calibri"/>
                <a:cs typeface="Calibri"/>
              </a:rPr>
              <a:t>choosing</a:t>
            </a:r>
            <a:r>
              <a:rPr sz="2000" spc="-10" dirty="0">
                <a:solidFill>
                  <a:srgbClr val="12171A"/>
                </a:solidFill>
                <a:latin typeface="Calibri"/>
                <a:cs typeface="Calibri"/>
              </a:rPr>
              <a:t> </a:t>
            </a:r>
            <a:r>
              <a:rPr sz="2000" dirty="0">
                <a:solidFill>
                  <a:srgbClr val="12171A"/>
                </a:solidFill>
                <a:latin typeface="Calibri"/>
                <a:cs typeface="Calibri"/>
              </a:rPr>
              <a:t>an</a:t>
            </a:r>
            <a:r>
              <a:rPr sz="2000" spc="10" dirty="0">
                <a:solidFill>
                  <a:srgbClr val="12171A"/>
                </a:solidFill>
                <a:latin typeface="Calibri"/>
                <a:cs typeface="Calibri"/>
              </a:rPr>
              <a:t> </a:t>
            </a:r>
            <a:r>
              <a:rPr sz="2000" dirty="0">
                <a:solidFill>
                  <a:srgbClr val="12171A"/>
                </a:solidFill>
                <a:latin typeface="Calibri"/>
                <a:cs typeface="Calibri"/>
              </a:rPr>
              <a:t>instance</a:t>
            </a:r>
            <a:r>
              <a:rPr sz="2000" spc="5" dirty="0">
                <a:solidFill>
                  <a:srgbClr val="12171A"/>
                </a:solidFill>
                <a:latin typeface="Calibri"/>
                <a:cs typeface="Calibri"/>
              </a:rPr>
              <a:t> </a:t>
            </a:r>
            <a:r>
              <a:rPr sz="2000" dirty="0">
                <a:solidFill>
                  <a:srgbClr val="12171A"/>
                </a:solidFill>
                <a:latin typeface="Cambria Math"/>
                <a:cs typeface="Cambria Math"/>
              </a:rPr>
              <a:t>𝐱</a:t>
            </a:r>
            <a:r>
              <a:rPr sz="2175" baseline="28735" dirty="0">
                <a:solidFill>
                  <a:srgbClr val="12171A"/>
                </a:solidFill>
                <a:latin typeface="Cambria Math"/>
                <a:cs typeface="Cambria Math"/>
              </a:rPr>
              <a:t>(𝑖)</a:t>
            </a:r>
            <a:r>
              <a:rPr sz="2175" spc="337" baseline="28735" dirty="0">
                <a:solidFill>
                  <a:srgbClr val="12171A"/>
                </a:solidFill>
                <a:latin typeface="Cambria Math"/>
                <a:cs typeface="Cambria Math"/>
              </a:rPr>
              <a:t> </a:t>
            </a:r>
            <a:r>
              <a:rPr sz="2000" dirty="0">
                <a:solidFill>
                  <a:srgbClr val="12171A"/>
                </a:solidFill>
                <a:latin typeface="Calibri"/>
                <a:cs typeface="Calibri"/>
              </a:rPr>
              <a:t>with</a:t>
            </a:r>
            <a:r>
              <a:rPr sz="2000" spc="5" dirty="0">
                <a:solidFill>
                  <a:srgbClr val="12171A"/>
                </a:solidFill>
                <a:latin typeface="Calibri"/>
                <a:cs typeface="Calibri"/>
              </a:rPr>
              <a:t> </a:t>
            </a:r>
            <a:r>
              <a:rPr sz="2000" spc="-10" dirty="0">
                <a:solidFill>
                  <a:srgbClr val="12171A"/>
                </a:solidFill>
                <a:latin typeface="Calibri"/>
                <a:cs typeface="Calibri"/>
              </a:rPr>
              <a:t>probability</a:t>
            </a:r>
            <a:endParaRPr sz="2000">
              <a:latin typeface="Calibri"/>
              <a:cs typeface="Calibri"/>
            </a:endParaRPr>
          </a:p>
          <a:p>
            <a:pPr marL="1230630">
              <a:lnSpc>
                <a:spcPct val="100000"/>
              </a:lnSpc>
              <a:spcBef>
                <a:spcPts val="509"/>
              </a:spcBef>
            </a:pPr>
            <a:r>
              <a:rPr sz="1200" spc="-50" dirty="0">
                <a:solidFill>
                  <a:srgbClr val="12171A"/>
                </a:solidFill>
                <a:latin typeface="Cambria Math"/>
                <a:cs typeface="Cambria Math"/>
              </a:rPr>
              <a:t>2</a:t>
            </a:r>
            <a:endParaRPr sz="1200">
              <a:latin typeface="Cambria Math"/>
              <a:cs typeface="Cambria Math"/>
            </a:endParaRPr>
          </a:p>
        </p:txBody>
      </p:sp>
      <p:sp>
        <p:nvSpPr>
          <p:cNvPr id="8" name="object 8"/>
          <p:cNvSpPr txBox="1"/>
          <p:nvPr/>
        </p:nvSpPr>
        <p:spPr>
          <a:xfrm>
            <a:off x="1168095" y="3770477"/>
            <a:ext cx="305435" cy="208279"/>
          </a:xfrm>
          <a:prstGeom prst="rect">
            <a:avLst/>
          </a:prstGeom>
        </p:spPr>
        <p:txBody>
          <a:bodyPr vert="horz" wrap="square" lIns="0" tIns="12700" rIns="0" bIns="0" rtlCol="0">
            <a:spAutoFit/>
          </a:bodyPr>
          <a:lstStyle/>
          <a:p>
            <a:pPr marL="12700">
              <a:lnSpc>
                <a:spcPct val="100000"/>
              </a:lnSpc>
              <a:spcBef>
                <a:spcPts val="100"/>
              </a:spcBef>
            </a:pPr>
            <a:r>
              <a:rPr sz="1200" spc="35" dirty="0">
                <a:solidFill>
                  <a:srgbClr val="12171A"/>
                </a:solidFill>
                <a:latin typeface="Cambria Math"/>
                <a:cs typeface="Cambria Math"/>
              </a:rPr>
              <a:t>𝑗=1</a:t>
            </a:r>
            <a:endParaRPr sz="1200">
              <a:latin typeface="Cambria Math"/>
              <a:cs typeface="Cambria Math"/>
            </a:endParaRPr>
          </a:p>
        </p:txBody>
      </p:sp>
      <p:sp>
        <p:nvSpPr>
          <p:cNvPr id="9" name="object 9"/>
          <p:cNvSpPr txBox="1"/>
          <p:nvPr/>
        </p:nvSpPr>
        <p:spPr>
          <a:xfrm>
            <a:off x="1011631" y="3599814"/>
            <a:ext cx="361315" cy="248920"/>
          </a:xfrm>
          <a:prstGeom prst="rect">
            <a:avLst/>
          </a:prstGeom>
        </p:spPr>
        <p:txBody>
          <a:bodyPr vert="horz" wrap="square" lIns="0" tIns="14605" rIns="0" bIns="0" rtlCol="0">
            <a:spAutoFit/>
          </a:bodyPr>
          <a:lstStyle/>
          <a:p>
            <a:pPr marL="38100">
              <a:lnSpc>
                <a:spcPct val="100000"/>
              </a:lnSpc>
              <a:spcBef>
                <a:spcPts val="115"/>
              </a:spcBef>
            </a:pPr>
            <a:r>
              <a:rPr sz="2175" spc="254" baseline="-21072" dirty="0">
                <a:solidFill>
                  <a:srgbClr val="12171A"/>
                </a:solidFill>
                <a:latin typeface="Cambria Math"/>
                <a:cs typeface="Cambria Math"/>
              </a:rPr>
              <a:t>σ</a:t>
            </a:r>
            <a:r>
              <a:rPr sz="1200" spc="170" dirty="0">
                <a:solidFill>
                  <a:srgbClr val="12171A"/>
                </a:solidFill>
                <a:latin typeface="Cambria Math"/>
                <a:cs typeface="Cambria Math"/>
              </a:rPr>
              <a:t>𝑚</a:t>
            </a:r>
            <a:endParaRPr sz="1200">
              <a:latin typeface="Cambria Math"/>
              <a:cs typeface="Cambria Math"/>
            </a:endParaRPr>
          </a:p>
        </p:txBody>
      </p:sp>
      <p:grpSp>
        <p:nvGrpSpPr>
          <p:cNvPr id="10" name="object 10"/>
          <p:cNvGrpSpPr/>
          <p:nvPr/>
        </p:nvGrpSpPr>
        <p:grpSpPr>
          <a:xfrm>
            <a:off x="1657350" y="3703446"/>
            <a:ext cx="448945" cy="229235"/>
            <a:chOff x="1657350" y="3703446"/>
            <a:chExt cx="448945" cy="229235"/>
          </a:xfrm>
        </p:grpSpPr>
        <p:sp>
          <p:nvSpPr>
            <p:cNvPr id="11" name="object 11"/>
            <p:cNvSpPr/>
            <p:nvPr/>
          </p:nvSpPr>
          <p:spPr>
            <a:xfrm>
              <a:off x="1657350" y="3708018"/>
              <a:ext cx="448945" cy="224790"/>
            </a:xfrm>
            <a:custGeom>
              <a:avLst/>
              <a:gdLst/>
              <a:ahLst/>
              <a:cxnLst/>
              <a:rect l="l" t="t" r="r" b="b"/>
              <a:pathLst>
                <a:path w="448944" h="224789">
                  <a:moveTo>
                    <a:pt x="389508" y="0"/>
                  </a:moveTo>
                  <a:lnTo>
                    <a:pt x="387350" y="7492"/>
                  </a:lnTo>
                  <a:lnTo>
                    <a:pt x="397638" y="12825"/>
                  </a:lnTo>
                  <a:lnTo>
                    <a:pt x="406606" y="20621"/>
                  </a:lnTo>
                  <a:lnTo>
                    <a:pt x="425551" y="58281"/>
                  </a:lnTo>
                  <a:lnTo>
                    <a:pt x="431110" y="91793"/>
                  </a:lnTo>
                  <a:lnTo>
                    <a:pt x="431214" y="92674"/>
                  </a:lnTo>
                  <a:lnTo>
                    <a:pt x="431926" y="112394"/>
                  </a:lnTo>
                  <a:lnTo>
                    <a:pt x="431214" y="132115"/>
                  </a:lnTo>
                  <a:lnTo>
                    <a:pt x="429085" y="150144"/>
                  </a:lnTo>
                  <a:lnTo>
                    <a:pt x="414264" y="193860"/>
                  </a:lnTo>
                  <a:lnTo>
                    <a:pt x="387350" y="217208"/>
                  </a:lnTo>
                  <a:lnTo>
                    <a:pt x="389508" y="224650"/>
                  </a:lnTo>
                  <a:lnTo>
                    <a:pt x="424745" y="200157"/>
                  </a:lnTo>
                  <a:lnTo>
                    <a:pt x="444738" y="152084"/>
                  </a:lnTo>
                  <a:lnTo>
                    <a:pt x="448563" y="112394"/>
                  </a:lnTo>
                  <a:lnTo>
                    <a:pt x="447650" y="92674"/>
                  </a:lnTo>
                  <a:lnTo>
                    <a:pt x="447609" y="91793"/>
                  </a:lnTo>
                  <a:lnTo>
                    <a:pt x="433197" y="38607"/>
                  </a:lnTo>
                  <a:lnTo>
                    <a:pt x="402889" y="5210"/>
                  </a:lnTo>
                  <a:lnTo>
                    <a:pt x="389508" y="0"/>
                  </a:lnTo>
                  <a:close/>
                </a:path>
                <a:path w="448944" h="224789">
                  <a:moveTo>
                    <a:pt x="58927" y="0"/>
                  </a:moveTo>
                  <a:lnTo>
                    <a:pt x="23816" y="24538"/>
                  </a:lnTo>
                  <a:lnTo>
                    <a:pt x="3825" y="72643"/>
                  </a:lnTo>
                  <a:lnTo>
                    <a:pt x="0" y="112394"/>
                  </a:lnTo>
                  <a:lnTo>
                    <a:pt x="916" y="132115"/>
                  </a:lnTo>
                  <a:lnTo>
                    <a:pt x="8626" y="169800"/>
                  </a:lnTo>
                  <a:lnTo>
                    <a:pt x="33908" y="211283"/>
                  </a:lnTo>
                  <a:lnTo>
                    <a:pt x="58927" y="224650"/>
                  </a:lnTo>
                  <a:lnTo>
                    <a:pt x="61213" y="217208"/>
                  </a:lnTo>
                  <a:lnTo>
                    <a:pt x="50925" y="211857"/>
                  </a:lnTo>
                  <a:lnTo>
                    <a:pt x="41957" y="204074"/>
                  </a:lnTo>
                  <a:lnTo>
                    <a:pt x="23012" y="166503"/>
                  </a:lnTo>
                  <a:lnTo>
                    <a:pt x="17446" y="132941"/>
                  </a:lnTo>
                  <a:lnTo>
                    <a:pt x="17349" y="132115"/>
                  </a:lnTo>
                  <a:lnTo>
                    <a:pt x="16637" y="112394"/>
                  </a:lnTo>
                  <a:lnTo>
                    <a:pt x="17349" y="92674"/>
                  </a:lnTo>
                  <a:lnTo>
                    <a:pt x="19478" y="74644"/>
                  </a:lnTo>
                  <a:lnTo>
                    <a:pt x="34299" y="30870"/>
                  </a:lnTo>
                  <a:lnTo>
                    <a:pt x="61213" y="7492"/>
                  </a:lnTo>
                  <a:lnTo>
                    <a:pt x="58927" y="0"/>
                  </a:lnTo>
                  <a:close/>
                </a:path>
              </a:pathLst>
            </a:custGeom>
            <a:solidFill>
              <a:srgbClr val="12171A"/>
            </a:solidFill>
          </p:spPr>
          <p:txBody>
            <a:bodyPr wrap="square" lIns="0" tIns="0" rIns="0" bIns="0" rtlCol="0"/>
            <a:lstStyle/>
            <a:p>
              <a:endParaRPr/>
            </a:p>
          </p:txBody>
        </p:sp>
        <p:pic>
          <p:nvPicPr>
            <p:cNvPr id="12" name="object 12"/>
            <p:cNvPicPr/>
            <p:nvPr/>
          </p:nvPicPr>
          <p:blipFill>
            <a:blip r:embed="rId3" cstate="print"/>
            <a:stretch>
              <a:fillRect/>
            </a:stretch>
          </p:blipFill>
          <p:spPr>
            <a:xfrm>
              <a:off x="1843404" y="3703446"/>
              <a:ext cx="173608" cy="141224"/>
            </a:xfrm>
            <a:prstGeom prst="rect">
              <a:avLst/>
            </a:prstGeom>
          </p:spPr>
        </p:pic>
      </p:grpSp>
      <p:sp>
        <p:nvSpPr>
          <p:cNvPr id="13" name="object 13"/>
          <p:cNvSpPr txBox="1"/>
          <p:nvPr/>
        </p:nvSpPr>
        <p:spPr>
          <a:xfrm>
            <a:off x="1464563" y="3675989"/>
            <a:ext cx="541020" cy="248920"/>
          </a:xfrm>
          <a:prstGeom prst="rect">
            <a:avLst/>
          </a:prstGeom>
        </p:spPr>
        <p:txBody>
          <a:bodyPr vert="horz" wrap="square" lIns="0" tIns="14605" rIns="0" bIns="0" rtlCol="0">
            <a:spAutoFit/>
          </a:bodyPr>
          <a:lstStyle/>
          <a:p>
            <a:pPr marL="38100">
              <a:lnSpc>
                <a:spcPct val="100000"/>
              </a:lnSpc>
              <a:spcBef>
                <a:spcPts val="115"/>
              </a:spcBef>
            </a:pPr>
            <a:r>
              <a:rPr sz="1450" dirty="0">
                <a:solidFill>
                  <a:srgbClr val="12171A"/>
                </a:solidFill>
                <a:latin typeface="Cambria Math"/>
                <a:cs typeface="Cambria Math"/>
              </a:rPr>
              <a:t>𝐷</a:t>
            </a:r>
            <a:r>
              <a:rPr sz="1450" spc="400" dirty="0">
                <a:solidFill>
                  <a:srgbClr val="12171A"/>
                </a:solidFill>
                <a:latin typeface="Cambria Math"/>
                <a:cs typeface="Cambria Math"/>
              </a:rPr>
              <a:t> </a:t>
            </a:r>
            <a:r>
              <a:rPr sz="1450" dirty="0">
                <a:solidFill>
                  <a:srgbClr val="12171A"/>
                </a:solidFill>
                <a:latin typeface="Cambria Math"/>
                <a:cs typeface="Cambria Math"/>
              </a:rPr>
              <a:t>𝐱</a:t>
            </a:r>
            <a:r>
              <a:rPr sz="1450" spc="254" dirty="0">
                <a:solidFill>
                  <a:srgbClr val="12171A"/>
                </a:solidFill>
                <a:latin typeface="Cambria Math"/>
                <a:cs typeface="Cambria Math"/>
              </a:rPr>
              <a:t> </a:t>
            </a:r>
            <a:r>
              <a:rPr sz="1800" spc="142" baseline="20833" dirty="0">
                <a:solidFill>
                  <a:srgbClr val="12171A"/>
                </a:solidFill>
                <a:latin typeface="Cambria Math"/>
                <a:cs typeface="Cambria Math"/>
              </a:rPr>
              <a:t>𝑗</a:t>
            </a:r>
            <a:endParaRPr sz="1800" baseline="20833">
              <a:latin typeface="Cambria Math"/>
              <a:cs typeface="Cambria Math"/>
            </a:endParaRPr>
          </a:p>
        </p:txBody>
      </p:sp>
      <p:pic>
        <p:nvPicPr>
          <p:cNvPr id="14" name="object 14"/>
          <p:cNvPicPr/>
          <p:nvPr/>
        </p:nvPicPr>
        <p:blipFill>
          <a:blip r:embed="rId4" cstate="print"/>
          <a:stretch>
            <a:fillRect/>
          </a:stretch>
        </p:blipFill>
        <p:spPr>
          <a:xfrm>
            <a:off x="3438905" y="3467989"/>
            <a:ext cx="215138" cy="172212"/>
          </a:xfrm>
          <a:prstGeom prst="rect">
            <a:avLst/>
          </a:prstGeom>
        </p:spPr>
      </p:pic>
      <p:sp>
        <p:nvSpPr>
          <p:cNvPr id="15" name="object 15"/>
          <p:cNvSpPr txBox="1"/>
          <p:nvPr/>
        </p:nvSpPr>
        <p:spPr>
          <a:xfrm>
            <a:off x="2083307" y="3433698"/>
            <a:ext cx="6032500" cy="330835"/>
          </a:xfrm>
          <a:prstGeom prst="rect">
            <a:avLst/>
          </a:prstGeom>
        </p:spPr>
        <p:txBody>
          <a:bodyPr vert="horz" wrap="square" lIns="0" tIns="12700" rIns="0" bIns="0" rtlCol="0">
            <a:spAutoFit/>
          </a:bodyPr>
          <a:lstStyle/>
          <a:p>
            <a:pPr marL="38100">
              <a:lnSpc>
                <a:spcPct val="100000"/>
              </a:lnSpc>
              <a:spcBef>
                <a:spcPts val="100"/>
              </a:spcBef>
            </a:pPr>
            <a:r>
              <a:rPr sz="1800" baseline="-16203" dirty="0">
                <a:solidFill>
                  <a:srgbClr val="12171A"/>
                </a:solidFill>
                <a:latin typeface="Cambria Math"/>
                <a:cs typeface="Cambria Math"/>
              </a:rPr>
              <a:t>2</a:t>
            </a:r>
            <a:r>
              <a:rPr sz="1800" spc="307" baseline="-16203" dirty="0">
                <a:solidFill>
                  <a:srgbClr val="12171A"/>
                </a:solidFill>
                <a:latin typeface="Cambria Math"/>
                <a:cs typeface="Cambria Math"/>
              </a:rPr>
              <a:t> </a:t>
            </a:r>
            <a:r>
              <a:rPr sz="2000" dirty="0">
                <a:solidFill>
                  <a:srgbClr val="12171A"/>
                </a:solidFill>
                <a:latin typeface="Calibri"/>
                <a:cs typeface="Calibri"/>
              </a:rPr>
              <a:t>where</a:t>
            </a:r>
            <a:r>
              <a:rPr sz="2000" spc="-15" dirty="0">
                <a:solidFill>
                  <a:srgbClr val="12171A"/>
                </a:solidFill>
                <a:latin typeface="Calibri"/>
                <a:cs typeface="Calibri"/>
              </a:rPr>
              <a:t> </a:t>
            </a:r>
            <a:r>
              <a:rPr sz="2000" dirty="0">
                <a:solidFill>
                  <a:srgbClr val="12171A"/>
                </a:solidFill>
                <a:latin typeface="Cambria Math"/>
                <a:cs typeface="Cambria Math"/>
              </a:rPr>
              <a:t>𝐷(𝐱</a:t>
            </a:r>
            <a:r>
              <a:rPr sz="2000" spc="215" dirty="0">
                <a:solidFill>
                  <a:srgbClr val="12171A"/>
                </a:solidFill>
                <a:latin typeface="Cambria Math"/>
                <a:cs typeface="Cambria Math"/>
              </a:rPr>
              <a:t> </a:t>
            </a:r>
            <a:r>
              <a:rPr sz="2175" spc="232" baseline="28735" dirty="0">
                <a:solidFill>
                  <a:srgbClr val="12171A"/>
                </a:solidFill>
                <a:latin typeface="Cambria Math"/>
                <a:cs typeface="Cambria Math"/>
              </a:rPr>
              <a:t>𝑗</a:t>
            </a:r>
            <a:r>
              <a:rPr sz="2175" spc="600" baseline="28735" dirty="0">
                <a:solidFill>
                  <a:srgbClr val="12171A"/>
                </a:solidFill>
                <a:latin typeface="Cambria Math"/>
                <a:cs typeface="Cambria Math"/>
              </a:rPr>
              <a:t> </a:t>
            </a:r>
            <a:r>
              <a:rPr sz="2000" dirty="0">
                <a:solidFill>
                  <a:srgbClr val="12171A"/>
                </a:solidFill>
                <a:latin typeface="Cambria Math"/>
                <a:cs typeface="Cambria Math"/>
              </a:rPr>
              <a:t>)</a:t>
            </a:r>
            <a:r>
              <a:rPr sz="2000" spc="-30" dirty="0">
                <a:solidFill>
                  <a:srgbClr val="12171A"/>
                </a:solidFill>
                <a:latin typeface="Cambria Math"/>
                <a:cs typeface="Cambria Math"/>
              </a:rPr>
              <a:t> </a:t>
            </a:r>
            <a:r>
              <a:rPr sz="2000" dirty="0">
                <a:solidFill>
                  <a:srgbClr val="12171A"/>
                </a:solidFill>
                <a:latin typeface="Calibri"/>
                <a:cs typeface="Calibri"/>
              </a:rPr>
              <a:t>is</a:t>
            </a:r>
            <a:r>
              <a:rPr sz="2000" spc="-30" dirty="0">
                <a:solidFill>
                  <a:srgbClr val="12171A"/>
                </a:solidFill>
                <a:latin typeface="Calibri"/>
                <a:cs typeface="Calibri"/>
              </a:rPr>
              <a:t> </a:t>
            </a:r>
            <a:r>
              <a:rPr sz="2000" dirty="0">
                <a:solidFill>
                  <a:srgbClr val="12171A"/>
                </a:solidFill>
                <a:latin typeface="Calibri"/>
                <a:cs typeface="Calibri"/>
              </a:rPr>
              <a:t>the</a:t>
            </a:r>
            <a:r>
              <a:rPr sz="2000" spc="-15" dirty="0">
                <a:solidFill>
                  <a:srgbClr val="12171A"/>
                </a:solidFill>
                <a:latin typeface="Calibri"/>
                <a:cs typeface="Calibri"/>
              </a:rPr>
              <a:t> </a:t>
            </a:r>
            <a:r>
              <a:rPr sz="2000" dirty="0">
                <a:solidFill>
                  <a:srgbClr val="12171A"/>
                </a:solidFill>
                <a:latin typeface="Calibri"/>
                <a:cs typeface="Calibri"/>
              </a:rPr>
              <a:t>distance</a:t>
            </a:r>
            <a:r>
              <a:rPr sz="2000" spc="-10" dirty="0">
                <a:solidFill>
                  <a:srgbClr val="12171A"/>
                </a:solidFill>
                <a:latin typeface="Calibri"/>
                <a:cs typeface="Calibri"/>
              </a:rPr>
              <a:t> </a:t>
            </a:r>
            <a:r>
              <a:rPr sz="2000" dirty="0">
                <a:solidFill>
                  <a:srgbClr val="12171A"/>
                </a:solidFill>
                <a:latin typeface="Calibri"/>
                <a:cs typeface="Calibri"/>
              </a:rPr>
              <a:t>between</a:t>
            </a:r>
            <a:r>
              <a:rPr sz="2000" spc="-15" dirty="0">
                <a:solidFill>
                  <a:srgbClr val="12171A"/>
                </a:solidFill>
                <a:latin typeface="Calibri"/>
                <a:cs typeface="Calibri"/>
              </a:rPr>
              <a:t> </a:t>
            </a:r>
            <a:r>
              <a:rPr sz="2000" dirty="0">
                <a:solidFill>
                  <a:srgbClr val="12171A"/>
                </a:solidFill>
                <a:latin typeface="Calibri"/>
                <a:cs typeface="Calibri"/>
              </a:rPr>
              <a:t>the</a:t>
            </a:r>
            <a:r>
              <a:rPr sz="2000" spc="-20" dirty="0">
                <a:solidFill>
                  <a:srgbClr val="12171A"/>
                </a:solidFill>
                <a:latin typeface="Calibri"/>
                <a:cs typeface="Calibri"/>
              </a:rPr>
              <a:t> </a:t>
            </a:r>
            <a:r>
              <a:rPr sz="2000" dirty="0">
                <a:solidFill>
                  <a:srgbClr val="12171A"/>
                </a:solidFill>
                <a:latin typeface="Calibri"/>
                <a:cs typeface="Calibri"/>
              </a:rPr>
              <a:t>instance</a:t>
            </a:r>
            <a:r>
              <a:rPr sz="2000" spc="-10" dirty="0">
                <a:solidFill>
                  <a:srgbClr val="12171A"/>
                </a:solidFill>
                <a:latin typeface="Calibri"/>
                <a:cs typeface="Calibri"/>
              </a:rPr>
              <a:t> </a:t>
            </a:r>
            <a:r>
              <a:rPr sz="2000" spc="45" dirty="0">
                <a:solidFill>
                  <a:srgbClr val="12171A"/>
                </a:solidFill>
                <a:latin typeface="Cambria Math"/>
                <a:cs typeface="Cambria Math"/>
              </a:rPr>
              <a:t>𝐱</a:t>
            </a:r>
            <a:r>
              <a:rPr sz="2175" spc="67" baseline="28735" dirty="0">
                <a:solidFill>
                  <a:srgbClr val="12171A"/>
                </a:solidFill>
                <a:latin typeface="Cambria Math"/>
                <a:cs typeface="Cambria Math"/>
              </a:rPr>
              <a:t>(𝑗)</a:t>
            </a:r>
            <a:endParaRPr sz="2175" baseline="28735">
              <a:latin typeface="Cambria Math"/>
              <a:cs typeface="Cambria Math"/>
            </a:endParaRPr>
          </a:p>
        </p:txBody>
      </p:sp>
      <p:sp>
        <p:nvSpPr>
          <p:cNvPr id="17" name="object 17"/>
          <p:cNvSpPr txBox="1">
            <a:spLocks noGrp="1"/>
          </p:cNvSpPr>
          <p:nvPr>
            <p:ph type="sldNum" sz="quarter" idx="7"/>
          </p:nvPr>
        </p:nvSpPr>
        <p:spPr>
          <a:prstGeom prst="rect">
            <a:avLst/>
          </a:prstGeom>
        </p:spPr>
        <p:txBody>
          <a:bodyPr vert="horz" wrap="square" lIns="0" tIns="10160" rIns="0" bIns="0" rtlCol="0">
            <a:spAutoFit/>
          </a:bodyPr>
          <a:lstStyle/>
          <a:p>
            <a:pPr marL="38100">
              <a:lnSpc>
                <a:spcPct val="100000"/>
              </a:lnSpc>
              <a:spcBef>
                <a:spcPts val="80"/>
              </a:spcBef>
            </a:pPr>
            <a:fld id="{81D60167-4931-47E6-BA6A-407CBD079E47}" type="slidenum">
              <a:rPr spc="-25" dirty="0"/>
              <a:t>53</a:t>
            </a:fld>
            <a:endParaRPr spc="-25" dirty="0"/>
          </a:p>
        </p:txBody>
      </p:sp>
      <p:sp>
        <p:nvSpPr>
          <p:cNvPr id="16" name="object 16"/>
          <p:cNvSpPr txBox="1"/>
          <p:nvPr/>
        </p:nvSpPr>
        <p:spPr>
          <a:xfrm>
            <a:off x="694131" y="4012793"/>
            <a:ext cx="6904355" cy="637540"/>
          </a:xfrm>
          <a:prstGeom prst="rect">
            <a:avLst/>
          </a:prstGeom>
        </p:spPr>
        <p:txBody>
          <a:bodyPr vert="horz" wrap="square" lIns="0" tIns="12700" rIns="0" bIns="0" rtlCol="0">
            <a:spAutoFit/>
          </a:bodyPr>
          <a:lstStyle/>
          <a:p>
            <a:pPr marL="297180">
              <a:lnSpc>
                <a:spcPct val="100000"/>
              </a:lnSpc>
              <a:spcBef>
                <a:spcPts val="100"/>
              </a:spcBef>
            </a:pPr>
            <a:r>
              <a:rPr sz="2000" dirty="0">
                <a:solidFill>
                  <a:srgbClr val="12171A"/>
                </a:solidFill>
                <a:latin typeface="Calibri"/>
                <a:cs typeface="Calibri"/>
              </a:rPr>
              <a:t>and</a:t>
            </a:r>
            <a:r>
              <a:rPr sz="2000" spc="-40" dirty="0">
                <a:solidFill>
                  <a:srgbClr val="12171A"/>
                </a:solidFill>
                <a:latin typeface="Calibri"/>
                <a:cs typeface="Calibri"/>
              </a:rPr>
              <a:t> </a:t>
            </a:r>
            <a:r>
              <a:rPr sz="2000" dirty="0">
                <a:solidFill>
                  <a:srgbClr val="12171A"/>
                </a:solidFill>
                <a:latin typeface="Calibri"/>
                <a:cs typeface="Calibri"/>
              </a:rPr>
              <a:t>the</a:t>
            </a:r>
            <a:r>
              <a:rPr sz="2000" spc="-30" dirty="0">
                <a:solidFill>
                  <a:srgbClr val="12171A"/>
                </a:solidFill>
                <a:latin typeface="Calibri"/>
                <a:cs typeface="Calibri"/>
              </a:rPr>
              <a:t> </a:t>
            </a:r>
            <a:r>
              <a:rPr sz="2000" dirty="0">
                <a:solidFill>
                  <a:srgbClr val="12171A"/>
                </a:solidFill>
                <a:latin typeface="Calibri"/>
                <a:cs typeface="Calibri"/>
              </a:rPr>
              <a:t>closest</a:t>
            </a:r>
            <a:r>
              <a:rPr sz="2000" spc="-30" dirty="0">
                <a:solidFill>
                  <a:srgbClr val="12171A"/>
                </a:solidFill>
                <a:latin typeface="Calibri"/>
                <a:cs typeface="Calibri"/>
              </a:rPr>
              <a:t> </a:t>
            </a:r>
            <a:r>
              <a:rPr sz="2000" dirty="0">
                <a:solidFill>
                  <a:srgbClr val="12171A"/>
                </a:solidFill>
                <a:latin typeface="Calibri"/>
                <a:cs typeface="Calibri"/>
              </a:rPr>
              <a:t>centroid</a:t>
            </a:r>
            <a:r>
              <a:rPr sz="2000" spc="-30" dirty="0">
                <a:solidFill>
                  <a:srgbClr val="12171A"/>
                </a:solidFill>
                <a:latin typeface="Calibri"/>
                <a:cs typeface="Calibri"/>
              </a:rPr>
              <a:t> </a:t>
            </a:r>
            <a:r>
              <a:rPr sz="2000" dirty="0">
                <a:solidFill>
                  <a:srgbClr val="12171A"/>
                </a:solidFill>
                <a:latin typeface="Calibri"/>
                <a:cs typeface="Calibri"/>
              </a:rPr>
              <a:t>that</a:t>
            </a:r>
            <a:r>
              <a:rPr sz="2000" spc="-35" dirty="0">
                <a:solidFill>
                  <a:srgbClr val="12171A"/>
                </a:solidFill>
                <a:latin typeface="Calibri"/>
                <a:cs typeface="Calibri"/>
              </a:rPr>
              <a:t> </a:t>
            </a:r>
            <a:r>
              <a:rPr sz="2000" dirty="0">
                <a:solidFill>
                  <a:srgbClr val="12171A"/>
                </a:solidFill>
                <a:latin typeface="Calibri"/>
                <a:cs typeface="Calibri"/>
              </a:rPr>
              <a:t>was</a:t>
            </a:r>
            <a:r>
              <a:rPr sz="2000" spc="-30" dirty="0">
                <a:solidFill>
                  <a:srgbClr val="12171A"/>
                </a:solidFill>
                <a:latin typeface="Calibri"/>
                <a:cs typeface="Calibri"/>
              </a:rPr>
              <a:t> </a:t>
            </a:r>
            <a:r>
              <a:rPr sz="2000" dirty="0">
                <a:solidFill>
                  <a:srgbClr val="12171A"/>
                </a:solidFill>
                <a:latin typeface="Calibri"/>
                <a:cs typeface="Calibri"/>
              </a:rPr>
              <a:t>already</a:t>
            </a:r>
            <a:r>
              <a:rPr sz="2000" spc="-35" dirty="0">
                <a:solidFill>
                  <a:srgbClr val="12171A"/>
                </a:solidFill>
                <a:latin typeface="Calibri"/>
                <a:cs typeface="Calibri"/>
              </a:rPr>
              <a:t> </a:t>
            </a:r>
            <a:r>
              <a:rPr sz="2000" spc="-10" dirty="0">
                <a:solidFill>
                  <a:srgbClr val="12171A"/>
                </a:solidFill>
                <a:latin typeface="Calibri"/>
                <a:cs typeface="Calibri"/>
              </a:rPr>
              <a:t>chosen.</a:t>
            </a:r>
            <a:endParaRPr sz="2000">
              <a:latin typeface="Calibri"/>
              <a:cs typeface="Calibri"/>
            </a:endParaRPr>
          </a:p>
          <a:p>
            <a:pPr marL="12700">
              <a:lnSpc>
                <a:spcPct val="100000"/>
              </a:lnSpc>
              <a:spcBef>
                <a:spcPts val="15"/>
              </a:spcBef>
            </a:pPr>
            <a:r>
              <a:rPr sz="2000" dirty="0">
                <a:solidFill>
                  <a:srgbClr val="12171A"/>
                </a:solidFill>
                <a:latin typeface="Calibri"/>
                <a:cs typeface="Calibri"/>
              </a:rPr>
              <a:t>3.</a:t>
            </a:r>
            <a:r>
              <a:rPr sz="2000" spc="-45" dirty="0">
                <a:solidFill>
                  <a:srgbClr val="12171A"/>
                </a:solidFill>
                <a:latin typeface="Calibri"/>
                <a:cs typeface="Calibri"/>
              </a:rPr>
              <a:t> </a:t>
            </a:r>
            <a:r>
              <a:rPr sz="2000" dirty="0">
                <a:solidFill>
                  <a:srgbClr val="12171A"/>
                </a:solidFill>
                <a:latin typeface="Calibri"/>
                <a:cs typeface="Calibri"/>
              </a:rPr>
              <a:t>Repeat</a:t>
            </a:r>
            <a:r>
              <a:rPr sz="2000" spc="-35" dirty="0">
                <a:solidFill>
                  <a:srgbClr val="12171A"/>
                </a:solidFill>
                <a:latin typeface="Calibri"/>
                <a:cs typeface="Calibri"/>
              </a:rPr>
              <a:t> </a:t>
            </a:r>
            <a:r>
              <a:rPr sz="2000" dirty="0">
                <a:solidFill>
                  <a:srgbClr val="12171A"/>
                </a:solidFill>
                <a:latin typeface="Calibri"/>
                <a:cs typeface="Calibri"/>
              </a:rPr>
              <a:t>the</a:t>
            </a:r>
            <a:r>
              <a:rPr sz="2000" spc="-30" dirty="0">
                <a:solidFill>
                  <a:srgbClr val="12171A"/>
                </a:solidFill>
                <a:latin typeface="Calibri"/>
                <a:cs typeface="Calibri"/>
              </a:rPr>
              <a:t> </a:t>
            </a:r>
            <a:r>
              <a:rPr sz="2000" dirty="0">
                <a:solidFill>
                  <a:srgbClr val="12171A"/>
                </a:solidFill>
                <a:latin typeface="Calibri"/>
                <a:cs typeface="Calibri"/>
              </a:rPr>
              <a:t>previous</a:t>
            </a:r>
            <a:r>
              <a:rPr sz="2000" spc="-30" dirty="0">
                <a:solidFill>
                  <a:srgbClr val="12171A"/>
                </a:solidFill>
                <a:latin typeface="Calibri"/>
                <a:cs typeface="Calibri"/>
              </a:rPr>
              <a:t> </a:t>
            </a:r>
            <a:r>
              <a:rPr sz="2000" dirty="0">
                <a:solidFill>
                  <a:srgbClr val="12171A"/>
                </a:solidFill>
                <a:latin typeface="Calibri"/>
                <a:cs typeface="Calibri"/>
              </a:rPr>
              <a:t>step</a:t>
            </a:r>
            <a:r>
              <a:rPr sz="2000" spc="-30" dirty="0">
                <a:solidFill>
                  <a:srgbClr val="12171A"/>
                </a:solidFill>
                <a:latin typeface="Calibri"/>
                <a:cs typeface="Calibri"/>
              </a:rPr>
              <a:t> </a:t>
            </a:r>
            <a:r>
              <a:rPr sz="2000" dirty="0">
                <a:solidFill>
                  <a:srgbClr val="12171A"/>
                </a:solidFill>
                <a:latin typeface="Calibri"/>
                <a:cs typeface="Calibri"/>
              </a:rPr>
              <a:t>until</a:t>
            </a:r>
            <a:r>
              <a:rPr sz="2000" spc="-40" dirty="0">
                <a:solidFill>
                  <a:srgbClr val="12171A"/>
                </a:solidFill>
                <a:latin typeface="Calibri"/>
                <a:cs typeface="Calibri"/>
              </a:rPr>
              <a:t> </a:t>
            </a:r>
            <a:r>
              <a:rPr sz="2000" dirty="0">
                <a:solidFill>
                  <a:srgbClr val="12171A"/>
                </a:solidFill>
                <a:latin typeface="Calibri"/>
                <a:cs typeface="Calibri"/>
              </a:rPr>
              <a:t>all</a:t>
            </a:r>
            <a:r>
              <a:rPr sz="2000" spc="-20" dirty="0">
                <a:solidFill>
                  <a:srgbClr val="12171A"/>
                </a:solidFill>
                <a:latin typeface="Calibri"/>
                <a:cs typeface="Calibri"/>
              </a:rPr>
              <a:t> </a:t>
            </a:r>
            <a:r>
              <a:rPr sz="2000" dirty="0">
                <a:solidFill>
                  <a:srgbClr val="12171A"/>
                </a:solidFill>
                <a:latin typeface="Cambria Math"/>
                <a:cs typeface="Cambria Math"/>
              </a:rPr>
              <a:t>𝑘</a:t>
            </a:r>
            <a:r>
              <a:rPr sz="2000" spc="25" dirty="0">
                <a:solidFill>
                  <a:srgbClr val="12171A"/>
                </a:solidFill>
                <a:latin typeface="Cambria Math"/>
                <a:cs typeface="Cambria Math"/>
              </a:rPr>
              <a:t> </a:t>
            </a:r>
            <a:r>
              <a:rPr sz="2000" dirty="0">
                <a:solidFill>
                  <a:srgbClr val="12171A"/>
                </a:solidFill>
                <a:latin typeface="Calibri"/>
                <a:cs typeface="Calibri"/>
              </a:rPr>
              <a:t>centroids</a:t>
            </a:r>
            <a:r>
              <a:rPr sz="2000" spc="-30" dirty="0">
                <a:solidFill>
                  <a:srgbClr val="12171A"/>
                </a:solidFill>
                <a:latin typeface="Calibri"/>
                <a:cs typeface="Calibri"/>
              </a:rPr>
              <a:t> </a:t>
            </a:r>
            <a:r>
              <a:rPr sz="2000" dirty="0">
                <a:solidFill>
                  <a:srgbClr val="12171A"/>
                </a:solidFill>
                <a:latin typeface="Calibri"/>
                <a:cs typeface="Calibri"/>
              </a:rPr>
              <a:t>have</a:t>
            </a:r>
            <a:r>
              <a:rPr sz="2000" spc="-40" dirty="0">
                <a:solidFill>
                  <a:srgbClr val="12171A"/>
                </a:solidFill>
                <a:latin typeface="Calibri"/>
                <a:cs typeface="Calibri"/>
              </a:rPr>
              <a:t> </a:t>
            </a:r>
            <a:r>
              <a:rPr sz="2000" dirty="0">
                <a:solidFill>
                  <a:srgbClr val="12171A"/>
                </a:solidFill>
                <a:latin typeface="Calibri"/>
                <a:cs typeface="Calibri"/>
              </a:rPr>
              <a:t>been</a:t>
            </a:r>
            <a:r>
              <a:rPr sz="2000" spc="-40" dirty="0">
                <a:solidFill>
                  <a:srgbClr val="12171A"/>
                </a:solidFill>
                <a:latin typeface="Calibri"/>
                <a:cs typeface="Calibri"/>
              </a:rPr>
              <a:t> </a:t>
            </a:r>
            <a:r>
              <a:rPr sz="2000" spc="-10" dirty="0">
                <a:solidFill>
                  <a:srgbClr val="12171A"/>
                </a:solidFill>
                <a:latin typeface="Calibri"/>
                <a:cs typeface="Calibri"/>
              </a:rPr>
              <a:t>chosen.</a:t>
            </a:r>
            <a:endParaRPr sz="2000">
              <a:latin typeface="Calibri"/>
              <a:cs typeface="Calibri"/>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a:lnSpc>
                <a:spcPct val="100000"/>
              </a:lnSpc>
              <a:spcBef>
                <a:spcPts val="105"/>
              </a:spcBef>
            </a:pPr>
            <a:r>
              <a:rPr spc="-30" dirty="0"/>
              <a:t>K-</a:t>
            </a:r>
            <a:r>
              <a:rPr spc="-10" dirty="0"/>
              <a:t>means++</a:t>
            </a:r>
          </a:p>
        </p:txBody>
      </p:sp>
      <p:pic>
        <p:nvPicPr>
          <p:cNvPr id="3" name="object 3"/>
          <p:cNvPicPr/>
          <p:nvPr/>
        </p:nvPicPr>
        <p:blipFill>
          <a:blip r:embed="rId2" cstate="print"/>
          <a:stretch>
            <a:fillRect/>
          </a:stretch>
        </p:blipFill>
        <p:spPr>
          <a:xfrm>
            <a:off x="1893467" y="1268720"/>
            <a:ext cx="5305415" cy="3592370"/>
          </a:xfrm>
          <a:prstGeom prst="rect">
            <a:avLst/>
          </a:prstGeom>
        </p:spPr>
      </p:pic>
      <p:sp>
        <p:nvSpPr>
          <p:cNvPr id="4" name="object 4"/>
          <p:cNvSpPr txBox="1">
            <a:spLocks noGrp="1"/>
          </p:cNvSpPr>
          <p:nvPr>
            <p:ph type="sldNum" sz="quarter" idx="7"/>
          </p:nvPr>
        </p:nvSpPr>
        <p:spPr>
          <a:prstGeom prst="rect">
            <a:avLst/>
          </a:prstGeom>
        </p:spPr>
        <p:txBody>
          <a:bodyPr vert="horz" wrap="square" lIns="0" tIns="10160" rIns="0" bIns="0" rtlCol="0">
            <a:spAutoFit/>
          </a:bodyPr>
          <a:lstStyle/>
          <a:p>
            <a:pPr marL="38100">
              <a:lnSpc>
                <a:spcPct val="100000"/>
              </a:lnSpc>
              <a:spcBef>
                <a:spcPts val="80"/>
              </a:spcBef>
            </a:pPr>
            <a:fld id="{81D60167-4931-47E6-BA6A-407CBD079E47}" type="slidenum">
              <a:rPr spc="-25" dirty="0"/>
              <a:t>54</a:t>
            </a:fld>
            <a:endParaRPr spc="-25"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a:lnSpc>
                <a:spcPct val="100000"/>
              </a:lnSpc>
              <a:spcBef>
                <a:spcPts val="105"/>
              </a:spcBef>
            </a:pPr>
            <a:r>
              <a:rPr spc="-30" dirty="0"/>
              <a:t>K-</a:t>
            </a:r>
            <a:r>
              <a:rPr spc="-10" dirty="0"/>
              <a:t>means++</a:t>
            </a:r>
          </a:p>
        </p:txBody>
      </p:sp>
      <p:pic>
        <p:nvPicPr>
          <p:cNvPr id="3" name="object 3"/>
          <p:cNvPicPr/>
          <p:nvPr/>
        </p:nvPicPr>
        <p:blipFill>
          <a:blip r:embed="rId2" cstate="print"/>
          <a:stretch>
            <a:fillRect/>
          </a:stretch>
        </p:blipFill>
        <p:spPr>
          <a:xfrm>
            <a:off x="1985328" y="1212650"/>
            <a:ext cx="5202839" cy="3523860"/>
          </a:xfrm>
          <a:prstGeom prst="rect">
            <a:avLst/>
          </a:prstGeom>
        </p:spPr>
      </p:pic>
      <p:sp>
        <p:nvSpPr>
          <p:cNvPr id="4" name="object 4"/>
          <p:cNvSpPr txBox="1">
            <a:spLocks noGrp="1"/>
          </p:cNvSpPr>
          <p:nvPr>
            <p:ph type="sldNum" sz="quarter" idx="7"/>
          </p:nvPr>
        </p:nvSpPr>
        <p:spPr>
          <a:prstGeom prst="rect">
            <a:avLst/>
          </a:prstGeom>
        </p:spPr>
        <p:txBody>
          <a:bodyPr vert="horz" wrap="square" lIns="0" tIns="10160" rIns="0" bIns="0" rtlCol="0">
            <a:spAutoFit/>
          </a:bodyPr>
          <a:lstStyle/>
          <a:p>
            <a:pPr marL="38100">
              <a:lnSpc>
                <a:spcPct val="100000"/>
              </a:lnSpc>
              <a:spcBef>
                <a:spcPts val="80"/>
              </a:spcBef>
            </a:pPr>
            <a:fld id="{81D60167-4931-47E6-BA6A-407CBD079E47}" type="slidenum">
              <a:rPr spc="-25" dirty="0"/>
              <a:t>55</a:t>
            </a:fld>
            <a:endParaRPr spc="-25"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a:lnSpc>
                <a:spcPct val="100000"/>
              </a:lnSpc>
              <a:spcBef>
                <a:spcPts val="105"/>
              </a:spcBef>
            </a:pPr>
            <a:r>
              <a:rPr spc="-30" dirty="0"/>
              <a:t>K-</a:t>
            </a:r>
            <a:r>
              <a:rPr spc="-10" dirty="0"/>
              <a:t>means++</a:t>
            </a:r>
          </a:p>
        </p:txBody>
      </p:sp>
      <p:pic>
        <p:nvPicPr>
          <p:cNvPr id="3" name="object 3"/>
          <p:cNvPicPr/>
          <p:nvPr/>
        </p:nvPicPr>
        <p:blipFill>
          <a:blip r:embed="rId2" cstate="print"/>
          <a:stretch>
            <a:fillRect/>
          </a:stretch>
        </p:blipFill>
        <p:spPr>
          <a:xfrm>
            <a:off x="1840435" y="1179005"/>
            <a:ext cx="5475804" cy="3708555"/>
          </a:xfrm>
          <a:prstGeom prst="rect">
            <a:avLst/>
          </a:prstGeom>
        </p:spPr>
      </p:pic>
      <p:sp>
        <p:nvSpPr>
          <p:cNvPr id="4" name="object 4"/>
          <p:cNvSpPr txBox="1">
            <a:spLocks noGrp="1"/>
          </p:cNvSpPr>
          <p:nvPr>
            <p:ph type="sldNum" sz="quarter" idx="7"/>
          </p:nvPr>
        </p:nvSpPr>
        <p:spPr>
          <a:prstGeom prst="rect">
            <a:avLst/>
          </a:prstGeom>
        </p:spPr>
        <p:txBody>
          <a:bodyPr vert="horz" wrap="square" lIns="0" tIns="10160" rIns="0" bIns="0" rtlCol="0">
            <a:spAutoFit/>
          </a:bodyPr>
          <a:lstStyle/>
          <a:p>
            <a:pPr marL="38100">
              <a:lnSpc>
                <a:spcPct val="100000"/>
              </a:lnSpc>
              <a:spcBef>
                <a:spcPts val="80"/>
              </a:spcBef>
            </a:pPr>
            <a:fld id="{81D60167-4931-47E6-BA6A-407CBD079E47}" type="slidenum">
              <a:rPr spc="-25" dirty="0"/>
              <a:t>56</a:t>
            </a:fld>
            <a:endParaRPr spc="-25"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a:lnSpc>
                <a:spcPct val="100000"/>
              </a:lnSpc>
              <a:spcBef>
                <a:spcPts val="105"/>
              </a:spcBef>
            </a:pPr>
            <a:r>
              <a:rPr spc="-30" dirty="0"/>
              <a:t>K-</a:t>
            </a:r>
            <a:r>
              <a:rPr spc="-10" dirty="0"/>
              <a:t>means++</a:t>
            </a:r>
          </a:p>
        </p:txBody>
      </p:sp>
      <p:pic>
        <p:nvPicPr>
          <p:cNvPr id="3" name="object 3"/>
          <p:cNvPicPr/>
          <p:nvPr/>
        </p:nvPicPr>
        <p:blipFill>
          <a:blip r:embed="rId2" cstate="print"/>
          <a:stretch>
            <a:fillRect/>
          </a:stretch>
        </p:blipFill>
        <p:spPr>
          <a:xfrm>
            <a:off x="1644170" y="1290595"/>
            <a:ext cx="5364818" cy="3691477"/>
          </a:xfrm>
          <a:prstGeom prst="rect">
            <a:avLst/>
          </a:prstGeom>
        </p:spPr>
      </p:pic>
      <p:sp>
        <p:nvSpPr>
          <p:cNvPr id="4" name="object 4"/>
          <p:cNvSpPr txBox="1">
            <a:spLocks noGrp="1"/>
          </p:cNvSpPr>
          <p:nvPr>
            <p:ph type="sldNum" sz="quarter" idx="7"/>
          </p:nvPr>
        </p:nvSpPr>
        <p:spPr>
          <a:prstGeom prst="rect">
            <a:avLst/>
          </a:prstGeom>
        </p:spPr>
        <p:txBody>
          <a:bodyPr vert="horz" wrap="square" lIns="0" tIns="10160" rIns="0" bIns="0" rtlCol="0">
            <a:spAutoFit/>
          </a:bodyPr>
          <a:lstStyle/>
          <a:p>
            <a:pPr marL="38100">
              <a:lnSpc>
                <a:spcPct val="100000"/>
              </a:lnSpc>
              <a:spcBef>
                <a:spcPts val="80"/>
              </a:spcBef>
            </a:pPr>
            <a:fld id="{81D60167-4931-47E6-BA6A-407CBD079E47}" type="slidenum">
              <a:rPr spc="-25" dirty="0"/>
              <a:t>57</a:t>
            </a:fld>
            <a:endParaRPr spc="-25"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a:lnSpc>
                <a:spcPct val="100000"/>
              </a:lnSpc>
              <a:spcBef>
                <a:spcPts val="105"/>
              </a:spcBef>
            </a:pPr>
            <a:r>
              <a:rPr dirty="0"/>
              <a:t>Accelerated</a:t>
            </a:r>
            <a:r>
              <a:rPr spc="-60" dirty="0"/>
              <a:t> </a:t>
            </a:r>
            <a:r>
              <a:rPr b="0" spc="50" dirty="0">
                <a:latin typeface="Cambria Math"/>
                <a:cs typeface="Cambria Math"/>
              </a:rPr>
              <a:t>𝑘</a:t>
            </a:r>
            <a:r>
              <a:rPr spc="50" dirty="0"/>
              <a:t>-</a:t>
            </a:r>
            <a:r>
              <a:rPr spc="-10" dirty="0"/>
              <a:t>means</a:t>
            </a:r>
          </a:p>
        </p:txBody>
      </p:sp>
      <p:sp>
        <p:nvSpPr>
          <p:cNvPr id="4" name="object 4"/>
          <p:cNvSpPr txBox="1">
            <a:spLocks noGrp="1"/>
          </p:cNvSpPr>
          <p:nvPr>
            <p:ph type="sldNum" sz="quarter" idx="7"/>
          </p:nvPr>
        </p:nvSpPr>
        <p:spPr>
          <a:prstGeom prst="rect">
            <a:avLst/>
          </a:prstGeom>
        </p:spPr>
        <p:txBody>
          <a:bodyPr vert="horz" wrap="square" lIns="0" tIns="10160" rIns="0" bIns="0" rtlCol="0">
            <a:spAutoFit/>
          </a:bodyPr>
          <a:lstStyle/>
          <a:p>
            <a:pPr marL="38100">
              <a:lnSpc>
                <a:spcPct val="100000"/>
              </a:lnSpc>
              <a:spcBef>
                <a:spcPts val="80"/>
              </a:spcBef>
            </a:pPr>
            <a:fld id="{81D60167-4931-47E6-BA6A-407CBD079E47}" type="slidenum">
              <a:rPr spc="-25" dirty="0"/>
              <a:t>58</a:t>
            </a:fld>
            <a:endParaRPr spc="-25" dirty="0"/>
          </a:p>
        </p:txBody>
      </p:sp>
      <p:sp>
        <p:nvSpPr>
          <p:cNvPr id="3" name="object 3"/>
          <p:cNvSpPr txBox="1"/>
          <p:nvPr/>
        </p:nvSpPr>
        <p:spPr>
          <a:xfrm>
            <a:off x="694131" y="1223263"/>
            <a:ext cx="7710170" cy="3377565"/>
          </a:xfrm>
          <a:prstGeom prst="rect">
            <a:avLst/>
          </a:prstGeom>
        </p:spPr>
        <p:txBody>
          <a:bodyPr vert="horz" wrap="square" lIns="0" tIns="13335" rIns="0" bIns="0" rtlCol="0">
            <a:spAutoFit/>
          </a:bodyPr>
          <a:lstStyle/>
          <a:p>
            <a:pPr marL="355600" marR="5715" indent="-342900" algn="just">
              <a:lnSpc>
                <a:spcPct val="100000"/>
              </a:lnSpc>
              <a:spcBef>
                <a:spcPts val="105"/>
              </a:spcBef>
              <a:buClr>
                <a:srgbClr val="333940"/>
              </a:buClr>
              <a:buSzPct val="90000"/>
              <a:buFont typeface="Wingdings"/>
              <a:buChar char=""/>
              <a:tabLst>
                <a:tab pos="355600" algn="l"/>
              </a:tabLst>
            </a:pPr>
            <a:r>
              <a:rPr sz="2000" dirty="0">
                <a:solidFill>
                  <a:srgbClr val="12171A"/>
                </a:solidFill>
                <a:latin typeface="Calibri"/>
                <a:cs typeface="Calibri"/>
              </a:rPr>
              <a:t>Another</a:t>
            </a:r>
            <a:r>
              <a:rPr sz="2000" spc="330" dirty="0">
                <a:solidFill>
                  <a:srgbClr val="12171A"/>
                </a:solidFill>
                <a:latin typeface="Calibri"/>
                <a:cs typeface="Calibri"/>
              </a:rPr>
              <a:t> </a:t>
            </a:r>
            <a:r>
              <a:rPr sz="2000" dirty="0">
                <a:solidFill>
                  <a:srgbClr val="12171A"/>
                </a:solidFill>
                <a:latin typeface="Calibri"/>
                <a:cs typeface="Calibri"/>
              </a:rPr>
              <a:t>improvement</a:t>
            </a:r>
            <a:r>
              <a:rPr sz="2000" spc="345" dirty="0">
                <a:solidFill>
                  <a:srgbClr val="12171A"/>
                </a:solidFill>
                <a:latin typeface="Calibri"/>
                <a:cs typeface="Calibri"/>
              </a:rPr>
              <a:t> </a:t>
            </a:r>
            <a:r>
              <a:rPr sz="2000" dirty="0">
                <a:solidFill>
                  <a:srgbClr val="12171A"/>
                </a:solidFill>
                <a:latin typeface="Calibri"/>
                <a:cs typeface="Calibri"/>
              </a:rPr>
              <a:t>to</a:t>
            </a:r>
            <a:r>
              <a:rPr sz="2000" spc="335" dirty="0">
                <a:solidFill>
                  <a:srgbClr val="12171A"/>
                </a:solidFill>
                <a:latin typeface="Calibri"/>
                <a:cs typeface="Calibri"/>
              </a:rPr>
              <a:t> </a:t>
            </a:r>
            <a:r>
              <a:rPr sz="2000" dirty="0">
                <a:solidFill>
                  <a:srgbClr val="12171A"/>
                </a:solidFill>
                <a:latin typeface="Calibri"/>
                <a:cs typeface="Calibri"/>
              </a:rPr>
              <a:t>the</a:t>
            </a:r>
            <a:r>
              <a:rPr sz="2000" spc="345" dirty="0">
                <a:solidFill>
                  <a:srgbClr val="12171A"/>
                </a:solidFill>
                <a:latin typeface="Calibri"/>
                <a:cs typeface="Calibri"/>
              </a:rPr>
              <a:t> </a:t>
            </a:r>
            <a:r>
              <a:rPr sz="2000" i="1" spc="-10" dirty="0">
                <a:solidFill>
                  <a:srgbClr val="12171A"/>
                </a:solidFill>
                <a:latin typeface="Calibri"/>
                <a:cs typeface="Calibri"/>
              </a:rPr>
              <a:t>k</a:t>
            </a:r>
            <a:r>
              <a:rPr sz="2000" spc="-10" dirty="0">
                <a:solidFill>
                  <a:srgbClr val="12171A"/>
                </a:solidFill>
                <a:latin typeface="Calibri"/>
                <a:cs typeface="Calibri"/>
              </a:rPr>
              <a:t>-</a:t>
            </a:r>
            <a:r>
              <a:rPr sz="2000" dirty="0">
                <a:solidFill>
                  <a:srgbClr val="12171A"/>
                </a:solidFill>
                <a:latin typeface="Calibri"/>
                <a:cs typeface="Calibri"/>
              </a:rPr>
              <a:t>means</a:t>
            </a:r>
            <a:r>
              <a:rPr sz="2000" spc="345" dirty="0">
                <a:solidFill>
                  <a:srgbClr val="12171A"/>
                </a:solidFill>
                <a:latin typeface="Calibri"/>
                <a:cs typeface="Calibri"/>
              </a:rPr>
              <a:t> </a:t>
            </a:r>
            <a:r>
              <a:rPr sz="2000" dirty="0">
                <a:solidFill>
                  <a:srgbClr val="12171A"/>
                </a:solidFill>
                <a:latin typeface="Calibri"/>
                <a:cs typeface="Calibri"/>
              </a:rPr>
              <a:t>algorithm</a:t>
            </a:r>
            <a:r>
              <a:rPr sz="2000" spc="330" dirty="0">
                <a:solidFill>
                  <a:srgbClr val="12171A"/>
                </a:solidFill>
                <a:latin typeface="Calibri"/>
                <a:cs typeface="Calibri"/>
              </a:rPr>
              <a:t> </a:t>
            </a:r>
            <a:r>
              <a:rPr sz="2000" dirty="0">
                <a:solidFill>
                  <a:srgbClr val="12171A"/>
                </a:solidFill>
                <a:latin typeface="Calibri"/>
                <a:cs typeface="Calibri"/>
              </a:rPr>
              <a:t>was</a:t>
            </a:r>
            <a:r>
              <a:rPr sz="2000" spc="320" dirty="0">
                <a:solidFill>
                  <a:srgbClr val="12171A"/>
                </a:solidFill>
                <a:latin typeface="Calibri"/>
                <a:cs typeface="Calibri"/>
              </a:rPr>
              <a:t> </a:t>
            </a:r>
            <a:r>
              <a:rPr sz="2000" dirty="0">
                <a:solidFill>
                  <a:srgbClr val="12171A"/>
                </a:solidFill>
                <a:latin typeface="Calibri"/>
                <a:cs typeface="Calibri"/>
              </a:rPr>
              <a:t>proposed</a:t>
            </a:r>
            <a:r>
              <a:rPr sz="2000" spc="345" dirty="0">
                <a:solidFill>
                  <a:srgbClr val="12171A"/>
                </a:solidFill>
                <a:latin typeface="Calibri"/>
                <a:cs typeface="Calibri"/>
              </a:rPr>
              <a:t> </a:t>
            </a:r>
            <a:r>
              <a:rPr sz="2000" dirty="0">
                <a:solidFill>
                  <a:srgbClr val="12171A"/>
                </a:solidFill>
                <a:latin typeface="Calibri"/>
                <a:cs typeface="Calibri"/>
              </a:rPr>
              <a:t>in</a:t>
            </a:r>
            <a:r>
              <a:rPr sz="2000" spc="340" dirty="0">
                <a:solidFill>
                  <a:srgbClr val="12171A"/>
                </a:solidFill>
                <a:latin typeface="Calibri"/>
                <a:cs typeface="Calibri"/>
              </a:rPr>
              <a:t> </a:t>
            </a:r>
            <a:r>
              <a:rPr sz="2000" spc="-50" dirty="0">
                <a:solidFill>
                  <a:srgbClr val="12171A"/>
                </a:solidFill>
                <a:latin typeface="Calibri"/>
                <a:cs typeface="Calibri"/>
              </a:rPr>
              <a:t>a </a:t>
            </a:r>
            <a:r>
              <a:rPr sz="2000" dirty="0">
                <a:solidFill>
                  <a:srgbClr val="12171A"/>
                </a:solidFill>
                <a:latin typeface="Calibri"/>
                <a:cs typeface="Calibri"/>
              </a:rPr>
              <a:t>2003</a:t>
            </a:r>
            <a:r>
              <a:rPr sz="2000" spc="-40" dirty="0">
                <a:solidFill>
                  <a:srgbClr val="12171A"/>
                </a:solidFill>
                <a:latin typeface="Calibri"/>
                <a:cs typeface="Calibri"/>
              </a:rPr>
              <a:t> </a:t>
            </a:r>
            <a:r>
              <a:rPr sz="2000" dirty="0">
                <a:solidFill>
                  <a:srgbClr val="12171A"/>
                </a:solidFill>
                <a:latin typeface="Calibri"/>
                <a:cs typeface="Calibri"/>
              </a:rPr>
              <a:t>paper</a:t>
            </a:r>
            <a:r>
              <a:rPr sz="2000" spc="-20" dirty="0">
                <a:solidFill>
                  <a:srgbClr val="12171A"/>
                </a:solidFill>
                <a:latin typeface="Calibri"/>
                <a:cs typeface="Calibri"/>
              </a:rPr>
              <a:t> </a:t>
            </a:r>
            <a:r>
              <a:rPr sz="2000" dirty="0">
                <a:solidFill>
                  <a:srgbClr val="12171A"/>
                </a:solidFill>
                <a:latin typeface="Calibri"/>
                <a:cs typeface="Calibri"/>
              </a:rPr>
              <a:t>by</a:t>
            </a:r>
            <a:r>
              <a:rPr sz="2000" spc="-30" dirty="0">
                <a:solidFill>
                  <a:srgbClr val="12171A"/>
                </a:solidFill>
                <a:latin typeface="Calibri"/>
                <a:cs typeface="Calibri"/>
              </a:rPr>
              <a:t> </a:t>
            </a:r>
            <a:r>
              <a:rPr sz="2000" dirty="0">
                <a:solidFill>
                  <a:srgbClr val="12171A"/>
                </a:solidFill>
                <a:latin typeface="Calibri"/>
                <a:cs typeface="Calibri"/>
              </a:rPr>
              <a:t>Charles</a:t>
            </a:r>
            <a:r>
              <a:rPr sz="2000" spc="-5" dirty="0">
                <a:solidFill>
                  <a:srgbClr val="12171A"/>
                </a:solidFill>
                <a:latin typeface="Calibri"/>
                <a:cs typeface="Calibri"/>
              </a:rPr>
              <a:t> </a:t>
            </a:r>
            <a:r>
              <a:rPr sz="2000" spc="-10" dirty="0">
                <a:solidFill>
                  <a:srgbClr val="12171A"/>
                </a:solidFill>
                <a:latin typeface="Calibri"/>
                <a:cs typeface="Calibri"/>
              </a:rPr>
              <a:t>Elkan.</a:t>
            </a:r>
            <a:endParaRPr sz="2000">
              <a:latin typeface="Calibri"/>
              <a:cs typeface="Calibri"/>
            </a:endParaRPr>
          </a:p>
          <a:p>
            <a:pPr marL="355600" indent="-342900" algn="just">
              <a:lnSpc>
                <a:spcPct val="100000"/>
              </a:lnSpc>
              <a:spcBef>
                <a:spcPts val="600"/>
              </a:spcBef>
              <a:buClr>
                <a:srgbClr val="333940"/>
              </a:buClr>
              <a:buSzPct val="90000"/>
              <a:buFont typeface="Wingdings"/>
              <a:buChar char=""/>
              <a:tabLst>
                <a:tab pos="355600" algn="l"/>
              </a:tabLst>
            </a:pPr>
            <a:r>
              <a:rPr sz="2000" dirty="0">
                <a:solidFill>
                  <a:srgbClr val="12171A"/>
                </a:solidFill>
                <a:latin typeface="Calibri"/>
                <a:cs typeface="Calibri"/>
              </a:rPr>
              <a:t>On</a:t>
            </a:r>
            <a:r>
              <a:rPr sz="2000" spc="459" dirty="0">
                <a:solidFill>
                  <a:srgbClr val="12171A"/>
                </a:solidFill>
                <a:latin typeface="Calibri"/>
                <a:cs typeface="Calibri"/>
              </a:rPr>
              <a:t> </a:t>
            </a:r>
            <a:r>
              <a:rPr sz="2000" dirty="0">
                <a:solidFill>
                  <a:srgbClr val="12171A"/>
                </a:solidFill>
                <a:latin typeface="Calibri"/>
                <a:cs typeface="Calibri"/>
              </a:rPr>
              <a:t>some</a:t>
            </a:r>
            <a:r>
              <a:rPr sz="2000" spc="465" dirty="0">
                <a:solidFill>
                  <a:srgbClr val="12171A"/>
                </a:solidFill>
                <a:latin typeface="Calibri"/>
                <a:cs typeface="Calibri"/>
              </a:rPr>
              <a:t> </a:t>
            </a:r>
            <a:r>
              <a:rPr sz="2000" dirty="0">
                <a:solidFill>
                  <a:srgbClr val="12171A"/>
                </a:solidFill>
                <a:latin typeface="Calibri"/>
                <a:cs typeface="Calibri"/>
              </a:rPr>
              <a:t>large</a:t>
            </a:r>
            <a:r>
              <a:rPr sz="2000" spc="470" dirty="0">
                <a:solidFill>
                  <a:srgbClr val="12171A"/>
                </a:solidFill>
                <a:latin typeface="Calibri"/>
                <a:cs typeface="Calibri"/>
              </a:rPr>
              <a:t> </a:t>
            </a:r>
            <a:r>
              <a:rPr sz="2000" dirty="0">
                <a:solidFill>
                  <a:srgbClr val="12171A"/>
                </a:solidFill>
                <a:latin typeface="Calibri"/>
                <a:cs typeface="Calibri"/>
              </a:rPr>
              <a:t>datasets</a:t>
            </a:r>
            <a:r>
              <a:rPr sz="2000" spc="465" dirty="0">
                <a:solidFill>
                  <a:srgbClr val="12171A"/>
                </a:solidFill>
                <a:latin typeface="Calibri"/>
                <a:cs typeface="Calibri"/>
              </a:rPr>
              <a:t> </a:t>
            </a:r>
            <a:r>
              <a:rPr sz="2000" dirty="0">
                <a:solidFill>
                  <a:srgbClr val="12171A"/>
                </a:solidFill>
                <a:latin typeface="Calibri"/>
                <a:cs typeface="Calibri"/>
              </a:rPr>
              <a:t>with</a:t>
            </a:r>
            <a:r>
              <a:rPr sz="2000" spc="480" dirty="0">
                <a:solidFill>
                  <a:srgbClr val="12171A"/>
                </a:solidFill>
                <a:latin typeface="Calibri"/>
                <a:cs typeface="Calibri"/>
              </a:rPr>
              <a:t> </a:t>
            </a:r>
            <a:r>
              <a:rPr sz="2000" dirty="0">
                <a:solidFill>
                  <a:srgbClr val="12171A"/>
                </a:solidFill>
                <a:latin typeface="Calibri"/>
                <a:cs typeface="Calibri"/>
              </a:rPr>
              <a:t>many</a:t>
            </a:r>
            <a:r>
              <a:rPr sz="2000" spc="475" dirty="0">
                <a:solidFill>
                  <a:srgbClr val="12171A"/>
                </a:solidFill>
                <a:latin typeface="Calibri"/>
                <a:cs typeface="Calibri"/>
              </a:rPr>
              <a:t> </a:t>
            </a:r>
            <a:r>
              <a:rPr sz="2000" dirty="0">
                <a:solidFill>
                  <a:srgbClr val="12171A"/>
                </a:solidFill>
                <a:latin typeface="Calibri"/>
                <a:cs typeface="Calibri"/>
              </a:rPr>
              <a:t>clusters,</a:t>
            </a:r>
            <a:r>
              <a:rPr sz="2000" spc="475" dirty="0">
                <a:solidFill>
                  <a:srgbClr val="12171A"/>
                </a:solidFill>
                <a:latin typeface="Calibri"/>
                <a:cs typeface="Calibri"/>
              </a:rPr>
              <a:t> </a:t>
            </a:r>
            <a:r>
              <a:rPr sz="2000" dirty="0">
                <a:solidFill>
                  <a:srgbClr val="12171A"/>
                </a:solidFill>
                <a:latin typeface="Calibri"/>
                <a:cs typeface="Calibri"/>
              </a:rPr>
              <a:t>the</a:t>
            </a:r>
            <a:r>
              <a:rPr sz="2000" spc="465" dirty="0">
                <a:solidFill>
                  <a:srgbClr val="12171A"/>
                </a:solidFill>
                <a:latin typeface="Calibri"/>
                <a:cs typeface="Calibri"/>
              </a:rPr>
              <a:t> </a:t>
            </a:r>
            <a:r>
              <a:rPr sz="2000" dirty="0">
                <a:solidFill>
                  <a:srgbClr val="12171A"/>
                </a:solidFill>
                <a:latin typeface="Calibri"/>
                <a:cs typeface="Calibri"/>
              </a:rPr>
              <a:t>algorithm</a:t>
            </a:r>
            <a:r>
              <a:rPr sz="2000" spc="465" dirty="0">
                <a:solidFill>
                  <a:srgbClr val="12171A"/>
                </a:solidFill>
                <a:latin typeface="Calibri"/>
                <a:cs typeface="Calibri"/>
              </a:rPr>
              <a:t> </a:t>
            </a:r>
            <a:r>
              <a:rPr sz="2000" dirty="0">
                <a:solidFill>
                  <a:srgbClr val="12171A"/>
                </a:solidFill>
                <a:latin typeface="Calibri"/>
                <a:cs typeface="Calibri"/>
              </a:rPr>
              <a:t>can</a:t>
            </a:r>
            <a:r>
              <a:rPr sz="2000" spc="459" dirty="0">
                <a:solidFill>
                  <a:srgbClr val="12171A"/>
                </a:solidFill>
                <a:latin typeface="Calibri"/>
                <a:cs typeface="Calibri"/>
              </a:rPr>
              <a:t> </a:t>
            </a:r>
            <a:r>
              <a:rPr sz="2000" spc="-25" dirty="0">
                <a:solidFill>
                  <a:srgbClr val="12171A"/>
                </a:solidFill>
                <a:latin typeface="Calibri"/>
                <a:cs typeface="Calibri"/>
              </a:rPr>
              <a:t>be</a:t>
            </a:r>
            <a:endParaRPr sz="2000">
              <a:latin typeface="Calibri"/>
              <a:cs typeface="Calibri"/>
            </a:endParaRPr>
          </a:p>
          <a:p>
            <a:pPr marL="355600" algn="just">
              <a:lnSpc>
                <a:spcPct val="100000"/>
              </a:lnSpc>
            </a:pPr>
            <a:r>
              <a:rPr sz="2000" dirty="0">
                <a:solidFill>
                  <a:srgbClr val="12171A"/>
                </a:solidFill>
                <a:latin typeface="Calibri"/>
                <a:cs typeface="Calibri"/>
              </a:rPr>
              <a:t>accelerated</a:t>
            </a:r>
            <a:r>
              <a:rPr sz="2000" spc="-25" dirty="0">
                <a:solidFill>
                  <a:srgbClr val="12171A"/>
                </a:solidFill>
                <a:latin typeface="Calibri"/>
                <a:cs typeface="Calibri"/>
              </a:rPr>
              <a:t> </a:t>
            </a:r>
            <a:r>
              <a:rPr sz="2000" dirty="0">
                <a:solidFill>
                  <a:srgbClr val="12171A"/>
                </a:solidFill>
                <a:latin typeface="Calibri"/>
                <a:cs typeface="Calibri"/>
              </a:rPr>
              <a:t>by</a:t>
            </a:r>
            <a:r>
              <a:rPr sz="2000" spc="-60" dirty="0">
                <a:solidFill>
                  <a:srgbClr val="12171A"/>
                </a:solidFill>
                <a:latin typeface="Calibri"/>
                <a:cs typeface="Calibri"/>
              </a:rPr>
              <a:t> </a:t>
            </a:r>
            <a:r>
              <a:rPr sz="2000" dirty="0">
                <a:solidFill>
                  <a:srgbClr val="12171A"/>
                </a:solidFill>
                <a:latin typeface="Calibri"/>
                <a:cs typeface="Calibri"/>
              </a:rPr>
              <a:t>avoiding</a:t>
            </a:r>
            <a:r>
              <a:rPr sz="2000" spc="-50" dirty="0">
                <a:solidFill>
                  <a:srgbClr val="12171A"/>
                </a:solidFill>
                <a:latin typeface="Calibri"/>
                <a:cs typeface="Calibri"/>
              </a:rPr>
              <a:t> </a:t>
            </a:r>
            <a:r>
              <a:rPr sz="2000" dirty="0">
                <a:solidFill>
                  <a:srgbClr val="12171A"/>
                </a:solidFill>
                <a:latin typeface="Calibri"/>
                <a:cs typeface="Calibri"/>
              </a:rPr>
              <a:t>many</a:t>
            </a:r>
            <a:r>
              <a:rPr sz="2000" spc="-60" dirty="0">
                <a:solidFill>
                  <a:srgbClr val="12171A"/>
                </a:solidFill>
                <a:latin typeface="Calibri"/>
                <a:cs typeface="Calibri"/>
              </a:rPr>
              <a:t> </a:t>
            </a:r>
            <a:r>
              <a:rPr sz="2000" dirty="0">
                <a:solidFill>
                  <a:srgbClr val="12171A"/>
                </a:solidFill>
                <a:latin typeface="Calibri"/>
                <a:cs typeface="Calibri"/>
              </a:rPr>
              <a:t>unnecessary</a:t>
            </a:r>
            <a:r>
              <a:rPr sz="2000" spc="-40" dirty="0">
                <a:solidFill>
                  <a:srgbClr val="12171A"/>
                </a:solidFill>
                <a:latin typeface="Calibri"/>
                <a:cs typeface="Calibri"/>
              </a:rPr>
              <a:t> </a:t>
            </a:r>
            <a:r>
              <a:rPr sz="2000" dirty="0">
                <a:solidFill>
                  <a:srgbClr val="12171A"/>
                </a:solidFill>
                <a:latin typeface="Calibri"/>
                <a:cs typeface="Calibri"/>
              </a:rPr>
              <a:t>distance</a:t>
            </a:r>
            <a:r>
              <a:rPr sz="2000" spc="-35" dirty="0">
                <a:solidFill>
                  <a:srgbClr val="12171A"/>
                </a:solidFill>
                <a:latin typeface="Calibri"/>
                <a:cs typeface="Calibri"/>
              </a:rPr>
              <a:t> </a:t>
            </a:r>
            <a:r>
              <a:rPr sz="2000" spc="-10" dirty="0">
                <a:solidFill>
                  <a:srgbClr val="12171A"/>
                </a:solidFill>
                <a:latin typeface="Calibri"/>
                <a:cs typeface="Calibri"/>
              </a:rPr>
              <a:t>calculations.</a:t>
            </a:r>
            <a:endParaRPr sz="2000">
              <a:latin typeface="Calibri"/>
              <a:cs typeface="Calibri"/>
            </a:endParaRPr>
          </a:p>
          <a:p>
            <a:pPr marL="811530" marR="7620" lvl="1" indent="-333375" algn="just">
              <a:lnSpc>
                <a:spcPct val="100000"/>
              </a:lnSpc>
              <a:spcBef>
                <a:spcPts val="10"/>
              </a:spcBef>
              <a:buClr>
                <a:srgbClr val="121618"/>
              </a:buClr>
              <a:buSzPct val="94444"/>
              <a:buFont typeface="Wingdings"/>
              <a:buChar char=""/>
              <a:tabLst>
                <a:tab pos="812800" algn="l"/>
              </a:tabLst>
            </a:pPr>
            <a:r>
              <a:rPr sz="1800" dirty="0">
                <a:solidFill>
                  <a:srgbClr val="12171A"/>
                </a:solidFill>
                <a:latin typeface="Calibri"/>
                <a:cs typeface="Calibri"/>
              </a:rPr>
              <a:t>Elkan</a:t>
            </a:r>
            <a:r>
              <a:rPr sz="1800" spc="190" dirty="0">
                <a:solidFill>
                  <a:srgbClr val="12171A"/>
                </a:solidFill>
                <a:latin typeface="Calibri"/>
                <a:cs typeface="Calibri"/>
              </a:rPr>
              <a:t> </a:t>
            </a:r>
            <a:r>
              <a:rPr sz="1800" dirty="0">
                <a:solidFill>
                  <a:srgbClr val="12171A"/>
                </a:solidFill>
                <a:latin typeface="Calibri"/>
                <a:cs typeface="Calibri"/>
              </a:rPr>
              <a:t>achieved</a:t>
            </a:r>
            <a:r>
              <a:rPr sz="1800" spc="220" dirty="0">
                <a:solidFill>
                  <a:srgbClr val="12171A"/>
                </a:solidFill>
                <a:latin typeface="Calibri"/>
                <a:cs typeface="Calibri"/>
              </a:rPr>
              <a:t> </a:t>
            </a:r>
            <a:r>
              <a:rPr sz="1800" dirty="0">
                <a:solidFill>
                  <a:srgbClr val="12171A"/>
                </a:solidFill>
                <a:latin typeface="Calibri"/>
                <a:cs typeface="Calibri"/>
              </a:rPr>
              <a:t>this</a:t>
            </a:r>
            <a:r>
              <a:rPr sz="1800" spc="195" dirty="0">
                <a:solidFill>
                  <a:srgbClr val="12171A"/>
                </a:solidFill>
                <a:latin typeface="Calibri"/>
                <a:cs typeface="Calibri"/>
              </a:rPr>
              <a:t> </a:t>
            </a:r>
            <a:r>
              <a:rPr sz="1800" dirty="0">
                <a:solidFill>
                  <a:srgbClr val="12171A"/>
                </a:solidFill>
                <a:latin typeface="Calibri"/>
                <a:cs typeface="Calibri"/>
              </a:rPr>
              <a:t>by</a:t>
            </a:r>
            <a:r>
              <a:rPr sz="1800" spc="190" dirty="0">
                <a:solidFill>
                  <a:srgbClr val="12171A"/>
                </a:solidFill>
                <a:latin typeface="Calibri"/>
                <a:cs typeface="Calibri"/>
              </a:rPr>
              <a:t> </a:t>
            </a:r>
            <a:r>
              <a:rPr sz="1800" dirty="0">
                <a:solidFill>
                  <a:srgbClr val="12171A"/>
                </a:solidFill>
                <a:latin typeface="Calibri"/>
                <a:cs typeface="Calibri"/>
              </a:rPr>
              <a:t>exploiting</a:t>
            </a:r>
            <a:r>
              <a:rPr sz="1800" spc="200" dirty="0">
                <a:solidFill>
                  <a:srgbClr val="12171A"/>
                </a:solidFill>
                <a:latin typeface="Calibri"/>
                <a:cs typeface="Calibri"/>
              </a:rPr>
              <a:t> </a:t>
            </a:r>
            <a:r>
              <a:rPr sz="1800" dirty="0">
                <a:solidFill>
                  <a:srgbClr val="12171A"/>
                </a:solidFill>
                <a:latin typeface="Calibri"/>
                <a:cs typeface="Calibri"/>
              </a:rPr>
              <a:t>the</a:t>
            </a:r>
            <a:r>
              <a:rPr sz="1800" spc="204" dirty="0">
                <a:solidFill>
                  <a:srgbClr val="12171A"/>
                </a:solidFill>
                <a:latin typeface="Calibri"/>
                <a:cs typeface="Calibri"/>
              </a:rPr>
              <a:t> </a:t>
            </a:r>
            <a:r>
              <a:rPr sz="1800" dirty="0">
                <a:solidFill>
                  <a:srgbClr val="12171A"/>
                </a:solidFill>
                <a:latin typeface="Calibri"/>
                <a:cs typeface="Calibri"/>
              </a:rPr>
              <a:t>triangle</a:t>
            </a:r>
            <a:r>
              <a:rPr sz="1800" spc="220" dirty="0">
                <a:solidFill>
                  <a:srgbClr val="12171A"/>
                </a:solidFill>
                <a:latin typeface="Calibri"/>
                <a:cs typeface="Calibri"/>
              </a:rPr>
              <a:t> </a:t>
            </a:r>
            <a:r>
              <a:rPr sz="1800" dirty="0">
                <a:solidFill>
                  <a:srgbClr val="12171A"/>
                </a:solidFill>
                <a:latin typeface="Calibri"/>
                <a:cs typeface="Calibri"/>
              </a:rPr>
              <a:t>inequality</a:t>
            </a:r>
            <a:r>
              <a:rPr sz="1800" spc="195" dirty="0">
                <a:solidFill>
                  <a:srgbClr val="12171A"/>
                </a:solidFill>
                <a:latin typeface="Calibri"/>
                <a:cs typeface="Calibri"/>
              </a:rPr>
              <a:t> </a:t>
            </a:r>
            <a:r>
              <a:rPr sz="1800" dirty="0">
                <a:solidFill>
                  <a:srgbClr val="12171A"/>
                </a:solidFill>
                <a:latin typeface="Calibri"/>
                <a:cs typeface="Calibri"/>
              </a:rPr>
              <a:t>and</a:t>
            </a:r>
            <a:r>
              <a:rPr sz="1800" spc="210" dirty="0">
                <a:solidFill>
                  <a:srgbClr val="12171A"/>
                </a:solidFill>
                <a:latin typeface="Calibri"/>
                <a:cs typeface="Calibri"/>
              </a:rPr>
              <a:t> </a:t>
            </a:r>
            <a:r>
              <a:rPr sz="1800" dirty="0">
                <a:solidFill>
                  <a:srgbClr val="12171A"/>
                </a:solidFill>
                <a:latin typeface="Calibri"/>
                <a:cs typeface="Calibri"/>
              </a:rPr>
              <a:t>by</a:t>
            </a:r>
            <a:r>
              <a:rPr sz="1800" spc="190" dirty="0">
                <a:solidFill>
                  <a:srgbClr val="12171A"/>
                </a:solidFill>
                <a:latin typeface="Calibri"/>
                <a:cs typeface="Calibri"/>
              </a:rPr>
              <a:t> </a:t>
            </a:r>
            <a:r>
              <a:rPr sz="1800" spc="-10" dirty="0">
                <a:solidFill>
                  <a:srgbClr val="12171A"/>
                </a:solidFill>
                <a:latin typeface="Calibri"/>
                <a:cs typeface="Calibri"/>
              </a:rPr>
              <a:t>keeping 	</a:t>
            </a:r>
            <a:r>
              <a:rPr sz="1800" dirty="0">
                <a:solidFill>
                  <a:srgbClr val="12171A"/>
                </a:solidFill>
                <a:latin typeface="Calibri"/>
                <a:cs typeface="Calibri"/>
              </a:rPr>
              <a:t>track</a:t>
            </a:r>
            <a:r>
              <a:rPr sz="1800" spc="260" dirty="0">
                <a:solidFill>
                  <a:srgbClr val="12171A"/>
                </a:solidFill>
                <a:latin typeface="Calibri"/>
                <a:cs typeface="Calibri"/>
              </a:rPr>
              <a:t> </a:t>
            </a:r>
            <a:r>
              <a:rPr sz="1800" dirty="0">
                <a:solidFill>
                  <a:srgbClr val="12171A"/>
                </a:solidFill>
                <a:latin typeface="Calibri"/>
                <a:cs typeface="Calibri"/>
              </a:rPr>
              <a:t>of</a:t>
            </a:r>
            <a:r>
              <a:rPr sz="1800" spc="275" dirty="0">
                <a:solidFill>
                  <a:srgbClr val="12171A"/>
                </a:solidFill>
                <a:latin typeface="Calibri"/>
                <a:cs typeface="Calibri"/>
              </a:rPr>
              <a:t> </a:t>
            </a:r>
            <a:r>
              <a:rPr sz="1800" dirty="0">
                <a:solidFill>
                  <a:srgbClr val="12171A"/>
                </a:solidFill>
                <a:latin typeface="Calibri"/>
                <a:cs typeface="Calibri"/>
              </a:rPr>
              <a:t>lower</a:t>
            </a:r>
            <a:r>
              <a:rPr sz="1800" spc="280" dirty="0">
                <a:solidFill>
                  <a:srgbClr val="12171A"/>
                </a:solidFill>
                <a:latin typeface="Calibri"/>
                <a:cs typeface="Calibri"/>
              </a:rPr>
              <a:t> </a:t>
            </a:r>
            <a:r>
              <a:rPr sz="1800" dirty="0">
                <a:solidFill>
                  <a:srgbClr val="12171A"/>
                </a:solidFill>
                <a:latin typeface="Calibri"/>
                <a:cs typeface="Calibri"/>
              </a:rPr>
              <a:t>and</a:t>
            </a:r>
            <a:r>
              <a:rPr sz="1800" spc="280" dirty="0">
                <a:solidFill>
                  <a:srgbClr val="12171A"/>
                </a:solidFill>
                <a:latin typeface="Calibri"/>
                <a:cs typeface="Calibri"/>
              </a:rPr>
              <a:t> </a:t>
            </a:r>
            <a:r>
              <a:rPr sz="1800" dirty="0">
                <a:solidFill>
                  <a:srgbClr val="12171A"/>
                </a:solidFill>
                <a:latin typeface="Calibri"/>
                <a:cs typeface="Calibri"/>
              </a:rPr>
              <a:t>upper</a:t>
            </a:r>
            <a:r>
              <a:rPr sz="1800" spc="265" dirty="0">
                <a:solidFill>
                  <a:srgbClr val="12171A"/>
                </a:solidFill>
                <a:latin typeface="Calibri"/>
                <a:cs typeface="Calibri"/>
              </a:rPr>
              <a:t> </a:t>
            </a:r>
            <a:r>
              <a:rPr sz="1800" dirty="0">
                <a:solidFill>
                  <a:srgbClr val="12171A"/>
                </a:solidFill>
                <a:latin typeface="Calibri"/>
                <a:cs typeface="Calibri"/>
              </a:rPr>
              <a:t>bounds</a:t>
            </a:r>
            <a:r>
              <a:rPr sz="1800" spc="280" dirty="0">
                <a:solidFill>
                  <a:srgbClr val="12171A"/>
                </a:solidFill>
                <a:latin typeface="Calibri"/>
                <a:cs typeface="Calibri"/>
              </a:rPr>
              <a:t> </a:t>
            </a:r>
            <a:r>
              <a:rPr sz="1800" dirty="0">
                <a:solidFill>
                  <a:srgbClr val="12171A"/>
                </a:solidFill>
                <a:latin typeface="Calibri"/>
                <a:cs typeface="Calibri"/>
              </a:rPr>
              <a:t>for</a:t>
            </a:r>
            <a:r>
              <a:rPr sz="1800" spc="270" dirty="0">
                <a:solidFill>
                  <a:srgbClr val="12171A"/>
                </a:solidFill>
                <a:latin typeface="Calibri"/>
                <a:cs typeface="Calibri"/>
              </a:rPr>
              <a:t> </a:t>
            </a:r>
            <a:r>
              <a:rPr sz="1800" dirty="0">
                <a:solidFill>
                  <a:srgbClr val="12171A"/>
                </a:solidFill>
                <a:latin typeface="Calibri"/>
                <a:cs typeface="Calibri"/>
              </a:rPr>
              <a:t>distances</a:t>
            </a:r>
            <a:r>
              <a:rPr sz="1800" spc="270" dirty="0">
                <a:solidFill>
                  <a:srgbClr val="12171A"/>
                </a:solidFill>
                <a:latin typeface="Calibri"/>
                <a:cs typeface="Calibri"/>
              </a:rPr>
              <a:t> </a:t>
            </a:r>
            <a:r>
              <a:rPr sz="1800" dirty="0">
                <a:solidFill>
                  <a:srgbClr val="12171A"/>
                </a:solidFill>
                <a:latin typeface="Calibri"/>
                <a:cs typeface="Calibri"/>
              </a:rPr>
              <a:t>between</a:t>
            </a:r>
            <a:r>
              <a:rPr sz="1800" spc="275" dirty="0">
                <a:solidFill>
                  <a:srgbClr val="12171A"/>
                </a:solidFill>
                <a:latin typeface="Calibri"/>
                <a:cs typeface="Calibri"/>
              </a:rPr>
              <a:t> </a:t>
            </a:r>
            <a:r>
              <a:rPr sz="1800" dirty="0">
                <a:solidFill>
                  <a:srgbClr val="12171A"/>
                </a:solidFill>
                <a:latin typeface="Calibri"/>
                <a:cs typeface="Calibri"/>
              </a:rPr>
              <a:t>instances</a:t>
            </a:r>
            <a:r>
              <a:rPr sz="1800" spc="280" dirty="0">
                <a:solidFill>
                  <a:srgbClr val="12171A"/>
                </a:solidFill>
                <a:latin typeface="Calibri"/>
                <a:cs typeface="Calibri"/>
              </a:rPr>
              <a:t> </a:t>
            </a:r>
            <a:r>
              <a:rPr sz="1800" spc="-25" dirty="0">
                <a:solidFill>
                  <a:srgbClr val="12171A"/>
                </a:solidFill>
                <a:latin typeface="Calibri"/>
                <a:cs typeface="Calibri"/>
              </a:rPr>
              <a:t>and 	</a:t>
            </a:r>
            <a:r>
              <a:rPr sz="1800" spc="-10" dirty="0">
                <a:solidFill>
                  <a:srgbClr val="12171A"/>
                </a:solidFill>
                <a:latin typeface="Calibri"/>
                <a:cs typeface="Calibri"/>
              </a:rPr>
              <a:t>centroids.</a:t>
            </a:r>
            <a:endParaRPr sz="1800">
              <a:latin typeface="Calibri"/>
              <a:cs typeface="Calibri"/>
            </a:endParaRPr>
          </a:p>
          <a:p>
            <a:pPr marL="355600" marR="6350" indent="-342900" algn="just">
              <a:lnSpc>
                <a:spcPct val="100000"/>
              </a:lnSpc>
              <a:spcBef>
                <a:spcPts val="595"/>
              </a:spcBef>
              <a:buClr>
                <a:srgbClr val="333940"/>
              </a:buClr>
              <a:buSzPct val="90000"/>
              <a:buFont typeface="Wingdings"/>
              <a:buChar char=""/>
              <a:tabLst>
                <a:tab pos="355600" algn="l"/>
              </a:tabLst>
            </a:pPr>
            <a:r>
              <a:rPr sz="2000" dirty="0">
                <a:solidFill>
                  <a:srgbClr val="12171A"/>
                </a:solidFill>
                <a:latin typeface="Calibri"/>
                <a:cs typeface="Calibri"/>
              </a:rPr>
              <a:t>Elkan’s</a:t>
            </a:r>
            <a:r>
              <a:rPr sz="2000" spc="110" dirty="0">
                <a:solidFill>
                  <a:srgbClr val="12171A"/>
                </a:solidFill>
                <a:latin typeface="Calibri"/>
                <a:cs typeface="Calibri"/>
              </a:rPr>
              <a:t> </a:t>
            </a:r>
            <a:r>
              <a:rPr sz="2000" dirty="0">
                <a:solidFill>
                  <a:srgbClr val="12171A"/>
                </a:solidFill>
                <a:latin typeface="Calibri"/>
                <a:cs typeface="Calibri"/>
              </a:rPr>
              <a:t>algorithm</a:t>
            </a:r>
            <a:r>
              <a:rPr sz="2000" spc="110" dirty="0">
                <a:solidFill>
                  <a:srgbClr val="12171A"/>
                </a:solidFill>
                <a:latin typeface="Calibri"/>
                <a:cs typeface="Calibri"/>
              </a:rPr>
              <a:t> </a:t>
            </a:r>
            <a:r>
              <a:rPr sz="2000" dirty="0">
                <a:solidFill>
                  <a:srgbClr val="12171A"/>
                </a:solidFill>
                <a:latin typeface="Calibri"/>
                <a:cs typeface="Calibri"/>
              </a:rPr>
              <a:t>does</a:t>
            </a:r>
            <a:r>
              <a:rPr sz="2000" spc="114" dirty="0">
                <a:solidFill>
                  <a:srgbClr val="12171A"/>
                </a:solidFill>
                <a:latin typeface="Calibri"/>
                <a:cs typeface="Calibri"/>
              </a:rPr>
              <a:t> </a:t>
            </a:r>
            <a:r>
              <a:rPr sz="2000" dirty="0">
                <a:solidFill>
                  <a:srgbClr val="12171A"/>
                </a:solidFill>
                <a:latin typeface="Calibri"/>
                <a:cs typeface="Calibri"/>
              </a:rPr>
              <a:t>not</a:t>
            </a:r>
            <a:r>
              <a:rPr sz="2000" spc="125" dirty="0">
                <a:solidFill>
                  <a:srgbClr val="12171A"/>
                </a:solidFill>
                <a:latin typeface="Calibri"/>
                <a:cs typeface="Calibri"/>
              </a:rPr>
              <a:t> </a:t>
            </a:r>
            <a:r>
              <a:rPr sz="2000" dirty="0">
                <a:solidFill>
                  <a:srgbClr val="12171A"/>
                </a:solidFill>
                <a:latin typeface="Calibri"/>
                <a:cs typeface="Calibri"/>
              </a:rPr>
              <a:t>always</a:t>
            </a:r>
            <a:r>
              <a:rPr sz="2000" spc="120" dirty="0">
                <a:solidFill>
                  <a:srgbClr val="12171A"/>
                </a:solidFill>
                <a:latin typeface="Calibri"/>
                <a:cs typeface="Calibri"/>
              </a:rPr>
              <a:t> </a:t>
            </a:r>
            <a:r>
              <a:rPr sz="2000" dirty="0">
                <a:solidFill>
                  <a:srgbClr val="12171A"/>
                </a:solidFill>
                <a:latin typeface="Calibri"/>
                <a:cs typeface="Calibri"/>
              </a:rPr>
              <a:t>accelerate</a:t>
            </a:r>
            <a:r>
              <a:rPr sz="2000" spc="125" dirty="0">
                <a:solidFill>
                  <a:srgbClr val="12171A"/>
                </a:solidFill>
                <a:latin typeface="Calibri"/>
                <a:cs typeface="Calibri"/>
              </a:rPr>
              <a:t> </a:t>
            </a:r>
            <a:r>
              <a:rPr sz="2000" dirty="0">
                <a:solidFill>
                  <a:srgbClr val="12171A"/>
                </a:solidFill>
                <a:latin typeface="Calibri"/>
                <a:cs typeface="Calibri"/>
              </a:rPr>
              <a:t>training,</a:t>
            </a:r>
            <a:r>
              <a:rPr sz="2000" spc="120" dirty="0">
                <a:solidFill>
                  <a:srgbClr val="12171A"/>
                </a:solidFill>
                <a:latin typeface="Calibri"/>
                <a:cs typeface="Calibri"/>
              </a:rPr>
              <a:t> </a:t>
            </a:r>
            <a:r>
              <a:rPr sz="2000" dirty="0">
                <a:solidFill>
                  <a:srgbClr val="12171A"/>
                </a:solidFill>
                <a:latin typeface="Calibri"/>
                <a:cs typeface="Calibri"/>
              </a:rPr>
              <a:t>and</a:t>
            </a:r>
            <a:r>
              <a:rPr sz="2000" spc="125" dirty="0">
                <a:solidFill>
                  <a:srgbClr val="12171A"/>
                </a:solidFill>
                <a:latin typeface="Calibri"/>
                <a:cs typeface="Calibri"/>
              </a:rPr>
              <a:t> </a:t>
            </a:r>
            <a:r>
              <a:rPr sz="2000" spc="-10" dirty="0">
                <a:solidFill>
                  <a:srgbClr val="12171A"/>
                </a:solidFill>
                <a:latin typeface="Calibri"/>
                <a:cs typeface="Calibri"/>
              </a:rPr>
              <a:t>sometimes </a:t>
            </a:r>
            <a:r>
              <a:rPr sz="2000" dirty="0">
                <a:solidFill>
                  <a:srgbClr val="12171A"/>
                </a:solidFill>
                <a:latin typeface="Calibri"/>
                <a:cs typeface="Calibri"/>
              </a:rPr>
              <a:t>it</a:t>
            </a:r>
            <a:r>
              <a:rPr sz="2000" spc="-20" dirty="0">
                <a:solidFill>
                  <a:srgbClr val="12171A"/>
                </a:solidFill>
                <a:latin typeface="Calibri"/>
                <a:cs typeface="Calibri"/>
              </a:rPr>
              <a:t> </a:t>
            </a:r>
            <a:r>
              <a:rPr sz="2000" dirty="0">
                <a:solidFill>
                  <a:srgbClr val="12171A"/>
                </a:solidFill>
                <a:latin typeface="Calibri"/>
                <a:cs typeface="Calibri"/>
              </a:rPr>
              <a:t>can</a:t>
            </a:r>
            <a:r>
              <a:rPr sz="2000" spc="-25" dirty="0">
                <a:solidFill>
                  <a:srgbClr val="12171A"/>
                </a:solidFill>
                <a:latin typeface="Calibri"/>
                <a:cs typeface="Calibri"/>
              </a:rPr>
              <a:t> </a:t>
            </a:r>
            <a:r>
              <a:rPr sz="2000" dirty="0">
                <a:solidFill>
                  <a:srgbClr val="12171A"/>
                </a:solidFill>
                <a:latin typeface="Calibri"/>
                <a:cs typeface="Calibri"/>
              </a:rPr>
              <a:t>even</a:t>
            </a:r>
            <a:r>
              <a:rPr sz="2000" spc="-15" dirty="0">
                <a:solidFill>
                  <a:srgbClr val="12171A"/>
                </a:solidFill>
                <a:latin typeface="Calibri"/>
                <a:cs typeface="Calibri"/>
              </a:rPr>
              <a:t> </a:t>
            </a:r>
            <a:r>
              <a:rPr sz="2000" dirty="0">
                <a:solidFill>
                  <a:srgbClr val="12171A"/>
                </a:solidFill>
                <a:latin typeface="Calibri"/>
                <a:cs typeface="Calibri"/>
              </a:rPr>
              <a:t>slow</a:t>
            </a:r>
            <a:r>
              <a:rPr sz="2000" spc="-25" dirty="0">
                <a:solidFill>
                  <a:srgbClr val="12171A"/>
                </a:solidFill>
                <a:latin typeface="Calibri"/>
                <a:cs typeface="Calibri"/>
              </a:rPr>
              <a:t> </a:t>
            </a:r>
            <a:r>
              <a:rPr sz="2000" dirty="0">
                <a:solidFill>
                  <a:srgbClr val="12171A"/>
                </a:solidFill>
                <a:latin typeface="Calibri"/>
                <a:cs typeface="Calibri"/>
              </a:rPr>
              <a:t>down</a:t>
            </a:r>
            <a:r>
              <a:rPr sz="2000" spc="-35" dirty="0">
                <a:solidFill>
                  <a:srgbClr val="12171A"/>
                </a:solidFill>
                <a:latin typeface="Calibri"/>
                <a:cs typeface="Calibri"/>
              </a:rPr>
              <a:t> </a:t>
            </a:r>
            <a:r>
              <a:rPr sz="2000" dirty="0">
                <a:solidFill>
                  <a:srgbClr val="12171A"/>
                </a:solidFill>
                <a:latin typeface="Calibri"/>
                <a:cs typeface="Calibri"/>
              </a:rPr>
              <a:t>training</a:t>
            </a:r>
            <a:r>
              <a:rPr sz="2000" spc="-25" dirty="0">
                <a:solidFill>
                  <a:srgbClr val="12171A"/>
                </a:solidFill>
                <a:latin typeface="Calibri"/>
                <a:cs typeface="Calibri"/>
              </a:rPr>
              <a:t> </a:t>
            </a:r>
            <a:r>
              <a:rPr sz="2000" spc="-10" dirty="0">
                <a:solidFill>
                  <a:srgbClr val="12171A"/>
                </a:solidFill>
                <a:latin typeface="Calibri"/>
                <a:cs typeface="Calibri"/>
              </a:rPr>
              <a:t>significantly;</a:t>
            </a:r>
            <a:endParaRPr sz="2000">
              <a:latin typeface="Calibri"/>
              <a:cs typeface="Calibri"/>
            </a:endParaRPr>
          </a:p>
          <a:p>
            <a:pPr marL="812165" lvl="1" indent="-333375" algn="just">
              <a:lnSpc>
                <a:spcPts val="2150"/>
              </a:lnSpc>
              <a:spcBef>
                <a:spcPts val="5"/>
              </a:spcBef>
              <a:buClr>
                <a:srgbClr val="121618"/>
              </a:buClr>
              <a:buSzPct val="94444"/>
              <a:buFont typeface="Wingdings"/>
              <a:buChar char=""/>
              <a:tabLst>
                <a:tab pos="812165" algn="l"/>
              </a:tabLst>
            </a:pPr>
            <a:r>
              <a:rPr sz="1800" dirty="0">
                <a:solidFill>
                  <a:srgbClr val="12171A"/>
                </a:solidFill>
                <a:latin typeface="Calibri"/>
                <a:cs typeface="Calibri"/>
              </a:rPr>
              <a:t>It</a:t>
            </a:r>
            <a:r>
              <a:rPr sz="1800" spc="-35" dirty="0">
                <a:solidFill>
                  <a:srgbClr val="12171A"/>
                </a:solidFill>
                <a:latin typeface="Calibri"/>
                <a:cs typeface="Calibri"/>
              </a:rPr>
              <a:t> </a:t>
            </a:r>
            <a:r>
              <a:rPr sz="1800" dirty="0">
                <a:solidFill>
                  <a:srgbClr val="12171A"/>
                </a:solidFill>
                <a:latin typeface="Calibri"/>
                <a:cs typeface="Calibri"/>
              </a:rPr>
              <a:t>depends</a:t>
            </a:r>
            <a:r>
              <a:rPr sz="1800" spc="-20" dirty="0">
                <a:solidFill>
                  <a:srgbClr val="12171A"/>
                </a:solidFill>
                <a:latin typeface="Calibri"/>
                <a:cs typeface="Calibri"/>
              </a:rPr>
              <a:t> </a:t>
            </a:r>
            <a:r>
              <a:rPr sz="1800" dirty="0">
                <a:solidFill>
                  <a:srgbClr val="12171A"/>
                </a:solidFill>
                <a:latin typeface="Calibri"/>
                <a:cs typeface="Calibri"/>
              </a:rPr>
              <a:t>on</a:t>
            </a:r>
            <a:r>
              <a:rPr sz="1800" spc="-15" dirty="0">
                <a:solidFill>
                  <a:srgbClr val="12171A"/>
                </a:solidFill>
                <a:latin typeface="Calibri"/>
                <a:cs typeface="Calibri"/>
              </a:rPr>
              <a:t> </a:t>
            </a:r>
            <a:r>
              <a:rPr sz="1800" dirty="0">
                <a:solidFill>
                  <a:srgbClr val="12171A"/>
                </a:solidFill>
                <a:latin typeface="Calibri"/>
                <a:cs typeface="Calibri"/>
              </a:rPr>
              <a:t>the</a:t>
            </a:r>
            <a:r>
              <a:rPr sz="1800" spc="-15" dirty="0">
                <a:solidFill>
                  <a:srgbClr val="12171A"/>
                </a:solidFill>
                <a:latin typeface="Calibri"/>
                <a:cs typeface="Calibri"/>
              </a:rPr>
              <a:t> </a:t>
            </a:r>
            <a:r>
              <a:rPr sz="1800" spc="-10" dirty="0">
                <a:solidFill>
                  <a:srgbClr val="12171A"/>
                </a:solidFill>
                <a:latin typeface="Calibri"/>
                <a:cs typeface="Calibri"/>
              </a:rPr>
              <a:t>dataset.</a:t>
            </a:r>
            <a:endParaRPr sz="1800">
              <a:latin typeface="Calibri"/>
              <a:cs typeface="Calibri"/>
            </a:endParaRPr>
          </a:p>
          <a:p>
            <a:pPr marL="812165" lvl="1" indent="-333375" algn="just">
              <a:lnSpc>
                <a:spcPts val="2150"/>
              </a:lnSpc>
              <a:buClr>
                <a:srgbClr val="121618"/>
              </a:buClr>
              <a:buSzPct val="94444"/>
              <a:buFont typeface="Wingdings"/>
              <a:buChar char=""/>
              <a:tabLst>
                <a:tab pos="812165" algn="l"/>
              </a:tabLst>
            </a:pPr>
            <a:r>
              <a:rPr sz="1800" dirty="0">
                <a:solidFill>
                  <a:srgbClr val="12171A"/>
                </a:solidFill>
                <a:latin typeface="Calibri"/>
                <a:cs typeface="Calibri"/>
              </a:rPr>
              <a:t>You</a:t>
            </a:r>
            <a:r>
              <a:rPr sz="1800" spc="-10" dirty="0">
                <a:solidFill>
                  <a:srgbClr val="12171A"/>
                </a:solidFill>
                <a:latin typeface="Calibri"/>
                <a:cs typeface="Calibri"/>
              </a:rPr>
              <a:t> </a:t>
            </a:r>
            <a:r>
              <a:rPr sz="1800" dirty="0">
                <a:solidFill>
                  <a:srgbClr val="12171A"/>
                </a:solidFill>
                <a:latin typeface="Calibri"/>
                <a:cs typeface="Calibri"/>
              </a:rPr>
              <a:t>can</a:t>
            </a:r>
            <a:r>
              <a:rPr sz="1800" spc="-5" dirty="0">
                <a:solidFill>
                  <a:srgbClr val="12171A"/>
                </a:solidFill>
                <a:latin typeface="Calibri"/>
                <a:cs typeface="Calibri"/>
              </a:rPr>
              <a:t> </a:t>
            </a:r>
            <a:r>
              <a:rPr sz="1800" dirty="0">
                <a:solidFill>
                  <a:srgbClr val="12171A"/>
                </a:solidFill>
                <a:latin typeface="Calibri"/>
                <a:cs typeface="Calibri"/>
              </a:rPr>
              <a:t>try</a:t>
            </a:r>
            <a:r>
              <a:rPr sz="1800" spc="-15" dirty="0">
                <a:solidFill>
                  <a:srgbClr val="12171A"/>
                </a:solidFill>
                <a:latin typeface="Calibri"/>
                <a:cs typeface="Calibri"/>
              </a:rPr>
              <a:t> </a:t>
            </a:r>
            <a:r>
              <a:rPr sz="1800" dirty="0">
                <a:solidFill>
                  <a:srgbClr val="12171A"/>
                </a:solidFill>
                <a:latin typeface="Calibri"/>
                <a:cs typeface="Calibri"/>
              </a:rPr>
              <a:t>it</a:t>
            </a:r>
            <a:r>
              <a:rPr sz="1800" spc="-25" dirty="0">
                <a:solidFill>
                  <a:srgbClr val="12171A"/>
                </a:solidFill>
                <a:latin typeface="Calibri"/>
                <a:cs typeface="Calibri"/>
              </a:rPr>
              <a:t> </a:t>
            </a:r>
            <a:r>
              <a:rPr sz="1800" dirty="0">
                <a:solidFill>
                  <a:srgbClr val="12171A"/>
                </a:solidFill>
                <a:latin typeface="Calibri"/>
                <a:cs typeface="Calibri"/>
              </a:rPr>
              <a:t>by</a:t>
            </a:r>
            <a:r>
              <a:rPr sz="1800" spc="-10" dirty="0">
                <a:solidFill>
                  <a:srgbClr val="12171A"/>
                </a:solidFill>
                <a:latin typeface="Calibri"/>
                <a:cs typeface="Calibri"/>
              </a:rPr>
              <a:t> </a:t>
            </a:r>
            <a:r>
              <a:rPr sz="1800" dirty="0">
                <a:solidFill>
                  <a:srgbClr val="12171A"/>
                </a:solidFill>
                <a:latin typeface="Calibri"/>
                <a:cs typeface="Calibri"/>
              </a:rPr>
              <a:t>setting</a:t>
            </a:r>
            <a:r>
              <a:rPr sz="1800" spc="-10" dirty="0">
                <a:solidFill>
                  <a:srgbClr val="12171A"/>
                </a:solidFill>
                <a:latin typeface="Calibri"/>
                <a:cs typeface="Calibri"/>
              </a:rPr>
              <a:t> </a:t>
            </a:r>
            <a:r>
              <a:rPr sz="1600" spc="-10" dirty="0">
                <a:solidFill>
                  <a:srgbClr val="12171A"/>
                </a:solidFill>
                <a:latin typeface="Courier New"/>
                <a:cs typeface="Courier New"/>
              </a:rPr>
              <a:t>algorithm="elkan".</a:t>
            </a:r>
            <a:endParaRPr sz="1600">
              <a:latin typeface="Courier New"/>
              <a:cs typeface="Courier New"/>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a:lnSpc>
                <a:spcPct val="100000"/>
              </a:lnSpc>
              <a:spcBef>
                <a:spcPts val="105"/>
              </a:spcBef>
            </a:pPr>
            <a:r>
              <a:rPr spc="-10" dirty="0"/>
              <a:t>Mini-</a:t>
            </a:r>
            <a:r>
              <a:rPr dirty="0"/>
              <a:t>batch </a:t>
            </a:r>
            <a:r>
              <a:rPr b="0" spc="50" dirty="0">
                <a:latin typeface="Cambria Math"/>
                <a:cs typeface="Cambria Math"/>
              </a:rPr>
              <a:t>𝑘</a:t>
            </a:r>
            <a:r>
              <a:rPr spc="50" dirty="0"/>
              <a:t>-</a:t>
            </a:r>
            <a:r>
              <a:rPr spc="-20" dirty="0"/>
              <a:t>means</a:t>
            </a:r>
          </a:p>
        </p:txBody>
      </p:sp>
      <p:sp>
        <p:nvSpPr>
          <p:cNvPr id="3" name="object 3"/>
          <p:cNvSpPr txBox="1"/>
          <p:nvPr/>
        </p:nvSpPr>
        <p:spPr>
          <a:xfrm>
            <a:off x="694131" y="1223263"/>
            <a:ext cx="7710170" cy="1626870"/>
          </a:xfrm>
          <a:prstGeom prst="rect">
            <a:avLst/>
          </a:prstGeom>
        </p:spPr>
        <p:txBody>
          <a:bodyPr vert="horz" wrap="square" lIns="0" tIns="13335" rIns="0" bIns="0" rtlCol="0">
            <a:spAutoFit/>
          </a:bodyPr>
          <a:lstStyle/>
          <a:p>
            <a:pPr marL="355600" marR="6985" indent="-342900" algn="just">
              <a:lnSpc>
                <a:spcPct val="100000"/>
              </a:lnSpc>
              <a:spcBef>
                <a:spcPts val="105"/>
              </a:spcBef>
              <a:buClr>
                <a:srgbClr val="333940"/>
              </a:buClr>
              <a:buSzPct val="90000"/>
              <a:buFont typeface="Wingdings"/>
              <a:buChar char=""/>
              <a:tabLst>
                <a:tab pos="355600" algn="l"/>
              </a:tabLst>
            </a:pPr>
            <a:r>
              <a:rPr sz="2000" spc="-10" dirty="0">
                <a:solidFill>
                  <a:srgbClr val="12171A"/>
                </a:solidFill>
                <a:latin typeface="Calibri"/>
                <a:cs typeface="Calibri"/>
              </a:rPr>
              <a:t>Mini-</a:t>
            </a:r>
            <a:r>
              <a:rPr sz="2000" dirty="0">
                <a:solidFill>
                  <a:srgbClr val="12171A"/>
                </a:solidFill>
                <a:latin typeface="Calibri"/>
                <a:cs typeface="Calibri"/>
              </a:rPr>
              <a:t>batch</a:t>
            </a:r>
            <a:r>
              <a:rPr sz="2000" spc="20" dirty="0">
                <a:solidFill>
                  <a:srgbClr val="12171A"/>
                </a:solidFill>
                <a:latin typeface="Calibri"/>
                <a:cs typeface="Calibri"/>
              </a:rPr>
              <a:t> </a:t>
            </a:r>
            <a:r>
              <a:rPr sz="2000" spc="-10" dirty="0">
                <a:solidFill>
                  <a:srgbClr val="12171A"/>
                </a:solidFill>
                <a:latin typeface="Calibri"/>
                <a:cs typeface="Calibri"/>
              </a:rPr>
              <a:t>k-</a:t>
            </a:r>
            <a:r>
              <a:rPr sz="2000" dirty="0">
                <a:solidFill>
                  <a:srgbClr val="12171A"/>
                </a:solidFill>
                <a:latin typeface="Calibri"/>
                <a:cs typeface="Calibri"/>
              </a:rPr>
              <a:t>means:</a:t>
            </a:r>
            <a:r>
              <a:rPr sz="2000" spc="20" dirty="0">
                <a:solidFill>
                  <a:srgbClr val="12171A"/>
                </a:solidFill>
                <a:latin typeface="Calibri"/>
                <a:cs typeface="Calibri"/>
              </a:rPr>
              <a:t> </a:t>
            </a:r>
            <a:r>
              <a:rPr sz="2000" dirty="0">
                <a:solidFill>
                  <a:srgbClr val="12171A"/>
                </a:solidFill>
                <a:latin typeface="Calibri"/>
                <a:cs typeface="Calibri"/>
              </a:rPr>
              <a:t>instead</a:t>
            </a:r>
            <a:r>
              <a:rPr sz="2000" spc="15" dirty="0">
                <a:solidFill>
                  <a:srgbClr val="12171A"/>
                </a:solidFill>
                <a:latin typeface="Calibri"/>
                <a:cs typeface="Calibri"/>
              </a:rPr>
              <a:t> </a:t>
            </a:r>
            <a:r>
              <a:rPr sz="2000" dirty="0">
                <a:solidFill>
                  <a:srgbClr val="12171A"/>
                </a:solidFill>
                <a:latin typeface="Calibri"/>
                <a:cs typeface="Calibri"/>
              </a:rPr>
              <a:t>of using</a:t>
            </a:r>
            <a:r>
              <a:rPr sz="2000" spc="20" dirty="0">
                <a:solidFill>
                  <a:srgbClr val="12171A"/>
                </a:solidFill>
                <a:latin typeface="Calibri"/>
                <a:cs typeface="Calibri"/>
              </a:rPr>
              <a:t> </a:t>
            </a:r>
            <a:r>
              <a:rPr sz="2000" dirty="0">
                <a:solidFill>
                  <a:srgbClr val="12171A"/>
                </a:solidFill>
                <a:latin typeface="Calibri"/>
                <a:cs typeface="Calibri"/>
              </a:rPr>
              <a:t>the</a:t>
            </a:r>
            <a:r>
              <a:rPr sz="2000" spc="5" dirty="0">
                <a:solidFill>
                  <a:srgbClr val="12171A"/>
                </a:solidFill>
                <a:latin typeface="Calibri"/>
                <a:cs typeface="Calibri"/>
              </a:rPr>
              <a:t> </a:t>
            </a:r>
            <a:r>
              <a:rPr sz="2000" dirty="0">
                <a:solidFill>
                  <a:srgbClr val="12171A"/>
                </a:solidFill>
                <a:latin typeface="Calibri"/>
                <a:cs typeface="Calibri"/>
              </a:rPr>
              <a:t>full</a:t>
            </a:r>
            <a:r>
              <a:rPr sz="2000" spc="5" dirty="0">
                <a:solidFill>
                  <a:srgbClr val="12171A"/>
                </a:solidFill>
                <a:latin typeface="Calibri"/>
                <a:cs typeface="Calibri"/>
              </a:rPr>
              <a:t> </a:t>
            </a:r>
            <a:r>
              <a:rPr sz="2000" dirty="0">
                <a:solidFill>
                  <a:srgbClr val="12171A"/>
                </a:solidFill>
                <a:latin typeface="Calibri"/>
                <a:cs typeface="Calibri"/>
              </a:rPr>
              <a:t>dataset</a:t>
            </a:r>
            <a:r>
              <a:rPr sz="2000" spc="15" dirty="0">
                <a:solidFill>
                  <a:srgbClr val="12171A"/>
                </a:solidFill>
                <a:latin typeface="Calibri"/>
                <a:cs typeface="Calibri"/>
              </a:rPr>
              <a:t> </a:t>
            </a:r>
            <a:r>
              <a:rPr sz="2000" dirty="0">
                <a:solidFill>
                  <a:srgbClr val="12171A"/>
                </a:solidFill>
                <a:latin typeface="Calibri"/>
                <a:cs typeface="Calibri"/>
              </a:rPr>
              <a:t>at</a:t>
            </a:r>
            <a:r>
              <a:rPr sz="2000" spc="30" dirty="0">
                <a:solidFill>
                  <a:srgbClr val="12171A"/>
                </a:solidFill>
                <a:latin typeface="Calibri"/>
                <a:cs typeface="Calibri"/>
              </a:rPr>
              <a:t> </a:t>
            </a:r>
            <a:r>
              <a:rPr sz="2000" dirty="0">
                <a:solidFill>
                  <a:srgbClr val="12171A"/>
                </a:solidFill>
                <a:latin typeface="Calibri"/>
                <a:cs typeface="Calibri"/>
              </a:rPr>
              <a:t>each</a:t>
            </a:r>
            <a:r>
              <a:rPr sz="2000" spc="25" dirty="0">
                <a:solidFill>
                  <a:srgbClr val="12171A"/>
                </a:solidFill>
                <a:latin typeface="Calibri"/>
                <a:cs typeface="Calibri"/>
              </a:rPr>
              <a:t> </a:t>
            </a:r>
            <a:r>
              <a:rPr sz="2000" spc="-10" dirty="0">
                <a:solidFill>
                  <a:srgbClr val="12171A"/>
                </a:solidFill>
                <a:latin typeface="Calibri"/>
                <a:cs typeface="Calibri"/>
              </a:rPr>
              <a:t>iteration, </a:t>
            </a:r>
            <a:r>
              <a:rPr sz="2000" dirty="0">
                <a:solidFill>
                  <a:srgbClr val="12171A"/>
                </a:solidFill>
                <a:latin typeface="Calibri"/>
                <a:cs typeface="Calibri"/>
              </a:rPr>
              <a:t>the</a:t>
            </a:r>
            <a:r>
              <a:rPr sz="2000" spc="220" dirty="0">
                <a:solidFill>
                  <a:srgbClr val="12171A"/>
                </a:solidFill>
                <a:latin typeface="Calibri"/>
                <a:cs typeface="Calibri"/>
              </a:rPr>
              <a:t> </a:t>
            </a:r>
            <a:r>
              <a:rPr sz="2000" dirty="0">
                <a:solidFill>
                  <a:srgbClr val="12171A"/>
                </a:solidFill>
                <a:latin typeface="Calibri"/>
                <a:cs typeface="Calibri"/>
              </a:rPr>
              <a:t>algorithm</a:t>
            </a:r>
            <a:r>
              <a:rPr sz="2000" spc="200" dirty="0">
                <a:solidFill>
                  <a:srgbClr val="12171A"/>
                </a:solidFill>
                <a:latin typeface="Calibri"/>
                <a:cs typeface="Calibri"/>
              </a:rPr>
              <a:t> </a:t>
            </a:r>
            <a:r>
              <a:rPr sz="2000" dirty="0">
                <a:solidFill>
                  <a:srgbClr val="12171A"/>
                </a:solidFill>
                <a:latin typeface="Calibri"/>
                <a:cs typeface="Calibri"/>
              </a:rPr>
              <a:t>is</a:t>
            </a:r>
            <a:r>
              <a:rPr sz="2000" spc="210" dirty="0">
                <a:solidFill>
                  <a:srgbClr val="12171A"/>
                </a:solidFill>
                <a:latin typeface="Calibri"/>
                <a:cs typeface="Calibri"/>
              </a:rPr>
              <a:t> </a:t>
            </a:r>
            <a:r>
              <a:rPr sz="2000" dirty="0">
                <a:solidFill>
                  <a:srgbClr val="12171A"/>
                </a:solidFill>
                <a:latin typeface="Calibri"/>
                <a:cs typeface="Calibri"/>
              </a:rPr>
              <a:t>capable</a:t>
            </a:r>
            <a:r>
              <a:rPr sz="2000" spc="215" dirty="0">
                <a:solidFill>
                  <a:srgbClr val="12171A"/>
                </a:solidFill>
                <a:latin typeface="Calibri"/>
                <a:cs typeface="Calibri"/>
              </a:rPr>
              <a:t> </a:t>
            </a:r>
            <a:r>
              <a:rPr sz="2000" dirty="0">
                <a:solidFill>
                  <a:srgbClr val="12171A"/>
                </a:solidFill>
                <a:latin typeface="Calibri"/>
                <a:cs typeface="Calibri"/>
              </a:rPr>
              <a:t>of</a:t>
            </a:r>
            <a:r>
              <a:rPr sz="2000" spc="200" dirty="0">
                <a:solidFill>
                  <a:srgbClr val="12171A"/>
                </a:solidFill>
                <a:latin typeface="Calibri"/>
                <a:cs typeface="Calibri"/>
              </a:rPr>
              <a:t> </a:t>
            </a:r>
            <a:r>
              <a:rPr sz="2000" dirty="0">
                <a:solidFill>
                  <a:srgbClr val="12171A"/>
                </a:solidFill>
                <a:latin typeface="Calibri"/>
                <a:cs typeface="Calibri"/>
              </a:rPr>
              <a:t>using</a:t>
            </a:r>
            <a:r>
              <a:rPr sz="2000" spc="220" dirty="0">
                <a:solidFill>
                  <a:srgbClr val="12171A"/>
                </a:solidFill>
                <a:latin typeface="Calibri"/>
                <a:cs typeface="Calibri"/>
              </a:rPr>
              <a:t> </a:t>
            </a:r>
            <a:r>
              <a:rPr sz="2000" spc="-10" dirty="0">
                <a:solidFill>
                  <a:srgbClr val="12171A"/>
                </a:solidFill>
                <a:latin typeface="Calibri"/>
                <a:cs typeface="Calibri"/>
              </a:rPr>
              <a:t>mini-</a:t>
            </a:r>
            <a:r>
              <a:rPr sz="2000" dirty="0">
                <a:solidFill>
                  <a:srgbClr val="12171A"/>
                </a:solidFill>
                <a:latin typeface="Calibri"/>
                <a:cs typeface="Calibri"/>
              </a:rPr>
              <a:t>batches,</a:t>
            </a:r>
            <a:r>
              <a:rPr sz="2000" spc="210" dirty="0">
                <a:solidFill>
                  <a:srgbClr val="12171A"/>
                </a:solidFill>
                <a:latin typeface="Calibri"/>
                <a:cs typeface="Calibri"/>
              </a:rPr>
              <a:t> </a:t>
            </a:r>
            <a:r>
              <a:rPr sz="2000" dirty="0">
                <a:solidFill>
                  <a:srgbClr val="12171A"/>
                </a:solidFill>
                <a:latin typeface="Calibri"/>
                <a:cs typeface="Calibri"/>
              </a:rPr>
              <a:t>moving</a:t>
            </a:r>
            <a:r>
              <a:rPr sz="2000" spc="220" dirty="0">
                <a:solidFill>
                  <a:srgbClr val="12171A"/>
                </a:solidFill>
                <a:latin typeface="Calibri"/>
                <a:cs typeface="Calibri"/>
              </a:rPr>
              <a:t> </a:t>
            </a:r>
            <a:r>
              <a:rPr sz="2000" dirty="0">
                <a:solidFill>
                  <a:srgbClr val="12171A"/>
                </a:solidFill>
                <a:latin typeface="Calibri"/>
                <a:cs typeface="Calibri"/>
              </a:rPr>
              <a:t>the</a:t>
            </a:r>
            <a:r>
              <a:rPr sz="2000" spc="220" dirty="0">
                <a:solidFill>
                  <a:srgbClr val="12171A"/>
                </a:solidFill>
                <a:latin typeface="Calibri"/>
                <a:cs typeface="Calibri"/>
              </a:rPr>
              <a:t> </a:t>
            </a:r>
            <a:r>
              <a:rPr sz="2000" spc="-10" dirty="0">
                <a:solidFill>
                  <a:srgbClr val="12171A"/>
                </a:solidFill>
                <a:latin typeface="Calibri"/>
                <a:cs typeface="Calibri"/>
              </a:rPr>
              <a:t>centroids </a:t>
            </a:r>
            <a:r>
              <a:rPr sz="2000" dirty="0">
                <a:solidFill>
                  <a:srgbClr val="12171A"/>
                </a:solidFill>
                <a:latin typeface="Calibri"/>
                <a:cs typeface="Calibri"/>
              </a:rPr>
              <a:t>just</a:t>
            </a:r>
            <a:r>
              <a:rPr sz="2000" spc="-45" dirty="0">
                <a:solidFill>
                  <a:srgbClr val="12171A"/>
                </a:solidFill>
                <a:latin typeface="Calibri"/>
                <a:cs typeface="Calibri"/>
              </a:rPr>
              <a:t> </a:t>
            </a:r>
            <a:r>
              <a:rPr sz="2000" dirty="0">
                <a:solidFill>
                  <a:srgbClr val="12171A"/>
                </a:solidFill>
                <a:latin typeface="Calibri"/>
                <a:cs typeface="Calibri"/>
              </a:rPr>
              <a:t>slightly</a:t>
            </a:r>
            <a:r>
              <a:rPr sz="2000" spc="-35" dirty="0">
                <a:solidFill>
                  <a:srgbClr val="12171A"/>
                </a:solidFill>
                <a:latin typeface="Calibri"/>
                <a:cs typeface="Calibri"/>
              </a:rPr>
              <a:t> </a:t>
            </a:r>
            <a:r>
              <a:rPr sz="2000" dirty="0">
                <a:solidFill>
                  <a:srgbClr val="12171A"/>
                </a:solidFill>
                <a:latin typeface="Calibri"/>
                <a:cs typeface="Calibri"/>
              </a:rPr>
              <a:t>at</a:t>
            </a:r>
            <a:r>
              <a:rPr sz="2000" spc="-30" dirty="0">
                <a:solidFill>
                  <a:srgbClr val="12171A"/>
                </a:solidFill>
                <a:latin typeface="Calibri"/>
                <a:cs typeface="Calibri"/>
              </a:rPr>
              <a:t> </a:t>
            </a:r>
            <a:r>
              <a:rPr sz="2000" dirty="0">
                <a:solidFill>
                  <a:srgbClr val="12171A"/>
                </a:solidFill>
                <a:latin typeface="Calibri"/>
                <a:cs typeface="Calibri"/>
              </a:rPr>
              <a:t>each</a:t>
            </a:r>
            <a:r>
              <a:rPr sz="2000" spc="-30" dirty="0">
                <a:solidFill>
                  <a:srgbClr val="12171A"/>
                </a:solidFill>
                <a:latin typeface="Calibri"/>
                <a:cs typeface="Calibri"/>
              </a:rPr>
              <a:t> </a:t>
            </a:r>
            <a:r>
              <a:rPr sz="2000" spc="-10" dirty="0">
                <a:solidFill>
                  <a:srgbClr val="12171A"/>
                </a:solidFill>
                <a:latin typeface="Calibri"/>
                <a:cs typeface="Calibri"/>
              </a:rPr>
              <a:t>iteration.</a:t>
            </a:r>
            <a:endParaRPr sz="2000">
              <a:latin typeface="Calibri"/>
              <a:cs typeface="Calibri"/>
            </a:endParaRPr>
          </a:p>
          <a:p>
            <a:pPr marL="355600" marR="5080" indent="-342900" algn="just">
              <a:lnSpc>
                <a:spcPct val="100000"/>
              </a:lnSpc>
              <a:spcBef>
                <a:spcPts val="600"/>
              </a:spcBef>
              <a:buClr>
                <a:srgbClr val="333940"/>
              </a:buClr>
              <a:buSzPct val="90000"/>
              <a:buFont typeface="Wingdings"/>
              <a:buChar char=""/>
              <a:tabLst>
                <a:tab pos="355600" algn="l"/>
              </a:tabLst>
            </a:pPr>
            <a:r>
              <a:rPr sz="2000" dirty="0">
                <a:solidFill>
                  <a:srgbClr val="12171A"/>
                </a:solidFill>
                <a:latin typeface="Calibri"/>
                <a:cs typeface="Calibri"/>
              </a:rPr>
              <a:t>This</a:t>
            </a:r>
            <a:r>
              <a:rPr sz="2000" spc="-15" dirty="0">
                <a:solidFill>
                  <a:srgbClr val="12171A"/>
                </a:solidFill>
                <a:latin typeface="Calibri"/>
                <a:cs typeface="Calibri"/>
              </a:rPr>
              <a:t> </a:t>
            </a:r>
            <a:r>
              <a:rPr sz="2000" dirty="0">
                <a:solidFill>
                  <a:srgbClr val="12171A"/>
                </a:solidFill>
                <a:latin typeface="Calibri"/>
                <a:cs typeface="Calibri"/>
              </a:rPr>
              <a:t>speeds</a:t>
            </a:r>
            <a:r>
              <a:rPr sz="2000" spc="-5" dirty="0">
                <a:solidFill>
                  <a:srgbClr val="12171A"/>
                </a:solidFill>
                <a:latin typeface="Calibri"/>
                <a:cs typeface="Calibri"/>
              </a:rPr>
              <a:t> </a:t>
            </a:r>
            <a:r>
              <a:rPr sz="2000" dirty="0">
                <a:solidFill>
                  <a:srgbClr val="12171A"/>
                </a:solidFill>
                <a:latin typeface="Calibri"/>
                <a:cs typeface="Calibri"/>
              </a:rPr>
              <a:t>up</a:t>
            </a:r>
            <a:r>
              <a:rPr sz="2000" spc="-15" dirty="0">
                <a:solidFill>
                  <a:srgbClr val="12171A"/>
                </a:solidFill>
                <a:latin typeface="Calibri"/>
                <a:cs typeface="Calibri"/>
              </a:rPr>
              <a:t> </a:t>
            </a:r>
            <a:r>
              <a:rPr sz="2000" dirty="0">
                <a:solidFill>
                  <a:srgbClr val="12171A"/>
                </a:solidFill>
                <a:latin typeface="Calibri"/>
                <a:cs typeface="Calibri"/>
              </a:rPr>
              <a:t>the</a:t>
            </a:r>
            <a:r>
              <a:rPr sz="2000" spc="-15" dirty="0">
                <a:solidFill>
                  <a:srgbClr val="12171A"/>
                </a:solidFill>
                <a:latin typeface="Calibri"/>
                <a:cs typeface="Calibri"/>
              </a:rPr>
              <a:t> </a:t>
            </a:r>
            <a:r>
              <a:rPr sz="2000" dirty="0">
                <a:solidFill>
                  <a:srgbClr val="12171A"/>
                </a:solidFill>
                <a:latin typeface="Calibri"/>
                <a:cs typeface="Calibri"/>
              </a:rPr>
              <a:t>algorithm</a:t>
            </a:r>
            <a:r>
              <a:rPr sz="2000" spc="-20" dirty="0">
                <a:solidFill>
                  <a:srgbClr val="12171A"/>
                </a:solidFill>
                <a:latin typeface="Calibri"/>
                <a:cs typeface="Calibri"/>
              </a:rPr>
              <a:t> </a:t>
            </a:r>
            <a:r>
              <a:rPr sz="2000" dirty="0">
                <a:solidFill>
                  <a:srgbClr val="12171A"/>
                </a:solidFill>
                <a:latin typeface="Calibri"/>
                <a:cs typeface="Calibri"/>
              </a:rPr>
              <a:t>(typically</a:t>
            </a:r>
            <a:r>
              <a:rPr sz="2000" spc="-15" dirty="0">
                <a:solidFill>
                  <a:srgbClr val="12171A"/>
                </a:solidFill>
                <a:latin typeface="Calibri"/>
                <a:cs typeface="Calibri"/>
              </a:rPr>
              <a:t> </a:t>
            </a:r>
            <a:r>
              <a:rPr sz="2000" dirty="0">
                <a:solidFill>
                  <a:srgbClr val="12171A"/>
                </a:solidFill>
                <a:latin typeface="Calibri"/>
                <a:cs typeface="Calibri"/>
              </a:rPr>
              <a:t>by</a:t>
            </a:r>
            <a:r>
              <a:rPr sz="2000" spc="-10" dirty="0">
                <a:solidFill>
                  <a:srgbClr val="12171A"/>
                </a:solidFill>
                <a:latin typeface="Calibri"/>
                <a:cs typeface="Calibri"/>
              </a:rPr>
              <a:t> </a:t>
            </a:r>
            <a:r>
              <a:rPr sz="2000" dirty="0">
                <a:solidFill>
                  <a:srgbClr val="12171A"/>
                </a:solidFill>
                <a:latin typeface="Calibri"/>
                <a:cs typeface="Calibri"/>
              </a:rPr>
              <a:t>a</a:t>
            </a:r>
            <a:r>
              <a:rPr sz="2000" spc="-10" dirty="0">
                <a:solidFill>
                  <a:srgbClr val="12171A"/>
                </a:solidFill>
                <a:latin typeface="Calibri"/>
                <a:cs typeface="Calibri"/>
              </a:rPr>
              <a:t> </a:t>
            </a:r>
            <a:r>
              <a:rPr sz="2000" dirty="0">
                <a:solidFill>
                  <a:srgbClr val="12171A"/>
                </a:solidFill>
                <a:latin typeface="Calibri"/>
                <a:cs typeface="Calibri"/>
              </a:rPr>
              <a:t>factor</a:t>
            </a:r>
            <a:r>
              <a:rPr sz="2000" spc="-5" dirty="0">
                <a:solidFill>
                  <a:srgbClr val="12171A"/>
                </a:solidFill>
                <a:latin typeface="Calibri"/>
                <a:cs typeface="Calibri"/>
              </a:rPr>
              <a:t> </a:t>
            </a:r>
            <a:r>
              <a:rPr sz="2000" dirty="0">
                <a:solidFill>
                  <a:srgbClr val="12171A"/>
                </a:solidFill>
                <a:latin typeface="Calibri"/>
                <a:cs typeface="Calibri"/>
              </a:rPr>
              <a:t>of</a:t>
            </a:r>
            <a:r>
              <a:rPr sz="2000" spc="-15" dirty="0">
                <a:solidFill>
                  <a:srgbClr val="12171A"/>
                </a:solidFill>
                <a:latin typeface="Calibri"/>
                <a:cs typeface="Calibri"/>
              </a:rPr>
              <a:t> </a:t>
            </a:r>
            <a:r>
              <a:rPr sz="2000" dirty="0">
                <a:solidFill>
                  <a:srgbClr val="12171A"/>
                </a:solidFill>
                <a:latin typeface="Calibri"/>
                <a:cs typeface="Calibri"/>
              </a:rPr>
              <a:t>three</a:t>
            </a:r>
            <a:r>
              <a:rPr sz="2000" spc="-20" dirty="0">
                <a:solidFill>
                  <a:srgbClr val="12171A"/>
                </a:solidFill>
                <a:latin typeface="Calibri"/>
                <a:cs typeface="Calibri"/>
              </a:rPr>
              <a:t> </a:t>
            </a:r>
            <a:r>
              <a:rPr sz="2000" dirty="0">
                <a:solidFill>
                  <a:srgbClr val="12171A"/>
                </a:solidFill>
                <a:latin typeface="Calibri"/>
                <a:cs typeface="Calibri"/>
              </a:rPr>
              <a:t>to</a:t>
            </a:r>
            <a:r>
              <a:rPr sz="2000" spc="-5" dirty="0">
                <a:solidFill>
                  <a:srgbClr val="12171A"/>
                </a:solidFill>
                <a:latin typeface="Calibri"/>
                <a:cs typeface="Calibri"/>
              </a:rPr>
              <a:t> </a:t>
            </a:r>
            <a:r>
              <a:rPr sz="2000" dirty="0">
                <a:solidFill>
                  <a:srgbClr val="12171A"/>
                </a:solidFill>
                <a:latin typeface="Calibri"/>
                <a:cs typeface="Calibri"/>
              </a:rPr>
              <a:t>four) </a:t>
            </a:r>
            <a:r>
              <a:rPr sz="2000" spc="-25" dirty="0">
                <a:solidFill>
                  <a:srgbClr val="12171A"/>
                </a:solidFill>
                <a:latin typeface="Calibri"/>
                <a:cs typeface="Calibri"/>
              </a:rPr>
              <a:t>and </a:t>
            </a:r>
            <a:r>
              <a:rPr sz="2000" dirty="0">
                <a:solidFill>
                  <a:srgbClr val="12171A"/>
                </a:solidFill>
                <a:latin typeface="Calibri"/>
                <a:cs typeface="Calibri"/>
              </a:rPr>
              <a:t>makes</a:t>
            </a:r>
            <a:r>
              <a:rPr sz="2000" spc="-20" dirty="0">
                <a:solidFill>
                  <a:srgbClr val="12171A"/>
                </a:solidFill>
                <a:latin typeface="Calibri"/>
                <a:cs typeface="Calibri"/>
              </a:rPr>
              <a:t> </a:t>
            </a:r>
            <a:r>
              <a:rPr sz="2000" dirty="0">
                <a:solidFill>
                  <a:srgbClr val="12171A"/>
                </a:solidFill>
                <a:latin typeface="Calibri"/>
                <a:cs typeface="Calibri"/>
              </a:rPr>
              <a:t>it</a:t>
            </a:r>
            <a:r>
              <a:rPr sz="2000" spc="-25" dirty="0">
                <a:solidFill>
                  <a:srgbClr val="12171A"/>
                </a:solidFill>
                <a:latin typeface="Calibri"/>
                <a:cs typeface="Calibri"/>
              </a:rPr>
              <a:t> </a:t>
            </a:r>
            <a:r>
              <a:rPr sz="2000" dirty="0">
                <a:solidFill>
                  <a:srgbClr val="12171A"/>
                </a:solidFill>
                <a:latin typeface="Calibri"/>
                <a:cs typeface="Calibri"/>
              </a:rPr>
              <a:t>possible</a:t>
            </a:r>
            <a:r>
              <a:rPr sz="2000" spc="-20" dirty="0">
                <a:solidFill>
                  <a:srgbClr val="12171A"/>
                </a:solidFill>
                <a:latin typeface="Calibri"/>
                <a:cs typeface="Calibri"/>
              </a:rPr>
              <a:t> </a:t>
            </a:r>
            <a:r>
              <a:rPr sz="2000" dirty="0">
                <a:solidFill>
                  <a:srgbClr val="12171A"/>
                </a:solidFill>
                <a:latin typeface="Calibri"/>
                <a:cs typeface="Calibri"/>
              </a:rPr>
              <a:t>to</a:t>
            </a:r>
            <a:r>
              <a:rPr sz="2000" spc="-40" dirty="0">
                <a:solidFill>
                  <a:srgbClr val="12171A"/>
                </a:solidFill>
                <a:latin typeface="Calibri"/>
                <a:cs typeface="Calibri"/>
              </a:rPr>
              <a:t> </a:t>
            </a:r>
            <a:r>
              <a:rPr sz="2000" dirty="0">
                <a:solidFill>
                  <a:srgbClr val="12171A"/>
                </a:solidFill>
                <a:latin typeface="Calibri"/>
                <a:cs typeface="Calibri"/>
              </a:rPr>
              <a:t>cluster</a:t>
            </a:r>
            <a:r>
              <a:rPr sz="2000" spc="-20" dirty="0">
                <a:solidFill>
                  <a:srgbClr val="12171A"/>
                </a:solidFill>
                <a:latin typeface="Calibri"/>
                <a:cs typeface="Calibri"/>
              </a:rPr>
              <a:t> </a:t>
            </a:r>
            <a:r>
              <a:rPr sz="2000" dirty="0">
                <a:solidFill>
                  <a:srgbClr val="12171A"/>
                </a:solidFill>
                <a:latin typeface="Calibri"/>
                <a:cs typeface="Calibri"/>
              </a:rPr>
              <a:t>huge</a:t>
            </a:r>
            <a:r>
              <a:rPr sz="2000" spc="-50" dirty="0">
                <a:solidFill>
                  <a:srgbClr val="12171A"/>
                </a:solidFill>
                <a:latin typeface="Calibri"/>
                <a:cs typeface="Calibri"/>
              </a:rPr>
              <a:t> </a:t>
            </a:r>
            <a:r>
              <a:rPr sz="2000" dirty="0">
                <a:solidFill>
                  <a:srgbClr val="12171A"/>
                </a:solidFill>
                <a:latin typeface="Calibri"/>
                <a:cs typeface="Calibri"/>
              </a:rPr>
              <a:t>datasets</a:t>
            </a:r>
            <a:r>
              <a:rPr sz="2000" spc="-5" dirty="0">
                <a:solidFill>
                  <a:srgbClr val="12171A"/>
                </a:solidFill>
                <a:latin typeface="Calibri"/>
                <a:cs typeface="Calibri"/>
              </a:rPr>
              <a:t> </a:t>
            </a:r>
            <a:r>
              <a:rPr sz="2000" dirty="0">
                <a:solidFill>
                  <a:srgbClr val="12171A"/>
                </a:solidFill>
                <a:latin typeface="Calibri"/>
                <a:cs typeface="Calibri"/>
              </a:rPr>
              <a:t>that</a:t>
            </a:r>
            <a:r>
              <a:rPr sz="2000" spc="-30" dirty="0">
                <a:solidFill>
                  <a:srgbClr val="12171A"/>
                </a:solidFill>
                <a:latin typeface="Calibri"/>
                <a:cs typeface="Calibri"/>
              </a:rPr>
              <a:t> </a:t>
            </a:r>
            <a:r>
              <a:rPr sz="2000" dirty="0">
                <a:solidFill>
                  <a:srgbClr val="12171A"/>
                </a:solidFill>
                <a:latin typeface="Calibri"/>
                <a:cs typeface="Calibri"/>
              </a:rPr>
              <a:t>do</a:t>
            </a:r>
            <a:r>
              <a:rPr sz="2000" spc="-40" dirty="0">
                <a:solidFill>
                  <a:srgbClr val="12171A"/>
                </a:solidFill>
                <a:latin typeface="Calibri"/>
                <a:cs typeface="Calibri"/>
              </a:rPr>
              <a:t> </a:t>
            </a:r>
            <a:r>
              <a:rPr sz="2000" dirty="0">
                <a:solidFill>
                  <a:srgbClr val="12171A"/>
                </a:solidFill>
                <a:latin typeface="Calibri"/>
                <a:cs typeface="Calibri"/>
              </a:rPr>
              <a:t>not</a:t>
            </a:r>
            <a:r>
              <a:rPr sz="2000" spc="-35" dirty="0">
                <a:solidFill>
                  <a:srgbClr val="12171A"/>
                </a:solidFill>
                <a:latin typeface="Calibri"/>
                <a:cs typeface="Calibri"/>
              </a:rPr>
              <a:t> </a:t>
            </a:r>
            <a:r>
              <a:rPr sz="2000" dirty="0">
                <a:solidFill>
                  <a:srgbClr val="12171A"/>
                </a:solidFill>
                <a:latin typeface="Calibri"/>
                <a:cs typeface="Calibri"/>
              </a:rPr>
              <a:t>fit</a:t>
            </a:r>
            <a:r>
              <a:rPr sz="2000" spc="-30" dirty="0">
                <a:solidFill>
                  <a:srgbClr val="12171A"/>
                </a:solidFill>
                <a:latin typeface="Calibri"/>
                <a:cs typeface="Calibri"/>
              </a:rPr>
              <a:t> </a:t>
            </a:r>
            <a:r>
              <a:rPr sz="2000" dirty="0">
                <a:solidFill>
                  <a:srgbClr val="12171A"/>
                </a:solidFill>
                <a:latin typeface="Calibri"/>
                <a:cs typeface="Calibri"/>
              </a:rPr>
              <a:t>in</a:t>
            </a:r>
            <a:r>
              <a:rPr sz="2000" spc="-30" dirty="0">
                <a:solidFill>
                  <a:srgbClr val="12171A"/>
                </a:solidFill>
                <a:latin typeface="Calibri"/>
                <a:cs typeface="Calibri"/>
              </a:rPr>
              <a:t> </a:t>
            </a:r>
            <a:r>
              <a:rPr sz="2000" spc="-10" dirty="0">
                <a:solidFill>
                  <a:srgbClr val="12171A"/>
                </a:solidFill>
                <a:latin typeface="Calibri"/>
                <a:cs typeface="Calibri"/>
              </a:rPr>
              <a:t>memory.</a:t>
            </a:r>
            <a:endParaRPr sz="2000">
              <a:latin typeface="Calibri"/>
              <a:cs typeface="Calibri"/>
            </a:endParaRPr>
          </a:p>
        </p:txBody>
      </p:sp>
      <p:sp>
        <p:nvSpPr>
          <p:cNvPr id="4" name="object 4"/>
          <p:cNvSpPr txBox="1"/>
          <p:nvPr/>
        </p:nvSpPr>
        <p:spPr>
          <a:xfrm>
            <a:off x="694131" y="2895346"/>
            <a:ext cx="5614670" cy="636270"/>
          </a:xfrm>
          <a:prstGeom prst="rect">
            <a:avLst/>
          </a:prstGeom>
        </p:spPr>
        <p:txBody>
          <a:bodyPr vert="horz" wrap="square" lIns="0" tIns="12700" rIns="0" bIns="0" rtlCol="0">
            <a:spAutoFit/>
          </a:bodyPr>
          <a:lstStyle/>
          <a:p>
            <a:pPr marL="354965" indent="-342265">
              <a:lnSpc>
                <a:spcPct val="100000"/>
              </a:lnSpc>
              <a:spcBef>
                <a:spcPts val="100"/>
              </a:spcBef>
              <a:buClr>
                <a:srgbClr val="333940"/>
              </a:buClr>
              <a:buSzPct val="90000"/>
              <a:buFont typeface="Wingdings"/>
              <a:buChar char=""/>
              <a:tabLst>
                <a:tab pos="354965" algn="l"/>
                <a:tab pos="1711960" algn="l"/>
                <a:tab pos="3098800" algn="l"/>
                <a:tab pos="3632200" algn="l"/>
                <a:tab pos="4794250" algn="l"/>
                <a:tab pos="5144770" algn="l"/>
              </a:tabLst>
            </a:pPr>
            <a:r>
              <a:rPr sz="2000" spc="-10" dirty="0">
                <a:solidFill>
                  <a:srgbClr val="12171A"/>
                </a:solidFill>
                <a:latin typeface="Calibri"/>
                <a:cs typeface="Calibri"/>
              </a:rPr>
              <a:t>Scikit-Learn</a:t>
            </a:r>
            <a:r>
              <a:rPr sz="2000" dirty="0">
                <a:solidFill>
                  <a:srgbClr val="12171A"/>
                </a:solidFill>
                <a:latin typeface="Calibri"/>
                <a:cs typeface="Calibri"/>
              </a:rPr>
              <a:t>	</a:t>
            </a:r>
            <a:r>
              <a:rPr sz="2000" spc="-10" dirty="0">
                <a:solidFill>
                  <a:srgbClr val="12171A"/>
                </a:solidFill>
                <a:latin typeface="Calibri"/>
                <a:cs typeface="Calibri"/>
              </a:rPr>
              <a:t>implements</a:t>
            </a:r>
            <a:r>
              <a:rPr sz="2000" dirty="0">
                <a:solidFill>
                  <a:srgbClr val="12171A"/>
                </a:solidFill>
                <a:latin typeface="Calibri"/>
                <a:cs typeface="Calibri"/>
              </a:rPr>
              <a:t>	</a:t>
            </a:r>
            <a:r>
              <a:rPr sz="2000" spc="-20" dirty="0">
                <a:solidFill>
                  <a:srgbClr val="12171A"/>
                </a:solidFill>
                <a:latin typeface="Calibri"/>
                <a:cs typeface="Calibri"/>
              </a:rPr>
              <a:t>this</a:t>
            </a:r>
            <a:r>
              <a:rPr sz="2000" dirty="0">
                <a:solidFill>
                  <a:srgbClr val="12171A"/>
                </a:solidFill>
                <a:latin typeface="Calibri"/>
                <a:cs typeface="Calibri"/>
              </a:rPr>
              <a:t>	</a:t>
            </a:r>
            <a:r>
              <a:rPr sz="2000" spc="-10" dirty="0">
                <a:solidFill>
                  <a:srgbClr val="12171A"/>
                </a:solidFill>
                <a:latin typeface="Calibri"/>
                <a:cs typeface="Calibri"/>
              </a:rPr>
              <a:t>algorithm</a:t>
            </a:r>
            <a:r>
              <a:rPr sz="2000" dirty="0">
                <a:solidFill>
                  <a:srgbClr val="12171A"/>
                </a:solidFill>
                <a:latin typeface="Calibri"/>
                <a:cs typeface="Calibri"/>
              </a:rPr>
              <a:t>	</a:t>
            </a:r>
            <a:r>
              <a:rPr sz="2000" spc="-25" dirty="0">
                <a:solidFill>
                  <a:srgbClr val="12171A"/>
                </a:solidFill>
                <a:latin typeface="Calibri"/>
                <a:cs typeface="Calibri"/>
              </a:rPr>
              <a:t>in</a:t>
            </a:r>
            <a:r>
              <a:rPr sz="2000" dirty="0">
                <a:solidFill>
                  <a:srgbClr val="12171A"/>
                </a:solidFill>
                <a:latin typeface="Calibri"/>
                <a:cs typeface="Calibri"/>
              </a:rPr>
              <a:t>	</a:t>
            </a:r>
            <a:r>
              <a:rPr sz="2000" spc="-25" dirty="0">
                <a:solidFill>
                  <a:srgbClr val="12171A"/>
                </a:solidFill>
                <a:latin typeface="Calibri"/>
                <a:cs typeface="Calibri"/>
              </a:rPr>
              <a:t>the</a:t>
            </a:r>
            <a:endParaRPr sz="2000">
              <a:latin typeface="Calibri"/>
              <a:cs typeface="Calibri"/>
            </a:endParaRPr>
          </a:p>
          <a:p>
            <a:pPr marL="355600">
              <a:lnSpc>
                <a:spcPct val="100000"/>
              </a:lnSpc>
            </a:pPr>
            <a:r>
              <a:rPr sz="2000" dirty="0">
                <a:solidFill>
                  <a:srgbClr val="12171A"/>
                </a:solidFill>
                <a:latin typeface="Calibri"/>
                <a:cs typeface="Calibri"/>
              </a:rPr>
              <a:t>class,</a:t>
            </a:r>
            <a:r>
              <a:rPr sz="2000" spc="-25" dirty="0">
                <a:solidFill>
                  <a:srgbClr val="12171A"/>
                </a:solidFill>
                <a:latin typeface="Calibri"/>
                <a:cs typeface="Calibri"/>
              </a:rPr>
              <a:t> </a:t>
            </a:r>
            <a:r>
              <a:rPr sz="2000" dirty="0">
                <a:solidFill>
                  <a:srgbClr val="12171A"/>
                </a:solidFill>
                <a:latin typeface="Calibri"/>
                <a:cs typeface="Calibri"/>
              </a:rPr>
              <a:t>which</a:t>
            </a:r>
            <a:r>
              <a:rPr sz="2000" spc="-25" dirty="0">
                <a:solidFill>
                  <a:srgbClr val="12171A"/>
                </a:solidFill>
                <a:latin typeface="Calibri"/>
                <a:cs typeface="Calibri"/>
              </a:rPr>
              <a:t> </a:t>
            </a:r>
            <a:r>
              <a:rPr sz="2000" dirty="0">
                <a:solidFill>
                  <a:srgbClr val="12171A"/>
                </a:solidFill>
                <a:latin typeface="Calibri"/>
                <a:cs typeface="Calibri"/>
              </a:rPr>
              <a:t>you</a:t>
            </a:r>
            <a:r>
              <a:rPr sz="2000" spc="-50" dirty="0">
                <a:solidFill>
                  <a:srgbClr val="12171A"/>
                </a:solidFill>
                <a:latin typeface="Calibri"/>
                <a:cs typeface="Calibri"/>
              </a:rPr>
              <a:t> </a:t>
            </a:r>
            <a:r>
              <a:rPr sz="2000" dirty="0">
                <a:solidFill>
                  <a:srgbClr val="12171A"/>
                </a:solidFill>
                <a:latin typeface="Calibri"/>
                <a:cs typeface="Calibri"/>
              </a:rPr>
              <a:t>can</a:t>
            </a:r>
            <a:r>
              <a:rPr sz="2000" spc="-20" dirty="0">
                <a:solidFill>
                  <a:srgbClr val="12171A"/>
                </a:solidFill>
                <a:latin typeface="Calibri"/>
                <a:cs typeface="Calibri"/>
              </a:rPr>
              <a:t> </a:t>
            </a:r>
            <a:r>
              <a:rPr sz="2000" dirty="0">
                <a:solidFill>
                  <a:srgbClr val="12171A"/>
                </a:solidFill>
                <a:latin typeface="Calibri"/>
                <a:cs typeface="Calibri"/>
              </a:rPr>
              <a:t>use</a:t>
            </a:r>
            <a:r>
              <a:rPr sz="2000" spc="-25" dirty="0">
                <a:solidFill>
                  <a:srgbClr val="12171A"/>
                </a:solidFill>
                <a:latin typeface="Calibri"/>
                <a:cs typeface="Calibri"/>
              </a:rPr>
              <a:t> </a:t>
            </a:r>
            <a:r>
              <a:rPr sz="2000" dirty="0">
                <a:solidFill>
                  <a:srgbClr val="12171A"/>
                </a:solidFill>
                <a:latin typeface="Calibri"/>
                <a:cs typeface="Calibri"/>
              </a:rPr>
              <a:t>just</a:t>
            </a:r>
            <a:r>
              <a:rPr sz="2000" spc="-20" dirty="0">
                <a:solidFill>
                  <a:srgbClr val="12171A"/>
                </a:solidFill>
                <a:latin typeface="Calibri"/>
                <a:cs typeface="Calibri"/>
              </a:rPr>
              <a:t> </a:t>
            </a:r>
            <a:r>
              <a:rPr sz="2000" dirty="0">
                <a:solidFill>
                  <a:srgbClr val="12171A"/>
                </a:solidFill>
                <a:latin typeface="Calibri"/>
                <a:cs typeface="Calibri"/>
              </a:rPr>
              <a:t>like</a:t>
            </a:r>
            <a:r>
              <a:rPr sz="2000" spc="-10" dirty="0">
                <a:solidFill>
                  <a:srgbClr val="12171A"/>
                </a:solidFill>
                <a:latin typeface="Calibri"/>
                <a:cs typeface="Calibri"/>
              </a:rPr>
              <a:t> </a:t>
            </a:r>
            <a:r>
              <a:rPr sz="2000" dirty="0">
                <a:solidFill>
                  <a:srgbClr val="12171A"/>
                </a:solidFill>
                <a:latin typeface="Calibri"/>
                <a:cs typeface="Calibri"/>
              </a:rPr>
              <a:t>the</a:t>
            </a:r>
            <a:r>
              <a:rPr sz="2000" spc="-35" dirty="0">
                <a:solidFill>
                  <a:srgbClr val="12171A"/>
                </a:solidFill>
                <a:latin typeface="Calibri"/>
                <a:cs typeface="Calibri"/>
              </a:rPr>
              <a:t> </a:t>
            </a:r>
            <a:r>
              <a:rPr sz="1800" spc="-10" dirty="0">
                <a:solidFill>
                  <a:srgbClr val="12171A"/>
                </a:solidFill>
                <a:latin typeface="Courier New"/>
                <a:cs typeface="Courier New"/>
              </a:rPr>
              <a:t>KMeans</a:t>
            </a:r>
            <a:r>
              <a:rPr sz="1800" spc="-660" dirty="0">
                <a:solidFill>
                  <a:srgbClr val="12171A"/>
                </a:solidFill>
                <a:latin typeface="Courier New"/>
                <a:cs typeface="Courier New"/>
              </a:rPr>
              <a:t> </a:t>
            </a:r>
            <a:r>
              <a:rPr sz="2000" spc="-10" dirty="0">
                <a:solidFill>
                  <a:srgbClr val="12171A"/>
                </a:solidFill>
                <a:latin typeface="Calibri"/>
                <a:cs typeface="Calibri"/>
              </a:rPr>
              <a:t>class:</a:t>
            </a:r>
            <a:endParaRPr sz="2000">
              <a:latin typeface="Calibri"/>
              <a:cs typeface="Calibri"/>
            </a:endParaRPr>
          </a:p>
        </p:txBody>
      </p:sp>
      <p:sp>
        <p:nvSpPr>
          <p:cNvPr id="5" name="object 5"/>
          <p:cNvSpPr txBox="1"/>
          <p:nvPr/>
        </p:nvSpPr>
        <p:spPr>
          <a:xfrm>
            <a:off x="6329298" y="2921254"/>
            <a:ext cx="2073275" cy="299720"/>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12171A"/>
                </a:solidFill>
                <a:latin typeface="Courier New"/>
                <a:cs typeface="Courier New"/>
              </a:rPr>
              <a:t>MiniBatchKMeans</a:t>
            </a:r>
            <a:endParaRPr sz="1800">
              <a:latin typeface="Courier New"/>
              <a:cs typeface="Courier New"/>
            </a:endParaRPr>
          </a:p>
        </p:txBody>
      </p:sp>
      <p:pic>
        <p:nvPicPr>
          <p:cNvPr id="6" name="object 6"/>
          <p:cNvPicPr/>
          <p:nvPr/>
        </p:nvPicPr>
        <p:blipFill>
          <a:blip r:embed="rId2" cstate="print"/>
          <a:stretch>
            <a:fillRect/>
          </a:stretch>
        </p:blipFill>
        <p:spPr>
          <a:xfrm>
            <a:off x="1322899" y="3811688"/>
            <a:ext cx="6413828" cy="885279"/>
          </a:xfrm>
          <a:prstGeom prst="rect">
            <a:avLst/>
          </a:prstGeom>
        </p:spPr>
      </p:pic>
      <p:sp>
        <p:nvSpPr>
          <p:cNvPr id="7" name="object 7"/>
          <p:cNvSpPr txBox="1">
            <a:spLocks noGrp="1"/>
          </p:cNvSpPr>
          <p:nvPr>
            <p:ph type="sldNum" sz="quarter" idx="7"/>
          </p:nvPr>
        </p:nvSpPr>
        <p:spPr>
          <a:prstGeom prst="rect">
            <a:avLst/>
          </a:prstGeom>
        </p:spPr>
        <p:txBody>
          <a:bodyPr vert="horz" wrap="square" lIns="0" tIns="10160" rIns="0" bIns="0" rtlCol="0">
            <a:spAutoFit/>
          </a:bodyPr>
          <a:lstStyle/>
          <a:p>
            <a:pPr marL="38100">
              <a:lnSpc>
                <a:spcPct val="100000"/>
              </a:lnSpc>
              <a:spcBef>
                <a:spcPts val="80"/>
              </a:spcBef>
            </a:pPr>
            <a:fld id="{81D60167-4931-47E6-BA6A-407CBD079E47}" type="slidenum">
              <a:rPr spc="-25" dirty="0"/>
              <a:t>59</a:t>
            </a:fld>
            <a:endParaRPr spc="-25"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25400">
              <a:lnSpc>
                <a:spcPct val="100000"/>
              </a:lnSpc>
              <a:spcBef>
                <a:spcPts val="105"/>
              </a:spcBef>
            </a:pPr>
            <a:r>
              <a:rPr spc="-10" dirty="0"/>
              <a:t>Mini-</a:t>
            </a:r>
            <a:r>
              <a:rPr dirty="0"/>
              <a:t>batch</a:t>
            </a:r>
            <a:r>
              <a:rPr spc="15" dirty="0"/>
              <a:t> </a:t>
            </a:r>
            <a:r>
              <a:rPr spc="-20" dirty="0"/>
              <a:t>k-</a:t>
            </a:r>
            <a:r>
              <a:rPr spc="-10" dirty="0"/>
              <a:t>means</a:t>
            </a:r>
          </a:p>
        </p:txBody>
      </p:sp>
      <p:sp>
        <p:nvSpPr>
          <p:cNvPr id="3" name="object 3"/>
          <p:cNvSpPr txBox="1"/>
          <p:nvPr/>
        </p:nvSpPr>
        <p:spPr>
          <a:xfrm>
            <a:off x="744423" y="1284858"/>
            <a:ext cx="7361555" cy="635635"/>
          </a:xfrm>
          <a:prstGeom prst="rect">
            <a:avLst/>
          </a:prstGeom>
        </p:spPr>
        <p:txBody>
          <a:bodyPr vert="horz" wrap="square" lIns="0" tIns="13335" rIns="0" bIns="0" rtlCol="0">
            <a:spAutoFit/>
          </a:bodyPr>
          <a:lstStyle/>
          <a:p>
            <a:pPr marL="355600" marR="5080" indent="-342900">
              <a:lnSpc>
                <a:spcPct val="100000"/>
              </a:lnSpc>
              <a:spcBef>
                <a:spcPts val="105"/>
              </a:spcBef>
              <a:buClr>
                <a:srgbClr val="333940"/>
              </a:buClr>
              <a:buSzPct val="90000"/>
              <a:buFont typeface="Wingdings"/>
              <a:buChar char=""/>
              <a:tabLst>
                <a:tab pos="355600" algn="l"/>
              </a:tabLst>
            </a:pPr>
            <a:r>
              <a:rPr sz="2000" dirty="0">
                <a:solidFill>
                  <a:srgbClr val="12171A"/>
                </a:solidFill>
                <a:latin typeface="Calibri"/>
                <a:cs typeface="Calibri"/>
              </a:rPr>
              <a:t>Although</a:t>
            </a:r>
            <a:r>
              <a:rPr sz="2000" spc="-55" dirty="0">
                <a:solidFill>
                  <a:srgbClr val="12171A"/>
                </a:solidFill>
                <a:latin typeface="Calibri"/>
                <a:cs typeface="Calibri"/>
              </a:rPr>
              <a:t> </a:t>
            </a:r>
            <a:r>
              <a:rPr sz="2000" dirty="0">
                <a:solidFill>
                  <a:srgbClr val="12171A"/>
                </a:solidFill>
                <a:latin typeface="Calibri"/>
                <a:cs typeface="Calibri"/>
              </a:rPr>
              <a:t>the</a:t>
            </a:r>
            <a:r>
              <a:rPr sz="2000" spc="-25" dirty="0">
                <a:solidFill>
                  <a:srgbClr val="12171A"/>
                </a:solidFill>
                <a:latin typeface="Calibri"/>
                <a:cs typeface="Calibri"/>
              </a:rPr>
              <a:t> </a:t>
            </a:r>
            <a:r>
              <a:rPr sz="2000" spc="-10" dirty="0">
                <a:solidFill>
                  <a:srgbClr val="12171A"/>
                </a:solidFill>
                <a:latin typeface="Calibri"/>
                <a:cs typeface="Calibri"/>
              </a:rPr>
              <a:t>mini-</a:t>
            </a:r>
            <a:r>
              <a:rPr sz="2000" dirty="0">
                <a:solidFill>
                  <a:srgbClr val="12171A"/>
                </a:solidFill>
                <a:latin typeface="Calibri"/>
                <a:cs typeface="Calibri"/>
              </a:rPr>
              <a:t>batch</a:t>
            </a:r>
            <a:r>
              <a:rPr sz="2000" spc="-25" dirty="0">
                <a:solidFill>
                  <a:srgbClr val="12171A"/>
                </a:solidFill>
                <a:latin typeface="Calibri"/>
                <a:cs typeface="Calibri"/>
              </a:rPr>
              <a:t> </a:t>
            </a:r>
            <a:r>
              <a:rPr sz="2000" dirty="0">
                <a:solidFill>
                  <a:srgbClr val="12171A"/>
                </a:solidFill>
                <a:latin typeface="Cambria Math"/>
                <a:cs typeface="Cambria Math"/>
              </a:rPr>
              <a:t>𝑘</a:t>
            </a:r>
            <a:r>
              <a:rPr sz="2000" dirty="0">
                <a:solidFill>
                  <a:srgbClr val="12171A"/>
                </a:solidFill>
                <a:latin typeface="Calibri"/>
                <a:cs typeface="Calibri"/>
              </a:rPr>
              <a:t>-means</a:t>
            </a:r>
            <a:r>
              <a:rPr sz="2000" spc="-25" dirty="0">
                <a:solidFill>
                  <a:srgbClr val="12171A"/>
                </a:solidFill>
                <a:latin typeface="Calibri"/>
                <a:cs typeface="Calibri"/>
              </a:rPr>
              <a:t> </a:t>
            </a:r>
            <a:r>
              <a:rPr sz="2000" dirty="0">
                <a:solidFill>
                  <a:srgbClr val="12171A"/>
                </a:solidFill>
                <a:latin typeface="Calibri"/>
                <a:cs typeface="Calibri"/>
              </a:rPr>
              <a:t>algorithm</a:t>
            </a:r>
            <a:r>
              <a:rPr sz="2000" spc="-30" dirty="0">
                <a:solidFill>
                  <a:srgbClr val="12171A"/>
                </a:solidFill>
                <a:latin typeface="Calibri"/>
                <a:cs typeface="Calibri"/>
              </a:rPr>
              <a:t> </a:t>
            </a:r>
            <a:r>
              <a:rPr sz="2000" dirty="0">
                <a:solidFill>
                  <a:srgbClr val="12171A"/>
                </a:solidFill>
                <a:latin typeface="Calibri"/>
                <a:cs typeface="Calibri"/>
              </a:rPr>
              <a:t>is</a:t>
            </a:r>
            <a:r>
              <a:rPr sz="2000" spc="-20" dirty="0">
                <a:solidFill>
                  <a:srgbClr val="12171A"/>
                </a:solidFill>
                <a:latin typeface="Calibri"/>
                <a:cs typeface="Calibri"/>
              </a:rPr>
              <a:t> </a:t>
            </a:r>
            <a:r>
              <a:rPr sz="2000" dirty="0">
                <a:solidFill>
                  <a:srgbClr val="12171A"/>
                </a:solidFill>
                <a:latin typeface="Calibri"/>
                <a:cs typeface="Calibri"/>
              </a:rPr>
              <a:t>much</a:t>
            </a:r>
            <a:r>
              <a:rPr sz="2000" spc="-45" dirty="0">
                <a:solidFill>
                  <a:srgbClr val="12171A"/>
                </a:solidFill>
                <a:latin typeface="Calibri"/>
                <a:cs typeface="Calibri"/>
              </a:rPr>
              <a:t> </a:t>
            </a:r>
            <a:r>
              <a:rPr sz="2000" dirty="0">
                <a:solidFill>
                  <a:srgbClr val="12171A"/>
                </a:solidFill>
                <a:latin typeface="Calibri"/>
                <a:cs typeface="Calibri"/>
              </a:rPr>
              <a:t>faster</a:t>
            </a:r>
            <a:r>
              <a:rPr sz="2000" spc="-10" dirty="0">
                <a:solidFill>
                  <a:srgbClr val="12171A"/>
                </a:solidFill>
                <a:latin typeface="Calibri"/>
                <a:cs typeface="Calibri"/>
              </a:rPr>
              <a:t> </a:t>
            </a:r>
            <a:r>
              <a:rPr sz="2000" dirty="0">
                <a:solidFill>
                  <a:srgbClr val="12171A"/>
                </a:solidFill>
                <a:latin typeface="Calibri"/>
                <a:cs typeface="Calibri"/>
              </a:rPr>
              <a:t>than</a:t>
            </a:r>
            <a:r>
              <a:rPr sz="2000" spc="-30" dirty="0">
                <a:solidFill>
                  <a:srgbClr val="12171A"/>
                </a:solidFill>
                <a:latin typeface="Calibri"/>
                <a:cs typeface="Calibri"/>
              </a:rPr>
              <a:t> </a:t>
            </a:r>
            <a:r>
              <a:rPr sz="2000" spc="-25" dirty="0">
                <a:solidFill>
                  <a:srgbClr val="12171A"/>
                </a:solidFill>
                <a:latin typeface="Calibri"/>
                <a:cs typeface="Calibri"/>
              </a:rPr>
              <a:t>the </a:t>
            </a:r>
            <a:r>
              <a:rPr sz="2000" dirty="0">
                <a:solidFill>
                  <a:srgbClr val="12171A"/>
                </a:solidFill>
                <a:latin typeface="Calibri"/>
                <a:cs typeface="Calibri"/>
              </a:rPr>
              <a:t>regular</a:t>
            </a:r>
            <a:r>
              <a:rPr sz="2000" spc="-40" dirty="0">
                <a:solidFill>
                  <a:srgbClr val="12171A"/>
                </a:solidFill>
                <a:latin typeface="Calibri"/>
                <a:cs typeface="Calibri"/>
              </a:rPr>
              <a:t> </a:t>
            </a:r>
            <a:r>
              <a:rPr sz="2000" dirty="0">
                <a:solidFill>
                  <a:srgbClr val="12171A"/>
                </a:solidFill>
                <a:latin typeface="Cambria Math"/>
                <a:cs typeface="Cambria Math"/>
              </a:rPr>
              <a:t>𝑘</a:t>
            </a:r>
            <a:r>
              <a:rPr sz="2000" dirty="0">
                <a:solidFill>
                  <a:srgbClr val="12171A"/>
                </a:solidFill>
                <a:latin typeface="Calibri"/>
                <a:cs typeface="Calibri"/>
              </a:rPr>
              <a:t>-means</a:t>
            </a:r>
            <a:r>
              <a:rPr sz="2000" spc="-35" dirty="0">
                <a:solidFill>
                  <a:srgbClr val="12171A"/>
                </a:solidFill>
                <a:latin typeface="Calibri"/>
                <a:cs typeface="Calibri"/>
              </a:rPr>
              <a:t> </a:t>
            </a:r>
            <a:r>
              <a:rPr sz="2000" dirty="0">
                <a:solidFill>
                  <a:srgbClr val="12171A"/>
                </a:solidFill>
                <a:latin typeface="Calibri"/>
                <a:cs typeface="Calibri"/>
              </a:rPr>
              <a:t>algorithm,</a:t>
            </a:r>
            <a:r>
              <a:rPr sz="2000" spc="-30" dirty="0">
                <a:solidFill>
                  <a:srgbClr val="12171A"/>
                </a:solidFill>
                <a:latin typeface="Calibri"/>
                <a:cs typeface="Calibri"/>
              </a:rPr>
              <a:t> </a:t>
            </a:r>
            <a:r>
              <a:rPr sz="2000" dirty="0">
                <a:solidFill>
                  <a:srgbClr val="12171A"/>
                </a:solidFill>
                <a:latin typeface="Calibri"/>
                <a:cs typeface="Calibri"/>
              </a:rPr>
              <a:t>its</a:t>
            </a:r>
            <a:r>
              <a:rPr sz="2000" spc="-30" dirty="0">
                <a:solidFill>
                  <a:srgbClr val="12171A"/>
                </a:solidFill>
                <a:latin typeface="Calibri"/>
                <a:cs typeface="Calibri"/>
              </a:rPr>
              <a:t> </a:t>
            </a:r>
            <a:r>
              <a:rPr sz="2000" dirty="0">
                <a:solidFill>
                  <a:srgbClr val="12171A"/>
                </a:solidFill>
                <a:latin typeface="Calibri"/>
                <a:cs typeface="Calibri"/>
              </a:rPr>
              <a:t>inertia</a:t>
            </a:r>
            <a:r>
              <a:rPr sz="2000" spc="-30" dirty="0">
                <a:solidFill>
                  <a:srgbClr val="12171A"/>
                </a:solidFill>
                <a:latin typeface="Calibri"/>
                <a:cs typeface="Calibri"/>
              </a:rPr>
              <a:t> </a:t>
            </a:r>
            <a:r>
              <a:rPr sz="2000" dirty="0">
                <a:solidFill>
                  <a:srgbClr val="12171A"/>
                </a:solidFill>
                <a:latin typeface="Calibri"/>
                <a:cs typeface="Calibri"/>
              </a:rPr>
              <a:t>is</a:t>
            </a:r>
            <a:r>
              <a:rPr sz="2000" spc="-30" dirty="0">
                <a:solidFill>
                  <a:srgbClr val="12171A"/>
                </a:solidFill>
                <a:latin typeface="Calibri"/>
                <a:cs typeface="Calibri"/>
              </a:rPr>
              <a:t> </a:t>
            </a:r>
            <a:r>
              <a:rPr sz="2000" dirty="0">
                <a:solidFill>
                  <a:srgbClr val="12171A"/>
                </a:solidFill>
                <a:latin typeface="Calibri"/>
                <a:cs typeface="Calibri"/>
              </a:rPr>
              <a:t>generally</a:t>
            </a:r>
            <a:r>
              <a:rPr sz="2000" spc="-45" dirty="0">
                <a:solidFill>
                  <a:srgbClr val="12171A"/>
                </a:solidFill>
                <a:latin typeface="Calibri"/>
                <a:cs typeface="Calibri"/>
              </a:rPr>
              <a:t> </a:t>
            </a:r>
            <a:r>
              <a:rPr sz="2000" dirty="0">
                <a:solidFill>
                  <a:srgbClr val="12171A"/>
                </a:solidFill>
                <a:latin typeface="Calibri"/>
                <a:cs typeface="Calibri"/>
              </a:rPr>
              <a:t>slightly</a:t>
            </a:r>
            <a:r>
              <a:rPr sz="2000" spc="-30" dirty="0">
                <a:solidFill>
                  <a:srgbClr val="12171A"/>
                </a:solidFill>
                <a:latin typeface="Calibri"/>
                <a:cs typeface="Calibri"/>
              </a:rPr>
              <a:t> </a:t>
            </a:r>
            <a:r>
              <a:rPr sz="2000" spc="-10" dirty="0">
                <a:solidFill>
                  <a:srgbClr val="12171A"/>
                </a:solidFill>
                <a:latin typeface="Calibri"/>
                <a:cs typeface="Calibri"/>
              </a:rPr>
              <a:t>worse.</a:t>
            </a:r>
            <a:endParaRPr sz="2000">
              <a:latin typeface="Calibri"/>
              <a:cs typeface="Calibri"/>
            </a:endParaRPr>
          </a:p>
        </p:txBody>
      </p:sp>
      <p:pic>
        <p:nvPicPr>
          <p:cNvPr id="4" name="object 4"/>
          <p:cNvPicPr/>
          <p:nvPr/>
        </p:nvPicPr>
        <p:blipFill>
          <a:blip r:embed="rId2" cstate="print"/>
          <a:stretch>
            <a:fillRect/>
          </a:stretch>
        </p:blipFill>
        <p:spPr>
          <a:xfrm>
            <a:off x="979999" y="2200811"/>
            <a:ext cx="7075798" cy="2622455"/>
          </a:xfrm>
          <a:prstGeom prst="rect">
            <a:avLst/>
          </a:prstGeom>
        </p:spPr>
      </p:pic>
      <p:sp>
        <p:nvSpPr>
          <p:cNvPr id="5" name="object 5"/>
          <p:cNvSpPr txBox="1">
            <a:spLocks noGrp="1"/>
          </p:cNvSpPr>
          <p:nvPr>
            <p:ph type="sldNum" sz="quarter" idx="7"/>
          </p:nvPr>
        </p:nvSpPr>
        <p:spPr>
          <a:prstGeom prst="rect">
            <a:avLst/>
          </a:prstGeom>
        </p:spPr>
        <p:txBody>
          <a:bodyPr vert="horz" wrap="square" lIns="0" tIns="10160" rIns="0" bIns="0" rtlCol="0">
            <a:spAutoFit/>
          </a:bodyPr>
          <a:lstStyle/>
          <a:p>
            <a:pPr marL="38100">
              <a:lnSpc>
                <a:spcPct val="100000"/>
              </a:lnSpc>
              <a:spcBef>
                <a:spcPts val="80"/>
              </a:spcBef>
            </a:pPr>
            <a:fld id="{81D60167-4931-47E6-BA6A-407CBD079E47}" type="slidenum">
              <a:rPr spc="-25" dirty="0"/>
              <a:t>60</a:t>
            </a:fld>
            <a:endParaRPr spc="-25"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682495" y="2778251"/>
            <a:ext cx="5236463" cy="2290572"/>
          </a:xfrm>
          <a:prstGeom prst="rect">
            <a:avLst/>
          </a:prstGeom>
        </p:spPr>
      </p:pic>
      <p:sp>
        <p:nvSpPr>
          <p:cNvPr id="3" name="object 3"/>
          <p:cNvSpPr txBox="1">
            <a:spLocks noGrp="1"/>
          </p:cNvSpPr>
          <p:nvPr>
            <p:ph type="title"/>
          </p:nvPr>
        </p:nvSpPr>
        <p:spPr>
          <a:prstGeom prst="rect">
            <a:avLst/>
          </a:prstGeom>
        </p:spPr>
        <p:txBody>
          <a:bodyPr vert="horz" wrap="square" lIns="0" tIns="166954" rIns="0" bIns="0" rtlCol="0">
            <a:spAutoFit/>
          </a:bodyPr>
          <a:lstStyle/>
          <a:p>
            <a:pPr marL="12700">
              <a:lnSpc>
                <a:spcPct val="100000"/>
              </a:lnSpc>
              <a:spcBef>
                <a:spcPts val="100"/>
              </a:spcBef>
            </a:pPr>
            <a:r>
              <a:rPr sz="3600" dirty="0"/>
              <a:t>Finding</a:t>
            </a:r>
            <a:r>
              <a:rPr sz="3600" spc="-55" dirty="0"/>
              <a:t> </a:t>
            </a:r>
            <a:r>
              <a:rPr sz="3600" dirty="0"/>
              <a:t>the</a:t>
            </a:r>
            <a:r>
              <a:rPr sz="3600" spc="-65" dirty="0"/>
              <a:t> </a:t>
            </a:r>
            <a:r>
              <a:rPr sz="3600" dirty="0"/>
              <a:t>optimal</a:t>
            </a:r>
            <a:r>
              <a:rPr sz="3600" spc="-70" dirty="0"/>
              <a:t> </a:t>
            </a:r>
            <a:r>
              <a:rPr sz="3600" dirty="0"/>
              <a:t>number</a:t>
            </a:r>
            <a:r>
              <a:rPr sz="3600" spc="-65" dirty="0"/>
              <a:t> </a:t>
            </a:r>
            <a:r>
              <a:rPr sz="3600" dirty="0"/>
              <a:t>of</a:t>
            </a:r>
            <a:r>
              <a:rPr sz="3600" spc="-75" dirty="0"/>
              <a:t> </a:t>
            </a:r>
            <a:r>
              <a:rPr sz="3600" spc="-10" dirty="0"/>
              <a:t>clusters</a:t>
            </a:r>
            <a:endParaRPr sz="3600"/>
          </a:p>
        </p:txBody>
      </p:sp>
      <p:sp>
        <p:nvSpPr>
          <p:cNvPr id="5" name="object 5"/>
          <p:cNvSpPr txBox="1">
            <a:spLocks noGrp="1"/>
          </p:cNvSpPr>
          <p:nvPr>
            <p:ph type="sldNum" sz="quarter" idx="7"/>
          </p:nvPr>
        </p:nvSpPr>
        <p:spPr>
          <a:prstGeom prst="rect">
            <a:avLst/>
          </a:prstGeom>
        </p:spPr>
        <p:txBody>
          <a:bodyPr vert="horz" wrap="square" lIns="0" tIns="10160" rIns="0" bIns="0" rtlCol="0">
            <a:spAutoFit/>
          </a:bodyPr>
          <a:lstStyle/>
          <a:p>
            <a:pPr marL="38100">
              <a:lnSpc>
                <a:spcPct val="100000"/>
              </a:lnSpc>
              <a:spcBef>
                <a:spcPts val="80"/>
              </a:spcBef>
            </a:pPr>
            <a:fld id="{81D60167-4931-47E6-BA6A-407CBD079E47}" type="slidenum">
              <a:rPr spc="-25" dirty="0"/>
              <a:t>61</a:t>
            </a:fld>
            <a:endParaRPr spc="-25" dirty="0"/>
          </a:p>
        </p:txBody>
      </p:sp>
      <p:sp>
        <p:nvSpPr>
          <p:cNvPr id="4" name="object 4"/>
          <p:cNvSpPr txBox="1"/>
          <p:nvPr/>
        </p:nvSpPr>
        <p:spPr>
          <a:xfrm>
            <a:off x="731621" y="1367789"/>
            <a:ext cx="7550784" cy="1320165"/>
          </a:xfrm>
          <a:prstGeom prst="rect">
            <a:avLst/>
          </a:prstGeom>
        </p:spPr>
        <p:txBody>
          <a:bodyPr vert="horz" wrap="square" lIns="0" tIns="13335" rIns="0" bIns="0" rtlCol="0">
            <a:spAutoFit/>
          </a:bodyPr>
          <a:lstStyle/>
          <a:p>
            <a:pPr marL="355600" indent="-342900">
              <a:lnSpc>
                <a:spcPct val="100000"/>
              </a:lnSpc>
              <a:spcBef>
                <a:spcPts val="105"/>
              </a:spcBef>
              <a:buClr>
                <a:srgbClr val="333940"/>
              </a:buClr>
              <a:buSzPct val="90000"/>
              <a:buFont typeface="Wingdings"/>
              <a:buChar char=""/>
              <a:tabLst>
                <a:tab pos="355600" algn="l"/>
              </a:tabLst>
            </a:pPr>
            <a:r>
              <a:rPr sz="2000" dirty="0">
                <a:solidFill>
                  <a:srgbClr val="12171A"/>
                </a:solidFill>
                <a:latin typeface="Calibri"/>
                <a:cs typeface="Calibri"/>
              </a:rPr>
              <a:t>The</a:t>
            </a:r>
            <a:r>
              <a:rPr sz="2000" spc="-20" dirty="0">
                <a:solidFill>
                  <a:srgbClr val="12171A"/>
                </a:solidFill>
                <a:latin typeface="Calibri"/>
                <a:cs typeface="Calibri"/>
              </a:rPr>
              <a:t> </a:t>
            </a:r>
            <a:r>
              <a:rPr sz="2000" dirty="0">
                <a:solidFill>
                  <a:srgbClr val="12171A"/>
                </a:solidFill>
                <a:latin typeface="Calibri"/>
                <a:cs typeface="Calibri"/>
              </a:rPr>
              <a:t>inertia</a:t>
            </a:r>
            <a:r>
              <a:rPr sz="2000" spc="-10" dirty="0">
                <a:solidFill>
                  <a:srgbClr val="12171A"/>
                </a:solidFill>
                <a:latin typeface="Calibri"/>
                <a:cs typeface="Calibri"/>
              </a:rPr>
              <a:t> </a:t>
            </a:r>
            <a:r>
              <a:rPr sz="2000" dirty="0">
                <a:solidFill>
                  <a:srgbClr val="12171A"/>
                </a:solidFill>
                <a:latin typeface="Calibri"/>
                <a:cs typeface="Calibri"/>
              </a:rPr>
              <a:t>is</a:t>
            </a:r>
            <a:r>
              <a:rPr sz="2000" spc="-30" dirty="0">
                <a:solidFill>
                  <a:srgbClr val="12171A"/>
                </a:solidFill>
                <a:latin typeface="Calibri"/>
                <a:cs typeface="Calibri"/>
              </a:rPr>
              <a:t> </a:t>
            </a:r>
            <a:r>
              <a:rPr sz="2000" dirty="0">
                <a:solidFill>
                  <a:srgbClr val="12171A"/>
                </a:solidFill>
                <a:latin typeface="Calibri"/>
                <a:cs typeface="Calibri"/>
              </a:rPr>
              <a:t>not</a:t>
            </a:r>
            <a:r>
              <a:rPr sz="2000" spc="-30" dirty="0">
                <a:solidFill>
                  <a:srgbClr val="12171A"/>
                </a:solidFill>
                <a:latin typeface="Calibri"/>
                <a:cs typeface="Calibri"/>
              </a:rPr>
              <a:t> </a:t>
            </a:r>
            <a:r>
              <a:rPr sz="2000" dirty="0">
                <a:solidFill>
                  <a:srgbClr val="12171A"/>
                </a:solidFill>
                <a:latin typeface="Calibri"/>
                <a:cs typeface="Calibri"/>
              </a:rPr>
              <a:t>a</a:t>
            </a:r>
            <a:r>
              <a:rPr sz="2000" spc="-20" dirty="0">
                <a:solidFill>
                  <a:srgbClr val="12171A"/>
                </a:solidFill>
                <a:latin typeface="Calibri"/>
                <a:cs typeface="Calibri"/>
              </a:rPr>
              <a:t> </a:t>
            </a:r>
            <a:r>
              <a:rPr sz="2000" dirty="0">
                <a:solidFill>
                  <a:srgbClr val="12171A"/>
                </a:solidFill>
                <a:latin typeface="Calibri"/>
                <a:cs typeface="Calibri"/>
              </a:rPr>
              <a:t>good</a:t>
            </a:r>
            <a:r>
              <a:rPr sz="2000" spc="-55" dirty="0">
                <a:solidFill>
                  <a:srgbClr val="12171A"/>
                </a:solidFill>
                <a:latin typeface="Calibri"/>
                <a:cs typeface="Calibri"/>
              </a:rPr>
              <a:t> </a:t>
            </a:r>
            <a:r>
              <a:rPr sz="2000" dirty="0">
                <a:solidFill>
                  <a:srgbClr val="12171A"/>
                </a:solidFill>
                <a:latin typeface="Calibri"/>
                <a:cs typeface="Calibri"/>
              </a:rPr>
              <a:t>performance</a:t>
            </a:r>
            <a:r>
              <a:rPr sz="2000" spc="-20" dirty="0">
                <a:solidFill>
                  <a:srgbClr val="12171A"/>
                </a:solidFill>
                <a:latin typeface="Calibri"/>
                <a:cs typeface="Calibri"/>
              </a:rPr>
              <a:t> </a:t>
            </a:r>
            <a:r>
              <a:rPr sz="2000" dirty="0">
                <a:solidFill>
                  <a:srgbClr val="12171A"/>
                </a:solidFill>
                <a:latin typeface="Calibri"/>
                <a:cs typeface="Calibri"/>
              </a:rPr>
              <a:t>metric</a:t>
            </a:r>
            <a:r>
              <a:rPr sz="2000" spc="-5" dirty="0">
                <a:solidFill>
                  <a:srgbClr val="12171A"/>
                </a:solidFill>
                <a:latin typeface="Calibri"/>
                <a:cs typeface="Calibri"/>
              </a:rPr>
              <a:t> </a:t>
            </a:r>
            <a:r>
              <a:rPr sz="2000" dirty="0">
                <a:solidFill>
                  <a:srgbClr val="12171A"/>
                </a:solidFill>
                <a:latin typeface="Calibri"/>
                <a:cs typeface="Calibri"/>
              </a:rPr>
              <a:t>when</a:t>
            </a:r>
            <a:r>
              <a:rPr sz="2000" spc="-25" dirty="0">
                <a:solidFill>
                  <a:srgbClr val="12171A"/>
                </a:solidFill>
                <a:latin typeface="Calibri"/>
                <a:cs typeface="Calibri"/>
              </a:rPr>
              <a:t> </a:t>
            </a:r>
            <a:r>
              <a:rPr sz="2000" dirty="0">
                <a:solidFill>
                  <a:srgbClr val="12171A"/>
                </a:solidFill>
                <a:latin typeface="Calibri"/>
                <a:cs typeface="Calibri"/>
              </a:rPr>
              <a:t>trying</a:t>
            </a:r>
            <a:r>
              <a:rPr sz="2000" spc="-35" dirty="0">
                <a:solidFill>
                  <a:srgbClr val="12171A"/>
                </a:solidFill>
                <a:latin typeface="Calibri"/>
                <a:cs typeface="Calibri"/>
              </a:rPr>
              <a:t> </a:t>
            </a:r>
            <a:r>
              <a:rPr sz="2000" dirty="0">
                <a:solidFill>
                  <a:srgbClr val="12171A"/>
                </a:solidFill>
                <a:latin typeface="Calibri"/>
                <a:cs typeface="Calibri"/>
              </a:rPr>
              <a:t>to</a:t>
            </a:r>
            <a:r>
              <a:rPr sz="2000" spc="-30" dirty="0">
                <a:solidFill>
                  <a:srgbClr val="12171A"/>
                </a:solidFill>
                <a:latin typeface="Calibri"/>
                <a:cs typeface="Calibri"/>
              </a:rPr>
              <a:t> </a:t>
            </a:r>
            <a:r>
              <a:rPr sz="2000" dirty="0">
                <a:solidFill>
                  <a:srgbClr val="12171A"/>
                </a:solidFill>
                <a:latin typeface="Calibri"/>
                <a:cs typeface="Calibri"/>
              </a:rPr>
              <a:t>choose</a:t>
            </a:r>
            <a:r>
              <a:rPr sz="2000" spc="-30" dirty="0">
                <a:solidFill>
                  <a:srgbClr val="12171A"/>
                </a:solidFill>
                <a:latin typeface="Calibri"/>
                <a:cs typeface="Calibri"/>
              </a:rPr>
              <a:t> </a:t>
            </a:r>
            <a:r>
              <a:rPr sz="2000" spc="-50" dirty="0">
                <a:solidFill>
                  <a:srgbClr val="12171A"/>
                </a:solidFill>
                <a:latin typeface="Cambria Math"/>
                <a:cs typeface="Cambria Math"/>
              </a:rPr>
              <a:t>𝑘</a:t>
            </a:r>
            <a:endParaRPr sz="2000">
              <a:latin typeface="Cambria Math"/>
              <a:cs typeface="Cambria Math"/>
            </a:endParaRPr>
          </a:p>
          <a:p>
            <a:pPr marL="355600">
              <a:lnSpc>
                <a:spcPct val="100000"/>
              </a:lnSpc>
            </a:pPr>
            <a:r>
              <a:rPr sz="2000" dirty="0">
                <a:solidFill>
                  <a:srgbClr val="12171A"/>
                </a:solidFill>
                <a:latin typeface="Calibri"/>
                <a:cs typeface="Calibri"/>
              </a:rPr>
              <a:t>because</a:t>
            </a:r>
            <a:r>
              <a:rPr sz="2000" spc="-40" dirty="0">
                <a:solidFill>
                  <a:srgbClr val="12171A"/>
                </a:solidFill>
                <a:latin typeface="Calibri"/>
                <a:cs typeface="Calibri"/>
              </a:rPr>
              <a:t> </a:t>
            </a:r>
            <a:r>
              <a:rPr sz="2000" dirty="0">
                <a:solidFill>
                  <a:srgbClr val="12171A"/>
                </a:solidFill>
                <a:latin typeface="Calibri"/>
                <a:cs typeface="Calibri"/>
              </a:rPr>
              <a:t>it</a:t>
            </a:r>
            <a:r>
              <a:rPr sz="2000" spc="-35" dirty="0">
                <a:solidFill>
                  <a:srgbClr val="12171A"/>
                </a:solidFill>
                <a:latin typeface="Calibri"/>
                <a:cs typeface="Calibri"/>
              </a:rPr>
              <a:t> </a:t>
            </a:r>
            <a:r>
              <a:rPr sz="2000" dirty="0">
                <a:solidFill>
                  <a:srgbClr val="12171A"/>
                </a:solidFill>
                <a:latin typeface="Calibri"/>
                <a:cs typeface="Calibri"/>
              </a:rPr>
              <a:t>keeps</a:t>
            </a:r>
            <a:r>
              <a:rPr sz="2000" spc="-35" dirty="0">
                <a:solidFill>
                  <a:srgbClr val="12171A"/>
                </a:solidFill>
                <a:latin typeface="Calibri"/>
                <a:cs typeface="Calibri"/>
              </a:rPr>
              <a:t> </a:t>
            </a:r>
            <a:r>
              <a:rPr sz="2000" dirty="0">
                <a:solidFill>
                  <a:srgbClr val="12171A"/>
                </a:solidFill>
                <a:latin typeface="Calibri"/>
                <a:cs typeface="Calibri"/>
              </a:rPr>
              <a:t>getting</a:t>
            </a:r>
            <a:r>
              <a:rPr sz="2000" spc="-40" dirty="0">
                <a:solidFill>
                  <a:srgbClr val="12171A"/>
                </a:solidFill>
                <a:latin typeface="Calibri"/>
                <a:cs typeface="Calibri"/>
              </a:rPr>
              <a:t> </a:t>
            </a:r>
            <a:r>
              <a:rPr sz="2000" dirty="0">
                <a:solidFill>
                  <a:srgbClr val="12171A"/>
                </a:solidFill>
                <a:latin typeface="Calibri"/>
                <a:cs typeface="Calibri"/>
              </a:rPr>
              <a:t>lower</a:t>
            </a:r>
            <a:r>
              <a:rPr sz="2000" spc="-35" dirty="0">
                <a:solidFill>
                  <a:srgbClr val="12171A"/>
                </a:solidFill>
                <a:latin typeface="Calibri"/>
                <a:cs typeface="Calibri"/>
              </a:rPr>
              <a:t> </a:t>
            </a:r>
            <a:r>
              <a:rPr sz="2000" dirty="0">
                <a:solidFill>
                  <a:srgbClr val="12171A"/>
                </a:solidFill>
                <a:latin typeface="Calibri"/>
                <a:cs typeface="Calibri"/>
              </a:rPr>
              <a:t>as</a:t>
            </a:r>
            <a:r>
              <a:rPr sz="2000" spc="-35" dirty="0">
                <a:solidFill>
                  <a:srgbClr val="12171A"/>
                </a:solidFill>
                <a:latin typeface="Calibri"/>
                <a:cs typeface="Calibri"/>
              </a:rPr>
              <a:t> </a:t>
            </a:r>
            <a:r>
              <a:rPr sz="2000" dirty="0">
                <a:solidFill>
                  <a:srgbClr val="12171A"/>
                </a:solidFill>
                <a:latin typeface="Calibri"/>
                <a:cs typeface="Calibri"/>
              </a:rPr>
              <a:t>we</a:t>
            </a:r>
            <a:r>
              <a:rPr sz="2000" spc="-35" dirty="0">
                <a:solidFill>
                  <a:srgbClr val="12171A"/>
                </a:solidFill>
                <a:latin typeface="Calibri"/>
                <a:cs typeface="Calibri"/>
              </a:rPr>
              <a:t> </a:t>
            </a:r>
            <a:r>
              <a:rPr sz="2000" dirty="0">
                <a:solidFill>
                  <a:srgbClr val="12171A"/>
                </a:solidFill>
                <a:latin typeface="Calibri"/>
                <a:cs typeface="Calibri"/>
              </a:rPr>
              <a:t>increase</a:t>
            </a:r>
            <a:r>
              <a:rPr sz="2000" spc="-25" dirty="0">
                <a:solidFill>
                  <a:srgbClr val="12171A"/>
                </a:solidFill>
                <a:latin typeface="Calibri"/>
                <a:cs typeface="Calibri"/>
              </a:rPr>
              <a:t> </a:t>
            </a:r>
            <a:r>
              <a:rPr sz="2000" spc="-25" dirty="0">
                <a:solidFill>
                  <a:srgbClr val="12171A"/>
                </a:solidFill>
                <a:latin typeface="Cambria Math"/>
                <a:cs typeface="Cambria Math"/>
              </a:rPr>
              <a:t>𝑘</a:t>
            </a:r>
            <a:r>
              <a:rPr sz="2000" spc="-25" dirty="0">
                <a:solidFill>
                  <a:srgbClr val="12171A"/>
                </a:solidFill>
                <a:latin typeface="Calibri"/>
                <a:cs typeface="Calibri"/>
              </a:rPr>
              <a:t>.</a:t>
            </a:r>
            <a:endParaRPr sz="2000">
              <a:latin typeface="Calibri"/>
              <a:cs typeface="Calibri"/>
            </a:endParaRPr>
          </a:p>
          <a:p>
            <a:pPr marL="355600" marR="473075" indent="-343535">
              <a:lnSpc>
                <a:spcPts val="2390"/>
              </a:lnSpc>
              <a:spcBef>
                <a:spcPts val="690"/>
              </a:spcBef>
              <a:buClr>
                <a:srgbClr val="333940"/>
              </a:buClr>
              <a:buSzPct val="90000"/>
              <a:buFont typeface="Wingdings"/>
              <a:buChar char=""/>
              <a:tabLst>
                <a:tab pos="355600" algn="l"/>
              </a:tabLst>
            </a:pPr>
            <a:r>
              <a:rPr sz="2000" i="1" dirty="0">
                <a:solidFill>
                  <a:srgbClr val="006FC0"/>
                </a:solidFill>
                <a:latin typeface="Calibri"/>
                <a:cs typeface="Calibri"/>
              </a:rPr>
              <a:t>Elbow</a:t>
            </a:r>
            <a:r>
              <a:rPr sz="2000" i="1" spc="-40" dirty="0">
                <a:solidFill>
                  <a:srgbClr val="006FC0"/>
                </a:solidFill>
                <a:latin typeface="Calibri"/>
                <a:cs typeface="Calibri"/>
              </a:rPr>
              <a:t> </a:t>
            </a:r>
            <a:r>
              <a:rPr sz="2000" i="1" dirty="0">
                <a:solidFill>
                  <a:srgbClr val="006FC0"/>
                </a:solidFill>
                <a:latin typeface="Calibri"/>
                <a:cs typeface="Calibri"/>
              </a:rPr>
              <a:t>method</a:t>
            </a:r>
            <a:r>
              <a:rPr sz="2000" dirty="0">
                <a:solidFill>
                  <a:srgbClr val="12171A"/>
                </a:solidFill>
                <a:latin typeface="Calibri"/>
                <a:cs typeface="Calibri"/>
              </a:rPr>
              <a:t>:</a:t>
            </a:r>
            <a:r>
              <a:rPr sz="2000" spc="-40" dirty="0">
                <a:solidFill>
                  <a:srgbClr val="12171A"/>
                </a:solidFill>
                <a:latin typeface="Calibri"/>
                <a:cs typeface="Calibri"/>
              </a:rPr>
              <a:t> </a:t>
            </a:r>
            <a:r>
              <a:rPr sz="2000" dirty="0">
                <a:solidFill>
                  <a:srgbClr val="12171A"/>
                </a:solidFill>
                <a:latin typeface="Calibri"/>
                <a:cs typeface="Calibri"/>
              </a:rPr>
              <a:t>plot</a:t>
            </a:r>
            <a:r>
              <a:rPr sz="2000" spc="-25" dirty="0">
                <a:solidFill>
                  <a:srgbClr val="12171A"/>
                </a:solidFill>
                <a:latin typeface="Calibri"/>
                <a:cs typeface="Calibri"/>
              </a:rPr>
              <a:t> </a:t>
            </a:r>
            <a:r>
              <a:rPr sz="2000" dirty="0">
                <a:solidFill>
                  <a:srgbClr val="12171A"/>
                </a:solidFill>
                <a:latin typeface="Calibri"/>
                <a:cs typeface="Calibri"/>
              </a:rPr>
              <a:t>the</a:t>
            </a:r>
            <a:r>
              <a:rPr sz="2000" spc="-10" dirty="0">
                <a:solidFill>
                  <a:srgbClr val="12171A"/>
                </a:solidFill>
                <a:latin typeface="Calibri"/>
                <a:cs typeface="Calibri"/>
              </a:rPr>
              <a:t> </a:t>
            </a:r>
            <a:r>
              <a:rPr sz="2000" dirty="0">
                <a:solidFill>
                  <a:srgbClr val="12171A"/>
                </a:solidFill>
                <a:latin typeface="Calibri"/>
                <a:cs typeface="Calibri"/>
              </a:rPr>
              <a:t>inertia</a:t>
            </a:r>
            <a:r>
              <a:rPr sz="2000" spc="-10" dirty="0">
                <a:solidFill>
                  <a:srgbClr val="12171A"/>
                </a:solidFill>
                <a:latin typeface="Calibri"/>
                <a:cs typeface="Calibri"/>
              </a:rPr>
              <a:t> </a:t>
            </a:r>
            <a:r>
              <a:rPr sz="2000" dirty="0">
                <a:solidFill>
                  <a:srgbClr val="12171A"/>
                </a:solidFill>
                <a:latin typeface="Calibri"/>
                <a:cs typeface="Calibri"/>
              </a:rPr>
              <a:t>as a</a:t>
            </a:r>
            <a:r>
              <a:rPr sz="2000" spc="-25" dirty="0">
                <a:solidFill>
                  <a:srgbClr val="12171A"/>
                </a:solidFill>
                <a:latin typeface="Calibri"/>
                <a:cs typeface="Calibri"/>
              </a:rPr>
              <a:t> </a:t>
            </a:r>
            <a:r>
              <a:rPr sz="2000" dirty="0">
                <a:solidFill>
                  <a:srgbClr val="12171A"/>
                </a:solidFill>
                <a:latin typeface="Calibri"/>
                <a:cs typeface="Calibri"/>
              </a:rPr>
              <a:t>function</a:t>
            </a:r>
            <a:r>
              <a:rPr sz="2000" spc="-30" dirty="0">
                <a:solidFill>
                  <a:srgbClr val="12171A"/>
                </a:solidFill>
                <a:latin typeface="Calibri"/>
                <a:cs typeface="Calibri"/>
              </a:rPr>
              <a:t> </a:t>
            </a:r>
            <a:r>
              <a:rPr sz="2000" dirty="0">
                <a:solidFill>
                  <a:srgbClr val="12171A"/>
                </a:solidFill>
                <a:latin typeface="Calibri"/>
                <a:cs typeface="Calibri"/>
              </a:rPr>
              <a:t>of</a:t>
            </a:r>
            <a:r>
              <a:rPr sz="2000" spc="-10" dirty="0">
                <a:solidFill>
                  <a:srgbClr val="12171A"/>
                </a:solidFill>
                <a:latin typeface="Calibri"/>
                <a:cs typeface="Calibri"/>
              </a:rPr>
              <a:t> </a:t>
            </a:r>
            <a:r>
              <a:rPr sz="2000" dirty="0">
                <a:solidFill>
                  <a:srgbClr val="12171A"/>
                </a:solidFill>
                <a:latin typeface="Cambria Math"/>
                <a:cs typeface="Cambria Math"/>
              </a:rPr>
              <a:t>𝑘</a:t>
            </a:r>
            <a:r>
              <a:rPr sz="2000" dirty="0">
                <a:solidFill>
                  <a:srgbClr val="12171A"/>
                </a:solidFill>
                <a:latin typeface="Calibri"/>
                <a:cs typeface="Calibri"/>
              </a:rPr>
              <a:t>,</a:t>
            </a:r>
            <a:r>
              <a:rPr sz="2000" spc="-5" dirty="0">
                <a:solidFill>
                  <a:srgbClr val="12171A"/>
                </a:solidFill>
                <a:latin typeface="Calibri"/>
                <a:cs typeface="Calibri"/>
              </a:rPr>
              <a:t> </a:t>
            </a:r>
            <a:r>
              <a:rPr sz="2000" dirty="0">
                <a:solidFill>
                  <a:srgbClr val="12171A"/>
                </a:solidFill>
                <a:latin typeface="Calibri"/>
                <a:cs typeface="Calibri"/>
              </a:rPr>
              <a:t>the</a:t>
            </a:r>
            <a:r>
              <a:rPr sz="2000" spc="-20" dirty="0">
                <a:solidFill>
                  <a:srgbClr val="12171A"/>
                </a:solidFill>
                <a:latin typeface="Calibri"/>
                <a:cs typeface="Calibri"/>
              </a:rPr>
              <a:t> </a:t>
            </a:r>
            <a:r>
              <a:rPr sz="2000" dirty="0">
                <a:solidFill>
                  <a:srgbClr val="12171A"/>
                </a:solidFill>
                <a:latin typeface="Calibri"/>
                <a:cs typeface="Calibri"/>
              </a:rPr>
              <a:t>curve</a:t>
            </a:r>
            <a:r>
              <a:rPr sz="2000" spc="-15" dirty="0">
                <a:solidFill>
                  <a:srgbClr val="12171A"/>
                </a:solidFill>
                <a:latin typeface="Calibri"/>
                <a:cs typeface="Calibri"/>
              </a:rPr>
              <a:t> </a:t>
            </a:r>
            <a:r>
              <a:rPr sz="2000" spc="-10" dirty="0">
                <a:solidFill>
                  <a:srgbClr val="12171A"/>
                </a:solidFill>
                <a:latin typeface="Calibri"/>
                <a:cs typeface="Calibri"/>
              </a:rPr>
              <a:t>often </a:t>
            </a:r>
            <a:r>
              <a:rPr sz="2000" dirty="0">
                <a:solidFill>
                  <a:srgbClr val="12171A"/>
                </a:solidFill>
                <a:latin typeface="Calibri"/>
                <a:cs typeface="Calibri"/>
              </a:rPr>
              <a:t>contains</a:t>
            </a:r>
            <a:r>
              <a:rPr sz="2000" spc="-50" dirty="0">
                <a:solidFill>
                  <a:srgbClr val="12171A"/>
                </a:solidFill>
                <a:latin typeface="Calibri"/>
                <a:cs typeface="Calibri"/>
              </a:rPr>
              <a:t> </a:t>
            </a:r>
            <a:r>
              <a:rPr sz="2000" dirty="0">
                <a:solidFill>
                  <a:srgbClr val="12171A"/>
                </a:solidFill>
                <a:latin typeface="Calibri"/>
                <a:cs typeface="Calibri"/>
              </a:rPr>
              <a:t>an</a:t>
            </a:r>
            <a:r>
              <a:rPr sz="2000" spc="-30" dirty="0">
                <a:solidFill>
                  <a:srgbClr val="12171A"/>
                </a:solidFill>
                <a:latin typeface="Calibri"/>
                <a:cs typeface="Calibri"/>
              </a:rPr>
              <a:t> </a:t>
            </a:r>
            <a:r>
              <a:rPr sz="2000" dirty="0">
                <a:solidFill>
                  <a:srgbClr val="12171A"/>
                </a:solidFill>
                <a:latin typeface="Calibri"/>
                <a:cs typeface="Calibri"/>
              </a:rPr>
              <a:t>inflexion</a:t>
            </a:r>
            <a:r>
              <a:rPr sz="2000" spc="-35" dirty="0">
                <a:solidFill>
                  <a:srgbClr val="12171A"/>
                </a:solidFill>
                <a:latin typeface="Calibri"/>
                <a:cs typeface="Calibri"/>
              </a:rPr>
              <a:t> </a:t>
            </a:r>
            <a:r>
              <a:rPr sz="2000" dirty="0">
                <a:solidFill>
                  <a:srgbClr val="12171A"/>
                </a:solidFill>
                <a:latin typeface="Calibri"/>
                <a:cs typeface="Calibri"/>
              </a:rPr>
              <a:t>point</a:t>
            </a:r>
            <a:r>
              <a:rPr sz="2000" spc="-55" dirty="0">
                <a:solidFill>
                  <a:srgbClr val="12171A"/>
                </a:solidFill>
                <a:latin typeface="Calibri"/>
                <a:cs typeface="Calibri"/>
              </a:rPr>
              <a:t> </a:t>
            </a:r>
            <a:r>
              <a:rPr sz="2000" dirty="0">
                <a:solidFill>
                  <a:srgbClr val="12171A"/>
                </a:solidFill>
                <a:latin typeface="Calibri"/>
                <a:cs typeface="Calibri"/>
              </a:rPr>
              <a:t>called</a:t>
            </a:r>
            <a:r>
              <a:rPr sz="2000" spc="-20" dirty="0">
                <a:solidFill>
                  <a:srgbClr val="12171A"/>
                </a:solidFill>
                <a:latin typeface="Calibri"/>
                <a:cs typeface="Calibri"/>
              </a:rPr>
              <a:t> </a:t>
            </a:r>
            <a:r>
              <a:rPr sz="2000" dirty="0">
                <a:solidFill>
                  <a:srgbClr val="12171A"/>
                </a:solidFill>
                <a:latin typeface="Calibri"/>
                <a:cs typeface="Calibri"/>
              </a:rPr>
              <a:t>the</a:t>
            </a:r>
            <a:r>
              <a:rPr sz="2000" spc="-30" dirty="0">
                <a:solidFill>
                  <a:srgbClr val="12171A"/>
                </a:solidFill>
                <a:latin typeface="Calibri"/>
                <a:cs typeface="Calibri"/>
              </a:rPr>
              <a:t> </a:t>
            </a:r>
            <a:r>
              <a:rPr sz="2000" i="1" spc="-10" dirty="0">
                <a:solidFill>
                  <a:srgbClr val="006FC0"/>
                </a:solidFill>
                <a:latin typeface="Calibri"/>
                <a:cs typeface="Calibri"/>
              </a:rPr>
              <a:t>elbow</a:t>
            </a:r>
            <a:r>
              <a:rPr sz="2000" i="1" spc="-10" dirty="0">
                <a:solidFill>
                  <a:srgbClr val="333940"/>
                </a:solidFill>
                <a:latin typeface="Calibri"/>
                <a:cs typeface="Calibri"/>
              </a:rPr>
              <a:t>.</a:t>
            </a:r>
            <a:endParaRPr sz="2000">
              <a:latin typeface="Calibri"/>
              <a:cs typeface="Calibri"/>
            </a:endParaRPr>
          </a:p>
        </p:txBody>
      </p:sp>
    </p:spTree>
  </p:cSld>
  <p:clrMapOvr>
    <a:masterClrMapping/>
  </p:clrMapOvr>
</p:sld>
</file>

<file path=ppt/theme/theme1.xml><?xml version="1.0" encoding="utf-8"?>
<a:theme xmlns:a="http://schemas.openxmlformats.org/drawingml/2006/main" name="Antonio template">
  <a:themeElements>
    <a:clrScheme name="Custom 347">
      <a:dk1>
        <a:srgbClr val="677480"/>
      </a:dk1>
      <a:lt1>
        <a:srgbClr val="FFFFFF"/>
      </a:lt1>
      <a:dk2>
        <a:srgbClr val="2185C5"/>
      </a:dk2>
      <a:lt2>
        <a:srgbClr val="DEE2E6"/>
      </a:lt2>
      <a:accent1>
        <a:srgbClr val="2185C5"/>
      </a:accent1>
      <a:accent2>
        <a:srgbClr val="7ECEFD"/>
      </a:accent2>
      <a:accent3>
        <a:srgbClr val="F20253"/>
      </a:accent3>
      <a:accent4>
        <a:srgbClr val="FF9715"/>
      </a:accent4>
      <a:accent5>
        <a:srgbClr val="1C3AA9"/>
      </a:accent5>
      <a:accent6>
        <a:srgbClr val="97ABBC"/>
      </a:accent6>
      <a:hlink>
        <a:srgbClr val="2185C5"/>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4607</TotalTime>
  <Words>4752</Words>
  <Application>Microsoft Office PowerPoint</Application>
  <PresentationFormat>On-screen Show (16:9)</PresentationFormat>
  <Paragraphs>386</Paragraphs>
  <Slides>61</Slides>
  <Notes>31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61</vt:i4>
      </vt:variant>
    </vt:vector>
  </HeadingPairs>
  <TitlesOfParts>
    <vt:vector size="71" baseType="lpstr">
      <vt:lpstr>Franklin Gothic Book</vt:lpstr>
      <vt:lpstr>Lato</vt:lpstr>
      <vt:lpstr>Arial</vt:lpstr>
      <vt:lpstr>Calibri</vt:lpstr>
      <vt:lpstr>Wingdings</vt:lpstr>
      <vt:lpstr>Trebuchet MS</vt:lpstr>
      <vt:lpstr>Raleway</vt:lpstr>
      <vt:lpstr>Cambria Math</vt:lpstr>
      <vt:lpstr>Courier New</vt:lpstr>
      <vt:lpstr>Antonio template</vt:lpstr>
      <vt:lpstr>Dimensionality Reduction &amp;  Unsupervised learning (K-Means)</vt:lpstr>
      <vt:lpstr>Dimensionality reduction</vt:lpstr>
      <vt:lpstr>The Curse of Dimensionality</vt:lpstr>
      <vt:lpstr>Pros and Cons of Dimensionality Reduction</vt:lpstr>
      <vt:lpstr>1. Main Approaches for Dimensionality Reduction</vt:lpstr>
      <vt:lpstr>Projection</vt:lpstr>
      <vt:lpstr>Manifold Learning</vt:lpstr>
      <vt:lpstr>Manifold Learning</vt:lpstr>
      <vt:lpstr>Manifold Learning</vt:lpstr>
      <vt:lpstr>Example</vt:lpstr>
      <vt:lpstr>PowerPoint Presentation</vt:lpstr>
      <vt:lpstr>2. Principal Component Analysis</vt:lpstr>
      <vt:lpstr>Principal Component Analysis</vt:lpstr>
      <vt:lpstr>Preserving the Variance</vt:lpstr>
      <vt:lpstr>Principal Components</vt:lpstr>
      <vt:lpstr>Principal Components</vt:lpstr>
      <vt:lpstr>Finding Principal Components</vt:lpstr>
      <vt:lpstr>PCA in Scikit-Learn</vt:lpstr>
      <vt:lpstr>Explained Variance Ratio</vt:lpstr>
      <vt:lpstr>Choosing the Right Number of Dimensions</vt:lpstr>
      <vt:lpstr>Choosing the Right Number of Dimensions</vt:lpstr>
      <vt:lpstr>Choosing the Right Number of Dimensions</vt:lpstr>
      <vt:lpstr>Choosing the Right Number of Dimensions</vt:lpstr>
      <vt:lpstr>PCA for Compression</vt:lpstr>
      <vt:lpstr>PCA for Compression</vt:lpstr>
      <vt:lpstr>Randomized PCA</vt:lpstr>
      <vt:lpstr>Incremental PCA</vt:lpstr>
      <vt:lpstr>3. Random Projection</vt:lpstr>
      <vt:lpstr>Random Projection</vt:lpstr>
      <vt:lpstr>Random Projection</vt:lpstr>
      <vt:lpstr>Random Projection</vt:lpstr>
      <vt:lpstr>Sparse Random Projection</vt:lpstr>
      <vt:lpstr>Other Dimensionality Reduction Techniques</vt:lpstr>
      <vt:lpstr>Unsupervised Learning (K-Means)</vt:lpstr>
      <vt:lpstr>Unsupervised Learning</vt:lpstr>
      <vt:lpstr>Question</vt:lpstr>
      <vt:lpstr>PowerPoint Presentation</vt:lpstr>
      <vt:lpstr>Clustering</vt:lpstr>
      <vt:lpstr>Clustering</vt:lpstr>
      <vt:lpstr>Applications of Clustering</vt:lpstr>
      <vt:lpstr>Applications of Clustering</vt:lpstr>
      <vt:lpstr>𝐾-means</vt:lpstr>
      <vt:lpstr>K-means</vt:lpstr>
      <vt:lpstr>K-means</vt:lpstr>
      <vt:lpstr>K-means</vt:lpstr>
      <vt:lpstr>The k-means algorithm</vt:lpstr>
      <vt:lpstr>Visualization</vt:lpstr>
      <vt:lpstr>PowerPoint Presentation</vt:lpstr>
      <vt:lpstr>PowerPoint Presentation</vt:lpstr>
      <vt:lpstr>K-means disadvantage</vt:lpstr>
      <vt:lpstr>Centroid initialization methods</vt:lpstr>
      <vt:lpstr>Performance Metric</vt:lpstr>
      <vt:lpstr>K-means++</vt:lpstr>
      <vt:lpstr>K-means++</vt:lpstr>
      <vt:lpstr>K-means++</vt:lpstr>
      <vt:lpstr>K-means++</vt:lpstr>
      <vt:lpstr>K-means++</vt:lpstr>
      <vt:lpstr>Accelerated 𝑘-means</vt:lpstr>
      <vt:lpstr>Mini-batch 𝑘-means</vt:lpstr>
      <vt:lpstr>Mini-batch k-means</vt:lpstr>
      <vt:lpstr>Finding the optimal number of clusters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Ensemble Learning </dc:title>
  <cp:lastModifiedBy>Yadollah Yaghoobzadeh</cp:lastModifiedBy>
  <cp:revision>126</cp:revision>
  <dcterms:modified xsi:type="dcterms:W3CDTF">2026-06-16T06:40:31Z</dcterms:modified>
</cp:coreProperties>
</file>