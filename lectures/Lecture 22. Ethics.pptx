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21"/>
  </p:notesMasterIdLst>
  <p:sldIdLst>
    <p:sldId id="367" r:id="rId2"/>
    <p:sldId id="368" r:id="rId3"/>
    <p:sldId id="369" r:id="rId4"/>
    <p:sldId id="370" r:id="rId5"/>
    <p:sldId id="371" r:id="rId6"/>
    <p:sldId id="372" r:id="rId7"/>
    <p:sldId id="373" r:id="rId8"/>
    <p:sldId id="374" r:id="rId9"/>
    <p:sldId id="375" r:id="rId10"/>
    <p:sldId id="376" r:id="rId11"/>
    <p:sldId id="377" r:id="rId12"/>
    <p:sldId id="378" r:id="rId13"/>
    <p:sldId id="379" r:id="rId14"/>
    <p:sldId id="380" r:id="rId15"/>
    <p:sldId id="381" r:id="rId16"/>
    <p:sldId id="382" r:id="rId17"/>
    <p:sldId id="383" r:id="rId18"/>
    <p:sldId id="384" r:id="rId19"/>
    <p:sldId id="38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24" autoAdjust="0"/>
    <p:restoredTop sz="94057" autoAdjust="0"/>
  </p:normalViewPr>
  <p:slideViewPr>
    <p:cSldViewPr snapToGrid="0">
      <p:cViewPr>
        <p:scale>
          <a:sx n="92" d="100"/>
          <a:sy n="92" d="100"/>
        </p:scale>
        <p:origin x="80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281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ollah Yaghoobzadeh" userId="6e47bfdd41a25f50" providerId="LiveId" clId="{75921ECD-35D7-485E-BE24-10EA5329EB22}"/>
    <pc:docChg chg="custSel addSld delSld modSld modMainMaster">
      <pc:chgData name="Yadollah Yaghoobzadeh" userId="6e47bfdd41a25f50" providerId="LiveId" clId="{75921ECD-35D7-485E-BE24-10EA5329EB22}" dt="2026-05-17T06:21:27.317" v="55" actId="27636"/>
      <pc:docMkLst>
        <pc:docMk/>
      </pc:docMkLst>
      <pc:sldChg chg="add">
        <pc:chgData name="Yadollah Yaghoobzadeh" userId="6e47bfdd41a25f50" providerId="LiveId" clId="{75921ECD-35D7-485E-BE24-10EA5329EB22}" dt="2026-05-17T06:21:27.086" v="38"/>
        <pc:sldMkLst>
          <pc:docMk/>
          <pc:sldMk cId="514305899" sldId="258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383748980" sldId="26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201054559" sldId="266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5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7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4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6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4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5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7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4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5"/>
        </pc:sldMkLst>
      </pc:sldChg>
      <pc:sldChg chg="add setBg">
        <pc:chgData name="Yadollah Yaghoobzadeh" userId="6e47bfdd41a25f50" providerId="LiveId" clId="{75921ECD-35D7-485E-BE24-10EA5329EB22}" dt="2026-05-17T06:21:27.086" v="38"/>
        <pc:sldMkLst>
          <pc:docMk/>
          <pc:sldMk cId="2268663919" sldId="31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277546200" sldId="353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563572889" sldId="360"/>
        </pc:sldMkLst>
      </pc:sldChg>
      <pc:sldChg chg="modSp mod">
        <pc:chgData name="Yadollah Yaghoobzadeh" userId="6e47bfdd41a25f50" providerId="LiveId" clId="{75921ECD-35D7-485E-BE24-10EA5329EB22}" dt="2026-05-17T06:20:56.885" v="35" actId="20577"/>
        <pc:sldMkLst>
          <pc:docMk/>
          <pc:sldMk cId="1616806445" sldId="367"/>
        </pc:sldMkLst>
        <pc:spChg chg="mod">
          <ac:chgData name="Yadollah Yaghoobzadeh" userId="6e47bfdd41a25f50" providerId="LiveId" clId="{75921ECD-35D7-485E-BE24-10EA5329EB22}" dt="2026-05-17T06:20:56.885" v="35" actId="20577"/>
          <ac:spMkLst>
            <pc:docMk/>
            <pc:sldMk cId="1616806445" sldId="367"/>
            <ac:spMk id="5" creationId="{BBCCB048-B67C-E79B-1CAC-1D9CA1807D4A}"/>
          </ac:spMkLst>
        </pc:spChg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454312306" sldId="36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4226337331" sldId="36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514117378" sldId="37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305632738" sldId="371"/>
        </pc:sldMkLst>
      </pc:sldChg>
      <pc:sldChg chg="modSp add mod">
        <pc:chgData name="Yadollah Yaghoobzadeh" userId="6e47bfdd41a25f50" providerId="LiveId" clId="{75921ECD-35D7-485E-BE24-10EA5329EB22}" dt="2026-05-17T06:21:27.230" v="47" actId="27636"/>
        <pc:sldMkLst>
          <pc:docMk/>
          <pc:sldMk cId="276018657" sldId="372"/>
        </pc:sldMkLst>
        <pc:spChg chg="mod">
          <ac:chgData name="Yadollah Yaghoobzadeh" userId="6e47bfdd41a25f50" providerId="LiveId" clId="{75921ECD-35D7-485E-BE24-10EA5329EB22}" dt="2026-05-17T06:21:27.230" v="47" actId="27636"/>
          <ac:spMkLst>
            <pc:docMk/>
            <pc:sldMk cId="276018657" sldId="372"/>
            <ac:spMk id="2" creationId="{6D03E99D-0E49-EA39-AF60-9D26ED4DCDFD}"/>
          </ac:spMkLst>
        </pc:spChg>
      </pc:sldChg>
      <pc:sldChg chg="modSp add mod">
        <pc:chgData name="Yadollah Yaghoobzadeh" userId="6e47bfdd41a25f50" providerId="LiveId" clId="{75921ECD-35D7-485E-BE24-10EA5329EB22}" dt="2026-05-17T06:21:27.232" v="48" actId="27636"/>
        <pc:sldMkLst>
          <pc:docMk/>
          <pc:sldMk cId="2967625991" sldId="373"/>
        </pc:sldMkLst>
        <pc:spChg chg="mod">
          <ac:chgData name="Yadollah Yaghoobzadeh" userId="6e47bfdd41a25f50" providerId="LiveId" clId="{75921ECD-35D7-485E-BE24-10EA5329EB22}" dt="2026-05-17T06:21:27.232" v="48" actId="27636"/>
          <ac:spMkLst>
            <pc:docMk/>
            <pc:sldMk cId="2967625991" sldId="373"/>
            <ac:spMk id="4" creationId="{1DFD8370-6FB6-E1B9-101B-0EC17DBD36FB}"/>
          </ac:spMkLst>
        </pc:spChg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631415618" sldId="375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731954837" sldId="37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80648139" sldId="377"/>
        </pc:sldMkLst>
      </pc:sldChg>
      <pc:sldChg chg="modSp add mod">
        <pc:chgData name="Yadollah Yaghoobzadeh" userId="6e47bfdd41a25f50" providerId="LiveId" clId="{75921ECD-35D7-485E-BE24-10EA5329EB22}" dt="2026-05-17T06:21:27.241" v="49" actId="27636"/>
        <pc:sldMkLst>
          <pc:docMk/>
          <pc:sldMk cId="4047389035" sldId="381"/>
        </pc:sldMkLst>
        <pc:spChg chg="mod">
          <ac:chgData name="Yadollah Yaghoobzadeh" userId="6e47bfdd41a25f50" providerId="LiveId" clId="{75921ECD-35D7-485E-BE24-10EA5329EB22}" dt="2026-05-17T06:21:27.241" v="49" actId="27636"/>
          <ac:spMkLst>
            <pc:docMk/>
            <pc:sldMk cId="4047389035" sldId="381"/>
            <ac:spMk id="3" creationId="{1A29863E-FC32-EFFA-BDC5-C72A19BA44D9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07353994" sldId="38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99741874" sldId="38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640457201" sldId="388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628786386" sldId="391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462444708" sldId="39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3725704901" sldId="396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449154557" sldId="397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708192411" sldId="39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877443041" sldId="39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3598542040" sldId="40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3089343497" sldId="40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485323507" sldId="40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585223782" sldId="411"/>
        </pc:sldMkLst>
      </pc:sldChg>
      <pc:sldChg chg="modSp add mod">
        <pc:chgData name="Yadollah Yaghoobzadeh" userId="6e47bfdd41a25f50" providerId="LiveId" clId="{75921ECD-35D7-485E-BE24-10EA5329EB22}" dt="2026-05-17T06:21:27.194" v="39" actId="27636"/>
        <pc:sldMkLst>
          <pc:docMk/>
          <pc:sldMk cId="1229189862" sldId="457"/>
        </pc:sldMkLst>
        <pc:spChg chg="mod">
          <ac:chgData name="Yadollah Yaghoobzadeh" userId="6e47bfdd41a25f50" providerId="LiveId" clId="{75921ECD-35D7-485E-BE24-10EA5329EB22}" dt="2026-05-17T06:21:27.194" v="39" actId="27636"/>
          <ac:spMkLst>
            <pc:docMk/>
            <pc:sldMk cId="1229189862" sldId="457"/>
            <ac:spMk id="3" creationId="{2580E472-DD54-6526-7C72-57C028BDA430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603090522" sldId="492"/>
        </pc:sldMkLst>
      </pc:sldChg>
      <pc:sldChg chg="modSp add mod">
        <pc:chgData name="Yadollah Yaghoobzadeh" userId="6e47bfdd41a25f50" providerId="LiveId" clId="{75921ECD-35D7-485E-BE24-10EA5329EB22}" dt="2026-05-17T06:21:27.214" v="43" actId="27636"/>
        <pc:sldMkLst>
          <pc:docMk/>
          <pc:sldMk cId="2690720809" sldId="493"/>
        </pc:sldMkLst>
        <pc:spChg chg="mod">
          <ac:chgData name="Yadollah Yaghoobzadeh" userId="6e47bfdd41a25f50" providerId="LiveId" clId="{75921ECD-35D7-485E-BE24-10EA5329EB22}" dt="2026-05-17T06:21:27.214" v="43" actId="27636"/>
          <ac:spMkLst>
            <pc:docMk/>
            <pc:sldMk cId="2690720809" sldId="493"/>
            <ac:spMk id="3" creationId="{2C06B958-47C6-1E2F-9DE5-3E134B672EF2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346161491" sldId="494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437056036" sldId="49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104509797" sldId="512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76272827" sldId="513"/>
        </pc:sldMkLst>
      </pc:sldChg>
      <pc:sldChg chg="modSp add mod">
        <pc:chgData name="Yadollah Yaghoobzadeh" userId="6e47bfdd41a25f50" providerId="LiveId" clId="{75921ECD-35D7-485E-BE24-10EA5329EB22}" dt="2026-05-17T06:21:27.243" v="50" actId="27636"/>
        <pc:sldMkLst>
          <pc:docMk/>
          <pc:sldMk cId="545939205" sldId="514"/>
        </pc:sldMkLst>
        <pc:spChg chg="mod">
          <ac:chgData name="Yadollah Yaghoobzadeh" userId="6e47bfdd41a25f50" providerId="LiveId" clId="{75921ECD-35D7-485E-BE24-10EA5329EB22}" dt="2026-05-17T06:21:27.243" v="50" actId="27636"/>
          <ac:spMkLst>
            <pc:docMk/>
            <pc:sldMk cId="545939205" sldId="514"/>
            <ac:spMk id="2" creationId="{EF2B6709-E781-8DFF-1BC6-DC504D830704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940234959" sldId="51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588456485" sldId="517"/>
        </pc:sldMkLst>
      </pc:sldChg>
      <pc:sldChg chg="modSp add mod">
        <pc:chgData name="Yadollah Yaghoobzadeh" userId="6e47bfdd41a25f50" providerId="LiveId" clId="{75921ECD-35D7-485E-BE24-10EA5329EB22}" dt="2026-05-17T06:21:27.200" v="40" actId="27636"/>
        <pc:sldMkLst>
          <pc:docMk/>
          <pc:sldMk cId="3368019862" sldId="519"/>
        </pc:sldMkLst>
        <pc:spChg chg="mod">
          <ac:chgData name="Yadollah Yaghoobzadeh" userId="6e47bfdd41a25f50" providerId="LiveId" clId="{75921ECD-35D7-485E-BE24-10EA5329EB22}" dt="2026-05-17T06:21:27.200" v="40" actId="27636"/>
          <ac:spMkLst>
            <pc:docMk/>
            <pc:sldMk cId="3368019862" sldId="519"/>
            <ac:spMk id="2" creationId="{80988266-76A6-7354-0B68-CAA3F8D275CA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237392664" sldId="52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889227931" sldId="521"/>
        </pc:sldMkLst>
      </pc:sldChg>
      <pc:sldChg chg="modSp add mod">
        <pc:chgData name="Yadollah Yaghoobzadeh" userId="6e47bfdd41a25f50" providerId="LiveId" clId="{75921ECD-35D7-485E-BE24-10EA5329EB22}" dt="2026-05-17T06:21:27.212" v="42" actId="27636"/>
        <pc:sldMkLst>
          <pc:docMk/>
          <pc:sldMk cId="2722860328" sldId="522"/>
        </pc:sldMkLst>
        <pc:spChg chg="mod">
          <ac:chgData name="Yadollah Yaghoobzadeh" userId="6e47bfdd41a25f50" providerId="LiveId" clId="{75921ECD-35D7-485E-BE24-10EA5329EB22}" dt="2026-05-17T06:21:27.212" v="42" actId="27636"/>
          <ac:spMkLst>
            <pc:docMk/>
            <pc:sldMk cId="2722860328" sldId="522"/>
            <ac:spMk id="2" creationId="{F26AF1C0-9050-1E06-35EE-01A045FB6345}"/>
          </ac:spMkLst>
        </pc:spChg>
      </pc:sldChg>
      <pc:sldChg chg="modSp add mod">
        <pc:chgData name="Yadollah Yaghoobzadeh" userId="6e47bfdd41a25f50" providerId="LiveId" clId="{75921ECD-35D7-485E-BE24-10EA5329EB22}" dt="2026-05-17T06:21:27.208" v="41" actId="27636"/>
        <pc:sldMkLst>
          <pc:docMk/>
          <pc:sldMk cId="2365103576" sldId="523"/>
        </pc:sldMkLst>
        <pc:spChg chg="mod">
          <ac:chgData name="Yadollah Yaghoobzadeh" userId="6e47bfdd41a25f50" providerId="LiveId" clId="{75921ECD-35D7-485E-BE24-10EA5329EB22}" dt="2026-05-17T06:21:27.208" v="41" actId="27636"/>
          <ac:spMkLst>
            <pc:docMk/>
            <pc:sldMk cId="2365103576" sldId="523"/>
            <ac:spMk id="3" creationId="{4E2B5C45-CBA4-94C8-4762-FA017B98693B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435469503" sldId="52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863771730" sldId="52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106802785" sldId="52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61783616" sldId="55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23137805" sldId="562"/>
        </pc:sldMkLst>
      </pc:sldChg>
      <pc:sldChg chg="modSp add mod">
        <pc:chgData name="Yadollah Yaghoobzadeh" userId="6e47bfdd41a25f50" providerId="LiveId" clId="{75921ECD-35D7-485E-BE24-10EA5329EB22}" dt="2026-05-17T06:21:27.287" v="51" actId="27636"/>
        <pc:sldMkLst>
          <pc:docMk/>
          <pc:sldMk cId="2166518439" sldId="563"/>
        </pc:sldMkLst>
        <pc:spChg chg="mod">
          <ac:chgData name="Yadollah Yaghoobzadeh" userId="6e47bfdd41a25f50" providerId="LiveId" clId="{75921ECD-35D7-485E-BE24-10EA5329EB22}" dt="2026-05-17T06:21:27.287" v="51" actId="27636"/>
          <ac:spMkLst>
            <pc:docMk/>
            <pc:sldMk cId="2166518439" sldId="563"/>
            <ac:spMk id="3" creationId="{1A329C0B-8AF8-C341-E58C-DB8B18DCCF2B}"/>
          </ac:spMkLst>
        </pc:spChg>
      </pc:sldChg>
      <pc:sldChg chg="modSp add mod">
        <pc:chgData name="Yadollah Yaghoobzadeh" userId="6e47bfdd41a25f50" providerId="LiveId" clId="{75921ECD-35D7-485E-BE24-10EA5329EB22}" dt="2026-05-17T06:21:27.301" v="53" actId="27636"/>
        <pc:sldMkLst>
          <pc:docMk/>
          <pc:sldMk cId="1385090680" sldId="564"/>
        </pc:sldMkLst>
        <pc:spChg chg="mod">
          <ac:chgData name="Yadollah Yaghoobzadeh" userId="6e47bfdd41a25f50" providerId="LiveId" clId="{75921ECD-35D7-485E-BE24-10EA5329EB22}" dt="2026-05-17T06:21:27.301" v="53" actId="27636"/>
          <ac:spMkLst>
            <pc:docMk/>
            <pc:sldMk cId="1385090680" sldId="564"/>
            <ac:spMk id="2" creationId="{362B89F1-CE3C-A930-C129-CB6BF56A2EF3}"/>
          </ac:spMkLst>
        </pc:spChg>
        <pc:spChg chg="mod">
          <ac:chgData name="Yadollah Yaghoobzadeh" userId="6e47bfdd41a25f50" providerId="LiveId" clId="{75921ECD-35D7-485E-BE24-10EA5329EB22}" dt="2026-05-17T06:21:27.301" v="52" actId="27636"/>
          <ac:spMkLst>
            <pc:docMk/>
            <pc:sldMk cId="1385090680" sldId="564"/>
            <ac:spMk id="3" creationId="{9C611A69-1494-D86E-5D54-4FB053BB1E56}"/>
          </ac:spMkLst>
        </pc:spChg>
      </pc:sldChg>
      <pc:sldChg chg="modSp add mod">
        <pc:chgData name="Yadollah Yaghoobzadeh" userId="6e47bfdd41a25f50" providerId="LiveId" clId="{75921ECD-35D7-485E-BE24-10EA5329EB22}" dt="2026-05-17T06:21:27.304" v="54" actId="27636"/>
        <pc:sldMkLst>
          <pc:docMk/>
          <pc:sldMk cId="1924463976" sldId="565"/>
        </pc:sldMkLst>
        <pc:spChg chg="mod">
          <ac:chgData name="Yadollah Yaghoobzadeh" userId="6e47bfdd41a25f50" providerId="LiveId" clId="{75921ECD-35D7-485E-BE24-10EA5329EB22}" dt="2026-05-17T06:21:27.304" v="54" actId="27636"/>
          <ac:spMkLst>
            <pc:docMk/>
            <pc:sldMk cId="1924463976" sldId="565"/>
            <ac:spMk id="7" creationId="{C1C51D22-85D5-2C42-A3C4-742CD79A50CD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371044156" sldId="56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890348173" sldId="568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724314125" sldId="569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670223069" sldId="57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741937137" sldId="571"/>
        </pc:sldMkLst>
      </pc:sldChg>
      <pc:sldChg chg="modSp add mod">
        <pc:chgData name="Yadollah Yaghoobzadeh" userId="6e47bfdd41a25f50" providerId="LiveId" clId="{75921ECD-35D7-485E-BE24-10EA5329EB22}" dt="2026-05-17T06:21:27.317" v="55" actId="27636"/>
        <pc:sldMkLst>
          <pc:docMk/>
          <pc:sldMk cId="4171675283" sldId="602"/>
        </pc:sldMkLst>
        <pc:spChg chg="mod">
          <ac:chgData name="Yadollah Yaghoobzadeh" userId="6e47bfdd41a25f50" providerId="LiveId" clId="{75921ECD-35D7-485E-BE24-10EA5329EB22}" dt="2026-05-17T06:21:27.317" v="55" actId="27636"/>
          <ac:spMkLst>
            <pc:docMk/>
            <pc:sldMk cId="4171675283" sldId="602"/>
            <ac:spMk id="20483" creationId="{00000000-0000-0000-0000-000000000000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4160694351" sldId="603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978527269" sldId="613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286910321" sldId="614"/>
        </pc:sldMkLst>
      </pc:sldChg>
      <pc:sldChg chg="modSp add mod">
        <pc:chgData name="Yadollah Yaghoobzadeh" userId="6e47bfdd41a25f50" providerId="LiveId" clId="{75921ECD-35D7-485E-BE24-10EA5329EB22}" dt="2026-05-17T06:21:27.218" v="44" actId="27636"/>
        <pc:sldMkLst>
          <pc:docMk/>
          <pc:sldMk cId="3392579955" sldId="1912"/>
        </pc:sldMkLst>
        <pc:spChg chg="mod">
          <ac:chgData name="Yadollah Yaghoobzadeh" userId="6e47bfdd41a25f50" providerId="LiveId" clId="{75921ECD-35D7-485E-BE24-10EA5329EB22}" dt="2026-05-17T06:21:27.218" v="44" actId="27636"/>
          <ac:spMkLst>
            <pc:docMk/>
            <pc:sldMk cId="3392579955" sldId="1912"/>
            <ac:spMk id="2" creationId="{8CE2912D-A118-5079-D10E-E43439FE4860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080107590" sldId="192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574848999" sldId="1989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02611643" sldId="199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105107390" sldId="2014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612557404" sldId="2015"/>
        </pc:sldMkLst>
      </pc:sldChg>
      <pc:sldChg chg="modSp add mod">
        <pc:chgData name="Yadollah Yaghoobzadeh" userId="6e47bfdd41a25f50" providerId="LiveId" clId="{75921ECD-35D7-485E-BE24-10EA5329EB22}" dt="2026-05-17T06:21:27.224" v="45" actId="27636"/>
        <pc:sldMkLst>
          <pc:docMk/>
          <pc:sldMk cId="7363662" sldId="2018"/>
        </pc:sldMkLst>
        <pc:spChg chg="mod">
          <ac:chgData name="Yadollah Yaghoobzadeh" userId="6e47bfdd41a25f50" providerId="LiveId" clId="{75921ECD-35D7-485E-BE24-10EA5329EB22}" dt="2026-05-17T06:21:27.224" v="45" actId="27636"/>
          <ac:spMkLst>
            <pc:docMk/>
            <pc:sldMk cId="7363662" sldId="2018"/>
            <ac:spMk id="2" creationId="{E111C60E-E1AE-B244-F6A3-78D074A4E74E}"/>
          </ac:spMkLst>
        </pc:spChg>
      </pc:sldChg>
      <pc:sldChg chg="modSp add mod">
        <pc:chgData name="Yadollah Yaghoobzadeh" userId="6e47bfdd41a25f50" providerId="LiveId" clId="{75921ECD-35D7-485E-BE24-10EA5329EB22}" dt="2026-05-17T06:21:27.227" v="46" actId="27636"/>
        <pc:sldMkLst>
          <pc:docMk/>
          <pc:sldMk cId="1678118594" sldId="2019"/>
        </pc:sldMkLst>
        <pc:spChg chg="mod">
          <ac:chgData name="Yadollah Yaghoobzadeh" userId="6e47bfdd41a25f50" providerId="LiveId" clId="{75921ECD-35D7-485E-BE24-10EA5329EB22}" dt="2026-05-17T06:21:27.227" v="46" actId="27636"/>
          <ac:spMkLst>
            <pc:docMk/>
            <pc:sldMk cId="1678118594" sldId="2019"/>
            <ac:spMk id="2" creationId="{78BFA2AF-E6DB-E37D-43CE-0F420194DA7F}"/>
          </ac:spMkLst>
        </pc:spChg>
      </pc:sldChg>
      <pc:sldMasterChg chg="delSldLayout modSldLayout">
        <pc:chgData name="Yadollah Yaghoobzadeh" userId="6e47bfdd41a25f50" providerId="LiveId" clId="{75921ECD-35D7-485E-BE24-10EA5329EB22}" dt="2026-05-17T06:21:06.045" v="37" actId="20577"/>
        <pc:sldMasterMkLst>
          <pc:docMk/>
          <pc:sldMasterMk cId="171950421" sldId="2147483779"/>
        </pc:sldMasterMkLst>
        <pc:sldLayoutChg chg="modSp mod">
          <pc:chgData name="Yadollah Yaghoobzadeh" userId="6e47bfdd41a25f50" providerId="LiveId" clId="{75921ECD-35D7-485E-BE24-10EA5329EB22}" dt="2026-05-17T06:21:06.045" v="37" actId="20577"/>
          <pc:sldLayoutMkLst>
            <pc:docMk/>
            <pc:sldMasterMk cId="171950421" sldId="2147483779"/>
            <pc:sldLayoutMk cId="367002956" sldId="2147483791"/>
          </pc:sldLayoutMkLst>
          <pc:spChg chg="mod">
            <ac:chgData name="Yadollah Yaghoobzadeh" userId="6e47bfdd41a25f50" providerId="LiveId" clId="{75921ECD-35D7-485E-BE24-10EA5329EB22}" dt="2026-05-17T06:21:06.045" v="37" actId="20577"/>
            <ac:spMkLst>
              <pc:docMk/>
              <pc:sldMasterMk cId="171950421" sldId="2147483779"/>
              <pc:sldLayoutMk cId="367002956" sldId="2147483791"/>
              <ac:spMk id="3" creationId="{589C87D7-4FFF-3090-7978-ACE9D0723D25}"/>
            </ac:spMkLst>
          </pc:spChg>
        </pc:sldLayoutChg>
        <pc:sldLayoutChg chg="del">
          <pc:chgData name="Yadollah Yaghoobzadeh" userId="6e47bfdd41a25f50" providerId="LiveId" clId="{75921ECD-35D7-485E-BE24-10EA5329EB22}" dt="2026-05-17T06:20:13.421" v="0" actId="47"/>
          <pc:sldLayoutMkLst>
            <pc:docMk/>
            <pc:sldMasterMk cId="171950421" sldId="2147483779"/>
            <pc:sldLayoutMk cId="2541672312" sldId="2147483792"/>
          </pc:sldLayoutMkLst>
        </pc:sldLayoutChg>
        <pc:sldLayoutChg chg="del">
          <pc:chgData name="Yadollah Yaghoobzadeh" userId="6e47bfdd41a25f50" providerId="LiveId" clId="{75921ECD-35D7-485E-BE24-10EA5329EB22}" dt="2026-05-17T06:20:13.421" v="0" actId="47"/>
          <pc:sldLayoutMkLst>
            <pc:docMk/>
            <pc:sldMasterMk cId="171950421" sldId="2147483779"/>
            <pc:sldLayoutMk cId="4022510976" sldId="2147483793"/>
          </pc:sldLayoutMkLst>
        </pc:sldLayoutChg>
      </pc:sldMasterChg>
    </pc:docChg>
  </pc:docChgLst>
  <pc:docChgLst>
    <pc:chgData name="Yadollah Yaghoobzadeh" userId="6e47bfdd41a25f50" providerId="LiveId" clId="{7E68FCE6-4061-46C4-8037-74AC9E894220}"/>
    <pc:docChg chg="delSld">
      <pc:chgData name="Yadollah Yaghoobzadeh" userId="6e47bfdd41a25f50" providerId="LiveId" clId="{7E68FCE6-4061-46C4-8037-74AC9E894220}" dt="2026-05-30T04:34:49.362" v="1" actId="47"/>
      <pc:docMkLst>
        <pc:docMk/>
      </pc:docMkLst>
      <pc:sldChg chg="del">
        <pc:chgData name="Yadollah Yaghoobzadeh" userId="6e47bfdd41a25f50" providerId="LiveId" clId="{7E68FCE6-4061-46C4-8037-74AC9E894220}" dt="2026-05-30T04:34:48.325" v="0" actId="47"/>
        <pc:sldMkLst>
          <pc:docMk/>
          <pc:sldMk cId="7363662" sldId="2018"/>
        </pc:sldMkLst>
      </pc:sldChg>
      <pc:sldChg chg="del">
        <pc:chgData name="Yadollah Yaghoobzadeh" userId="6e47bfdd41a25f50" providerId="LiveId" clId="{7E68FCE6-4061-46C4-8037-74AC9E894220}" dt="2026-05-30T04:34:49.362" v="1" actId="47"/>
        <pc:sldMkLst>
          <pc:docMk/>
          <pc:sldMk cId="1678118594" sldId="201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2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proxy variable is a feature that indirectly represents a sensitive or socially meaningful attribute.</a:t>
            </a:r>
          </a:p>
          <a:p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zip code as a proxy for income or race;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shopping behavior as a proxy for health;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school name as a proxy for class background;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device type as a proxy for wealth.</a:t>
            </a:r>
          </a:p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Removing sensitive attributes does not automatically remove bias.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92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3361-214D-C589-BB67-8E658B240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65B0F7-2246-AF5F-F1CC-47C98F52E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17C97-F6FA-F89B-C4E0-81CA706F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78D10-3BA3-A099-49CF-9EA2662D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38B7C-BF35-6C55-1052-93A36ECB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4900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8F6C6-401D-5425-C0A4-8FE4DA11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D3273-5B2F-F348-2D10-D63AB85D6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017AC-443B-9E07-2392-539FBB760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3D793-CFA8-FEDB-D11F-5F72B7FD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8105B-B082-DEB1-15F6-3F025A55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1613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CB3F-3F9C-5D87-8DD0-E995E61F7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EA28A-090E-AE89-C146-99E1DEDA8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D0CAB-8C83-10DE-C6D3-2604F3E0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95B0F-09FE-404F-752B-3EE560F7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87EA-197A-9433-DFCA-D96DA62F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1001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D02D6-69B1-942B-4B8C-67EFF5D6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0DD98-0DE0-18F6-7E4C-F755EB3BF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616E7-0806-BAC4-7810-34F259546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1747F-CBDF-4B64-A08D-D6C3BE6B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D35A1-B968-3972-56E5-D67F8D5E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D6EDA-FB05-1961-D261-EAA387FE4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6386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B86D-5C31-DD23-C282-F82AB1BBD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30224-3576-16FF-266D-3E5C35F51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15D63-DC12-3CEB-FA76-74F858E81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970A42-54C2-749E-25C4-CE66CB8DC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0D41A4-9ED6-DAB5-754B-3198AD181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D52E5-6BC8-B35A-18B5-246634B73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E598BD-D6D2-DD3E-1747-6F2280A6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C2C19E-91C2-5904-DAD3-CCCA76F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279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C76A-F0F6-25F4-7BE3-6D326176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4FE98-8169-8BDC-EC32-6F710B79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1591A-0EB3-08C2-C0DE-25BC2696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C1107-8C69-EA41-F68A-EC63673D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0286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94DDF2-DC4D-306E-FC80-2D6A949A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5CCC7-F623-557C-DC89-9358813A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777E2-B664-49AA-95D4-B71F55BC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6157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9EB7-E045-76E3-BC5C-EB336FCFF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32F1C-9821-EDB9-5009-139C589E8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DFBFD-83FD-FAFC-B801-96B495A4E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BD51F-0410-6C16-3EA6-6D3F1AFD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AB25D-9EB8-A6CF-4866-61594ABC4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4E9A7-37F4-6E0C-0815-40E3124B1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4159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14952-7749-E6DB-EF47-FDBE96C3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749A48-FDC1-C4F3-46AC-1FA20FB4D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DFE33-1DF1-5686-7F73-35219511B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DB978-907C-0C2A-9C78-982A8260B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A69E1-6044-8D1B-53D1-D643E256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DD55A-8664-6338-8F75-12F02BD22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3355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E231-7FAB-82F4-8201-B079B58C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3EC12-794D-AD7E-6AEA-9E37C9007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CF860-D40A-6EC3-02A8-066BD59B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8BBA6-E492-6923-0436-215CC79F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23ED5-F4FC-B723-1BB3-8642C4903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582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9036E-50B2-3321-E490-0902DA606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BB259-B0D7-59EF-3B28-A55324BB1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9A0B7-F973-6C40-D8FE-E28C1286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71DF1-0D03-32CD-F449-B6A696F0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39AF6-8E8A-C214-605E-EF7B59BD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3529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a data science course logo with a computer on a white background. Image 1 of 4">
            <a:extLst>
              <a:ext uri="{FF2B5EF4-FFF2-40B4-BE49-F238E27FC236}">
                <a16:creationId xmlns:a16="http://schemas.microsoft.com/office/drawing/2014/main" id="{ED991132-C7D0-F6BF-E60C-F201A774E2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912"/>
            <a:ext cx="6791088" cy="679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088" y="1916581"/>
            <a:ext cx="5315567" cy="2048257"/>
          </a:xfrm>
          <a:noFill/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9C87D7-4FFF-3090-7978-ACE9D0723D25}"/>
              </a:ext>
            </a:extLst>
          </p:cNvPr>
          <p:cNvSpPr/>
          <p:nvPr userDrawn="1"/>
        </p:nvSpPr>
        <p:spPr>
          <a:xfrm>
            <a:off x="7728288" y="4828847"/>
            <a:ext cx="370806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Introduction to Data Science</a:t>
            </a:r>
            <a:br>
              <a:rPr lang="en-US" sz="2400" b="0" dirty="0">
                <a:latin typeface="+mj-lt"/>
              </a:rPr>
            </a:br>
            <a:r>
              <a:rPr lang="en-US" sz="2400" b="0" dirty="0">
                <a:latin typeface="+mj-lt"/>
              </a:rPr>
              <a:t>Spring 1405</a:t>
            </a:r>
          </a:p>
        </p:txBody>
      </p:sp>
      <p:pic>
        <p:nvPicPr>
          <p:cNvPr id="4" name="Picture 2" descr="Image result for دانشگاه تهران">
            <a:extLst>
              <a:ext uri="{FF2B5EF4-FFF2-40B4-BE49-F238E27FC236}">
                <a16:creationId xmlns:a16="http://schemas.microsoft.com/office/drawing/2014/main" id="{4EE2C0F7-E841-F221-FAA3-698B622960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86" y="135728"/>
            <a:ext cx="1188720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دانشکده فنی لوگو">
            <a:extLst>
              <a:ext uri="{FF2B5EF4-FFF2-40B4-BE49-F238E27FC236}">
                <a16:creationId xmlns:a16="http://schemas.microsoft.com/office/drawing/2014/main" id="{7AC4FE1A-0D05-1400-159B-DD9CB0042A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60" y="135728"/>
            <a:ext cx="1587962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153CD1-7942-836F-9936-BEBB1266800F}"/>
              </a:ext>
            </a:extLst>
          </p:cNvPr>
          <p:cNvSpPr/>
          <p:nvPr userDrawn="1"/>
        </p:nvSpPr>
        <p:spPr>
          <a:xfrm>
            <a:off x="8378637" y="5943600"/>
            <a:ext cx="26597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b="0" dirty="0">
                <a:latin typeface="+mj-lt"/>
              </a:rPr>
              <a:t>Yadollah Yaghoobzadeh</a:t>
            </a:r>
          </a:p>
        </p:txBody>
      </p:sp>
    </p:spTree>
    <p:extLst>
      <p:ext uri="{BB962C8B-B14F-4D97-AF65-F5344CB8AC3E}">
        <p14:creationId xmlns:p14="http://schemas.microsoft.com/office/powerpoint/2010/main" val="367002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1967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Interpretation • based on Christoph Molnar, Interpretable Machine Learning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433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D482A-0729-0447-26C4-795EBADAC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1BDAD-2755-489C-8030-9E6C16574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DF2E5-BE66-F442-C39E-1AE4C134C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262B0-8688-5A07-2529-503B41A73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5B2D0-FAA3-EF81-D7F0-E449C5863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0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CCB048-B67C-E79B-1CAC-1D9CA1807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91088" y="1916581"/>
            <a:ext cx="5315567" cy="2048257"/>
          </a:xfrm>
        </p:spPr>
        <p:txBody>
          <a:bodyPr>
            <a:normAutofit/>
          </a:bodyPr>
          <a:lstStyle/>
          <a:p>
            <a:pPr algn="ctr"/>
            <a:r>
              <a:rPr lang="en" sz="4000" dirty="0">
                <a:latin typeface="Consolas" panose="020B0609020204030204" pitchFamily="49" charset="0"/>
                <a:sym typeface="Consolas"/>
              </a:rPr>
              <a:t>Introduction to </a:t>
            </a:r>
            <a:r>
              <a:rPr lang="en" sz="4000">
                <a:latin typeface="Consolas" panose="020B0609020204030204" pitchFamily="49" charset="0"/>
                <a:sym typeface="Consolas"/>
              </a:rPr>
              <a:t>Data Ethics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8D9C8-20C7-D7E9-2BCA-91259DE3587C}"/>
              </a:ext>
            </a:extLst>
          </p:cNvPr>
          <p:cNvSpPr txBox="1"/>
          <p:nvPr/>
        </p:nvSpPr>
        <p:spPr>
          <a:xfrm>
            <a:off x="87086" y="6211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dirty="0"/>
              <a:t>From:</a:t>
            </a:r>
            <a:br>
              <a:rPr lang="en-US" sz="1200" dirty="0"/>
            </a:br>
            <a:r>
              <a:rPr lang="en-US" sz="1200" dirty="0"/>
              <a:t>https://www.scu.edu/ethics/focus-areas/technology-ethics/resources/an-introduction-to-data-ethics/</a:t>
            </a:r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4EF3E-2914-D577-9303-568B1380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Data Ethics: Why It Matters</a:t>
            </a: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1ED835EF-E03E-605D-9655-E1BC48CD63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275944"/>
            <a:ext cx="10910456" cy="2511521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Data science is not only a technical activity.</a:t>
            </a:r>
          </a:p>
          <a:p>
            <a:pPr lvl="0"/>
            <a:r>
              <a:rPr lang="en-US" altLang="en-US" dirty="0"/>
              <a:t>Data practices can affect people’s lives, opportunities, safety, privacy, and dignity.</a:t>
            </a:r>
          </a:p>
          <a:p>
            <a:pPr marL="457200" lvl="1" indent="0">
              <a:buNone/>
            </a:pPr>
            <a:endParaRPr lang="fa-IR" b="1" dirty="0"/>
          </a:p>
          <a:p>
            <a:pPr marL="457200" lvl="1" indent="0">
              <a:buNone/>
            </a:pPr>
            <a:r>
              <a:rPr lang="en-US" b="1" dirty="0"/>
              <a:t>How should we collect, analyze, share, and use data in ways that support human well-being?</a:t>
            </a:r>
            <a:endParaRPr lang="en-US" alt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43615-334C-C9CD-2512-02D935CD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52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47A0B-9120-B3B6-981E-559301C7C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Do We Mean by “Ethics”?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17A960B-F8C5-24AE-2070-9F3806413E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46202"/>
            <a:ext cx="10515600" cy="371018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Ethics is about how we should act.</a:t>
            </a:r>
          </a:p>
          <a:p>
            <a:pPr lvl="0"/>
            <a:r>
              <a:rPr lang="en-US" altLang="en-US" dirty="0"/>
              <a:t>It asks what helps people live well, individually and together.</a:t>
            </a:r>
          </a:p>
          <a:p>
            <a:pPr lvl="0"/>
            <a:r>
              <a:rPr lang="en-US" altLang="en-US" dirty="0"/>
              <a:t>In professional life, ethics appears in duties, standards, responsibilities, and codes of conduct. </a:t>
            </a:r>
          </a:p>
          <a:p>
            <a:pPr lvl="0"/>
            <a:endParaRPr lang="en-US" altLang="en-US" dirty="0"/>
          </a:p>
          <a:p>
            <a:pPr lvl="0"/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Ethics is not separate from </a:t>
            </a:r>
            <a:r>
              <a:rPr lang="en-US" b="1" dirty="0"/>
              <a:t>technical</a:t>
            </a:r>
            <a:r>
              <a:rPr lang="en-US" dirty="0"/>
              <a:t> work; it shapes how technical choices affect people.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9CB9E-0CE8-1373-827C-480A8C3F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28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04979-CC8C-C254-3C46-B9724A384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Why Technology Is Not Neutral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83BD3D3-9EC2-61C4-96D8-797557630D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6691" y="2053682"/>
            <a:ext cx="9954491" cy="241854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Technologies are designed by people.</a:t>
            </a:r>
          </a:p>
          <a:p>
            <a:pPr lvl="0"/>
            <a:r>
              <a:rPr lang="en-US" altLang="en-US" dirty="0"/>
              <a:t>Design choices reflect values, priorities, assumptions, and trade-offs.</a:t>
            </a:r>
          </a:p>
          <a:p>
            <a:pPr lvl="0"/>
            <a:r>
              <a:rPr lang="en-US" altLang="en-US" dirty="0"/>
              <a:t>Well-designed technologies can improve lives.</a:t>
            </a:r>
          </a:p>
          <a:p>
            <a:pPr lvl="0"/>
            <a:r>
              <a:rPr lang="en-US" altLang="en-US" dirty="0"/>
              <a:t>Poorly designed or misused technologies can create harm.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CC203-D18E-BD80-FE2C-E7AC6C5ED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86726E-960D-3415-BCFE-EDE4EAA6B8D7}"/>
              </a:ext>
            </a:extLst>
          </p:cNvPr>
          <p:cNvSpPr txBox="1"/>
          <p:nvPr/>
        </p:nvSpPr>
        <p:spPr>
          <a:xfrm>
            <a:off x="2285999" y="5307847"/>
            <a:ext cx="80287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2400" dirty="0"/>
            </a:br>
            <a:r>
              <a:rPr lang="en-US" sz="2400" b="1" dirty="0"/>
              <a:t>Technology</a:t>
            </a:r>
            <a:r>
              <a:rPr lang="en-US" sz="2400" dirty="0"/>
              <a:t> both </a:t>
            </a:r>
            <a:r>
              <a:rPr lang="en-US" sz="2400" b="1" dirty="0"/>
              <a:t>reflects</a:t>
            </a:r>
            <a:r>
              <a:rPr lang="en-US" sz="2400" dirty="0"/>
              <a:t> </a:t>
            </a:r>
            <a:r>
              <a:rPr lang="en-US" sz="2400" b="1" dirty="0"/>
              <a:t>and</a:t>
            </a:r>
            <a:r>
              <a:rPr lang="en-US" sz="2400" dirty="0"/>
              <a:t> </a:t>
            </a:r>
            <a:r>
              <a:rPr lang="en-US" sz="2400" b="1" dirty="0"/>
              <a:t>shapes</a:t>
            </a:r>
            <a:r>
              <a:rPr lang="en-US" sz="2400" dirty="0"/>
              <a:t> what </a:t>
            </a:r>
            <a:r>
              <a:rPr lang="en-US" sz="2400" b="1" dirty="0"/>
              <a:t>society</a:t>
            </a:r>
            <a:r>
              <a:rPr lang="en-US" sz="2400" dirty="0"/>
              <a:t> </a:t>
            </a:r>
            <a:r>
              <a:rPr lang="en-US" sz="2400" b="1" dirty="0"/>
              <a:t>values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1219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EDC8-48E6-F6EB-9145-BD0C393F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Why Ethics Is Urgent in Technology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EBDE6A8-19B4-CA76-FFA6-500DF8CF6F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286306"/>
            <a:ext cx="10515599" cy="241854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Technical systems now operate at large scale and high speed.</a:t>
            </a:r>
          </a:p>
          <a:p>
            <a:pPr lvl="0"/>
            <a:r>
              <a:rPr lang="en-US" altLang="en-US"/>
              <a:t>Their social effects can be difficult to predict.</a:t>
            </a:r>
          </a:p>
          <a:p>
            <a:pPr lvl="0"/>
            <a:r>
              <a:rPr lang="en-US" altLang="en-US"/>
              <a:t>Laws and regulations often lag behind technological change.</a:t>
            </a:r>
          </a:p>
          <a:p>
            <a:pPr lvl="0"/>
            <a:r>
              <a:rPr lang="en-US" altLang="en-US"/>
              <a:t>Technical experts increasingly make choices that affect public well-being.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6CDCF-DCD4-80FE-F32E-4E0C37F9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7E19A7-74C9-C316-248A-B6E1D29A3457}"/>
              </a:ext>
            </a:extLst>
          </p:cNvPr>
          <p:cNvSpPr txBox="1"/>
          <p:nvPr/>
        </p:nvSpPr>
        <p:spPr>
          <a:xfrm>
            <a:off x="2189017" y="5612198"/>
            <a:ext cx="84097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When law is unclear or outdated, what responsibility does the data scientist have?</a:t>
            </a:r>
          </a:p>
        </p:txBody>
      </p:sp>
    </p:spTree>
    <p:extLst>
      <p:ext uri="{BB962C8B-B14F-4D97-AF65-F5344CB8AC3E}">
        <p14:creationId xmlns:p14="http://schemas.microsoft.com/office/powerpoint/2010/main" val="1775486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5F4F0-60BB-58F6-D7D1-A806F770A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Does Ethics Have to Do with Data?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6EA10C8-7B0C-54CA-40D7-35BDD85158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14160"/>
            <a:ext cx="10515600" cy="1774268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Data is recorded information: text, images, audio, video, sensor records, clicks, transactions, and more.</a:t>
            </a:r>
          </a:p>
          <a:p>
            <a:pPr lvl="0"/>
            <a:r>
              <a:rPr lang="en-US" altLang="en-US" dirty="0"/>
              <a:t>Modern societies constantly generate data through digital devices and connected environments.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A22B0-C701-247E-04B1-F2C343F8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74EE87-E682-1E41-49B1-9172125F92FE}"/>
              </a:ext>
            </a:extLst>
          </p:cNvPr>
          <p:cNvSpPr txBox="1"/>
          <p:nvPr/>
        </p:nvSpPr>
        <p:spPr>
          <a:xfrm>
            <a:off x="1136073" y="5480903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Data gains ethical significance when it is used to make decisions about people.</a:t>
            </a:r>
          </a:p>
        </p:txBody>
      </p:sp>
    </p:spTree>
    <p:extLst>
      <p:ext uri="{BB962C8B-B14F-4D97-AF65-F5344CB8AC3E}">
        <p14:creationId xmlns:p14="http://schemas.microsoft.com/office/powerpoint/2010/main" val="4121249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EF077-69A1-1157-2C02-21A48F015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Can Create Benefits and Harms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0907F-BEE2-8EF5-998A-797F05B41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D31C1A0-FA86-7813-997C-E101A9F662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12849"/>
            <a:ext cx="455814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better medical diagnosis;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disaster prediction and evacuation;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efficient resource allocation;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scientific discovery.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F3796E3-400A-B76B-CBFF-2A7C71599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5657" y="2312849"/>
            <a:ext cx="333617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discrimination;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privacy invasion;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surveillance;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manipulation;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unsafe or unfair decisions. </a:t>
            </a:r>
          </a:p>
        </p:txBody>
      </p:sp>
    </p:spTree>
    <p:extLst>
      <p:ext uri="{BB962C8B-B14F-4D97-AF65-F5344CB8AC3E}">
        <p14:creationId xmlns:p14="http://schemas.microsoft.com/office/powerpoint/2010/main" val="3933249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84981-0CAC-A4A8-E4D0-020083BE0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 Simple Ethical Lens for Data Science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08B62E4-86F2-0107-27DE-BB4674CBC5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Who benefits from this system?</a:t>
            </a:r>
          </a:p>
          <a:p>
            <a:pPr lvl="0"/>
            <a:r>
              <a:rPr lang="en-US" altLang="en-US"/>
              <a:t>Who might be harmed?</a:t>
            </a:r>
          </a:p>
          <a:p>
            <a:pPr lvl="0"/>
            <a:r>
              <a:rPr lang="en-US" altLang="en-US"/>
              <a:t>Who is represented in the data, and who is missing?</a:t>
            </a:r>
          </a:p>
          <a:p>
            <a:pPr lvl="0"/>
            <a:r>
              <a:rPr lang="en-US" altLang="en-US"/>
              <a:t>Was the data collected and used responsibly?</a:t>
            </a:r>
          </a:p>
          <a:p>
            <a:pPr lvl="0"/>
            <a:r>
              <a:rPr lang="en-US" altLang="en-US"/>
              <a:t>Can affected people understand, challenge, or appeal the decision?</a:t>
            </a:r>
          </a:p>
          <a:p>
            <a:pPr lvl="0"/>
            <a:r>
              <a:rPr lang="en-US" altLang="en-US"/>
              <a:t>Who is accountable if something goes wrong?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E8C88-C6DC-1953-BB89-0814FD5D5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19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9BEC-F6EE-AFEC-919F-0141CB99B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Ethics Requires More Than Good Intentions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5717F9E-3635-72A9-D22F-4130694B48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56123"/>
            <a:ext cx="8210966" cy="429034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A data practitioner may not intend to harm anyone.</a:t>
            </a:r>
          </a:p>
          <a:p>
            <a:pPr lvl="0"/>
            <a:r>
              <a:rPr lang="en-US" altLang="en-US" dirty="0"/>
              <a:t>But harm can still result from:</a:t>
            </a:r>
          </a:p>
          <a:p>
            <a:pPr lvl="1"/>
            <a:r>
              <a:rPr lang="en-US" altLang="en-US" dirty="0"/>
              <a:t>negligence;</a:t>
            </a:r>
          </a:p>
          <a:p>
            <a:pPr lvl="1"/>
            <a:r>
              <a:rPr lang="en-US" altLang="en-US" dirty="0"/>
              <a:t>poor design;</a:t>
            </a:r>
          </a:p>
          <a:p>
            <a:pPr lvl="1"/>
            <a:r>
              <a:rPr lang="en-US" altLang="en-US" dirty="0"/>
              <a:t>weak testing;</a:t>
            </a:r>
          </a:p>
          <a:p>
            <a:pPr lvl="1"/>
            <a:r>
              <a:rPr lang="en-US" altLang="en-US" dirty="0"/>
              <a:t>biased assumptions;</a:t>
            </a:r>
          </a:p>
          <a:p>
            <a:pPr lvl="1"/>
            <a:r>
              <a:rPr lang="en-US" altLang="en-US" dirty="0"/>
              <a:t>bad data;</a:t>
            </a:r>
          </a:p>
          <a:p>
            <a:pPr lvl="1"/>
            <a:r>
              <a:rPr lang="en-US" altLang="en-US" dirty="0"/>
              <a:t>lack of oversight;</a:t>
            </a:r>
          </a:p>
          <a:p>
            <a:pPr lvl="1"/>
            <a:r>
              <a:rPr lang="en-US" altLang="en-US" dirty="0"/>
              <a:t>ignorance of context.</a:t>
            </a:r>
          </a:p>
          <a:p>
            <a:pPr lvl="0"/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42078-2E08-AA88-D076-DB7677EA9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D26D8B-45D4-75E0-0267-001B0114BAFD}"/>
              </a:ext>
            </a:extLst>
          </p:cNvPr>
          <p:cNvSpPr txBox="1"/>
          <p:nvPr/>
        </p:nvSpPr>
        <p:spPr>
          <a:xfrm>
            <a:off x="2953166" y="59887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“I did not mean to harm anyone” is not enough.</a:t>
            </a:r>
          </a:p>
        </p:txBody>
      </p:sp>
    </p:spTree>
    <p:extLst>
      <p:ext uri="{BB962C8B-B14F-4D97-AF65-F5344CB8AC3E}">
        <p14:creationId xmlns:p14="http://schemas.microsoft.com/office/powerpoint/2010/main" val="153473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22BF-062E-6786-AFA1-755D90E3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Data Harms Can Be Hard to See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648BA-FC34-D603-5A99-37E841942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some technical fields, harms are obvious:</a:t>
            </a:r>
          </a:p>
          <a:p>
            <a:pPr lvl="1"/>
            <a:r>
              <a:rPr lang="en-US" dirty="0"/>
              <a:t>bridge failure;</a:t>
            </a:r>
          </a:p>
          <a:p>
            <a:pPr lvl="1"/>
            <a:r>
              <a:rPr lang="en-US" dirty="0"/>
              <a:t>airplane failure;</a:t>
            </a:r>
          </a:p>
          <a:p>
            <a:pPr lvl="1"/>
            <a:r>
              <a:rPr lang="en-US" dirty="0"/>
              <a:t>surgical-device failure.</a:t>
            </a:r>
          </a:p>
          <a:p>
            <a:r>
              <a:rPr lang="en-US" dirty="0"/>
              <a:t>In data science, harms can be less visible because they may be:</a:t>
            </a:r>
          </a:p>
          <a:p>
            <a:pPr lvl="1"/>
            <a:r>
              <a:rPr lang="en-US" dirty="0"/>
              <a:t>indirect;</a:t>
            </a:r>
          </a:p>
          <a:p>
            <a:pPr lvl="1"/>
            <a:r>
              <a:rPr lang="en-US" dirty="0"/>
              <a:t>delayed;</a:t>
            </a:r>
          </a:p>
          <a:p>
            <a:pPr lvl="1"/>
            <a:r>
              <a:rPr lang="en-US" dirty="0"/>
              <a:t>distributed across many people;</a:t>
            </a:r>
          </a:p>
          <a:p>
            <a:pPr lvl="1"/>
            <a:r>
              <a:rPr lang="en-US" dirty="0"/>
              <a:t>hidden inside institutions;</a:t>
            </a:r>
          </a:p>
          <a:p>
            <a:pPr lvl="1"/>
            <a:r>
              <a:rPr lang="en-US" dirty="0"/>
              <a:t>produced by complex systems.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D98CC-DE06-3E63-F8F9-770FD170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23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5ADB9-63A6-402C-EED6-2E32D18E3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Human Life Interests Affected by Data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0EDD70E-9DF0-3A09-5D21-1877DDFCB1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9090" y="1880022"/>
            <a:ext cx="6470073" cy="442351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z="2000" dirty="0"/>
              <a:t>health;</a:t>
            </a:r>
          </a:p>
          <a:p>
            <a:pPr lvl="0"/>
            <a:r>
              <a:rPr lang="en-US" altLang="en-US" sz="2000" dirty="0"/>
              <a:t>privacy;</a:t>
            </a:r>
          </a:p>
          <a:p>
            <a:pPr lvl="0"/>
            <a:r>
              <a:rPr lang="en-US" altLang="en-US" sz="2000" dirty="0"/>
              <a:t>economic security;</a:t>
            </a:r>
          </a:p>
          <a:p>
            <a:pPr lvl="0"/>
            <a:r>
              <a:rPr lang="en-US" altLang="en-US" sz="2000" dirty="0"/>
              <a:t>education;</a:t>
            </a:r>
          </a:p>
          <a:p>
            <a:pPr lvl="0"/>
            <a:r>
              <a:rPr lang="en-US" altLang="en-US" sz="2000" dirty="0"/>
              <a:t>meaningful work;</a:t>
            </a:r>
          </a:p>
          <a:p>
            <a:pPr lvl="0"/>
            <a:r>
              <a:rPr lang="en-US" altLang="en-US" sz="2000" dirty="0"/>
              <a:t>social reputation;</a:t>
            </a:r>
          </a:p>
          <a:p>
            <a:pPr lvl="0"/>
            <a:r>
              <a:rPr lang="en-US" altLang="en-US" sz="2000" dirty="0"/>
              <a:t>liberty;</a:t>
            </a:r>
          </a:p>
          <a:p>
            <a:pPr lvl="0"/>
            <a:r>
              <a:rPr lang="en-US" altLang="en-US" sz="2000" dirty="0"/>
              <a:t>autonomy;</a:t>
            </a:r>
          </a:p>
          <a:p>
            <a:pPr lvl="0"/>
            <a:r>
              <a:rPr lang="en-US" altLang="en-US" sz="2000" dirty="0"/>
              <a:t>fair treatment;</a:t>
            </a:r>
          </a:p>
          <a:p>
            <a:pPr lvl="0"/>
            <a:r>
              <a:rPr lang="en-US" altLang="en-US" sz="2000" dirty="0"/>
              <a:t>political expression;</a:t>
            </a:r>
          </a:p>
          <a:p>
            <a:pPr lvl="0"/>
            <a:r>
              <a:rPr lang="en-US" altLang="en-US" sz="2000" dirty="0"/>
              <a:t>family and social life.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48330-3CF7-95F5-D4C3-27336458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EE51C6-6899-4628-E552-15CD8F263EFC}"/>
              </a:ext>
            </a:extLst>
          </p:cNvPr>
          <p:cNvSpPr txBox="1"/>
          <p:nvPr/>
        </p:nvSpPr>
        <p:spPr>
          <a:xfrm>
            <a:off x="5375564" y="282186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Data ethics is broad because data touches many parts of human life.</a:t>
            </a:r>
          </a:p>
        </p:txBody>
      </p:sp>
    </p:spTree>
    <p:extLst>
      <p:ext uri="{BB962C8B-B14F-4D97-AF65-F5344CB8AC3E}">
        <p14:creationId xmlns:p14="http://schemas.microsoft.com/office/powerpoint/2010/main" val="1221412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F7FB-10D1-C43D-ED0F-15DA3A308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Benefit 1: Human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FDDC-7227-018A-D0EA-45609A186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779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Good data practices can reveal patterns that were previously invisible.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detecting health risks;</a:t>
            </a:r>
          </a:p>
          <a:p>
            <a:pPr lvl="1"/>
            <a:r>
              <a:rPr lang="en-US" dirty="0"/>
              <a:t>understanding climate or traffic systems;</a:t>
            </a:r>
          </a:p>
          <a:p>
            <a:pPr lvl="1"/>
            <a:r>
              <a:rPr lang="en-US" dirty="0"/>
              <a:t>identifying social inequalities;</a:t>
            </a:r>
          </a:p>
          <a:p>
            <a:pPr lvl="1"/>
            <a:r>
              <a:rPr lang="en-US" dirty="0"/>
              <a:t>discovering whether a policy helps or harms a group.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8A3F8-D97B-647E-CD02-321FBB39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67103-06B4-DFCB-3AC7-14155F495D77}"/>
              </a:ext>
            </a:extLst>
          </p:cNvPr>
          <p:cNvSpPr txBox="1"/>
          <p:nvPr/>
        </p:nvSpPr>
        <p:spPr>
          <a:xfrm>
            <a:off x="2930236" y="506831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Key idea:</a:t>
            </a:r>
            <a:br>
              <a:rPr lang="en-US" dirty="0"/>
            </a:br>
            <a:r>
              <a:rPr lang="en-US" dirty="0"/>
              <a:t>Data can help us understand the world better, and better understanding can support better action.</a:t>
            </a:r>
          </a:p>
        </p:txBody>
      </p:sp>
    </p:spTree>
    <p:extLst>
      <p:ext uri="{BB962C8B-B14F-4D97-AF65-F5344CB8AC3E}">
        <p14:creationId xmlns:p14="http://schemas.microsoft.com/office/powerpoint/2010/main" val="2901561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325E7-E8BF-6350-EB46-03B6353E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 2: Social and Institutional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47732-1A35-1B54-565C-F4223ABA8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34302"/>
          </a:xfrm>
        </p:spPr>
        <p:txBody>
          <a:bodyPr/>
          <a:lstStyle/>
          <a:p>
            <a:r>
              <a:rPr lang="en-US" dirty="0"/>
              <a:t>Data can help institutions use resources more effectively.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reducing traffic congestion;</a:t>
            </a:r>
          </a:p>
          <a:p>
            <a:pPr lvl="1"/>
            <a:r>
              <a:rPr lang="en-US" dirty="0"/>
              <a:t>improving public services;</a:t>
            </a:r>
          </a:p>
          <a:p>
            <a:pPr lvl="1"/>
            <a:r>
              <a:rPr lang="en-US" dirty="0"/>
              <a:t>detecting fraud or abuse;</a:t>
            </a:r>
          </a:p>
          <a:p>
            <a:pPr lvl="1"/>
            <a:r>
              <a:rPr lang="en-US" dirty="0"/>
              <a:t>allocating medical or educational resources;</a:t>
            </a:r>
          </a:p>
          <a:p>
            <a:pPr lvl="1"/>
            <a:r>
              <a:rPr lang="en-US" dirty="0"/>
              <a:t>improving disaster response.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175D8-F079-6D8F-D39F-B98420C02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B5F593-162E-ABAB-53A8-C58BA37B1335}"/>
              </a:ext>
            </a:extLst>
          </p:cNvPr>
          <p:cNvSpPr txBox="1"/>
          <p:nvPr/>
        </p:nvSpPr>
        <p:spPr>
          <a:xfrm>
            <a:off x="2763982" y="519647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Efficiency is ethically valuable when it improves access to important human goods.</a:t>
            </a:r>
          </a:p>
        </p:txBody>
      </p:sp>
    </p:spTree>
    <p:extLst>
      <p:ext uri="{BB962C8B-B14F-4D97-AF65-F5344CB8AC3E}">
        <p14:creationId xmlns:p14="http://schemas.microsoft.com/office/powerpoint/2010/main" val="449731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94E63-FDE1-B821-C100-94601B87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 3: Prediction and Personalization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0A25A-774D-008C-219A-1D7D7BB42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0666"/>
          </a:xfrm>
        </p:spPr>
        <p:txBody>
          <a:bodyPr/>
          <a:lstStyle/>
          <a:p>
            <a:r>
              <a:rPr lang="en-US" dirty="0"/>
              <a:t>Data can help decisions become more targeted to individual or local needs.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personalized medical treatment;</a:t>
            </a:r>
          </a:p>
          <a:p>
            <a:pPr lvl="1"/>
            <a:r>
              <a:rPr lang="en-US" dirty="0"/>
              <a:t>adaptive educational support;</a:t>
            </a:r>
          </a:p>
          <a:p>
            <a:pPr lvl="1"/>
            <a:r>
              <a:rPr lang="en-US" dirty="0"/>
              <a:t>prediction of mechanical failure;</a:t>
            </a:r>
          </a:p>
          <a:p>
            <a:pPr lvl="1"/>
            <a:r>
              <a:rPr lang="en-US" dirty="0"/>
              <a:t>early warning for natural disasters;</a:t>
            </a:r>
          </a:p>
          <a:p>
            <a:pPr lvl="1"/>
            <a:r>
              <a:rPr lang="en-US" dirty="0"/>
              <a:t>customized public-service interventions.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B791A-0DA8-DF2A-6B29-CE963E9A8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30BD6-F5FF-2A85-BA26-BA930038EEF8}"/>
              </a:ext>
            </a:extLst>
          </p:cNvPr>
          <p:cNvSpPr txBox="1"/>
          <p:nvPr/>
        </p:nvSpPr>
        <p:spPr>
          <a:xfrm>
            <a:off x="3048000" y="561558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Prediction is ethically valuable when it helps people receive the right support at the right time.</a:t>
            </a:r>
          </a:p>
        </p:txBody>
      </p:sp>
    </p:spTree>
    <p:extLst>
      <p:ext uri="{BB962C8B-B14F-4D97-AF65-F5344CB8AC3E}">
        <p14:creationId xmlns:p14="http://schemas.microsoft.com/office/powerpoint/2010/main" val="556618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EC3C1-85E6-0172-6B37-DCA4E724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Harm 1: Privacy and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2BC07-FADD-59CC-6CA4-07824C2A1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707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practices can expose people in ways they do not expect or control.</a:t>
            </a:r>
          </a:p>
          <a:p>
            <a:pPr lvl="1"/>
            <a:r>
              <a:rPr lang="en-US" dirty="0"/>
              <a:t>Potential harms include:</a:t>
            </a:r>
          </a:p>
          <a:p>
            <a:pPr lvl="1"/>
            <a:r>
              <a:rPr lang="en-US" dirty="0"/>
              <a:t>identity exposure;</a:t>
            </a:r>
          </a:p>
          <a:p>
            <a:pPr lvl="1"/>
            <a:r>
              <a:rPr lang="en-US" dirty="0"/>
              <a:t>surveillance;</a:t>
            </a:r>
          </a:p>
          <a:p>
            <a:pPr lvl="1"/>
            <a:r>
              <a:rPr lang="en-US" dirty="0"/>
              <a:t>reputational damage;</a:t>
            </a:r>
          </a:p>
          <a:p>
            <a:pPr lvl="1"/>
            <a:r>
              <a:rPr lang="en-US" dirty="0"/>
              <a:t>economic harm;</a:t>
            </a:r>
          </a:p>
          <a:p>
            <a:pPr lvl="1"/>
            <a:r>
              <a:rPr lang="en-US" dirty="0"/>
              <a:t>emotional distress;</a:t>
            </a:r>
          </a:p>
          <a:p>
            <a:pPr lvl="1"/>
            <a:r>
              <a:rPr lang="en-US" dirty="0"/>
              <a:t>physical danger in extreme cases.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B211A-169A-2E1E-625D-4C9F2B70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31B2F6-4EEB-FE31-B6B6-2E46ACB0A30E}"/>
              </a:ext>
            </a:extLst>
          </p:cNvPr>
          <p:cNvSpPr txBox="1"/>
          <p:nvPr/>
        </p:nvSpPr>
        <p:spPr>
          <a:xfrm>
            <a:off x="3096491" y="561558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Privacy is not only about secrecy; it is about control over how information about us moves and is used.</a:t>
            </a:r>
          </a:p>
        </p:txBody>
      </p:sp>
    </p:spTree>
    <p:extLst>
      <p:ext uri="{BB962C8B-B14F-4D97-AF65-F5344CB8AC3E}">
        <p14:creationId xmlns:p14="http://schemas.microsoft.com/office/powerpoint/2010/main" val="257039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DDB1A-42E3-E6A8-6A46-631B43E02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Anonymization Is Not Always Enough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EA41B-8531-4F06-4CFE-557BE3E6D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 if a dataset is anonymized, people may still be identified when:</a:t>
            </a:r>
          </a:p>
          <a:p>
            <a:pPr lvl="1"/>
            <a:r>
              <a:rPr lang="en-US" dirty="0"/>
              <a:t>multiple datasets are linked;</a:t>
            </a:r>
          </a:p>
          <a:p>
            <a:pPr lvl="1"/>
            <a:r>
              <a:rPr lang="en-US" dirty="0"/>
              <a:t>rare attributes are combined;</a:t>
            </a:r>
          </a:p>
          <a:p>
            <a:pPr lvl="1"/>
            <a:r>
              <a:rPr lang="en-US" dirty="0"/>
              <a:t>location or behavioral traces are available;</a:t>
            </a:r>
          </a:p>
          <a:p>
            <a:pPr lvl="1"/>
            <a:r>
              <a:rPr lang="en-US" dirty="0"/>
              <a:t>data brokers aggregate information from many sources.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D847B-292C-84C9-424B-F34329672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02DB8E-0E1B-C781-6B71-F2FBCACA2850}"/>
              </a:ext>
            </a:extLst>
          </p:cNvPr>
          <p:cNvSpPr txBox="1"/>
          <p:nvPr/>
        </p:nvSpPr>
        <p:spPr>
          <a:xfrm>
            <a:off x="3186546" y="520484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Data can become sensitive through combination, not only through direct identifiers.</a:t>
            </a:r>
          </a:p>
        </p:txBody>
      </p:sp>
    </p:spTree>
    <p:extLst>
      <p:ext uri="{BB962C8B-B14F-4D97-AF65-F5344CB8AC3E}">
        <p14:creationId xmlns:p14="http://schemas.microsoft.com/office/powerpoint/2010/main" val="3031266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53A2E-12FF-018D-46BB-67829276A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Harm 2: Fairness and Justice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7200A-D38F-1FBC-5B66-D4253E81E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4904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 systems can treat people unfairly through:</a:t>
            </a:r>
          </a:p>
          <a:p>
            <a:pPr lvl="1"/>
            <a:r>
              <a:rPr lang="en-US" dirty="0"/>
              <a:t>biased training data;</a:t>
            </a:r>
          </a:p>
          <a:p>
            <a:pPr lvl="1"/>
            <a:r>
              <a:rPr lang="en-US" dirty="0"/>
              <a:t>proxy variables;</a:t>
            </a:r>
          </a:p>
          <a:p>
            <a:pPr lvl="1"/>
            <a:r>
              <a:rPr lang="en-US" dirty="0"/>
              <a:t>poor labels;</a:t>
            </a:r>
          </a:p>
          <a:p>
            <a:pPr lvl="1"/>
            <a:r>
              <a:rPr lang="en-US" dirty="0"/>
              <a:t>measurement errors;</a:t>
            </a:r>
          </a:p>
          <a:p>
            <a:pPr lvl="1"/>
            <a:r>
              <a:rPr lang="en-US" dirty="0"/>
              <a:t>arbitrary decision rules;</a:t>
            </a:r>
          </a:p>
          <a:p>
            <a:pPr lvl="1"/>
            <a:r>
              <a:rPr lang="en-US" dirty="0"/>
              <a:t>inadequate auditing.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hiring systems trained on biased historical decisions;</a:t>
            </a:r>
          </a:p>
          <a:p>
            <a:pPr lvl="1"/>
            <a:r>
              <a:rPr lang="en-US" dirty="0"/>
              <a:t>risk models using proxies for race or income;</a:t>
            </a:r>
          </a:p>
          <a:p>
            <a:pPr lvl="1"/>
            <a:r>
              <a:rPr lang="en-US" dirty="0"/>
              <a:t>welfare or benefit systems making large-scale errors.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72E75-3D41-091D-4768-519E7A41C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F233B-B38A-61E3-46E5-7389F9EBDF0F}"/>
              </a:ext>
            </a:extLst>
          </p:cNvPr>
          <p:cNvSpPr txBox="1"/>
          <p:nvPr/>
        </p:nvSpPr>
        <p:spPr>
          <a:xfrm>
            <a:off x="3262746" y="550964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A model can be formally “blind” to sensitive attributes and still produce unjust outcomes.</a:t>
            </a:r>
          </a:p>
        </p:txBody>
      </p:sp>
    </p:spTree>
    <p:extLst>
      <p:ext uri="{BB962C8B-B14F-4D97-AF65-F5344CB8AC3E}">
        <p14:creationId xmlns:p14="http://schemas.microsoft.com/office/powerpoint/2010/main" val="2809789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76D2D-D416-F438-4874-0475A50DE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Harm 3: Transparency and Autonomy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7D816-8A9C-C0C3-5E38-0A6D78A78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122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Transparency means people can understand how important decisions about them are made.</a:t>
            </a:r>
          </a:p>
          <a:p>
            <a:r>
              <a:rPr lang="en-US" dirty="0"/>
              <a:t>Autonomy means people can meaningfully guide the direction of their own lives.</a:t>
            </a:r>
          </a:p>
          <a:p>
            <a:r>
              <a:rPr lang="en-US" dirty="0"/>
              <a:t>Data systems can reduce autonomy when people:</a:t>
            </a:r>
          </a:p>
          <a:p>
            <a:pPr lvl="1"/>
            <a:r>
              <a:rPr lang="en-US" dirty="0"/>
              <a:t>do not know why a decision was made;</a:t>
            </a:r>
          </a:p>
          <a:p>
            <a:pPr lvl="1"/>
            <a:r>
              <a:rPr lang="en-US" dirty="0"/>
              <a:t>cannot correct wrong data;</a:t>
            </a:r>
          </a:p>
          <a:p>
            <a:pPr lvl="1"/>
            <a:r>
              <a:rPr lang="en-US" dirty="0"/>
              <a:t>cannot appeal a decision;</a:t>
            </a:r>
          </a:p>
          <a:p>
            <a:pPr lvl="1"/>
            <a:r>
              <a:rPr lang="en-US" dirty="0"/>
              <a:t>cannot understand what data was used;</a:t>
            </a:r>
          </a:p>
          <a:p>
            <a:pPr lvl="1"/>
            <a:r>
              <a:rPr lang="en-US" dirty="0"/>
              <a:t>are judged by opaque proprietary systems.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495AB-38D0-8EF0-47D7-CB838285F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F6C6A-E827-10E6-7565-28C2D3DA3B83}"/>
              </a:ext>
            </a:extLst>
          </p:cNvPr>
          <p:cNvSpPr txBox="1"/>
          <p:nvPr/>
        </p:nvSpPr>
        <p:spPr>
          <a:xfrm>
            <a:off x="3158837" y="568282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Without transparency, people lose the ability to respond, challenge, or change their situation.</a:t>
            </a:r>
          </a:p>
        </p:txBody>
      </p:sp>
    </p:spTree>
    <p:extLst>
      <p:ext uri="{BB962C8B-B14F-4D97-AF65-F5344CB8AC3E}">
        <p14:creationId xmlns:p14="http://schemas.microsoft.com/office/powerpoint/2010/main" val="3053390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19FC7-0209-DF6C-DF31-A5E1B10B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B3F6F-C0ED-46FB-8859-C91565DD6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87048"/>
          </a:xfrm>
        </p:spPr>
        <p:txBody>
          <a:bodyPr/>
          <a:lstStyle/>
          <a:p>
            <a:r>
              <a:rPr lang="en-US" dirty="0"/>
              <a:t>Data practices often involve trade-offs:</a:t>
            </a:r>
          </a:p>
          <a:p>
            <a:pPr lvl="1"/>
            <a:r>
              <a:rPr lang="en-US" dirty="0"/>
              <a:t>personalization vs privacy;</a:t>
            </a:r>
          </a:p>
          <a:p>
            <a:pPr lvl="1"/>
            <a:r>
              <a:rPr lang="en-US" dirty="0"/>
              <a:t>efficiency vs fairness;</a:t>
            </a:r>
          </a:p>
          <a:p>
            <a:pPr lvl="1"/>
            <a:r>
              <a:rPr lang="en-US" dirty="0"/>
              <a:t>prediction vs autonomy;</a:t>
            </a:r>
          </a:p>
          <a:p>
            <a:pPr lvl="1"/>
            <a:r>
              <a:rPr lang="en-US" dirty="0"/>
              <a:t>proprietary systems vs transparency;</a:t>
            </a:r>
          </a:p>
          <a:p>
            <a:pPr lvl="1"/>
            <a:r>
              <a:rPr lang="en-US" dirty="0"/>
              <a:t>innovation vs accountability.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7AC60-214D-040A-F988-7C5A14EF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24020-CB78-6EFE-85E3-F870F4AEDF64}"/>
              </a:ext>
            </a:extLst>
          </p:cNvPr>
          <p:cNvSpPr txBox="1"/>
          <p:nvPr/>
        </p:nvSpPr>
        <p:spPr>
          <a:xfrm>
            <a:off x="3359727" y="505937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idea:</a:t>
            </a:r>
            <a:br>
              <a:rPr lang="en-US" dirty="0"/>
            </a:br>
            <a:r>
              <a:rPr lang="en-US" dirty="0"/>
              <a:t>Ethical data science is not about avoiding all risk. It is about recognizing, reducing, and justifying risks responsibly.</a:t>
            </a:r>
          </a:p>
        </p:txBody>
      </p:sp>
    </p:spTree>
    <p:extLst>
      <p:ext uri="{BB962C8B-B14F-4D97-AF65-F5344CB8AC3E}">
        <p14:creationId xmlns:p14="http://schemas.microsoft.com/office/powerpoint/2010/main" val="82498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18876</TotalTime>
  <Words>1208</Words>
  <Application>Microsoft Office PowerPoint</Application>
  <PresentationFormat>Widescreen</PresentationFormat>
  <Paragraphs>182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Consolas</vt:lpstr>
      <vt:lpstr>Office Theme</vt:lpstr>
      <vt:lpstr>Introduction to Data Ethics</vt:lpstr>
      <vt:lpstr>Data Ethics: Why It Matters</vt:lpstr>
      <vt:lpstr>What Do We Mean by “Ethics”?</vt:lpstr>
      <vt:lpstr>Why Technology Is Not Neutral</vt:lpstr>
      <vt:lpstr>Why Ethics Is Urgent in Technology</vt:lpstr>
      <vt:lpstr>What Does Ethics Have to Do with Data?</vt:lpstr>
      <vt:lpstr>Data Can Create Benefits and Harms</vt:lpstr>
      <vt:lpstr>A Simple Ethical Lens for Data Science</vt:lpstr>
      <vt:lpstr>Ethics Requires More Than Good Intentions</vt:lpstr>
      <vt:lpstr>Why Data Harms Can Be Hard to See</vt:lpstr>
      <vt:lpstr>Human Life Interests Affected by Data</vt:lpstr>
      <vt:lpstr>Benefit 1: Human Understanding</vt:lpstr>
      <vt:lpstr>Benefit 2: Social and Institutional Efficiency</vt:lpstr>
      <vt:lpstr>Benefit 3: Prediction and Personalization</vt:lpstr>
      <vt:lpstr>Harm 1: Privacy and Security</vt:lpstr>
      <vt:lpstr>Why Anonymization Is Not Always Enough</vt:lpstr>
      <vt:lpstr>Harm 2: Fairness and Justice</vt:lpstr>
      <vt:lpstr>Harm 3: Transparency and Autonomy</vt:lpstr>
      <vt:lpstr>Core Tension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652</cp:revision>
  <dcterms:created xsi:type="dcterms:W3CDTF">2021-09-22T08:38:12Z</dcterms:created>
  <dcterms:modified xsi:type="dcterms:W3CDTF">2026-06-21T08:59:14Z</dcterms:modified>
</cp:coreProperties>
</file>